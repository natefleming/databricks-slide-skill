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5"/>
    <p:sldMasterId id="214748369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y="6858000" cx="12188950"/>
  <p:notesSz cx="6858000" cy="9144000"/>
  <p:embeddedFontLst>
    <p:embeddedFont>
      <p:font typeface="Roboto Mono Medium"/>
      <p:regular r:id="rId86"/>
      <p:bold r:id="rId87"/>
      <p:italic r:id="rId88"/>
      <p:boldItalic r:id="rId89"/>
    </p:embeddedFont>
    <p:embeddedFont>
      <p:font typeface="DM Mono Medium"/>
      <p:regular r:id="rId90"/>
      <p:italic r:id="rId91"/>
    </p:embeddedFont>
    <p:embeddedFont>
      <p:font typeface="Roboto Mono"/>
      <p:regular r:id="rId92"/>
      <p:bold r:id="rId93"/>
      <p:italic r:id="rId94"/>
      <p:boldItalic r:id="rId95"/>
    </p:embeddedFont>
    <p:embeddedFont>
      <p:font typeface="Barlow"/>
      <p:regular r:id="rId96"/>
      <p:bold r:id="rId97"/>
      <p:italic r:id="rId98"/>
      <p:boldItalic r:id="rId99"/>
    </p:embeddedFont>
    <p:embeddedFont>
      <p:font typeface="DM Mono"/>
      <p:regular r:id="rId100"/>
      <p:italic r:id="rId101"/>
    </p:embeddedFont>
    <p:embeddedFont>
      <p:font typeface="DM Sans Medium"/>
      <p:regular r:id="rId102"/>
      <p:bold r:id="rId103"/>
      <p:italic r:id="rId104"/>
      <p:boldItalic r:id="rId105"/>
    </p:embeddedFont>
    <p:embeddedFont>
      <p:font typeface="DM Sans SemiBold"/>
      <p:regular r:id="rId106"/>
      <p:bold r:id="rId107"/>
      <p:italic r:id="rId108"/>
      <p:boldItalic r:id="rId109"/>
    </p:embeddedFont>
    <p:embeddedFont>
      <p:font typeface="Barlow Medium"/>
      <p:regular r:id="rId110"/>
      <p:bold r:id="rId111"/>
      <p:italic r:id="rId112"/>
      <p:boldItalic r:id="rId113"/>
    </p:embeddedFont>
    <p:embeddedFont>
      <p:font typeface="DM Sans Light"/>
      <p:regular r:id="rId114"/>
      <p:bold r:id="rId115"/>
      <p:italic r:id="rId116"/>
      <p:boldItalic r:id="rId117"/>
    </p:embeddedFont>
    <p:embeddedFont>
      <p:font typeface="DM Sans"/>
      <p:regular r:id="rId118"/>
      <p:bold r:id="rId119"/>
      <p:italic r:id="rId120"/>
      <p:boldItalic r:id="rId121"/>
    </p:embeddedFont>
    <p:embeddedFont>
      <p:font typeface="Barlow Black"/>
      <p:bold r:id="rId122"/>
      <p:boldItalic r:id="rId1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teve Ostrowski"/>
  <p:cmAuthor clrIdx="1" id="1" initials="" lastIdx="1" name="Scott Johns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DMSansSemiBold-bold.fntdata"/><Relationship Id="rId106" Type="http://schemas.openxmlformats.org/officeDocument/2006/relationships/font" Target="fonts/DMSansSemiBold-regular.fntdata"/><Relationship Id="rId105" Type="http://schemas.openxmlformats.org/officeDocument/2006/relationships/font" Target="fonts/DMSansMedium-boldItalic.fntdata"/><Relationship Id="rId104" Type="http://schemas.openxmlformats.org/officeDocument/2006/relationships/font" Target="fonts/DMSansMedium-italic.fntdata"/><Relationship Id="rId109" Type="http://schemas.openxmlformats.org/officeDocument/2006/relationships/font" Target="fonts/DMSansSemiBold-boldItalic.fntdata"/><Relationship Id="rId108" Type="http://schemas.openxmlformats.org/officeDocument/2006/relationships/font" Target="fonts/DMSansSemi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DMSansMedium-bold.fntdata"/><Relationship Id="rId102" Type="http://schemas.openxmlformats.org/officeDocument/2006/relationships/font" Target="fonts/DMSansMedium-regular.fntdata"/><Relationship Id="rId101" Type="http://schemas.openxmlformats.org/officeDocument/2006/relationships/font" Target="fonts/DMMono-italic.fntdata"/><Relationship Id="rId100" Type="http://schemas.openxmlformats.org/officeDocument/2006/relationships/font" Target="fonts/DMMono-regular.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DMSans-boldItalic.fntdata"/><Relationship Id="rId25" Type="http://schemas.openxmlformats.org/officeDocument/2006/relationships/slide" Target="slides/slide18.xml"/><Relationship Id="rId120" Type="http://schemas.openxmlformats.org/officeDocument/2006/relationships/font" Target="fonts/DMSans-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3" Type="http://schemas.openxmlformats.org/officeDocument/2006/relationships/font" Target="fonts/BarlowBlack-boldItalic.fntdata"/><Relationship Id="rId122" Type="http://schemas.openxmlformats.org/officeDocument/2006/relationships/font" Target="fonts/BarlowBlack-bold.fntdata"/><Relationship Id="rId95" Type="http://schemas.openxmlformats.org/officeDocument/2006/relationships/font" Target="fonts/RobotoMono-boldItalic.fntdata"/><Relationship Id="rId94" Type="http://schemas.openxmlformats.org/officeDocument/2006/relationships/font" Target="fonts/RobotoMono-italic.fntdata"/><Relationship Id="rId97" Type="http://schemas.openxmlformats.org/officeDocument/2006/relationships/font" Target="fonts/Barlow-bold.fntdata"/><Relationship Id="rId96" Type="http://schemas.openxmlformats.org/officeDocument/2006/relationships/font" Target="fonts/Barlow-regular.fntdata"/><Relationship Id="rId11" Type="http://schemas.openxmlformats.org/officeDocument/2006/relationships/slide" Target="slides/slide4.xml"/><Relationship Id="rId99" Type="http://schemas.openxmlformats.org/officeDocument/2006/relationships/font" Target="fonts/Barlow-boldItalic.fntdata"/><Relationship Id="rId10" Type="http://schemas.openxmlformats.org/officeDocument/2006/relationships/slide" Target="slides/slide3.xml"/><Relationship Id="rId98" Type="http://schemas.openxmlformats.org/officeDocument/2006/relationships/font" Target="fonts/Barlow-italic.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DMMonoMedium-italic.fntdata"/><Relationship Id="rId90" Type="http://schemas.openxmlformats.org/officeDocument/2006/relationships/font" Target="fonts/DMMonoMedium-regular.fntdata"/><Relationship Id="rId93" Type="http://schemas.openxmlformats.org/officeDocument/2006/relationships/font" Target="fonts/RobotoMono-bold.fntdata"/><Relationship Id="rId92" Type="http://schemas.openxmlformats.org/officeDocument/2006/relationships/font" Target="fonts/RobotoMono-regular.fntdata"/><Relationship Id="rId118" Type="http://schemas.openxmlformats.org/officeDocument/2006/relationships/font" Target="fonts/DMSans-regular.fntdata"/><Relationship Id="rId117" Type="http://schemas.openxmlformats.org/officeDocument/2006/relationships/font" Target="fonts/DMSansLight-boldItalic.fntdata"/><Relationship Id="rId116" Type="http://schemas.openxmlformats.org/officeDocument/2006/relationships/font" Target="fonts/DMSansLight-italic.fntdata"/><Relationship Id="rId115" Type="http://schemas.openxmlformats.org/officeDocument/2006/relationships/font" Target="fonts/DMSansLight-bold.fntdata"/><Relationship Id="rId119" Type="http://schemas.openxmlformats.org/officeDocument/2006/relationships/font" Target="fonts/DMSans-bold.fntdata"/><Relationship Id="rId15" Type="http://schemas.openxmlformats.org/officeDocument/2006/relationships/slide" Target="slides/slide8.xml"/><Relationship Id="rId110" Type="http://schemas.openxmlformats.org/officeDocument/2006/relationships/font" Target="fonts/BarlowMedium-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DMSansLight-regular.fntdata"/><Relationship Id="rId18" Type="http://schemas.openxmlformats.org/officeDocument/2006/relationships/slide" Target="slides/slide11.xml"/><Relationship Id="rId113" Type="http://schemas.openxmlformats.org/officeDocument/2006/relationships/font" Target="fonts/BarlowMedium-boldItalic.fntdata"/><Relationship Id="rId112" Type="http://schemas.openxmlformats.org/officeDocument/2006/relationships/font" Target="fonts/BarlowMedium-italic.fntdata"/><Relationship Id="rId111" Type="http://schemas.openxmlformats.org/officeDocument/2006/relationships/font" Target="fonts/BarlowMedium-bold.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font" Target="fonts/RobotoMonoMedium-regular.fntdata"/><Relationship Id="rId85" Type="http://schemas.openxmlformats.org/officeDocument/2006/relationships/slide" Target="slides/slide78.xml"/><Relationship Id="rId88" Type="http://schemas.openxmlformats.org/officeDocument/2006/relationships/font" Target="fonts/RobotoMonoMedium-italic.fntdata"/><Relationship Id="rId87" Type="http://schemas.openxmlformats.org/officeDocument/2006/relationships/font" Target="fonts/RobotoMonoMedium-bold.fntdata"/><Relationship Id="rId89" Type="http://schemas.openxmlformats.org/officeDocument/2006/relationships/font" Target="fonts/RobotoMonoMedium-boldItalic.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16T17:54:45.619">
    <p:pos x="6000" y="0"/>
    <p:text>what is the purpose of separating the 3 different "Cloud Storage" boxes on the bottom, and why does one say AWS only (databricks only has its own cloud storage on AWS?)? It's not clear what this bottom portion is saying or the messaging to give customers.</p:text>
  </p:cm>
  <p:cm authorId="1" idx="1" dt="2025-12-16T17:46:34.592">
    <p:pos x="6000" y="0"/>
    <p:text>lakebase is different storage than that of UC.  For serverless workspaces, we only offer managed storage for AWS not Azure, so the call out.  The customer cloud storage calls out that both classic and serverless can interact with it.
@steve.ostrowski@databricks.com
1 total reaction
Steve Ostrowski reacted with 🙏 at 2025-12-16 17:54 PM</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drive/folders/1leUtebmO45Ut28nuRoiO-Zj_8O2PAwcB"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ingestion/lakeflow-connect/" TargetMode="External"/><Relationship Id="rId3" Type="http://schemas.openxmlformats.org/officeDocument/2006/relationships/hyperlink" Target="https://docs.databricks.com/aws/en/dlt/"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dlt/" TargetMode="External"/><Relationship Id="rId3" Type="http://schemas.openxmlformats.org/officeDocument/2006/relationships/hyperlink" Target="https://docs.databricks.com/aws/en/jobs/"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structured-streaming/concepts" TargetMode="External"/><Relationship Id="rId3" Type="http://schemas.openxmlformats.org/officeDocument/2006/relationships/hyperlink" Target="https://docs.databricks.com/aws/en/dlt/what-is-change-data-capture"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machine-learning/databricks-runtime-ml#libraries-included-in-databricks-runtime-ml" TargetMode="External"/><Relationship Id="rId3" Type="http://schemas.openxmlformats.org/officeDocument/2006/relationships/hyperlink" Target="https://docs.databricks.com/aws/en/machine-learning/feature-store/" TargetMode="External"/><Relationship Id="rId4" Type="http://schemas.openxmlformats.org/officeDocument/2006/relationships/hyperlink" Target="https://docs.databricks.com/aws/en/machine-learning/manage-model-lifecycle/" TargetMode="External"/><Relationship Id="rId5" Type="http://schemas.openxmlformats.org/officeDocument/2006/relationships/hyperlink" Target="https://docs.databricks.com/aws/en/machine-learning/automl/" TargetMode="External"/><Relationship Id="rId6" Type="http://schemas.openxmlformats.org/officeDocument/2006/relationships/hyperlink" Target="https://docs.databricks.com/aws/en/jobs/" TargetMode="External"/><Relationship Id="rId7" Type="http://schemas.openxmlformats.org/officeDocument/2006/relationships/hyperlink" Target="https://docs.databricks.com/aws/en/machine-learning/mlops/mlops-workflow"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machine-learning/databricks-runtime-ml#libraries-included-in-databricks-runtime-ml" TargetMode="External"/><Relationship Id="rId3" Type="http://schemas.openxmlformats.org/officeDocument/2006/relationships/hyperlink" Target="https://docs.databricks.com/aws/en/machine-learning/feature-store/" TargetMode="External"/><Relationship Id="rId4" Type="http://schemas.openxmlformats.org/officeDocument/2006/relationships/hyperlink" Target="https://docs.databricks.com/aws/en/machine-learning/manage-model-lifecycle/" TargetMode="External"/><Relationship Id="rId5" Type="http://schemas.openxmlformats.org/officeDocument/2006/relationships/hyperlink" Target="https://docs.databricks.com/aws/en/machine-learning/automl/" TargetMode="External"/><Relationship Id="rId6" Type="http://schemas.openxmlformats.org/officeDocument/2006/relationships/hyperlink" Target="https://docs.databricks.com/aws/en/jobs/" TargetMode="External"/><Relationship Id="rId7" Type="http://schemas.openxmlformats.org/officeDocument/2006/relationships/hyperlink" Target="https://docs.databricks.com/aws/en/machine-learning/mlops/mlops-workflow"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dashboards/" TargetMode="External"/><Relationship Id="rId3" Type="http://schemas.openxmlformats.org/officeDocument/2006/relationships/hyperlink" Target="https://docs.databricks.com/aws/en/sql/user/sql-editor/" TargetMode="External"/><Relationship Id="rId4" Type="http://schemas.openxmlformats.org/officeDocument/2006/relationships/hyperlink" Target="https://docs.databricks.com/aws/en/ai-bi/tools"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query-federation/"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data-governance/unity-catalog/hms-federation/"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delta-sharing/" TargetMode="External"/><Relationship Id="rId3" Type="http://schemas.openxmlformats.org/officeDocument/2006/relationships/hyperlink" Target="https://docs.databricks.com/aws/en/marketplace/"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databricks.com/aws/en/delta-sharing/share-data-databricks"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6e8526ba32_5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6e8526ba3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tag:overview,azure,aws,gcp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e8526ba32_5_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6e8526ba32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6e8526ba32_5_1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6e8526ba32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tag:overview</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6e8526ba32_5_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6e8526ba32_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tag:overview,intro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6e8526ba32_5_2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6e8526ba32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e8526ba32_5_3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6e8526ba32_5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This is a simple framework for a modern data platform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It shows on top the 5 main persona using the platform:</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engineer</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ML engineer</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scientist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Business analyst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Business partner</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And it comes with 4 layers: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“Storage” layer: All data files are stored in the Cloud Object Storage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“Data Governance” layer contains capabilities around access control, metadata management, lineage tracking,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“Engine” layers, actually comprises of 3 sub layers: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bottom layer is the AI engine layer. In this layer AI and Gen AI models will be provided that support all other functions in the platform</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value generation layer. It consist of the domains for the 3 main workload types:</a:t>
            </a:r>
            <a:endParaRPr>
              <a:solidFill>
                <a:schemeClr val="dk1"/>
              </a:solidFill>
              <a:latin typeface="DM Sans"/>
              <a:ea typeface="DM Sans"/>
              <a:cs typeface="DM Sans"/>
              <a:sym typeface="DM Sans"/>
            </a:endParaRPr>
          </a:p>
          <a:p>
            <a:pPr indent="-298450" lvl="2" marL="13716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ingest and transformations for all tasks to get data into the platform</a:t>
            </a:r>
            <a:endParaRPr>
              <a:solidFill>
                <a:schemeClr val="dk1"/>
              </a:solidFill>
              <a:latin typeface="DM Sans"/>
              <a:ea typeface="DM Sans"/>
              <a:cs typeface="DM Sans"/>
              <a:sym typeface="DM Sans"/>
            </a:endParaRPr>
          </a:p>
          <a:p>
            <a:pPr indent="-298450" lvl="2" marL="13716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“Advanced Analytics, ML &amp; AI” engine for ML, Ai and Gen AI use cases</a:t>
            </a:r>
            <a:endParaRPr>
              <a:solidFill>
                <a:schemeClr val="dk1"/>
              </a:solidFill>
              <a:latin typeface="DM Sans"/>
              <a:ea typeface="DM Sans"/>
              <a:cs typeface="DM Sans"/>
              <a:sym typeface="DM Sans"/>
            </a:endParaRPr>
          </a:p>
          <a:p>
            <a:pPr indent="-298450" lvl="2" marL="13716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“Data Warehouse” engine for data warehouse and BI use cases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orchestration layer that provides all capabilities around workflow management</a:t>
            </a:r>
            <a:endParaRPr>
              <a:solidFill>
                <a:schemeClr val="dk1"/>
              </a:solidFill>
              <a:latin typeface="DM Sans"/>
              <a:ea typeface="DM Sans"/>
              <a:cs typeface="DM Sans"/>
              <a:sym typeface="DM Sans"/>
            </a:endParaRPr>
          </a:p>
          <a:p>
            <a:pPr indent="-298450" lvl="0" marL="457200" rtl="0" algn="l">
              <a:spcBef>
                <a:spcPts val="300"/>
              </a:spcBef>
              <a:spcAft>
                <a:spcPts val="300"/>
              </a:spcAft>
              <a:buClr>
                <a:schemeClr val="dk1"/>
              </a:buClr>
              <a:buSzPts val="1100"/>
              <a:buFont typeface="DM Sans"/>
              <a:buChar char="●"/>
            </a:pPr>
            <a:r>
              <a:rPr lang="en">
                <a:solidFill>
                  <a:schemeClr val="dk1"/>
                </a:solidFill>
                <a:latin typeface="DM Sans"/>
                <a:ea typeface="DM Sans"/>
                <a:cs typeface="DM Sans"/>
                <a:sym typeface="DM Sans"/>
              </a:rPr>
              <a:t>The “Consumption” layer containing the front-ends and tools for all workloads</a:t>
            </a:r>
            <a:endParaRPr>
              <a:solidFill>
                <a:schemeClr val="dk1"/>
              </a:solidFill>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e8526ba32_5_5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6e8526ba32_5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In this view we map the capabilities of the Data Intelligence Platform onto this framework to visualize the scope of the overall platform</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6e8526ba32_5_17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6e8526ba32_5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r>
              <a:rPr lang="en">
                <a:solidFill>
                  <a:schemeClr val="dk1"/>
                </a:solidFill>
                <a:latin typeface="DM Sans"/>
                <a:ea typeface="DM Sans"/>
                <a:cs typeface="DM Sans"/>
                <a:sym typeface="DM Sans"/>
              </a:rPr>
              <a:t>,</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6e8526ba32_5_17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6e8526ba32_5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300"/>
              </a:spcBef>
              <a:spcAft>
                <a:spcPts val="0"/>
              </a:spcAft>
              <a:buNone/>
            </a:pPr>
            <a:r>
              <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This is a more detailed view of the Databricks AI architecture taking the whole Data Intelligence Platform into account. </a:t>
            </a:r>
            <a:endParaRPr/>
          </a:p>
          <a:p>
            <a:pPr indent="0" lvl="0" marL="0" rtl="0" algn="l">
              <a:spcBef>
                <a:spcPts val="0"/>
              </a:spcBef>
              <a:spcAft>
                <a:spcPts val="0"/>
              </a:spcAft>
              <a:buNone/>
            </a:pPr>
            <a:r>
              <a:rPr lang="en"/>
              <a:t>The center is still the 3-step process, the high level “Model” step is qualified a bit more as “Develop and evaluate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Intelligence Platform is an open platform. As such it does have access to 3rd party AI tools and services (both commercial and community driven)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Commercial AI models: OpenAI, Claude, …</a:t>
            </a:r>
            <a:endParaRPr/>
          </a:p>
          <a:p>
            <a:pPr indent="0" lvl="0" marL="0" rtl="0" algn="l">
              <a:spcBef>
                <a:spcPts val="0"/>
              </a:spcBef>
              <a:spcAft>
                <a:spcPts val="0"/>
              </a:spcAft>
              <a:buNone/>
            </a:pPr>
            <a:r>
              <a:rPr lang="en"/>
              <a:t>Community AI models: E.g. from HuggingFace</a:t>
            </a:r>
            <a:endParaRPr/>
          </a:p>
          <a:p>
            <a:pPr indent="0" lvl="0" marL="0" rtl="0" algn="l">
              <a:spcBef>
                <a:spcPts val="0"/>
              </a:spcBef>
              <a:spcAft>
                <a:spcPts val="0"/>
              </a:spcAft>
              <a:buNone/>
            </a:pPr>
            <a:r>
              <a:rPr lang="en"/>
              <a:t>Community tools: E.g. LangChain, LlamaIndex,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6e8526ba32_5_19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6e8526ba32_5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L200</a:t>
            </a:r>
            <a:endParaRPr b="1"/>
          </a:p>
          <a:p>
            <a:pPr indent="0" lvl="0" marL="0" rtl="0" algn="ctr">
              <a:lnSpc>
                <a:spcPct val="90000"/>
              </a:lnSpc>
              <a:spcBef>
                <a:spcPts val="0"/>
              </a:spcBef>
              <a:spcAft>
                <a:spcPts val="0"/>
              </a:spcAft>
              <a:buNone/>
            </a:pPr>
            <a:r>
              <a:rPr lang="en" sz="1200">
                <a:solidFill>
                  <a:schemeClr val="accent1"/>
                </a:solidFill>
                <a:latin typeface="DM Sans Medium"/>
                <a:ea typeface="DM Sans Medium"/>
                <a:cs typeface="DM Sans Medium"/>
                <a:sym typeface="DM Sans Medium"/>
              </a:rPr>
              <a:t>Drift data</a:t>
            </a:r>
            <a:endParaRPr/>
          </a:p>
          <a:p>
            <a:pPr indent="0" lvl="0" marL="0" rtl="0" algn="l">
              <a:spcBef>
                <a:spcPts val="0"/>
              </a:spcBef>
              <a:spcAft>
                <a:spcPts val="0"/>
              </a:spcAft>
              <a:buNone/>
            </a:pPr>
            <a:r>
              <a:rPr lang="en"/>
              <a:t>Mosaic AI is fully integrated into the Lakehouse platform. </a:t>
            </a:r>
            <a:endParaRPr/>
          </a:p>
          <a:p>
            <a:pPr indent="0" lvl="0" marL="0" rtl="0" algn="l">
              <a:spcBef>
                <a:spcPts val="0"/>
              </a:spcBef>
              <a:spcAft>
                <a:spcPts val="0"/>
              </a:spcAft>
              <a:buNone/>
            </a:pPr>
            <a:r>
              <a:rPr lang="en"/>
              <a:t>For example, for creating features the same Lakehouse capabilities will used as to create ETL pipelines in data engineering. Since AI features are also tables, they are treated exactly like all other tables and exposed and governed by Unity Catalog.</a:t>
            </a:r>
            <a:endParaRPr/>
          </a:p>
          <a:p>
            <a:pPr indent="0" lvl="0" marL="0" rtl="0" algn="l">
              <a:spcBef>
                <a:spcPts val="0"/>
              </a:spcBef>
              <a:spcAft>
                <a:spcPts val="0"/>
              </a:spcAft>
              <a:buNone/>
            </a:pPr>
            <a:r>
              <a:rPr lang="en"/>
              <a:t>The grey features in this diagram are common Lakehouse tools used for all workloads like ETL, feature engineering, monitoring orchestrating pipelines,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green boxes show capabilities that have specifically created and integrated in the Lakehouse for ML, AI and Gen AI tasks.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Examples for capabilities enhanced or built specifically for Gen AI:</a:t>
            </a:r>
            <a:endParaRPr/>
          </a:p>
          <a:p>
            <a:pPr indent="-298450" lvl="0" marL="457200" rtl="0" algn="l">
              <a:spcBef>
                <a:spcPts val="0"/>
              </a:spcBef>
              <a:spcAft>
                <a:spcPts val="0"/>
              </a:spcAft>
              <a:buSzPts val="1100"/>
              <a:buChar char="-"/>
            </a:pPr>
            <a:r>
              <a:rPr lang="en"/>
              <a:t>AutoML: AutoML for Embeddings</a:t>
            </a:r>
            <a:endParaRPr/>
          </a:p>
          <a:p>
            <a:pPr indent="-298450" lvl="0" marL="457200" rtl="0" algn="l">
              <a:spcBef>
                <a:spcPts val="0"/>
              </a:spcBef>
              <a:spcAft>
                <a:spcPts val="0"/>
              </a:spcAft>
              <a:buSzPts val="1100"/>
              <a:buChar char="-"/>
            </a:pPr>
            <a:r>
              <a:rPr lang="en"/>
              <a:t>Mosaic: Fine-tuning with Mosaic</a:t>
            </a:r>
            <a:endParaRPr/>
          </a:p>
          <a:p>
            <a:pPr indent="-298450" lvl="0" marL="457200" rtl="0" algn="l">
              <a:spcBef>
                <a:spcPts val="0"/>
              </a:spcBef>
              <a:spcAft>
                <a:spcPts val="0"/>
              </a:spcAft>
              <a:buSzPts val="1100"/>
              <a:buChar char="-"/>
            </a:pPr>
            <a:r>
              <a:rPr lang="en"/>
              <a:t>Model Serving: With GPU optimized for LLMs. Also manages access to AI services like OpenAI, Hugging Face and to the internal Model registry (unified API)</a:t>
            </a:r>
            <a:endParaRPr/>
          </a:p>
          <a:p>
            <a:pPr indent="-298450" lvl="0" marL="457200" rtl="0" algn="l">
              <a:spcBef>
                <a:spcPts val="0"/>
              </a:spcBef>
              <a:spcAft>
                <a:spcPts val="0"/>
              </a:spcAft>
              <a:buSzPts val="1100"/>
              <a:buChar char="-"/>
            </a:pPr>
            <a:r>
              <a:rPr lang="en"/>
              <a:t>AI functions: SQL functions to work with AI from SQL queries</a:t>
            </a:r>
            <a:endParaRPr/>
          </a:p>
          <a:p>
            <a:pPr indent="-298450" lvl="0" marL="457200" rtl="0" algn="l">
              <a:spcBef>
                <a:spcPts val="0"/>
              </a:spcBef>
              <a:spcAft>
                <a:spcPts val="0"/>
              </a:spcAft>
              <a:buSzPts val="1100"/>
              <a:buChar char="-"/>
            </a:pPr>
            <a:r>
              <a:rPr lang="en"/>
              <a:t>Functions: For features that need calculation in real time (online tables)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27.06.2024: Replace “AI Playground” by “Agent Framework”; Added “AI Gateway”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6e8526ba32_5_26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6e8526ba32_5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6e8526ba32_5_26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6e8526ba32_5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6e8526ba32_5_3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6e8526ba32_5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tag:overview,L100-200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6e8526ba32_5_3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6e8526ba32_5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The Databricks platform runs in two different accounts: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Control Plane (which hosts the Web App, Unity Catalog and management services) and the Serverless Compute Plane (the compute layer of the serverless product) are deployed in the Databricks account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Compute Plane, which is the compute layer for non-serverless product lines (Databricks Workspaces, Databricks SQL) and the cloud storage are in the customer account</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6e8526ba32_5_39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6e8526ba32_5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The Databricks platform runs in two different accounts: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Control Plane (which hosts the Web App, Unity Catalog and management services) and the Serverless Compute Plane (the compute layer of the serverless product) are deployed in the Databricks account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Compute Plane, which is the compute layer for non-serverless product lines (Databricks Workspaces, Databricks SQL) and the cloud storage are in the customer account</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6e8526ba32_5_45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6e8526ba32_5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The Databricks platform runs in two different accounts: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Control Plane (which hosts the Web App, Unity Catalog and management services) and the Serverless Compute Plane (the compute layer of the serverless product) are deployed in the Databricks account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Compute Plane, which is the compute layer for non-serverless product lines (Databricks Workspaces, Databricks SQL) and the cloud storage are in the customer account</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6e8526ba32_5_52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6e8526ba32_5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The Databricks platform runs in two different accounts: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Control Plane (which hosts the Web App, Unity Catalog and management services) and the Serverless Compute Plane (the compute layer of the serverless product) are deployed in the Databricks account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Compute Plane, which is the compute layer for non-serverless product lines (Databricks Workspaces, Databricks SQL) and the cloud storage are in the customer account</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e8526ba32_5_5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e8526ba32_5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6e8526ba32_5_59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6e8526ba32_5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To dive a little deeper into the services running in the Databricks subscription.</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account console is where you administer your Databricks account: workspace creation, user management, metastore management, … </a:t>
            </a:r>
            <a:br>
              <a:rPr lang="en">
                <a:solidFill>
                  <a:schemeClr val="dk1"/>
                </a:solidFill>
                <a:latin typeface="DM Sans"/>
                <a:ea typeface="DM Sans"/>
                <a:cs typeface="DM Sans"/>
                <a:sym typeface="DM Sans"/>
              </a:rPr>
            </a:br>
            <a:r>
              <a:rPr lang="en">
                <a:solidFill>
                  <a:schemeClr val="dk1"/>
                </a:solidFill>
                <a:latin typeface="DM Sans"/>
                <a:ea typeface="DM Sans"/>
                <a:cs typeface="DM Sans"/>
                <a:sym typeface="DM Sans"/>
              </a:rPr>
              <a:t>It is available for all three clouds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control plane has several services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Web App: Serves the Databricks UI for the customer to access Databricks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Workflow Management: Lakeflow Jobs and Lakeflow Declarative Pipelines to orchestrate tasks in multiple ways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Compute Management: Cluster Manager to configure and set up Spark clusters </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Jobs: Scheduled tasks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Unity Catalog: Data Governance around access control, metadata management, lineage and data discovery</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Intelligence Engine: Compute plane and Control Plane services use the models of the Intelligence Engine</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rPr lang="en">
                <a:solidFill>
                  <a:schemeClr val="dk1"/>
                </a:solidFill>
                <a:latin typeface="DM Sans"/>
                <a:ea typeface="DM Sans"/>
                <a:cs typeface="DM Sans"/>
                <a:sym typeface="DM Sans"/>
              </a:rPr>
              <a:t>Most components in the customer subscription have already been introduced. The ID provider is the central user management of the customer. On Azure this is Azure Active Directory (AAD), on the other clouds also other ID Providers, e.g. Okta, can be used</a:t>
            </a:r>
            <a:endParaRPr>
              <a:solidFill>
                <a:schemeClr val="dk1"/>
              </a:solidFill>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6e8526ba32_5_62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6e8526ba32_5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Unity Catalog consists of several capabilities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Metastore to hold </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table schema </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feature store 2.0 (preview)</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volumes </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functions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set SQL access permissions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Access control based on defined SQL access permissions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explorer to discover data sets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Lineage explorer to understand the end-to-end lineage of each dataset in the metastore</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The Intelligence Engine comprises of several capabilities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DatabricksIQ, which is the foundation of services like the Assistant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Optimizer: For example predictive IO, predictive Optimization</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Clusters in the Compute Plane are Spark clusters, consisting of one Spark driver and zero (!) or more Spark workers (aka executors).</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By default, the runtime of these clusters uses Apache Spark, but can also be configured to leverage Photon (higher dbu multiplier)</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Finally, users always log into the Web App of the Control Plane and also the REST API uses the Control Plane as endpoint</a:t>
            </a:r>
            <a:endParaRPr>
              <a:solidFill>
                <a:schemeClr val="dk1"/>
              </a:solidFill>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6e8526ba32_5_67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6e8526ba32_5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6e8526ba32_5_68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6e8526ba32_5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Instead of just clusters, Databricks SQL uses “SQL Warehouses”, which are compute resource optimized for SQL for all your data warehousing needs.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A SQL Warehouse uses one or more compute clusters in the customer’s cloud account behind a load balancer. This allows to scale up and down the warehouse to adapt to the number of concurrent queries (upscaling of clusters per warehouse is based on query throughput, the rate of incoming queries, and the queue size)</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SQL Warehouses also provide a query editor (aka Redash) and optimized connectors for standard BI tools like PowerBI or Tableau</a:t>
            </a:r>
            <a:endParaRPr>
              <a:solidFill>
                <a:schemeClr val="dk1"/>
              </a:solidFill>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6e8526ba32_5_71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6e8526ba32_5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Databricks SQL uses the same Databricks platform as Databricks Workspaces, as such SSO is supported, it uses the same Web App and, again, Unity Catalog provides data governance services.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Instead of notebooks, Databricks SQL provides a SQL Query Editor (Redash) to develop workloads in SQL and to create and share dashboards.</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SQL Warehouses use Photon as SQL engine. </a:t>
            </a:r>
            <a:endParaRPr>
              <a:solidFill>
                <a:schemeClr val="dk1"/>
              </a:solidFill>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6e8526ba32_5_76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6e8526ba32_5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6e8526ba32_5_77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6e8526ba32_5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The quick starting times are achieved by leveraging a pool of “unassigned clusters”: when a customer executes the initial query, a dedicated cluster from the pool will be assigned to the tenant.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Between tenants these clusters are isolated on different levels (VM, network, containers,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Since Serverless SQL Warehouses share the same platform as classical SQL Warehouses, login still supports SSO using the ID provider of the respective tenant.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On Azure, Private Link from Serverless Compute Plane can be enabled to the customer’s storage accounts (in preview)</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36e8526ba32_5_81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36e8526ba32_5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Serverless SQL Warehouse uses the compute resources in the Databricks account, which means that the Compute Plane is now in the </a:t>
            </a:r>
            <a:r>
              <a:rPr b="1" lang="en">
                <a:solidFill>
                  <a:schemeClr val="dk1"/>
                </a:solidFill>
                <a:latin typeface="DM Sans"/>
                <a:ea typeface="DM Sans"/>
                <a:cs typeface="DM Sans"/>
                <a:sym typeface="DM Sans"/>
              </a:rPr>
              <a:t>customer’s Databricks cloud account</a:t>
            </a:r>
            <a:r>
              <a:rPr lang="en">
                <a:solidFill>
                  <a:schemeClr val="dk1"/>
                </a:solidFill>
                <a:latin typeface="DM Sans"/>
                <a:ea typeface="DM Sans"/>
                <a:cs typeface="DM Sans"/>
                <a:sym typeface="DM Sans"/>
              </a:rPr>
              <a:t> (Serverless Compute Plane) instead of the customer cloud account.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Serverless SQL  is a secure multi-tenant offering that ensures that clusters are dedicated to each tenant and do not get reused between tenants. Each tenant cluster can only access the cloud resources (cloud storage, IP provider and other data sources) of its tenant.</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The main advantages compared to classical SQL Warehouses are less maintenance effort for the customer and cluster starting times in the range of seconds (leading to a much better efficiency for the customer)</a:t>
            </a:r>
            <a:endParaRPr>
              <a:solidFill>
                <a:schemeClr val="dk1"/>
              </a:solidFill>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6e8526ba32_5_85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36e8526ba32_5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The quick starting times are achieved by leveraging a pool of “unassigned clusters”: when a customer executes the initial query, a dedicated cluster from the pool will be assigned to the tenant.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Between tenants these clusters are isolated on different levels (VM, network, containers,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Since Serverless SQL Warehouses share the same platform as classical SQL Warehouses, login still supports SSO using the ID provider of the respective tenant.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On Azure, Private Link from Serverless Compute Plane can be enabled to the customer’s storage accounts (in preview)</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6e8526ba32_5_95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36e8526ba32_5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6e8526ba32_5_9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36e8526ba32_5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The quick starting times are achieved by leveraging a pool of “unassigned clusters”: when a customer executes the initial query, a dedicated cluster from the pool will be assigned to the tenant.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Between tenants these clusters are isolated on different levels (VM, network, containers,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Since Serverless SQL Warehouses share the same platform as classical SQL Warehouses, login still supports SSO using the ID provider of the respective tenant.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On Azure, Private Link from Serverless Compute Plane can be enabled to the customer’s storage accounts (in preview)</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6e8526ba32_5_100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6e8526ba32_5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6e8526ba32_5_101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36e8526ba32_5_1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6e8526ba32_5_10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36e8526ba32_5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36e8526ba32_5_112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36e8526ba32_5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6e8526ba32_5_112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36e8526ba32_5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Let’s look at some security highlights: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“Secure Cluster Connectivity” (SCC) between Databricks Control Plane and Compute Plane: With SCC enabled, customer’s virtual networks have no open ports and the clusters in the Compute Plane have no public IP addresses (SCC is also known as No Public IP / NPIP).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“Single Sign On”: Single sign-on (SSO) enables customers to authenticate their users using the organization’s identity provider. No passwords are stored in the Databricks platform.</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“IP Access Lists”: All incoming access to the web application and REST APIs requires the user connect from an authorized IP address</a:t>
            </a:r>
            <a:endParaRPr>
              <a:solidFill>
                <a:schemeClr val="dk1"/>
              </a:solidFill>
              <a:latin typeface="DM Sans"/>
              <a:ea typeface="DM Sans"/>
              <a:cs typeface="DM Sans"/>
              <a:sym typeface="DM Sans"/>
            </a:endParaRPr>
          </a:p>
          <a:p>
            <a:pPr indent="0" lvl="0" marL="0" rtl="0" algn="l">
              <a:lnSpc>
                <a:spcPct val="100000"/>
              </a:lnSpc>
              <a:spcBef>
                <a:spcPts val="300"/>
              </a:spcBef>
              <a:spcAft>
                <a:spcPts val="30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36e8526ba32_5_117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36e8526ba32_5_1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The communication between the different components of the Data Intelligence Platform is secured by TLS.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Users will access the Web App via https (port 443), same applies to clients of the REST API</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Both Control Plane and Compute Plane will connect to the SCC relay on port 443.</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Furthermore, full job results will be stored in DBFS and the Web App access DBFS also on port 443</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rPr lang="en">
                <a:solidFill>
                  <a:schemeClr val="dk1"/>
                </a:solidFill>
                <a:latin typeface="DM Sans"/>
                <a:ea typeface="DM Sans"/>
                <a:cs typeface="DM Sans"/>
                <a:sym typeface="DM Sans"/>
              </a:rPr>
              <a:t>Note, in case of a migration from legacy Hive Metastore to Unity Metastore, there will be an additional link from the Compute Plane to port 3306 of the Metastore in the Control Plane</a:t>
            </a:r>
            <a:endParaRPr>
              <a:solidFill>
                <a:schemeClr val="dk1"/>
              </a:solidFill>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g36e8526ba32_5_124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12" name="Google Shape;1612;g36e8526ba32_5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36e8526ba32_5_128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36e8526ba32_5_1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g36e8526ba32_5_131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85" name="Google Shape;1685;g36e8526ba32_5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36e8526ba32_5_134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18" name="Google Shape;1718;g36e8526ba32_5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g36e8526ba32_5_135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24" name="Google Shape;1724;g36e8526ba32_5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In general information systems can be scaled in different ways. The same hold for the Data Intelligence platform.</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If you want to analyse large data sets, there are two ways: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If your node(s) get too small for the amount of data that needs to be hold in memory on one node, then switch over to a bigger machine (vertical scaling). This for reaches a limit when no (affordable) bigger machine exists any more.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If you are dealing with a distributed workload, then more nodes can be easily added (horizontal scaling)</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Specifically in Databricks there are two more scenarios: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If you want to separate workloads (e.g. ETL, DS, BI), use different clusters for them</a:t>
            </a:r>
            <a:endParaRPr>
              <a:solidFill>
                <a:schemeClr val="dk1"/>
              </a:solidFill>
              <a:latin typeface="DM Sans"/>
              <a:ea typeface="DM Sans"/>
              <a:cs typeface="DM Sans"/>
              <a:sym typeface="DM Sans"/>
            </a:endParaRPr>
          </a:p>
          <a:p>
            <a:pPr indent="-298450" lvl="0" marL="457200" rtl="0" algn="l">
              <a:spcBef>
                <a:spcPts val="300"/>
              </a:spcBef>
              <a:spcAft>
                <a:spcPts val="300"/>
              </a:spcAft>
              <a:buClr>
                <a:schemeClr val="dk1"/>
              </a:buClr>
              <a:buSzPts val="1100"/>
              <a:buFont typeface="DM Sans"/>
              <a:buChar char="●"/>
            </a:pPr>
            <a:r>
              <a:rPr lang="en">
                <a:solidFill>
                  <a:schemeClr val="dk1"/>
                </a:solidFill>
                <a:latin typeface="DM Sans"/>
                <a:ea typeface="DM Sans"/>
                <a:cs typeface="DM Sans"/>
                <a:sym typeface="DM Sans"/>
              </a:rPr>
              <a:t>If you are dealing with SQL Warehouse workloads and lots of concurrent queries, then use SQL Warehouse autoscaling which will transparently add/remove additional clusters depending on workload needs.</a:t>
            </a:r>
            <a:endParaRPr>
              <a:solidFill>
                <a:schemeClr val="dk1"/>
              </a:solidFill>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g36e8526ba32_5_144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20" name="Google Shape;1820;g36e8526ba32_5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Another approach to scale the platform is to split into several workspaces and several cloud storage buckets/containers</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Besides isolating workloads this can help to overcome workspace limitations or storage limitations</a:t>
            </a:r>
            <a:endParaRPr>
              <a:solidFill>
                <a:schemeClr val="dk1"/>
              </a:solidFill>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36e8526ba32_5_150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36e8526ba32_5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36e8526ba32_5_150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80" name="Google Shape;1880;g36e8526ba32_5_1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36e8526ba32_5_151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36e8526ba32_5_1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The best practice pipeline consists of three layers: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Bronze layer is where we land all the data from external source systems. The table structures in this layer correspond to the source system table structures "as-is," along with any additional metadata columns that capture the load date/time, process ID, etc.</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In the Silver layer, the data from the Bronze layer is matched, merged, conformed and cleansed so that the Silver layer can provide an "Enterprise view" of all its key business entities, concepts and transactions</a:t>
            </a:r>
            <a:endParaRPr>
              <a:solidFill>
                <a:schemeClr val="dk1"/>
              </a:solidFill>
              <a:latin typeface="DM Sans"/>
              <a:ea typeface="DM Sans"/>
              <a:cs typeface="DM Sans"/>
              <a:sym typeface="DM Sans"/>
            </a:endParaRPr>
          </a:p>
          <a:p>
            <a:pPr indent="-298450" lvl="0" marL="457200" rtl="0" algn="l">
              <a:spcBef>
                <a:spcPts val="300"/>
              </a:spcBef>
              <a:spcAft>
                <a:spcPts val="300"/>
              </a:spcAft>
              <a:buClr>
                <a:schemeClr val="dk1"/>
              </a:buClr>
              <a:buSzPts val="1100"/>
              <a:buFont typeface="DM Sans"/>
              <a:buChar char="●"/>
            </a:pPr>
            <a:r>
              <a:rPr lang="en">
                <a:solidFill>
                  <a:schemeClr val="dk1"/>
                </a:solidFill>
                <a:latin typeface="DM Sans"/>
                <a:ea typeface="DM Sans"/>
                <a:cs typeface="DM Sans"/>
                <a:sym typeface="DM Sans"/>
              </a:rPr>
              <a:t>Data in the Gold layer is typically organized in consumption-ready "project-specific" databases. The Gold layer is for reporting and uses more de-normalized and read-optimized data models with fewer joins. </a:t>
            </a:r>
            <a:endParaRPr>
              <a:solidFill>
                <a:schemeClr val="dk1"/>
              </a:solidFill>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2" name="Shape 1922"/>
        <p:cNvGrpSpPr/>
        <p:nvPr/>
      </p:nvGrpSpPr>
      <p:grpSpPr>
        <a:xfrm>
          <a:off x="0" y="0"/>
          <a:ext cx="0" cy="0"/>
          <a:chOff x="0" y="0"/>
          <a:chExt cx="0" cy="0"/>
        </a:xfrm>
      </p:grpSpPr>
      <p:sp>
        <p:nvSpPr>
          <p:cNvPr id="1923" name="Google Shape;1923;g36e8526ba32_5_154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24" name="Google Shape;1924;g36e8526ba32_5_1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tag:overview</a:t>
            </a:r>
            <a:endParaRPr b="1" sz="14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1" name="Shape 1981"/>
        <p:cNvGrpSpPr/>
        <p:nvPr/>
      </p:nvGrpSpPr>
      <p:grpSpPr>
        <a:xfrm>
          <a:off x="0" y="0"/>
          <a:ext cx="0" cy="0"/>
          <a:chOff x="0" y="0"/>
          <a:chExt cx="0" cy="0"/>
        </a:xfrm>
      </p:grpSpPr>
      <p:sp>
        <p:nvSpPr>
          <p:cNvPr id="1982" name="Google Shape;1982;g36e8526ba32_5_160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83" name="Google Shape;1983;g36e8526ba32_5_1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tag:overview</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g36e8526ba32_5_164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19" name="Google Shape;2019;g36e8526ba32_5_1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b="1" sz="1400">
              <a:solidFill>
                <a:schemeClr val="dk1"/>
              </a:solidFill>
            </a:endParaRPr>
          </a:p>
          <a:p>
            <a:pPr indent="0" lvl="0" marL="0" rtl="0" algn="l">
              <a:spcBef>
                <a:spcPts val="300"/>
              </a:spcBef>
              <a:spcAft>
                <a:spcPts val="0"/>
              </a:spcAft>
              <a:buClr>
                <a:schemeClr val="dk1"/>
              </a:buClr>
              <a:buSzPts val="1100"/>
              <a:buFont typeface="Arial"/>
              <a:buNone/>
            </a:pPr>
            <a:r>
              <a:t/>
            </a:r>
            <a:endParaRPr b="1" sz="1400">
              <a:solidFill>
                <a:schemeClr val="dk1"/>
              </a:solidFill>
            </a:endParaRPr>
          </a:p>
          <a:p>
            <a:pPr indent="0" lvl="0" marL="0" rtl="0" algn="l">
              <a:spcBef>
                <a:spcPts val="0"/>
              </a:spcBef>
              <a:spcAft>
                <a:spcPts val="0"/>
              </a:spcAft>
              <a:buNone/>
            </a:pPr>
            <a:r>
              <a:rPr lang="en"/>
              <a:t>Combining both worlds, the data lake approach (Ingestion ⇒ Curation ⇒ Final) with the Data Warehouse approach (Ingestion ⇒ Integration ⇒ Presentation), leads to an extension of the Medallion Architecture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g36e8526ba32_5_168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63" name="Google Shape;2063;g36e8526ba32_5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36e8526ba32_5_16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69" name="Google Shape;2069;g36e8526ba32_5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With Unity Catalog and “Shared clusters”, there are two types of storage containers/buckets: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“managed table container/bucket”, that gets created with a metastore to store data of managed tables. There exists one managed table container/bucket per metastore</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“External table containers/bucket” are provided by the customer and should only be used to store data that is access controlled by Unity Catalog</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While “Shared clusters” cannot access DBFS by default, “Single user” clusters can also access DBFS.</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300"/>
              </a:spcAft>
              <a:buNone/>
            </a:pPr>
            <a:r>
              <a:rPr b="1" lang="en">
                <a:solidFill>
                  <a:schemeClr val="dk1"/>
                </a:solidFill>
                <a:latin typeface="DM Sans"/>
                <a:ea typeface="DM Sans"/>
                <a:cs typeface="DM Sans"/>
                <a:sym typeface="DM Sans"/>
              </a:rPr>
              <a:t>Note: DBFS does not provide access permissions!</a:t>
            </a:r>
            <a:endParaRPr b="1">
              <a:solidFill>
                <a:schemeClr val="dk1"/>
              </a:solidFill>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g36e8526ba32_5_17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08" name="Google Shape;2108;g36e8526ba32_5_1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As a prerequisite, the principals (IDs) need to be synched to the Account Console (once for all Workspaces!). From there access to Workspaces can be assigned to suers and groups.</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With Unity Catalog there is just one way to securely access cloud storage: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The cluster will check the access permissions against the ACL database in Unity Catalog (1a) and either access managed tables in the managed table container/bucket or external tables in other cloud containers/buckets (1b). </a:t>
            </a:r>
            <a:br>
              <a:rPr lang="en">
                <a:solidFill>
                  <a:schemeClr val="dk1"/>
                </a:solidFill>
                <a:latin typeface="DM Sans"/>
                <a:ea typeface="DM Sans"/>
                <a:cs typeface="DM Sans"/>
                <a:sym typeface="DM Sans"/>
              </a:rPr>
            </a:br>
            <a:r>
              <a:rPr lang="en">
                <a:solidFill>
                  <a:schemeClr val="dk1"/>
                </a:solidFill>
                <a:latin typeface="DM Sans"/>
                <a:ea typeface="DM Sans"/>
                <a:cs typeface="DM Sans"/>
                <a:sym typeface="DM Sans"/>
              </a:rPr>
              <a:t>The authorization happens in both cases via short lived signed access tokens.</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g36e8526ba32_5_17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40" name="Google Shape;2140;g36e8526ba32_5_1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b="1" lang="en">
                <a:solidFill>
                  <a:schemeClr val="dk1"/>
                </a:solidFill>
                <a:latin typeface="DM Sans"/>
                <a:ea typeface="DM Sans"/>
                <a:cs typeface="DM Sans"/>
                <a:sym typeface="DM Sans"/>
              </a:rPr>
              <a:t>L200</a:t>
            </a:r>
            <a:endParaRPr b="1">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Let’s dive deeper into how Table ACLs work without Unity Catalog:</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A client send a SQL, Python, R or Scala based query to the cluster or SQL Warehouse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cluster checks the metadata and grants with Unity Catalog</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If access is permitted, Unity Catalog (and not the cluster!) assumes the IAM role (AWS) or the Service Principal (Azure) and creates signed urls with short lived tokens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Unity Catalog returns these signed URLS to the cluster</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cluster reads the data from the cloud storage using the these signed URLs. Note, no other files can be accessed via these tokens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cloud storage returns the data</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cluster filters unauthorized data (e.g. due to for row level policies,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 and sends back the result to the client</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As a prerequisite, the admin created credentials and configures permissions in UC</a:t>
            </a:r>
            <a:endParaRPr>
              <a:solidFill>
                <a:srgbClr val="1B3139"/>
              </a:solidFill>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36e8526ba32_5_181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198" name="Google Shape;2198;g36e8526ba32_5_1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b="1" lang="en">
                <a:solidFill>
                  <a:schemeClr val="dk1"/>
                </a:solidFill>
                <a:latin typeface="DM Sans"/>
                <a:ea typeface="DM Sans"/>
                <a:cs typeface="DM Sans"/>
                <a:sym typeface="DM Sans"/>
              </a:rPr>
              <a:t>L200</a:t>
            </a:r>
            <a:endParaRPr b="1">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Let’s dive deeper into how Table ACLs work without Unity Catalog:</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A client send a SQL, Python, R or Scala based query to the cluster or SQL Warehouse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cluster checks the metadata and grants with Unity Catalog</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If access is permitted, Unity Catalog (and not the cluster!) assumes the IAM role (AWS) or the Service Principal (Azure) and creates signed urls with short lived tokens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Unity Catalog returns these signed URLS to the cluster</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cluster reads the data from the cloud storage using the these signed URLs. Note, no other files can be accessed via these tokens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cloud storage returns the data</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cluster filters unauthorized data (e.g. due to for row level policies,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 and sends back the result to the client</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rPr lang="en">
                <a:solidFill>
                  <a:schemeClr val="dk1"/>
                </a:solidFill>
                <a:latin typeface="DM Sans"/>
                <a:ea typeface="DM Sans"/>
                <a:cs typeface="DM Sans"/>
                <a:sym typeface="DM Sans"/>
              </a:rPr>
              <a:t>As a prerequisite, the admin created credentials and configures permissions in UC</a:t>
            </a:r>
            <a:endParaRPr>
              <a:solidFill>
                <a:srgbClr val="1B3139"/>
              </a:solidFill>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6" name="Shape 2256"/>
        <p:cNvGrpSpPr/>
        <p:nvPr/>
      </p:nvGrpSpPr>
      <p:grpSpPr>
        <a:xfrm>
          <a:off x="0" y="0"/>
          <a:ext cx="0" cy="0"/>
          <a:chOff x="0" y="0"/>
          <a:chExt cx="0" cy="0"/>
        </a:xfrm>
      </p:grpSpPr>
      <p:sp>
        <p:nvSpPr>
          <p:cNvPr id="2257" name="Google Shape;2257;g36e8526ba32_5_187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258" name="Google Shape;2258;g36e8526ba32_5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B3139"/>
                </a:solidFill>
              </a:rPr>
              <a:t>Let me run you through the life of a query with Unity Catalog</a:t>
            </a:r>
            <a:endParaRPr>
              <a:solidFill>
                <a:srgbClr val="1B3139"/>
              </a:solidFill>
            </a:endParaRPr>
          </a:p>
          <a:p>
            <a:pPr indent="0" lvl="0" marL="0" rtl="0" algn="l">
              <a:spcBef>
                <a:spcPts val="0"/>
              </a:spcBef>
              <a:spcAft>
                <a:spcPts val="0"/>
              </a:spcAft>
              <a:buNone/>
            </a:pPr>
            <a:r>
              <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A user submits a query or action, this can be any query/action on any language, Python, R, Scala, SQL. Unity Catalog works across all languages.</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This query hits an warehouse or cluster, this can be a standard, user isolation or multi user cluster, a DBSQL Warehouse or a Serverless DBSQL Warehouse, Unity Catalog works across all compute.</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The first thing that warehouse or cluster does is hit Unity’s control plane services, to check the namespace, metadata and evaluate the grants for that user.</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UC will evaluate whether or not that user has access to read the objects specified in the query or action, a pass or a fail</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Depending on that, an appropriate audit log record will be written out.</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In the event the user has access, UC will, for each object in the query or action, assume the underlying Credential that controls the external location or managed datasource where that object resides</a:t>
            </a:r>
            <a:endParaRPr>
              <a:solidFill>
                <a:srgbClr val="1B3139"/>
              </a:solidFill>
            </a:endParaRPr>
          </a:p>
          <a:p>
            <a:pPr indent="-298450" lvl="2" marL="1371600" rtl="0" algn="l">
              <a:spcBef>
                <a:spcPts val="0"/>
              </a:spcBef>
              <a:spcAft>
                <a:spcPts val="0"/>
              </a:spcAft>
              <a:buClr>
                <a:srgbClr val="1B3139"/>
              </a:buClr>
              <a:buSzPts val="1100"/>
              <a:buAutoNum type="romanLcPeriod"/>
            </a:pPr>
            <a:r>
              <a:rPr lang="en">
                <a:solidFill>
                  <a:srgbClr val="1B3139"/>
                </a:solidFill>
              </a:rPr>
              <a:t>This could be a Service Principal or an IAM Role</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UC will return short lived tokens, roles, or signed URLs to the cluster/warehouse</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Short lived is 1 hour</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These are presigned urls or downscoped roles in S3 or SAS URLs in ADLS</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Keep in mind steps 2,3,4 are control plane activity, so this operation happens in milliseconds</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Once the cluster or warehouse has these tokens or presigned urls it will go grab the data files directly from Cloud storage.</a:t>
            </a:r>
            <a:endParaRPr>
              <a:solidFill>
                <a:srgbClr val="1B3139"/>
              </a:solidFill>
            </a:endParaRPr>
          </a:p>
          <a:p>
            <a:pPr indent="-298450" lvl="1" marL="914400" rtl="0" algn="l">
              <a:spcBef>
                <a:spcPts val="0"/>
              </a:spcBef>
              <a:spcAft>
                <a:spcPts val="0"/>
              </a:spcAft>
              <a:buClr>
                <a:srgbClr val="1B3139"/>
              </a:buClr>
              <a:buSzPts val="1100"/>
              <a:buAutoNum type="alphaLcPeriod"/>
            </a:pPr>
            <a:r>
              <a:rPr lang="en">
                <a:solidFill>
                  <a:srgbClr val="1B3139"/>
                </a:solidFill>
              </a:rPr>
              <a:t>UC is not in the path of data.</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Because UC will grant access to data at the partition level, the last mile of filtering for row level filtering or column level filtering will happen on the cluster or warehouse</a:t>
            </a:r>
            <a:endParaRPr>
              <a:solidFill>
                <a:srgbClr val="1B3139"/>
              </a:solidFill>
            </a:endParaRPr>
          </a:p>
          <a:p>
            <a:pPr indent="-298450" lvl="0" marL="457200" rtl="0" algn="l">
              <a:spcBef>
                <a:spcPts val="0"/>
              </a:spcBef>
              <a:spcAft>
                <a:spcPts val="0"/>
              </a:spcAft>
              <a:buClr>
                <a:srgbClr val="1B3139"/>
              </a:buClr>
              <a:buSzPts val="1100"/>
              <a:buAutoNum type="arabicPeriod"/>
            </a:pPr>
            <a:r>
              <a:rPr lang="en">
                <a:solidFill>
                  <a:srgbClr val="1B3139"/>
                </a:solidFill>
              </a:rPr>
              <a:t>Before the information is finally sent back to the user or requestor.</a:t>
            </a:r>
            <a:endParaRPr>
              <a:solidFill>
                <a:srgbClr val="1B3139"/>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g36e8526ba32_5_19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307" name="Google Shape;2307;g36e8526ba32_5_1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g36e8526ba32_5_19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313" name="Google Shape;2313;g36e8526ba32_5_1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To understand the most important benefits of Delta, it helps to look at some issues around the well known format Parquet:</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The small file problem: Over time when more and more data has been appended to a parquet file, it can happen that it contains lots of small files (in the MBs or even KBs). For small files the time to open and close them takes a significant time of the total read operation. Overall, this leads to very poor read and query performance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AutoNum type="arabicPeriod"/>
            </a:pPr>
            <a:r>
              <a:rPr lang="en">
                <a:solidFill>
                  <a:schemeClr val="dk1"/>
                </a:solidFill>
                <a:latin typeface="DM Sans"/>
                <a:ea typeface="DM Sans"/>
                <a:cs typeface="DM Sans"/>
                <a:sym typeface="DM Sans"/>
              </a:rPr>
              <a:t>Corrupt data: Parquet does not guard against adding data that isn’t compliant with the schema. Additionally, when a write job dies before finishing the write, a corrupt parquet chunk file remains in the parquet folder. In both cases, Spark tasks can fail and with that the overall query.</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The goal from a query perspective is to have sufficiently large files that are all consistent and compliant with the schema. This will enable successful queries downstream and these queries will be fast.</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Another big pain point is that data can’t be updated or deleted in a Parquet file (e.g. for GDPR deletion requests). Usually complex pipeline had to be set up that use temp copies to achieve this.</a:t>
            </a:r>
            <a:endParaRPr>
              <a:solidFill>
                <a:schemeClr val="dk1"/>
              </a:solidFill>
              <a:latin typeface="DM Sans"/>
              <a:ea typeface="DM Sans"/>
              <a:cs typeface="DM Sans"/>
              <a:sym typeface="DM Sans"/>
            </a:endParaRPr>
          </a:p>
          <a:p>
            <a:pPr indent="0" lvl="0" marL="0" rtl="0" algn="l">
              <a:spcBef>
                <a:spcPts val="300"/>
              </a:spcBef>
              <a:spcAft>
                <a:spcPts val="30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1" name="Shape 2421"/>
        <p:cNvGrpSpPr/>
        <p:nvPr/>
      </p:nvGrpSpPr>
      <p:grpSpPr>
        <a:xfrm>
          <a:off x="0" y="0"/>
          <a:ext cx="0" cy="0"/>
          <a:chOff x="0" y="0"/>
          <a:chExt cx="0" cy="0"/>
        </a:xfrm>
      </p:grpSpPr>
      <p:sp>
        <p:nvSpPr>
          <p:cNvPr id="2422" name="Google Shape;2422;g36e8526ba32_5_203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423" name="Google Shape;2423;g36e8526ba32_5_2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tag:overview,L100-200</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Delta addresses many issues known in Big Data file formats like parquet:</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It uses the Parquet file format for the payload and adds a transaction log to it.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This transaction log enables (amongst other things) four main features: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Char char="●"/>
            </a:pPr>
            <a:r>
              <a:rPr b="1" lang="en">
                <a:solidFill>
                  <a:schemeClr val="dk1"/>
                </a:solidFill>
                <a:latin typeface="DM Sans"/>
                <a:ea typeface="DM Sans"/>
                <a:cs typeface="DM Sans"/>
                <a:sym typeface="DM Sans"/>
              </a:rPr>
              <a:t>Consistency: </a:t>
            </a:r>
            <a:r>
              <a:rPr lang="en">
                <a:solidFill>
                  <a:schemeClr val="dk1"/>
                </a:solidFill>
                <a:latin typeface="DM Sans"/>
                <a:ea typeface="DM Sans"/>
                <a:cs typeface="DM Sans"/>
                <a:sym typeface="DM Sans"/>
              </a:rPr>
              <a:t>Write tasks and streaming tasks can be used with reading tasks at the same time. Delta will take care that the data is consistent at any time. It additionally enforces the underlying schema of the Delta file which is also important to ensure consistent data. As such you will never read broken, unfinished or wrong data)</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Char char="●"/>
            </a:pPr>
            <a:r>
              <a:rPr b="1" lang="en">
                <a:solidFill>
                  <a:schemeClr val="dk1"/>
                </a:solidFill>
                <a:latin typeface="DM Sans"/>
                <a:ea typeface="DM Sans"/>
                <a:cs typeface="DM Sans"/>
                <a:sym typeface="DM Sans"/>
              </a:rPr>
              <a:t>Optimizations on the fly</a:t>
            </a:r>
            <a:r>
              <a:rPr lang="en">
                <a:solidFill>
                  <a:schemeClr val="dk1"/>
                </a:solidFill>
                <a:latin typeface="DM Sans"/>
                <a:ea typeface="DM Sans"/>
                <a:cs typeface="DM Sans"/>
                <a:sym typeface="DM Sans"/>
              </a:rPr>
              <a:t>: Being based on Parquet, Delta still can suffer from small files. However Delta can deal with them in two ways: </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Separate optimization jobs combine the small files to optimal file sizes. Due to the transaction support of Delta, they can run without maintenance window and without complex pipelines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Delta can be configured to already optimize at write time or use idle times to perform optimizations automatically</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Char char="●"/>
            </a:pPr>
            <a:r>
              <a:rPr b="1" lang="en">
                <a:solidFill>
                  <a:schemeClr val="dk1"/>
                </a:solidFill>
                <a:latin typeface="DM Sans"/>
                <a:ea typeface="DM Sans"/>
                <a:cs typeface="DM Sans"/>
                <a:sym typeface="DM Sans"/>
              </a:rPr>
              <a:t>Direct updates and deletes</a:t>
            </a:r>
            <a:r>
              <a:rPr lang="en">
                <a:solidFill>
                  <a:schemeClr val="dk1"/>
                </a:solidFill>
                <a:latin typeface="DM Sans"/>
                <a:ea typeface="DM Sans"/>
                <a:cs typeface="DM Sans"/>
                <a:sym typeface="DM Sans"/>
              </a:rPr>
              <a:t>: Delta allows to update or delete single rows by just copying the chunk file of the Delta file where the respective row is stored. For large datasets this is a significant advantage. And, remember, due to the transaction support, the whole dataset will be consistent at any point of time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Char char="●"/>
            </a:pPr>
            <a:r>
              <a:rPr b="1" lang="en">
                <a:solidFill>
                  <a:schemeClr val="dk1"/>
                </a:solidFill>
                <a:latin typeface="DM Sans"/>
                <a:ea typeface="DM Sans"/>
                <a:cs typeface="DM Sans"/>
                <a:sym typeface="DM Sans"/>
              </a:rPr>
              <a:t>Time travel</a:t>
            </a:r>
            <a:r>
              <a:rPr lang="en">
                <a:solidFill>
                  <a:schemeClr val="dk1"/>
                </a:solidFill>
                <a:latin typeface="DM Sans"/>
                <a:ea typeface="DM Sans"/>
                <a:cs typeface="DM Sans"/>
                <a:sym typeface="DM Sans"/>
              </a:rPr>
              <a:t>: Since every change is recorded in the transaction log and is manifested in new and changed chunk files - while the original chunk files are marked invalid), Delta allows to travel back in time and provide the state of the data at that time</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0" name="Shape 2550"/>
        <p:cNvGrpSpPr/>
        <p:nvPr/>
      </p:nvGrpSpPr>
      <p:grpSpPr>
        <a:xfrm>
          <a:off x="0" y="0"/>
          <a:ext cx="0" cy="0"/>
          <a:chOff x="0" y="0"/>
          <a:chExt cx="0" cy="0"/>
        </a:xfrm>
      </p:grpSpPr>
      <p:sp>
        <p:nvSpPr>
          <p:cNvPr id="2551" name="Google Shape;2551;g36e8526ba32_5_216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552" name="Google Shape;2552;g36e8526ba32_5_2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g36e8526ba32_5_227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661" name="Google Shape;2661;g36e8526ba32_5_2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5" name="Shape 2665"/>
        <p:cNvGrpSpPr/>
        <p:nvPr/>
      </p:nvGrpSpPr>
      <p:grpSpPr>
        <a:xfrm>
          <a:off x="0" y="0"/>
          <a:ext cx="0" cy="0"/>
          <a:chOff x="0" y="0"/>
          <a:chExt cx="0" cy="0"/>
        </a:xfrm>
      </p:grpSpPr>
      <p:sp>
        <p:nvSpPr>
          <p:cNvPr id="2666" name="Google Shape;2666;g36e8526ba32_5_227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667" name="Google Shape;2667;g36e8526ba32_5_2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7" name="Shape 2727"/>
        <p:cNvGrpSpPr/>
        <p:nvPr/>
      </p:nvGrpSpPr>
      <p:grpSpPr>
        <a:xfrm>
          <a:off x="0" y="0"/>
          <a:ext cx="0" cy="0"/>
          <a:chOff x="0" y="0"/>
          <a:chExt cx="0" cy="0"/>
        </a:xfrm>
      </p:grpSpPr>
      <p:sp>
        <p:nvSpPr>
          <p:cNvPr id="2728" name="Google Shape;2728;g36e8526ba32_5_233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729" name="Google Shape;2729;g36e8526ba32_5_2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0" name="Shape 2790"/>
        <p:cNvGrpSpPr/>
        <p:nvPr/>
      </p:nvGrpSpPr>
      <p:grpSpPr>
        <a:xfrm>
          <a:off x="0" y="0"/>
          <a:ext cx="0" cy="0"/>
          <a:chOff x="0" y="0"/>
          <a:chExt cx="0" cy="0"/>
        </a:xfrm>
      </p:grpSpPr>
      <p:sp>
        <p:nvSpPr>
          <p:cNvPr id="2791" name="Google Shape;2791;g36e8526ba32_5_239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792" name="Google Shape;2792;g36e8526ba32_5_2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tag:overview</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6" name="Shape 2796"/>
        <p:cNvGrpSpPr/>
        <p:nvPr/>
      </p:nvGrpSpPr>
      <p:grpSpPr>
        <a:xfrm>
          <a:off x="0" y="0"/>
          <a:ext cx="0" cy="0"/>
          <a:chOff x="0" y="0"/>
          <a:chExt cx="0" cy="0"/>
        </a:xfrm>
      </p:grpSpPr>
      <p:sp>
        <p:nvSpPr>
          <p:cNvPr id="2797" name="Google Shape;2797;g36e8526ba32_5_240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798" name="Google Shape;2798;g36e8526ba32_5_2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4" name="Shape 2834"/>
        <p:cNvGrpSpPr/>
        <p:nvPr/>
      </p:nvGrpSpPr>
      <p:grpSpPr>
        <a:xfrm>
          <a:off x="0" y="0"/>
          <a:ext cx="0" cy="0"/>
          <a:chOff x="0" y="0"/>
          <a:chExt cx="0" cy="0"/>
        </a:xfrm>
      </p:grpSpPr>
      <p:sp>
        <p:nvSpPr>
          <p:cNvPr id="2835" name="Google Shape;2835;g36e8526ba32_5_244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836" name="Google Shape;2836;g36e8526ba32_5_2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Video to explain this slide: </a:t>
            </a:r>
            <a:r>
              <a:rPr lang="en" u="sng">
                <a:solidFill>
                  <a:schemeClr val="hlink"/>
                </a:solidFill>
                <a:latin typeface="DM Sans"/>
                <a:ea typeface="DM Sans"/>
                <a:cs typeface="DM Sans"/>
                <a:sym typeface="DM Sans"/>
                <a:hlinkClick r:id="rId2"/>
              </a:rPr>
              <a:t>https://drive.google.com/drive/folders/1leUtebmO45Ut28nuRoiO-Zj_8O2PAwcB</a:t>
            </a:r>
            <a:r>
              <a:rPr lang="en">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Note: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With Unity Catalog DBFS mounts will be deprecated</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In general, mounts are not recommended, since they have some side effects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Do not store production data in DBFS</a:t>
            </a:r>
            <a:endParaRPr>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g36e8526ba32_5_25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922" name="Google Shape;2922;g36e8526ba32_5_2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tag: overview,aws,azure,gcp</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6" name="Shape 2926"/>
        <p:cNvGrpSpPr/>
        <p:nvPr/>
      </p:nvGrpSpPr>
      <p:grpSpPr>
        <a:xfrm>
          <a:off x="0" y="0"/>
          <a:ext cx="0" cy="0"/>
          <a:chOff x="0" y="0"/>
          <a:chExt cx="0" cy="0"/>
        </a:xfrm>
      </p:grpSpPr>
      <p:sp>
        <p:nvSpPr>
          <p:cNvPr id="2927" name="Google Shape;2927;g394787055f7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928" name="Google Shape;2928;g394787055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The reference architecture is structured along the dimensions “Source”, “Ingest”, “Transform”, “Query and Process”, “Serve”, “Analyse”, “Storage” and “Integration”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It maps capabilities into domains like “Batch &amp; Streaming”, “Processing, ETL, Real-time Analysis”, “Data Warehousing”, “Data Science &amp; Gen AI”,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 </a:t>
            </a:r>
            <a:endParaRPr>
              <a:solidFill>
                <a:srgbClr val="1B3139"/>
              </a:solidFill>
            </a:endParaRPr>
          </a:p>
          <a:p>
            <a:pPr indent="0" lvl="0" marL="0" rtl="0" algn="l">
              <a:spcBef>
                <a:spcPts val="400"/>
              </a:spcBef>
              <a:spcAft>
                <a:spcPts val="0"/>
              </a:spcAft>
              <a:buNone/>
            </a:pPr>
            <a:r>
              <a:rPr b="1" lang="en" sz="1300">
                <a:solidFill>
                  <a:srgbClr val="1B3139"/>
                </a:solidFill>
              </a:rPr>
              <a:t>(1) Capabilities outside of the Data Intelligence Platform:</a:t>
            </a:r>
            <a:endParaRPr b="1" sz="1300">
              <a:solidFill>
                <a:srgbClr val="1B3139"/>
              </a:solidFill>
            </a:endParaRPr>
          </a:p>
          <a:p>
            <a:pPr indent="0" lvl="0" marL="0" rtl="0" algn="l">
              <a:spcBef>
                <a:spcPts val="400"/>
              </a:spcBef>
              <a:spcAft>
                <a:spcPts val="0"/>
              </a:spcAft>
              <a:buNone/>
            </a:pPr>
            <a:r>
              <a:t/>
            </a:r>
            <a:endParaRPr b="1" sz="1300">
              <a:solidFill>
                <a:srgbClr val="1B3139"/>
              </a:solidFill>
            </a:endParaRPr>
          </a:p>
          <a:p>
            <a:pPr indent="0" lvl="0" marL="0" rtl="0" algn="l">
              <a:spcBef>
                <a:spcPts val="400"/>
              </a:spcBef>
              <a:spcAft>
                <a:spcPts val="0"/>
              </a:spcAft>
              <a:buNone/>
            </a:pPr>
            <a:r>
              <a:rPr b="1" lang="en">
                <a:solidFill>
                  <a:srgbClr val="1B3139"/>
                </a:solidFill>
              </a:rPr>
              <a:t>Sources:</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Source systems that will be integrated via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We distinguish between semi-structured and unstructured data (Sensors and IoT, Media, Files/Logs), and structured data (RDBMSs, Business Apps).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Additionally, some customer load data from other cloud providers.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No-ETL approach for data integration (federation)</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Lakehouse Federation allows to access selected databases directly (without ETL and with query push down). Synapse and SQL Server are supported on Azure, but there are many more systems supported by Lakehouse Federation, e.g. Google BigQuery, Amazon Redshift, Postgres, My SQL, …</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Storage: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 will be stored in the cloud storage, i.e. ADLS on Azure</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Ingest:</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Streaming events from systems like “IoT Hub” and “Event Hub” can be directly read from Databricks via Structured Streaming.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For batch events “Azure Data Factory” and “Fabric Data Factory” can integrate with Databricks by executing notebooks, Python code or Java jar files as steps of the defined workflow. It is recommended to use Databricks workflows for all steps in the Databricks platform for better monitoring and integrated root cause analysis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Partner ingest tools like Fivetran help to extract data from enterprise source systems and ingest them into the Delta Lake</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Serve: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The Databricks Intelligence Platform does not provide capabilities for generic OLTP and key-value databases. If such a capability is needed, transformed data can be pushed as the last step of an ETL pipeline into systems like SQL DB or Cosmos DB</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Analysis:</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Different business applications leverage the Data Intelligence Platform: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AI Apps and Gen AI Apps using e.g. Model Serving and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BI use cases with standard tools like Power BI (but also using Databricks own dashboarding solution Lakeview)</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Business Applications that need OLTP DBs or key-value stores, populated by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3rd party data consumers using Delta Sharing directly or Marketplace or Clean rooms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sz="1300">
                <a:solidFill>
                  <a:srgbClr val="1B3139"/>
                </a:solidFill>
              </a:rPr>
              <a:t>(2) The Data Intelligence Platform </a:t>
            </a:r>
            <a:br>
              <a:rPr b="1" lang="en" sz="1300">
                <a:solidFill>
                  <a:srgbClr val="1B3139"/>
                </a:solidFill>
              </a:rPr>
            </a:br>
            <a:endParaRPr b="1" sz="1300">
              <a:solidFill>
                <a:srgbClr val="1B3139"/>
              </a:solidFill>
            </a:endParaRPr>
          </a:p>
          <a:p>
            <a:pPr indent="0" lvl="0" marL="0" rtl="0" algn="l">
              <a:spcBef>
                <a:spcPts val="400"/>
              </a:spcBef>
              <a:spcAft>
                <a:spcPts val="0"/>
              </a:spcAft>
              <a:buNone/>
            </a:pPr>
            <a:r>
              <a:rPr lang="en">
                <a:solidFill>
                  <a:srgbClr val="1B3139"/>
                </a:solidFill>
              </a:rPr>
              <a:t>The Data Intelligence Platform covers all dimensions from Ingest to Serve and offers dashboarding for Analysis:</a:t>
            </a:r>
            <a:br>
              <a:rPr lang="en">
                <a:solidFill>
                  <a:srgbClr val="1B3139"/>
                </a:solidFill>
              </a:rPr>
            </a:br>
            <a:endParaRPr>
              <a:solidFill>
                <a:srgbClr val="1B3139"/>
              </a:solidFill>
            </a:endParaRPr>
          </a:p>
          <a:p>
            <a:pPr indent="0" lvl="0" marL="0" rtl="0" algn="l">
              <a:spcBef>
                <a:spcPts val="400"/>
              </a:spcBef>
              <a:spcAft>
                <a:spcPts val="0"/>
              </a:spcAft>
              <a:buNone/>
            </a:pPr>
            <a:r>
              <a:rPr b="1" lang="en">
                <a:solidFill>
                  <a:srgbClr val="1B3139"/>
                </a:solidFill>
              </a:rPr>
              <a:t>Storage: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Lake is located on top of ADLS. ETL pipelines will use the so called “medallion architecture” to store data in a curated way as Delta files/tables.</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Batch &amp; Streaming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Ingest</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Databricks Auto Loader allows to incrementally read files from object storage locations and works well together with Lakeflow Declarative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acquisition of Arcion added Data Replication capabilities which will be integrated into the Data Intelligence Platform in 2024</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Processing, ETL, Real-time Analysis</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r>
              <a:rPr lang="en">
                <a:solidFill>
                  <a:srgbClr val="1B3139"/>
                </a:solidFill>
              </a:rPr>
              <a:t>: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Due to its simplicity, a great choice for ETL is LDP with its declarative approach to building pipelines.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LDP integrates nicely with Auto Loader and comes with expectations to check data quality during ETL pipeline execution</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 </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All workloads are covered by the Databricks Intelligence Platform and use the same Spark engine (and its API compatible native counterpart Photon).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They consistently use the same SQL language for all workloads in SQl Warehouses and via notebooks in workspaces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Workspaces additionally support Python, R and Scala</a:t>
            </a:r>
            <a:endParaRPr>
              <a:solidFill>
                <a:srgbClr val="1B3139"/>
              </a:solidFill>
            </a:endParaRPr>
          </a:p>
          <a:p>
            <a:pPr indent="0" lvl="0" marL="0" rtl="0" algn="l">
              <a:spcBef>
                <a:spcPts val="400"/>
              </a:spcBef>
              <a:spcAft>
                <a:spcPts val="0"/>
              </a:spcAft>
              <a:buNone/>
            </a:pPr>
            <a:r>
              <a:rPr lang="en">
                <a:solidFill>
                  <a:srgbClr val="1B3139"/>
                </a:solidFill>
              </a:rPr>
              <a:t>Data pipelines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Warehousing</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Databricks Intelligence Platform provides “Databricks SQL” and its serverless version “Serverless SQL” as full Data Warehouse offerings for DWH/BI use cases.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Science &amp; Gen AI</a:t>
            </a:r>
            <a:endParaRPr b="1">
              <a:solidFill>
                <a:srgbClr val="1B3139"/>
              </a:solidFill>
            </a:endParaRPr>
          </a:p>
          <a:p>
            <a:pPr indent="0" lvl="0" marL="0" rtl="0" algn="l">
              <a:spcBef>
                <a:spcPts val="400"/>
              </a:spcBef>
              <a:spcAft>
                <a:spcPts val="0"/>
              </a:spcAft>
              <a:buNone/>
            </a:pPr>
            <a:r>
              <a:rPr lang="en">
                <a:solidFill>
                  <a:srgbClr val="1B3139"/>
                </a:solidFill>
              </a:rPr>
              <a:t>Mosaic AI supports end-to-end Machine Learning from data preparation to modeling and model serving for both traditional ML and Gen AI.</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engineering is supported with feature management in UC and “Feature Serving” (not shown in the diagram)</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Modeling can be done with the most recent ML and AI Python libraries.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Mosaic AI also provides a low code AutoML capability.</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overall data science life cycle uses the common Lakehouse capabilities like Spark/Photon and Unity Catalog, and is supported by MLflow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 Serving” is a scalable enterprise grade model serving capability hosted in the Databricks Control Plane and supports CPU, GPU and LLM optimized serving. It also provides a unified API to access 3rd party LLMs.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Serving” (not shown) is also part of the Data Science serving capabilities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For RAG (Retrieval Augmented Generation) use cases, the platform offers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MLOps (MLflow) is an open source MLOps platform integrated into the Data Intelligence Platform</a:t>
            </a:r>
            <a:endParaRPr>
              <a:solidFill>
                <a:srgbClr val="1B3139"/>
              </a:solidFill>
            </a:endParaRPr>
          </a:p>
          <a:p>
            <a:pPr indent="0" lvl="0" marL="0" rtl="0" algn="l">
              <a:spcBef>
                <a:spcPts val="400"/>
              </a:spcBef>
              <a:spcAft>
                <a:spcPts val="0"/>
              </a:spcAft>
              <a:buNone/>
            </a:pPr>
            <a:r>
              <a:rPr lang="en">
                <a:solidFill>
                  <a:srgbClr val="1B3139"/>
                </a:solidFill>
              </a:rPr>
              <a:t>As with data, ML assets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Intelligence Engine:</a:t>
            </a:r>
            <a:endParaRPr>
              <a:solidFill>
                <a:srgbClr val="1B3139"/>
              </a:solidFill>
            </a:endParaRPr>
          </a:p>
          <a:p>
            <a:pPr indent="0" lvl="0" marL="0" rtl="0" algn="l">
              <a:spcBef>
                <a:spcPts val="400"/>
              </a:spcBef>
              <a:spcAft>
                <a:spcPts val="0"/>
              </a:spcAft>
              <a:buNone/>
            </a:pPr>
            <a:r>
              <a:rPr lang="en">
                <a:solidFill>
                  <a:srgbClr val="1B3139"/>
                </a:solidFill>
              </a:rPr>
              <a:t>A core component of the Databricks Data Intelligence Platform is the DatabricksIQ</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DatabricksIQ uses generative AI to understand the semantics of your data. This is leveraged for example in the Databricks Assistant (context aware help) and Data Rooms (use of natural language for queries and dashboards)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and AI Governance: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Unity Catalog is the central data governance solution of Databricks providing important capabilities like metadata storage, data discovery, lineage tracking and fine grained access control.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Monitoring is the central monitoring capability across the platform. It allows to monitor, tables, features and models (via their inference tables)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Observability is the capability to access Lakehiouse lineage, logs and metrics via system tables.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Orchestration</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Lakeflow Jobs is a flexible workflow management solution running millions of orchestrated pipelines in production of Databricks’ customers. Furthermore, CI/CD support and the MLOps Stacks allow to orchestrate the supporting processes.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a:solidFill>
                  <a:srgbClr val="1B3139"/>
                </a:solidFill>
              </a:rPr>
              <a:t>Collaboration:</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Sharing, the technology agnostic sharing solution provides enterprise grade, secure access to life data for partners</a:t>
            </a:r>
            <a:endParaRPr>
              <a:solidFill>
                <a:srgbClr val="1B3139"/>
              </a:solidFill>
            </a:endParaRPr>
          </a:p>
          <a:p>
            <a:pPr indent="-298450" lvl="0" marL="457200" rtl="0" algn="l">
              <a:spcBef>
                <a:spcPts val="400"/>
              </a:spcBef>
              <a:spcAft>
                <a:spcPts val="400"/>
              </a:spcAft>
              <a:buClr>
                <a:srgbClr val="1B3139"/>
              </a:buClr>
              <a:buSzPts val="1100"/>
              <a:buChar char="●"/>
            </a:pPr>
            <a:r>
              <a:rPr lang="en">
                <a:solidFill>
                  <a:srgbClr val="1B3139"/>
                </a:solidFill>
              </a:rPr>
              <a:t>Delta Sharing is also the technical foundation of the Databricks Marketplace and Clean Rooms </a:t>
            </a:r>
            <a:endParaRPr>
              <a:solidFill>
                <a:srgbClr val="1B3139"/>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6" name="Shape 3126"/>
        <p:cNvGrpSpPr/>
        <p:nvPr/>
      </p:nvGrpSpPr>
      <p:grpSpPr>
        <a:xfrm>
          <a:off x="0" y="0"/>
          <a:ext cx="0" cy="0"/>
          <a:chOff x="0" y="0"/>
          <a:chExt cx="0" cy="0"/>
        </a:xfrm>
      </p:grpSpPr>
      <p:sp>
        <p:nvSpPr>
          <p:cNvPr id="3127" name="Google Shape;3127;g394787055f7_0_19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128" name="Google Shape;3128;g394787055f7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1B3139"/>
                </a:solidFill>
                <a:latin typeface="DM Sans"/>
                <a:ea typeface="DM Sans"/>
                <a:cs typeface="DM Sans"/>
                <a:sym typeface="DM Sans"/>
              </a:rPr>
              <a:t>Databricks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Lakeflow Connect</a:t>
            </a:r>
            <a:r>
              <a:rPr lang="en" sz="1200">
                <a:solidFill>
                  <a:srgbClr val="1B3139"/>
                </a:solidFill>
                <a:latin typeface="DM Sans"/>
                <a:ea typeface="DM Sans"/>
                <a:cs typeface="DM Sans"/>
                <a:sym typeface="DM Sans"/>
              </a:rPr>
              <a:t> offers built-in connectors for ingestion from enterprise applications and databases. The resulting ingestion pipeline is governed by Unity Catalog and is powered by serverless compute and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Lakeflow Declarative Pipelines</a:t>
            </a:r>
            <a:r>
              <a:rPr lang="en" sz="1200">
                <a:solidFill>
                  <a:srgbClr val="1B3139"/>
                </a:solidFill>
                <a:latin typeface="DM Sans"/>
                <a:ea typeface="DM Sans"/>
                <a:cs typeface="DM Sans"/>
                <a:sym typeface="DM Sans"/>
              </a:rPr>
              <a:t>.</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Lakeflow Connect leverages efficient incremental reads and writes to make data ingestion faster, scalable, and more cost-efficient, while your data remains fresh for downstream consumption.</a:t>
            </a:r>
            <a:endParaRPr sz="1200">
              <a:solidFill>
                <a:srgbClr val="1B3139"/>
              </a:solidFill>
              <a:latin typeface="DM Sans"/>
              <a:ea typeface="DM Sans"/>
              <a:cs typeface="DM Sans"/>
              <a:sym typeface="DM Sans"/>
            </a:endParaRPr>
          </a:p>
          <a:p>
            <a:pPr indent="0" lvl="0" marL="0" rtl="0" algn="l">
              <a:spcBef>
                <a:spcPts val="1500"/>
              </a:spcBef>
              <a:spcAft>
                <a:spcPts val="400"/>
              </a:spcAft>
              <a:buNone/>
            </a:pPr>
            <a:r>
              <a:t/>
            </a:r>
            <a:endParaRPr>
              <a:solidFill>
                <a:srgbClr val="1B3139"/>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7" name="Shape 3277"/>
        <p:cNvGrpSpPr/>
        <p:nvPr/>
      </p:nvGrpSpPr>
      <p:grpSpPr>
        <a:xfrm>
          <a:off x="0" y="0"/>
          <a:ext cx="0" cy="0"/>
          <a:chOff x="0" y="0"/>
          <a:chExt cx="0" cy="0"/>
        </a:xfrm>
      </p:grpSpPr>
      <p:sp>
        <p:nvSpPr>
          <p:cNvPr id="3278" name="Google Shape;3278;g394787055f7_0_34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279" name="Google Shape;3279;g394787055f7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sz="1200">
                <a:solidFill>
                  <a:srgbClr val="1B3139"/>
                </a:solidFill>
                <a:latin typeface="DM Sans"/>
                <a:ea typeface="DM Sans"/>
                <a:cs typeface="DM Sans"/>
                <a:sym typeface="DM Sans"/>
              </a:rPr>
              <a:t>Ingestion tools use source-specific adapters to read data from the source and then either store it in the cloud storage from where Auto Loader can read it, or call Databricks directly (for example, with partner ingestion tools integrated into the Databricks lakehouse). To load the data, the Databricks ETL and processing engine runs the queries via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Lakeflow Declarative Pipelines</a:t>
            </a:r>
            <a:r>
              <a:rPr lang="en" sz="1200">
                <a:solidFill>
                  <a:srgbClr val="1B3139"/>
                </a:solidFill>
                <a:latin typeface="DM Sans"/>
                <a:ea typeface="DM Sans"/>
                <a:cs typeface="DM Sans"/>
                <a:sym typeface="DM Sans"/>
              </a:rPr>
              <a:t>. Orchestrate single or multitask jobs using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Lakeflow Jobs</a:t>
            </a:r>
            <a:r>
              <a:rPr lang="en" sz="1200">
                <a:solidFill>
                  <a:srgbClr val="1B3139"/>
                </a:solidFill>
                <a:latin typeface="DM Sans"/>
                <a:ea typeface="DM Sans"/>
                <a:cs typeface="DM Sans"/>
                <a:sym typeface="DM Sans"/>
              </a:rPr>
              <a:t> and govern them using Unity Catalog (access control, audit, lineage, and so on). To provide access to specific golden tables for low-latency operational systems, export the tables to an operational database such as an RDBMS or key-value store at the end of the ETL pipeline.</a:t>
            </a:r>
            <a:endParaRPr>
              <a:solidFill>
                <a:srgbClr val="1B3139"/>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6" name="Shape 3456"/>
        <p:cNvGrpSpPr/>
        <p:nvPr/>
      </p:nvGrpSpPr>
      <p:grpSpPr>
        <a:xfrm>
          <a:off x="0" y="0"/>
          <a:ext cx="0" cy="0"/>
          <a:chOff x="0" y="0"/>
          <a:chExt cx="0" cy="0"/>
        </a:xfrm>
      </p:grpSpPr>
      <p:sp>
        <p:nvSpPr>
          <p:cNvPr id="3457" name="Google Shape;3457;g394787055f7_0_52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58" name="Google Shape;3458;g394787055f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1B3139"/>
                </a:solidFill>
                <a:latin typeface="DM Sans"/>
                <a:ea typeface="DM Sans"/>
                <a:cs typeface="DM Sans"/>
                <a:sym typeface="DM Sans"/>
              </a:rPr>
              <a:t>The Databricks ETL engine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Spark Structured Streaming</a:t>
            </a:r>
            <a:r>
              <a:rPr lang="en" sz="1200">
                <a:solidFill>
                  <a:srgbClr val="1B3139"/>
                </a:solidFill>
                <a:latin typeface="DM Sans"/>
                <a:ea typeface="DM Sans"/>
                <a:cs typeface="DM Sans"/>
                <a:sym typeface="DM Sans"/>
              </a:rPr>
              <a:t> to read from event queues such as Apache Kafka or AWS Kinesis. The downstream steps follow the approach of the Batch use case above.</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Real-time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change data capture</a:t>
            </a:r>
            <a:r>
              <a:rPr lang="en" sz="1200">
                <a:solidFill>
                  <a:srgbClr val="1B3139"/>
                </a:solidFill>
                <a:latin typeface="DM Sans"/>
                <a:ea typeface="DM Sans"/>
                <a:cs typeface="DM Sans"/>
                <a:sym typeface="DM Sans"/>
              </a:rPr>
              <a:t> (CDC) typically uses an event queue to store the extracted events. From there, the use case follows the streaming use case.</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If CDC is done in batch where the extracted records are stored in cloud storage first, then Databricks Autoloader can read them and the use case follows Batch ETL.</a:t>
            </a:r>
            <a:endParaRPr sz="1200">
              <a:solidFill>
                <a:srgbClr val="1B3139"/>
              </a:solidFill>
              <a:latin typeface="DM Sans"/>
              <a:ea typeface="DM Sans"/>
              <a:cs typeface="DM Sans"/>
              <a:sym typeface="DM Sans"/>
            </a:endParaRPr>
          </a:p>
          <a:p>
            <a:pPr indent="0" lvl="0" marL="0" rtl="0" algn="l">
              <a:spcBef>
                <a:spcPts val="1500"/>
              </a:spcBef>
              <a:spcAft>
                <a:spcPts val="400"/>
              </a:spcAft>
              <a:buNone/>
            </a:pPr>
            <a:r>
              <a:t/>
            </a:r>
            <a:endParaRPr>
              <a:solidFill>
                <a:srgbClr val="1B3139"/>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9" name="Shape 3639"/>
        <p:cNvGrpSpPr/>
        <p:nvPr/>
      </p:nvGrpSpPr>
      <p:grpSpPr>
        <a:xfrm>
          <a:off x="0" y="0"/>
          <a:ext cx="0" cy="0"/>
          <a:chOff x="0" y="0"/>
          <a:chExt cx="0" cy="0"/>
        </a:xfrm>
      </p:grpSpPr>
      <p:sp>
        <p:nvSpPr>
          <p:cNvPr id="3640" name="Google Shape;3640;g394787055f7_0_70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41" name="Google Shape;3641;g394787055f7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1B3139"/>
                </a:solidFill>
                <a:latin typeface="DM Sans"/>
                <a:ea typeface="DM Sans"/>
                <a:cs typeface="DM Sans"/>
                <a:sym typeface="DM Sans"/>
              </a:rPr>
              <a:t>For machine learning, the Databricks Data Intelligence Platform provides Mosaic AI, which comes with state-of-the-art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machine and deep learning libraries</a:t>
            </a:r>
            <a:r>
              <a:rPr lang="en" sz="1200">
                <a:solidFill>
                  <a:srgbClr val="1B3139"/>
                </a:solidFill>
                <a:latin typeface="DM Sans"/>
                <a:ea typeface="DM Sans"/>
                <a:cs typeface="DM Sans"/>
                <a:sym typeface="DM Sans"/>
              </a:rPr>
              <a:t>. It provides capabilities such as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Feature Store</a:t>
            </a:r>
            <a:r>
              <a:rPr lang="en" sz="1200">
                <a:solidFill>
                  <a:srgbClr val="1B3139"/>
                </a:solidFill>
                <a:latin typeface="DM Sans"/>
                <a:ea typeface="DM Sans"/>
                <a:cs typeface="DM Sans"/>
                <a:sym typeface="DM Sans"/>
              </a:rPr>
              <a:t> and </a:t>
            </a:r>
            <a:r>
              <a:rPr lang="en" sz="1200">
                <a:solidFill>
                  <a:srgbClr val="2272B4"/>
                </a:solidFill>
                <a:uFill>
                  <a:noFill/>
                </a:uFill>
                <a:latin typeface="DM Sans"/>
                <a:ea typeface="DM Sans"/>
                <a:cs typeface="DM Sans"/>
                <a:sym typeface="DM Sans"/>
                <a:hlinkClick r:id="rId4">
                  <a:extLst>
                    <a:ext uri="{A12FA001-AC4F-418D-AE19-62706E023703}">
                      <ahyp:hlinkClr val="tx"/>
                    </a:ext>
                  </a:extLst>
                </a:hlinkClick>
              </a:rPr>
              <a:t>Model Registry</a:t>
            </a:r>
            <a:r>
              <a:rPr lang="en" sz="1200">
                <a:solidFill>
                  <a:srgbClr val="1B3139"/>
                </a:solidFill>
                <a:latin typeface="DM Sans"/>
                <a:ea typeface="DM Sans"/>
                <a:cs typeface="DM Sans"/>
                <a:sym typeface="DM Sans"/>
              </a:rPr>
              <a:t> (both integrated into Unity Catalog), low-code features with </a:t>
            </a:r>
            <a:r>
              <a:rPr lang="en" sz="1200">
                <a:solidFill>
                  <a:srgbClr val="2272B4"/>
                </a:solidFill>
                <a:uFill>
                  <a:noFill/>
                </a:uFill>
                <a:latin typeface="DM Sans"/>
                <a:ea typeface="DM Sans"/>
                <a:cs typeface="DM Sans"/>
                <a:sym typeface="DM Sans"/>
                <a:hlinkClick r:id="rId5">
                  <a:extLst>
                    <a:ext uri="{A12FA001-AC4F-418D-AE19-62706E023703}">
                      <ahyp:hlinkClr val="tx"/>
                    </a:ext>
                  </a:extLst>
                </a:hlinkClick>
              </a:rPr>
              <a:t>AutoML</a:t>
            </a:r>
            <a:r>
              <a:rPr lang="en" sz="1200">
                <a:solidFill>
                  <a:srgbClr val="1B3139"/>
                </a:solidFill>
                <a:latin typeface="DM Sans"/>
                <a:ea typeface="DM Sans"/>
                <a:cs typeface="DM Sans"/>
                <a:sym typeface="DM Sans"/>
              </a:rPr>
              <a:t>, and MLflow integration into the data science lifecycle.</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All data science-related assets (tables, features, and models) are governed by Unity Catalog and data scientists can use </a:t>
            </a:r>
            <a:r>
              <a:rPr lang="en" sz="1200">
                <a:solidFill>
                  <a:srgbClr val="2272B4"/>
                </a:solidFill>
                <a:uFill>
                  <a:noFill/>
                </a:uFill>
                <a:latin typeface="DM Sans"/>
                <a:ea typeface="DM Sans"/>
                <a:cs typeface="DM Sans"/>
                <a:sym typeface="DM Sans"/>
                <a:hlinkClick r:id="rId6">
                  <a:extLst>
                    <a:ext uri="{A12FA001-AC4F-418D-AE19-62706E023703}">
                      <ahyp:hlinkClr val="tx"/>
                    </a:ext>
                  </a:extLst>
                </a:hlinkClick>
              </a:rPr>
              <a:t>Lakeflow Jobs</a:t>
            </a:r>
            <a:r>
              <a:rPr lang="en" sz="1200">
                <a:solidFill>
                  <a:srgbClr val="1B3139"/>
                </a:solidFill>
                <a:latin typeface="DM Sans"/>
                <a:ea typeface="DM Sans"/>
                <a:cs typeface="DM Sans"/>
                <a:sym typeface="DM Sans"/>
              </a:rPr>
              <a:t> to orchestrate their jobs.</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For deploying models in a scalable and enterprise-grade way, use the </a:t>
            </a:r>
            <a:r>
              <a:rPr lang="en" sz="1200">
                <a:solidFill>
                  <a:srgbClr val="2272B4"/>
                </a:solidFill>
                <a:uFill>
                  <a:noFill/>
                </a:uFill>
                <a:latin typeface="DM Sans"/>
                <a:ea typeface="DM Sans"/>
                <a:cs typeface="DM Sans"/>
                <a:sym typeface="DM Sans"/>
                <a:hlinkClick r:id="rId7">
                  <a:extLst>
                    <a:ext uri="{A12FA001-AC4F-418D-AE19-62706E023703}">
                      <ahyp:hlinkClr val="tx"/>
                    </a:ext>
                  </a:extLst>
                </a:hlinkClick>
              </a:rPr>
              <a:t>MLOps</a:t>
            </a:r>
            <a:r>
              <a:rPr lang="en" sz="1200">
                <a:solidFill>
                  <a:srgbClr val="1B3139"/>
                </a:solidFill>
                <a:latin typeface="DM Sans"/>
                <a:ea typeface="DM Sans"/>
                <a:cs typeface="DM Sans"/>
                <a:sym typeface="DM Sans"/>
              </a:rPr>
              <a:t> capabilities to publish the models in model serving.</a:t>
            </a:r>
            <a:endParaRPr sz="1200">
              <a:solidFill>
                <a:srgbClr val="1B3139"/>
              </a:solidFill>
              <a:latin typeface="DM Sans"/>
              <a:ea typeface="DM Sans"/>
              <a:cs typeface="DM Sans"/>
              <a:sym typeface="DM Sans"/>
            </a:endParaRPr>
          </a:p>
          <a:p>
            <a:pPr indent="0" lvl="0" marL="0" rtl="0" algn="l">
              <a:spcBef>
                <a:spcPts val="1500"/>
              </a:spcBef>
              <a:spcAft>
                <a:spcPts val="400"/>
              </a:spcAft>
              <a:buNone/>
            </a:pPr>
            <a:r>
              <a:t/>
            </a:r>
            <a:endParaRPr>
              <a:solidFill>
                <a:srgbClr val="1B3139"/>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2" name="Shape 3832"/>
        <p:cNvGrpSpPr/>
        <p:nvPr/>
      </p:nvGrpSpPr>
      <p:grpSpPr>
        <a:xfrm>
          <a:off x="0" y="0"/>
          <a:ext cx="0" cy="0"/>
          <a:chOff x="0" y="0"/>
          <a:chExt cx="0" cy="0"/>
        </a:xfrm>
      </p:grpSpPr>
      <p:sp>
        <p:nvSpPr>
          <p:cNvPr id="3833" name="Google Shape;3833;g394787055f7_0_90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834" name="Google Shape;3834;g394787055f7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1B3139"/>
                </a:solidFill>
                <a:latin typeface="DM Sans"/>
                <a:ea typeface="DM Sans"/>
                <a:cs typeface="DM Sans"/>
                <a:sym typeface="DM Sans"/>
              </a:rPr>
              <a:t>For machine learning, the Databricks Data Intelligence Platform provides Mosaic AI, which comes with state-of-the-art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machine and deep learning libraries</a:t>
            </a:r>
            <a:r>
              <a:rPr lang="en" sz="1200">
                <a:solidFill>
                  <a:srgbClr val="1B3139"/>
                </a:solidFill>
                <a:latin typeface="DM Sans"/>
                <a:ea typeface="DM Sans"/>
                <a:cs typeface="DM Sans"/>
                <a:sym typeface="DM Sans"/>
              </a:rPr>
              <a:t>. It provides capabilities such as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Feature Store</a:t>
            </a:r>
            <a:r>
              <a:rPr lang="en" sz="1200">
                <a:solidFill>
                  <a:srgbClr val="1B3139"/>
                </a:solidFill>
                <a:latin typeface="DM Sans"/>
                <a:ea typeface="DM Sans"/>
                <a:cs typeface="DM Sans"/>
                <a:sym typeface="DM Sans"/>
              </a:rPr>
              <a:t> and </a:t>
            </a:r>
            <a:r>
              <a:rPr lang="en" sz="1200">
                <a:solidFill>
                  <a:srgbClr val="2272B4"/>
                </a:solidFill>
                <a:uFill>
                  <a:noFill/>
                </a:uFill>
                <a:latin typeface="DM Sans"/>
                <a:ea typeface="DM Sans"/>
                <a:cs typeface="DM Sans"/>
                <a:sym typeface="DM Sans"/>
                <a:hlinkClick r:id="rId4">
                  <a:extLst>
                    <a:ext uri="{A12FA001-AC4F-418D-AE19-62706E023703}">
                      <ahyp:hlinkClr val="tx"/>
                    </a:ext>
                  </a:extLst>
                </a:hlinkClick>
              </a:rPr>
              <a:t>Model Registry</a:t>
            </a:r>
            <a:r>
              <a:rPr lang="en" sz="1200">
                <a:solidFill>
                  <a:srgbClr val="1B3139"/>
                </a:solidFill>
                <a:latin typeface="DM Sans"/>
                <a:ea typeface="DM Sans"/>
                <a:cs typeface="DM Sans"/>
                <a:sym typeface="DM Sans"/>
              </a:rPr>
              <a:t> (both integrated into Unity Catalog), low-code features with </a:t>
            </a:r>
            <a:r>
              <a:rPr lang="en" sz="1200">
                <a:solidFill>
                  <a:srgbClr val="2272B4"/>
                </a:solidFill>
                <a:uFill>
                  <a:noFill/>
                </a:uFill>
                <a:latin typeface="DM Sans"/>
                <a:ea typeface="DM Sans"/>
                <a:cs typeface="DM Sans"/>
                <a:sym typeface="DM Sans"/>
                <a:hlinkClick r:id="rId5">
                  <a:extLst>
                    <a:ext uri="{A12FA001-AC4F-418D-AE19-62706E023703}">
                      <ahyp:hlinkClr val="tx"/>
                    </a:ext>
                  </a:extLst>
                </a:hlinkClick>
              </a:rPr>
              <a:t>AutoML</a:t>
            </a:r>
            <a:r>
              <a:rPr lang="en" sz="1200">
                <a:solidFill>
                  <a:srgbClr val="1B3139"/>
                </a:solidFill>
                <a:latin typeface="DM Sans"/>
                <a:ea typeface="DM Sans"/>
                <a:cs typeface="DM Sans"/>
                <a:sym typeface="DM Sans"/>
              </a:rPr>
              <a:t>, and MLflow integration into the data science lifecycle.</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All data science-related assets (tables, features, and models) are governed by Unity Catalog and data scientists can use </a:t>
            </a:r>
            <a:r>
              <a:rPr lang="en" sz="1200">
                <a:solidFill>
                  <a:srgbClr val="2272B4"/>
                </a:solidFill>
                <a:uFill>
                  <a:noFill/>
                </a:uFill>
                <a:latin typeface="DM Sans"/>
                <a:ea typeface="DM Sans"/>
                <a:cs typeface="DM Sans"/>
                <a:sym typeface="DM Sans"/>
                <a:hlinkClick r:id="rId6">
                  <a:extLst>
                    <a:ext uri="{A12FA001-AC4F-418D-AE19-62706E023703}">
                      <ahyp:hlinkClr val="tx"/>
                    </a:ext>
                  </a:extLst>
                </a:hlinkClick>
              </a:rPr>
              <a:t>Lakeflow Jobs</a:t>
            </a:r>
            <a:r>
              <a:rPr lang="en" sz="1200">
                <a:solidFill>
                  <a:srgbClr val="1B3139"/>
                </a:solidFill>
                <a:latin typeface="DM Sans"/>
                <a:ea typeface="DM Sans"/>
                <a:cs typeface="DM Sans"/>
                <a:sym typeface="DM Sans"/>
              </a:rPr>
              <a:t> to orchestrate their jobs.</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1500"/>
              </a:spcAft>
              <a:buClr>
                <a:schemeClr val="dk1"/>
              </a:buClr>
              <a:buSzPts val="1100"/>
              <a:buFont typeface="Arial"/>
              <a:buNone/>
            </a:pPr>
            <a:r>
              <a:rPr lang="en" sz="1200">
                <a:solidFill>
                  <a:srgbClr val="1B3139"/>
                </a:solidFill>
                <a:latin typeface="DM Sans"/>
                <a:ea typeface="DM Sans"/>
                <a:cs typeface="DM Sans"/>
                <a:sym typeface="DM Sans"/>
              </a:rPr>
              <a:t>For deploying models in a scalable and enterprise-grade way, use the </a:t>
            </a:r>
            <a:r>
              <a:rPr lang="en" sz="1200">
                <a:solidFill>
                  <a:srgbClr val="2272B4"/>
                </a:solidFill>
                <a:uFill>
                  <a:noFill/>
                </a:uFill>
                <a:latin typeface="DM Sans"/>
                <a:ea typeface="DM Sans"/>
                <a:cs typeface="DM Sans"/>
                <a:sym typeface="DM Sans"/>
                <a:hlinkClick r:id="rId7">
                  <a:extLst>
                    <a:ext uri="{A12FA001-AC4F-418D-AE19-62706E023703}">
                      <ahyp:hlinkClr val="tx"/>
                    </a:ext>
                  </a:extLst>
                </a:hlinkClick>
              </a:rPr>
              <a:t>MLOps</a:t>
            </a:r>
            <a:r>
              <a:rPr lang="en" sz="1200">
                <a:solidFill>
                  <a:srgbClr val="1B3139"/>
                </a:solidFill>
                <a:latin typeface="DM Sans"/>
                <a:ea typeface="DM Sans"/>
                <a:cs typeface="DM Sans"/>
                <a:sym typeface="DM Sans"/>
              </a:rPr>
              <a:t> capabilities to publish the models in model serving.</a:t>
            </a:r>
            <a:endParaRPr>
              <a:solidFill>
                <a:srgbClr val="1B3139"/>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8" name="Shape 4038"/>
        <p:cNvGrpSpPr/>
        <p:nvPr/>
      </p:nvGrpSpPr>
      <p:grpSpPr>
        <a:xfrm>
          <a:off x="0" y="0"/>
          <a:ext cx="0" cy="0"/>
          <a:chOff x="0" y="0"/>
          <a:chExt cx="0" cy="0"/>
        </a:xfrm>
      </p:grpSpPr>
      <p:sp>
        <p:nvSpPr>
          <p:cNvPr id="4039" name="Google Shape;4039;g394787055f7_0_110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40" name="Google Shape;4040;g394787055f7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sz="1200">
                <a:solidFill>
                  <a:srgbClr val="1B3139"/>
                </a:solidFill>
                <a:latin typeface="DM Sans"/>
                <a:ea typeface="DM Sans"/>
                <a:cs typeface="DM Sans"/>
                <a:sym typeface="DM Sans"/>
              </a:rPr>
              <a:t>For BI use cases, business analysts can use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dashboards</a:t>
            </a:r>
            <a:r>
              <a:rPr lang="en" sz="1200">
                <a:solidFill>
                  <a:srgbClr val="1B3139"/>
                </a:solidFill>
                <a:latin typeface="DM Sans"/>
                <a:ea typeface="DM Sans"/>
                <a:cs typeface="DM Sans"/>
                <a:sym typeface="DM Sans"/>
              </a:rPr>
              <a:t>, the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Databricks SQL editor</a:t>
            </a:r>
            <a:r>
              <a:rPr lang="en" sz="1200">
                <a:solidFill>
                  <a:srgbClr val="1B3139"/>
                </a:solidFill>
                <a:latin typeface="DM Sans"/>
                <a:ea typeface="DM Sans"/>
                <a:cs typeface="DM Sans"/>
                <a:sym typeface="DM Sans"/>
              </a:rPr>
              <a:t> or </a:t>
            </a:r>
            <a:r>
              <a:rPr lang="en" sz="1200">
                <a:solidFill>
                  <a:srgbClr val="2272B4"/>
                </a:solidFill>
                <a:uFill>
                  <a:noFill/>
                </a:uFill>
                <a:latin typeface="DM Sans"/>
                <a:ea typeface="DM Sans"/>
                <a:cs typeface="DM Sans"/>
                <a:sym typeface="DM Sans"/>
                <a:hlinkClick r:id="rId4">
                  <a:extLst>
                    <a:ext uri="{A12FA001-AC4F-418D-AE19-62706E023703}">
                      <ahyp:hlinkClr val="tx"/>
                    </a:ext>
                  </a:extLst>
                </a:hlinkClick>
              </a:rPr>
              <a:t>BI tools</a:t>
            </a:r>
            <a:r>
              <a:rPr lang="en" sz="1200">
                <a:solidFill>
                  <a:srgbClr val="1B3139"/>
                </a:solidFill>
                <a:latin typeface="DM Sans"/>
                <a:ea typeface="DM Sans"/>
                <a:cs typeface="DM Sans"/>
                <a:sym typeface="DM Sans"/>
              </a:rPr>
              <a:t> such as Tableau or Amazon QuickSight. In all cases, the engine is Databricks SQL (serverless or non-serverless), and Unity Catalog provides data discovery, exploration, lineage, and access control.</a:t>
            </a:r>
            <a:endParaRPr>
              <a:solidFill>
                <a:srgbClr val="1B3139"/>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1" name="Shape 4201"/>
        <p:cNvGrpSpPr/>
        <p:nvPr/>
      </p:nvGrpSpPr>
      <p:grpSpPr>
        <a:xfrm>
          <a:off x="0" y="0"/>
          <a:ext cx="0" cy="0"/>
          <a:chOff x="0" y="0"/>
          <a:chExt cx="0" cy="0"/>
        </a:xfrm>
      </p:grpSpPr>
      <p:sp>
        <p:nvSpPr>
          <p:cNvPr id="4202" name="Google Shape;4202;g394787055f7_0_126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03" name="Google Shape;4203;g394787055f7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400"/>
              </a:spcAft>
              <a:buClr>
                <a:srgbClr val="1B3139"/>
              </a:buClr>
              <a:buSzPts val="1100"/>
              <a:buChar char="●"/>
            </a:pPr>
            <a:r>
              <a:t/>
            </a:r>
            <a:endParaRPr>
              <a:solidFill>
                <a:srgbClr val="1B3139"/>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1" name="Shape 4361"/>
        <p:cNvGrpSpPr/>
        <p:nvPr/>
      </p:nvGrpSpPr>
      <p:grpSpPr>
        <a:xfrm>
          <a:off x="0" y="0"/>
          <a:ext cx="0" cy="0"/>
          <a:chOff x="0" y="0"/>
          <a:chExt cx="0" cy="0"/>
        </a:xfrm>
      </p:grpSpPr>
      <p:sp>
        <p:nvSpPr>
          <p:cNvPr id="4362" name="Google Shape;4362;g394787055f7_0_142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63" name="Google Shape;4363;g394787055f7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Lakehouse Federation</a:t>
            </a:r>
            <a:r>
              <a:rPr lang="en" sz="1200">
                <a:solidFill>
                  <a:srgbClr val="1B3139"/>
                </a:solidFill>
                <a:latin typeface="DM Sans"/>
                <a:ea typeface="DM Sans"/>
                <a:cs typeface="DM Sans"/>
                <a:sym typeface="DM Sans"/>
              </a:rPr>
              <a:t> allows external data SQL databases (such as MySQL, Postgres, or Redshift) to be integrated with Databricks.</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All workloads (AI, DWH, and BI) can benefit from this without the need to ETL the data into object storage first. The external source catalog is mapped into the Unity catalog and fine-grained access control can be applied to access via the Databricks platform.</a:t>
            </a:r>
            <a:endParaRPr sz="1200">
              <a:solidFill>
                <a:srgbClr val="1B3139"/>
              </a:solidFill>
              <a:latin typeface="DM Sans"/>
              <a:ea typeface="DM Sans"/>
              <a:cs typeface="DM Sans"/>
              <a:sym typeface="DM Sans"/>
            </a:endParaRPr>
          </a:p>
          <a:p>
            <a:pPr indent="0" lvl="0" marL="0" rtl="0" algn="l">
              <a:spcBef>
                <a:spcPts val="1500"/>
              </a:spcBef>
              <a:spcAft>
                <a:spcPts val="400"/>
              </a:spcAft>
              <a:buNone/>
            </a:pPr>
            <a:r>
              <a:t/>
            </a:r>
            <a:endParaRPr>
              <a:solidFill>
                <a:srgbClr val="1B3139"/>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6" name="Shape 4496"/>
        <p:cNvGrpSpPr/>
        <p:nvPr/>
      </p:nvGrpSpPr>
      <p:grpSpPr>
        <a:xfrm>
          <a:off x="0" y="0"/>
          <a:ext cx="0" cy="0"/>
          <a:chOff x="0" y="0"/>
          <a:chExt cx="0" cy="0"/>
        </a:xfrm>
      </p:grpSpPr>
      <p:sp>
        <p:nvSpPr>
          <p:cNvPr id="4497" name="Google Shape;4497;g394787055f7_0_156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498" name="Google Shape;4498;g394787055f7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Catalog federation</a:t>
            </a:r>
            <a:r>
              <a:rPr lang="en" sz="1200">
                <a:solidFill>
                  <a:srgbClr val="1B3139"/>
                </a:solidFill>
                <a:latin typeface="DM Sans"/>
                <a:ea typeface="DM Sans"/>
                <a:cs typeface="DM Sans"/>
                <a:sym typeface="DM Sans"/>
              </a:rPr>
              <a:t> allows external Hive Metastores (such as MySQL, Postgres, or Redshift) or Amazon Glue to be integrated with Databricks.</a:t>
            </a:r>
            <a:endParaRPr sz="1200">
              <a:solidFill>
                <a:srgbClr val="1B3139"/>
              </a:solidFill>
              <a:latin typeface="DM Sans"/>
              <a:ea typeface="DM Sans"/>
              <a:cs typeface="DM Sans"/>
              <a:sym typeface="DM Sans"/>
            </a:endParaRPr>
          </a:p>
          <a:p>
            <a:pPr indent="0" lvl="0" marL="0" rtl="0" algn="l">
              <a:lnSpc>
                <a:spcPct val="115000"/>
              </a:lnSpc>
              <a:spcBef>
                <a:spcPts val="1500"/>
              </a:spcBef>
              <a:spcAft>
                <a:spcPts val="0"/>
              </a:spcAft>
              <a:buClr>
                <a:schemeClr val="dk1"/>
              </a:buClr>
              <a:buSzPts val="1100"/>
              <a:buFont typeface="Arial"/>
              <a:buNone/>
            </a:pPr>
            <a:r>
              <a:rPr lang="en" sz="1200">
                <a:solidFill>
                  <a:srgbClr val="1B3139"/>
                </a:solidFill>
                <a:latin typeface="DM Sans"/>
                <a:ea typeface="DM Sans"/>
                <a:cs typeface="DM Sans"/>
                <a:sym typeface="DM Sans"/>
              </a:rPr>
              <a:t>All workloads (AI, DWH, and BI) can benefit from this without the need to ETL the data into object storage first. The external source catalog is added to Unity Catalog where fine-grained access control is applied via the Databricks platform.</a:t>
            </a:r>
            <a:endParaRPr sz="1200">
              <a:solidFill>
                <a:srgbClr val="1B3139"/>
              </a:solidFill>
              <a:latin typeface="DM Sans"/>
              <a:ea typeface="DM Sans"/>
              <a:cs typeface="DM Sans"/>
              <a:sym typeface="DM Sans"/>
            </a:endParaRPr>
          </a:p>
          <a:p>
            <a:pPr indent="0" lvl="0" marL="0" rtl="0" algn="l">
              <a:spcBef>
                <a:spcPts val="1500"/>
              </a:spcBef>
              <a:spcAft>
                <a:spcPts val="400"/>
              </a:spcAft>
              <a:buNone/>
            </a:pPr>
            <a:r>
              <a:t/>
            </a:r>
            <a:endParaRPr>
              <a:solidFill>
                <a:srgbClr val="1B3139"/>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1" name="Shape 4621"/>
        <p:cNvGrpSpPr/>
        <p:nvPr/>
      </p:nvGrpSpPr>
      <p:grpSpPr>
        <a:xfrm>
          <a:off x="0" y="0"/>
          <a:ext cx="0" cy="0"/>
          <a:chOff x="0" y="0"/>
          <a:chExt cx="0" cy="0"/>
        </a:xfrm>
      </p:grpSpPr>
      <p:sp>
        <p:nvSpPr>
          <p:cNvPr id="4622" name="Google Shape;4622;g394787055f7_0_168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623" name="Google Shape;4623;g394787055f7_0_1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sz="1200">
                <a:solidFill>
                  <a:srgbClr val="1B3139"/>
                </a:solidFill>
                <a:latin typeface="DM Sans"/>
                <a:ea typeface="DM Sans"/>
                <a:cs typeface="DM Sans"/>
                <a:sym typeface="DM Sans"/>
              </a:rPr>
              <a:t>Enterprise-grade data sharing with 3rd parties is provided by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Delta Sharing</a:t>
            </a:r>
            <a:r>
              <a:rPr lang="en" sz="1200">
                <a:solidFill>
                  <a:srgbClr val="1B3139"/>
                </a:solidFill>
                <a:latin typeface="DM Sans"/>
                <a:ea typeface="DM Sans"/>
                <a:cs typeface="DM Sans"/>
                <a:sym typeface="DM Sans"/>
              </a:rPr>
              <a:t>. It enables direct access to data in the object store secured by Unity Catalog. This capability is also used in the </a:t>
            </a:r>
            <a:r>
              <a:rPr lang="en" sz="1200">
                <a:solidFill>
                  <a:srgbClr val="2272B4"/>
                </a:solidFill>
                <a:uFill>
                  <a:noFill/>
                </a:uFill>
                <a:latin typeface="DM Sans"/>
                <a:ea typeface="DM Sans"/>
                <a:cs typeface="DM Sans"/>
                <a:sym typeface="DM Sans"/>
                <a:hlinkClick r:id="rId3">
                  <a:extLst>
                    <a:ext uri="{A12FA001-AC4F-418D-AE19-62706E023703}">
                      <ahyp:hlinkClr val="tx"/>
                    </a:ext>
                  </a:extLst>
                </a:hlinkClick>
              </a:rPr>
              <a:t>Databricks Marketplace</a:t>
            </a:r>
            <a:r>
              <a:rPr lang="en" sz="1200">
                <a:solidFill>
                  <a:srgbClr val="1B3139"/>
                </a:solidFill>
                <a:latin typeface="DM Sans"/>
                <a:ea typeface="DM Sans"/>
                <a:cs typeface="DM Sans"/>
                <a:sym typeface="DM Sans"/>
              </a:rPr>
              <a:t>, an open forum for exchanging data products.</a:t>
            </a:r>
            <a:endParaRPr>
              <a:solidFill>
                <a:srgbClr val="1B3139"/>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9" name="Shape 4769"/>
        <p:cNvGrpSpPr/>
        <p:nvPr/>
      </p:nvGrpSpPr>
      <p:grpSpPr>
        <a:xfrm>
          <a:off x="0" y="0"/>
          <a:ext cx="0" cy="0"/>
          <a:chOff x="0" y="0"/>
          <a:chExt cx="0" cy="0"/>
        </a:xfrm>
      </p:grpSpPr>
      <p:sp>
        <p:nvSpPr>
          <p:cNvPr id="4770" name="Google Shape;4770;g394787055f7_0_183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771" name="Google Shape;4771;g394787055f7_0_1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sz="1200">
                <a:solidFill>
                  <a:srgbClr val="1B3139"/>
                </a:solidFill>
                <a:latin typeface="DM Sans"/>
                <a:ea typeface="DM Sans"/>
                <a:cs typeface="DM Sans"/>
                <a:sym typeface="DM Sans"/>
              </a:rPr>
              <a:t>The </a:t>
            </a:r>
            <a:r>
              <a:rPr lang="en" sz="1200">
                <a:solidFill>
                  <a:srgbClr val="2272B4"/>
                </a:solidFill>
                <a:uFill>
                  <a:noFill/>
                </a:uFill>
                <a:latin typeface="DM Sans"/>
                <a:ea typeface="DM Sans"/>
                <a:cs typeface="DM Sans"/>
                <a:sym typeface="DM Sans"/>
                <a:hlinkClick r:id="rId2">
                  <a:extLst>
                    <a:ext uri="{A12FA001-AC4F-418D-AE19-62706E023703}">
                      <ahyp:hlinkClr val="tx"/>
                    </a:ext>
                  </a:extLst>
                </a:hlinkClick>
              </a:rPr>
              <a:t>Delta Sharing Databricks-to-Databricks protocol</a:t>
            </a:r>
            <a:r>
              <a:rPr lang="en" sz="1200">
                <a:solidFill>
                  <a:srgbClr val="1B3139"/>
                </a:solidFill>
                <a:latin typeface="DM Sans"/>
                <a:ea typeface="DM Sans"/>
                <a:cs typeface="DM Sans"/>
                <a:sym typeface="DM Sans"/>
              </a:rPr>
              <a:t> allows to share data securely with any Databricks user, regardless of account or cloud host, as long as that user has access to a workspace enabled for Unity Catalog.</a:t>
            </a:r>
            <a:endParaRPr>
              <a:solidFill>
                <a:srgbClr val="1B3139"/>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5" name="Shape 4905"/>
        <p:cNvGrpSpPr/>
        <p:nvPr/>
      </p:nvGrpSpPr>
      <p:grpSpPr>
        <a:xfrm>
          <a:off x="0" y="0"/>
          <a:ext cx="0" cy="0"/>
          <a:chOff x="0" y="0"/>
          <a:chExt cx="0" cy="0"/>
        </a:xfrm>
      </p:grpSpPr>
      <p:sp>
        <p:nvSpPr>
          <p:cNvPr id="4906" name="Google Shape;4906;g36e8526ba32_5_448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07" name="Google Shape;4907;g36e8526ba32_5_4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0" name="Shape 4910"/>
        <p:cNvGrpSpPr/>
        <p:nvPr/>
      </p:nvGrpSpPr>
      <p:grpSpPr>
        <a:xfrm>
          <a:off x="0" y="0"/>
          <a:ext cx="0" cy="0"/>
          <a:chOff x="0" y="0"/>
          <a:chExt cx="0" cy="0"/>
        </a:xfrm>
      </p:grpSpPr>
      <p:sp>
        <p:nvSpPr>
          <p:cNvPr id="4911" name="Google Shape;4911;g36e8526ba32_5_44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12" name="Google Shape;4912;g36e8526ba32_5_4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300"/>
              </a:spcAft>
              <a:buClr>
                <a:schemeClr val="dk1"/>
              </a:buClr>
              <a:buSzPts val="1100"/>
              <a:buFont typeface="Arial"/>
              <a:buNone/>
            </a:pPr>
            <a:r>
              <a:rPr lang="en">
                <a:solidFill>
                  <a:srgbClr val="1B3139"/>
                </a:solidFill>
                <a:latin typeface="DM Sans"/>
                <a:ea typeface="DM Sans"/>
                <a:cs typeface="DM Sans"/>
                <a:sym typeface="DM Sans"/>
              </a:rPr>
              <a:t>tag:azure</a:t>
            </a:r>
            <a:endParaRPr>
              <a:solidFill>
                <a:srgbClr val="1B3139"/>
              </a:solidFill>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496" y="2867800"/>
            <a:ext cx="11358000" cy="1122300"/>
          </a:xfrm>
          <a:prstGeom prst="rect">
            <a:avLst/>
          </a:prstGeom>
        </p:spPr>
        <p:txBody>
          <a:bodyPr anchorCtr="0" anchor="ctr" bIns="121875" lIns="121875" spcFirstLastPara="1" rIns="121875" wrap="square" tIns="12187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496" y="1536633"/>
            <a:ext cx="11358000" cy="4555200"/>
          </a:xfrm>
          <a:prstGeom prst="rect">
            <a:avLst/>
          </a:prstGeom>
        </p:spPr>
        <p:txBody>
          <a:bodyPr anchorCtr="0" anchor="t" bIns="121875" lIns="121875" spcFirstLastPara="1" rIns="121875" wrap="square" tIns="121875">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496" y="1536633"/>
            <a:ext cx="5331900" cy="4555200"/>
          </a:xfrm>
          <a:prstGeom prst="rect">
            <a:avLst/>
          </a:prstGeom>
        </p:spPr>
        <p:txBody>
          <a:bodyPr anchorCtr="0" anchor="t" bIns="121875" lIns="121875" spcFirstLastPara="1" rIns="121875" wrap="square" tIns="121875">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1588" y="1536633"/>
            <a:ext cx="5331900" cy="4555200"/>
          </a:xfrm>
          <a:prstGeom prst="rect">
            <a:avLst/>
          </a:prstGeom>
        </p:spPr>
        <p:txBody>
          <a:bodyPr anchorCtr="0" anchor="t" bIns="121875" lIns="121875" spcFirstLastPara="1" rIns="121875" wrap="square" tIns="121875">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496" y="740800"/>
            <a:ext cx="3743100" cy="1007700"/>
          </a:xfrm>
          <a:prstGeom prst="rect">
            <a:avLst/>
          </a:prstGeom>
        </p:spPr>
        <p:txBody>
          <a:bodyPr anchorCtr="0" anchor="b" bIns="121875" lIns="121875" spcFirstLastPara="1" rIns="121875" wrap="square" tIns="121875">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496" y="1852800"/>
            <a:ext cx="3743100" cy="4239300"/>
          </a:xfrm>
          <a:prstGeom prst="rect">
            <a:avLst/>
          </a:prstGeom>
        </p:spPr>
        <p:txBody>
          <a:bodyPr anchorCtr="0" anchor="t" bIns="121875" lIns="121875" spcFirstLastPara="1" rIns="121875" wrap="square" tIns="121875">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503" y="600200"/>
            <a:ext cx="8488200" cy="5454300"/>
          </a:xfrm>
          <a:prstGeom prst="rect">
            <a:avLst/>
          </a:prstGeom>
        </p:spPr>
        <p:txBody>
          <a:bodyPr anchorCtr="0" anchor="ctr" bIns="121875" lIns="121875" spcFirstLastPara="1" rIns="121875" wrap="square" tIns="121875">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3911" y="1644233"/>
            <a:ext cx="5392200" cy="19764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3911" y="3737433"/>
            <a:ext cx="5392200" cy="1646700"/>
          </a:xfrm>
          <a:prstGeom prst="rect">
            <a:avLst/>
          </a:prstGeom>
        </p:spPr>
        <p:txBody>
          <a:bodyPr anchorCtr="0" anchor="t" bIns="121875" lIns="121875" spcFirstLastPara="1" rIns="121875" wrap="square" tIns="12187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4352" y="965433"/>
            <a:ext cx="5114700" cy="4926900"/>
          </a:xfrm>
          <a:prstGeom prst="rect">
            <a:avLst/>
          </a:prstGeom>
        </p:spPr>
        <p:txBody>
          <a:bodyPr anchorCtr="0" anchor="ctr" bIns="121875" lIns="121875" spcFirstLastPara="1" rIns="121875" wrap="square" tIns="121875">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496" y="5640767"/>
            <a:ext cx="7996500" cy="806700"/>
          </a:xfrm>
          <a:prstGeom prst="rect">
            <a:avLst/>
          </a:prstGeom>
        </p:spPr>
        <p:txBody>
          <a:bodyPr anchorCtr="0" anchor="ctr" bIns="121875" lIns="121875" spcFirstLastPara="1" rIns="121875" wrap="square" tIns="121875">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496" y="1474833"/>
            <a:ext cx="11358000" cy="2618100"/>
          </a:xfrm>
          <a:prstGeom prst="rect">
            <a:avLst/>
          </a:prstGeom>
        </p:spPr>
        <p:txBody>
          <a:bodyPr anchorCtr="0" anchor="b" bIns="121875" lIns="121875" spcFirstLastPara="1" rIns="121875" wrap="square" tIns="121875">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496" y="4202967"/>
            <a:ext cx="11358000" cy="1734300"/>
          </a:xfrm>
          <a:prstGeom prst="rect">
            <a:avLst/>
          </a:prstGeom>
        </p:spPr>
        <p:txBody>
          <a:bodyPr anchorCtr="0" anchor="t" bIns="121875" lIns="121875" spcFirstLastPara="1" rIns="121875" wrap="square" tIns="121875">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A - Light"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dk1"/>
              </a:buClr>
              <a:buSzPts val="5600"/>
              <a:buFont typeface="Arial"/>
              <a:buNone/>
              <a:defRPr sz="56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58" name="Google Shape;58;p14"/>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9" name="Google Shape;59;p14"/>
          <p:cNvPicPr preferRelativeResize="0"/>
          <p:nvPr/>
        </p:nvPicPr>
        <p:blipFill rotWithShape="1">
          <a:blip r:embed="rId2">
            <a:alphaModFix/>
          </a:blip>
          <a:srcRect b="0" l="0" r="0" t="0"/>
          <a:stretch/>
        </p:blipFill>
        <p:spPr>
          <a:xfrm>
            <a:off x="761807" y="609599"/>
            <a:ext cx="2557621" cy="405350"/>
          </a:xfrm>
          <a:prstGeom prst="rect">
            <a:avLst/>
          </a:prstGeom>
          <a:noFill/>
          <a:ln>
            <a:noFill/>
          </a:ln>
        </p:spPr>
      </p:pic>
      <p:cxnSp>
        <p:nvCxnSpPr>
          <p:cNvPr id="60" name="Google Shape;60;p14"/>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1" name="Google Shape;61;p14"/>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dk2"/>
              </a:buClr>
              <a:buSzPts val="1600"/>
              <a:buNone/>
              <a:defRPr sz="1600">
                <a:solidFill>
                  <a:schemeClr val="dk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62" name="Google Shape;62;p1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3" name="Google Shape;63;p14"/>
          <p:cNvPicPr preferRelativeResize="0"/>
          <p:nvPr/>
        </p:nvPicPr>
        <p:blipFill>
          <a:blip r:embed="rId3">
            <a:alphaModFix/>
          </a:blip>
          <a:stretch>
            <a:fillRect/>
          </a:stretch>
        </p:blipFill>
        <p:spPr>
          <a:xfrm>
            <a:off x="6537958" y="608125"/>
            <a:ext cx="5649581" cy="564031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Slide A - Dark">
  <p:cSld name="TITLE_1">
    <p:bg>
      <p:bgPr>
        <a:solidFill>
          <a:schemeClr val="dk1"/>
        </a:solidFill>
      </p:bgPr>
    </p:bg>
    <p:spTree>
      <p:nvGrpSpPr>
        <p:cNvPr id="64" name="Shape 64"/>
        <p:cNvGrpSpPr/>
        <p:nvPr/>
      </p:nvGrpSpPr>
      <p:grpSpPr>
        <a:xfrm>
          <a:off x="0" y="0"/>
          <a:ext cx="0" cy="0"/>
          <a:chOff x="0" y="0"/>
          <a:chExt cx="0" cy="0"/>
        </a:xfrm>
      </p:grpSpPr>
      <p:sp>
        <p:nvSpPr>
          <p:cNvPr id="65" name="Google Shape;65;p15"/>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lt1"/>
              </a:buClr>
              <a:buSzPts val="5600"/>
              <a:buFont typeface="Arial"/>
              <a:buNone/>
              <a:defRPr sz="5600">
                <a:solidFill>
                  <a:schemeClr val="lt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66" name="Google Shape;66;p15"/>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lt1"/>
              </a:buClr>
              <a:buSzPts val="3200"/>
              <a:buNone/>
              <a:defRPr sz="32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67" name="Google Shape;67;p15"/>
          <p:cNvPicPr preferRelativeResize="0"/>
          <p:nvPr/>
        </p:nvPicPr>
        <p:blipFill>
          <a:blip r:embed="rId2">
            <a:alphaModFix/>
          </a:blip>
          <a:stretch>
            <a:fillRect/>
          </a:stretch>
        </p:blipFill>
        <p:spPr>
          <a:xfrm>
            <a:off x="761810" y="609606"/>
            <a:ext cx="2557623" cy="406872"/>
          </a:xfrm>
          <a:prstGeom prst="rect">
            <a:avLst/>
          </a:prstGeom>
          <a:noFill/>
          <a:ln>
            <a:noFill/>
          </a:ln>
        </p:spPr>
      </p:pic>
      <p:cxnSp>
        <p:nvCxnSpPr>
          <p:cNvPr id="68" name="Google Shape;68;p15"/>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9" name="Google Shape;69;p15"/>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lt2"/>
              </a:buClr>
              <a:buSzPts val="1600"/>
              <a:buNone/>
              <a:defRPr sz="1600">
                <a:solidFill>
                  <a:schemeClr val="lt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70" name="Google Shape;70;p1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5"/>
          <p:cNvPicPr preferRelativeResize="0"/>
          <p:nvPr/>
        </p:nvPicPr>
        <p:blipFill>
          <a:blip r:embed="rId3">
            <a:alphaModFix/>
          </a:blip>
          <a:stretch>
            <a:fillRect/>
          </a:stretch>
        </p:blipFill>
        <p:spPr>
          <a:xfrm>
            <a:off x="6537959" y="608138"/>
            <a:ext cx="5649581" cy="564031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p:cSld name="TITLE_2">
    <p:spTree>
      <p:nvGrpSpPr>
        <p:cNvPr id="72" name="Shape 72"/>
        <p:cNvGrpSpPr/>
        <p:nvPr/>
      </p:nvGrpSpPr>
      <p:grpSpPr>
        <a:xfrm>
          <a:off x="0" y="0"/>
          <a:ext cx="0" cy="0"/>
          <a:chOff x="0" y="0"/>
          <a:chExt cx="0" cy="0"/>
        </a:xfrm>
      </p:grpSpPr>
      <p:sp>
        <p:nvSpPr>
          <p:cNvPr id="73" name="Google Shape;73;p16"/>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dk1"/>
              </a:buClr>
              <a:buSzPts val="5600"/>
              <a:buFont typeface="Arial"/>
              <a:buNone/>
              <a:defRPr sz="56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74" name="Google Shape;74;p16"/>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75" name="Google Shape;75;p16"/>
          <p:cNvPicPr preferRelativeResize="0"/>
          <p:nvPr/>
        </p:nvPicPr>
        <p:blipFill rotWithShape="1">
          <a:blip r:embed="rId2">
            <a:alphaModFix/>
          </a:blip>
          <a:srcRect b="0" l="0" r="0" t="0"/>
          <a:stretch/>
        </p:blipFill>
        <p:spPr>
          <a:xfrm>
            <a:off x="761807" y="609599"/>
            <a:ext cx="2557621" cy="405350"/>
          </a:xfrm>
          <a:prstGeom prst="rect">
            <a:avLst/>
          </a:prstGeom>
          <a:noFill/>
          <a:ln>
            <a:noFill/>
          </a:ln>
        </p:spPr>
      </p:pic>
      <p:cxnSp>
        <p:nvCxnSpPr>
          <p:cNvPr id="76" name="Google Shape;76;p16"/>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77" name="Google Shape;77;p16"/>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dk2"/>
              </a:buClr>
              <a:buSzPts val="1600"/>
              <a:buNone/>
              <a:defRPr sz="1600">
                <a:solidFill>
                  <a:schemeClr val="dk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78" name="Google Shape;78;p1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Slide B - Dark">
  <p:cSld name="TITLE_1_1">
    <p:bg>
      <p:bgPr>
        <a:solidFill>
          <a:schemeClr val="dk1"/>
        </a:solidFill>
      </p:bgPr>
    </p:bg>
    <p:spTree>
      <p:nvGrpSpPr>
        <p:cNvPr id="79" name="Shape 79"/>
        <p:cNvGrpSpPr/>
        <p:nvPr/>
      </p:nvGrpSpPr>
      <p:grpSpPr>
        <a:xfrm>
          <a:off x="0" y="0"/>
          <a:ext cx="0" cy="0"/>
          <a:chOff x="0" y="0"/>
          <a:chExt cx="0" cy="0"/>
        </a:xfrm>
      </p:grpSpPr>
      <p:sp>
        <p:nvSpPr>
          <p:cNvPr id="80" name="Google Shape;80;p17"/>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lt1"/>
              </a:buClr>
              <a:buSzPts val="5600"/>
              <a:buFont typeface="Arial"/>
              <a:buNone/>
              <a:defRPr sz="5600">
                <a:solidFill>
                  <a:schemeClr val="lt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81" name="Google Shape;81;p17"/>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lt1"/>
              </a:buClr>
              <a:buSzPts val="3200"/>
              <a:buNone/>
              <a:defRPr sz="32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82" name="Google Shape;82;p17"/>
          <p:cNvPicPr preferRelativeResize="0"/>
          <p:nvPr/>
        </p:nvPicPr>
        <p:blipFill>
          <a:blip r:embed="rId2">
            <a:alphaModFix/>
          </a:blip>
          <a:stretch>
            <a:fillRect/>
          </a:stretch>
        </p:blipFill>
        <p:spPr>
          <a:xfrm>
            <a:off x="761810" y="609606"/>
            <a:ext cx="2557623" cy="406872"/>
          </a:xfrm>
          <a:prstGeom prst="rect">
            <a:avLst/>
          </a:prstGeom>
          <a:noFill/>
          <a:ln>
            <a:noFill/>
          </a:ln>
        </p:spPr>
      </p:pic>
      <p:cxnSp>
        <p:nvCxnSpPr>
          <p:cNvPr id="83" name="Google Shape;83;p17"/>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84" name="Google Shape;84;p17"/>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lt2"/>
              </a:buClr>
              <a:buSzPts val="1600"/>
              <a:buNone/>
              <a:defRPr sz="1600">
                <a:solidFill>
                  <a:schemeClr val="lt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85" name="Google Shape;85;p1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p:cSld name="OBJECT_1">
    <p:bg>
      <p:bgPr>
        <a:solidFill>
          <a:schemeClr val="lt1"/>
        </a:solid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88" name="Google Shape;88;p1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89" name="Google Shape;89;p18"/>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algn="l">
              <a:lnSpc>
                <a:spcPct val="115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90" name="Google Shape;90;p1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Content A - Basic White 1">
  <p:cSld name="OBJECT_1_1">
    <p:bg>
      <p:bgPr>
        <a:solidFill>
          <a:srgbClr val="FFFFFF"/>
        </a:solidFill>
      </p:bgPr>
    </p:bg>
    <p:spTree>
      <p:nvGrpSpPr>
        <p:cNvPr id="91" name="Shape 91"/>
        <p:cNvGrpSpPr/>
        <p:nvPr/>
      </p:nvGrpSpPr>
      <p:grpSpPr>
        <a:xfrm>
          <a:off x="0" y="0"/>
          <a:ext cx="0" cy="0"/>
          <a:chOff x="0" y="0"/>
          <a:chExt cx="0" cy="0"/>
        </a:xfrm>
      </p:grpSpPr>
      <p:sp>
        <p:nvSpPr>
          <p:cNvPr id="92" name="Google Shape;92;p19"/>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93" name="Google Shape;93;p1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94" name="Google Shape;94;p19"/>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algn="l">
              <a:lnSpc>
                <a:spcPct val="115000"/>
              </a:lnSpc>
              <a:spcBef>
                <a:spcPts val="1100"/>
              </a:spcBef>
              <a:spcAft>
                <a:spcPts val="0"/>
              </a:spcAft>
              <a:buClr>
                <a:schemeClr val="accent1"/>
              </a:buClr>
              <a:buSzPts val="2400"/>
              <a:buFont typeface="DM Sans"/>
              <a:buChar char="•"/>
              <a:defRPr i="0" u="none" cap="none" strike="noStrike">
                <a:solidFill>
                  <a:schemeClr val="dk1"/>
                </a:solidFill>
                <a:latin typeface="DM Sans"/>
                <a:ea typeface="DM Sans"/>
                <a:cs typeface="DM Sans"/>
                <a:sym typeface="DM Sans"/>
              </a:defRPr>
            </a:lvl1pPr>
            <a:lvl2pPr indent="-355600" lvl="1" marL="914400" marR="0" algn="l">
              <a:lnSpc>
                <a:spcPct val="115000"/>
              </a:lnSpc>
              <a:spcBef>
                <a:spcPts val="500"/>
              </a:spcBef>
              <a:spcAft>
                <a:spcPts val="0"/>
              </a:spcAft>
              <a:buClr>
                <a:schemeClr val="accent4"/>
              </a:buClr>
              <a:buSzPts val="2000"/>
              <a:buFont typeface="DM Sans"/>
              <a:buChar char="•"/>
              <a:defRPr i="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95" name="Google Shape;95;p1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ontent B - 2 Column">
  <p:cSld name="OBJECT_2_1_1_1_2_1">
    <p:spTree>
      <p:nvGrpSpPr>
        <p:cNvPr id="96" name="Shape 96"/>
        <p:cNvGrpSpPr/>
        <p:nvPr/>
      </p:nvGrpSpPr>
      <p:grpSpPr>
        <a:xfrm>
          <a:off x="0" y="0"/>
          <a:ext cx="0" cy="0"/>
          <a:chOff x="0" y="0"/>
          <a:chExt cx="0" cy="0"/>
        </a:xfrm>
      </p:grpSpPr>
      <p:sp>
        <p:nvSpPr>
          <p:cNvPr id="97" name="Google Shape;97;p20"/>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98" name="Google Shape;98;p2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cxnSp>
        <p:nvCxnSpPr>
          <p:cNvPr id="99" name="Google Shape;99;p20"/>
          <p:cNvCxnSpPr/>
          <p:nvPr/>
        </p:nvCxnSpPr>
        <p:spPr>
          <a:xfrm>
            <a:off x="6098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00" name="Google Shape;100;p20"/>
          <p:cNvSpPr txBox="1"/>
          <p:nvPr>
            <p:ph idx="2" type="body"/>
          </p:nvPr>
        </p:nvSpPr>
        <p:spPr>
          <a:xfrm>
            <a:off x="761809" y="2691865"/>
            <a:ext cx="4518900" cy="33672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1" name="Google Shape;101;p20"/>
          <p:cNvSpPr txBox="1"/>
          <p:nvPr>
            <p:ph idx="3" type="body"/>
          </p:nvPr>
        </p:nvSpPr>
        <p:spPr>
          <a:xfrm>
            <a:off x="6916469" y="2691865"/>
            <a:ext cx="4518900" cy="33672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2" name="Google Shape;102;p20"/>
          <p:cNvSpPr txBox="1"/>
          <p:nvPr>
            <p:ph idx="4" type="subTitle"/>
          </p:nvPr>
        </p:nvSpPr>
        <p:spPr>
          <a:xfrm>
            <a:off x="795814" y="1970333"/>
            <a:ext cx="4484400" cy="643200"/>
          </a:xfrm>
          <a:prstGeom prst="rect">
            <a:avLst/>
          </a:prstGeom>
        </p:spPr>
        <p:txBody>
          <a:bodyPr anchorCtr="0" anchor="t" bIns="0" lIns="0" spcFirstLastPara="1" rIns="0" wrap="square" tIns="0">
            <a:noAutofit/>
          </a:bodyPr>
          <a:lstStyle>
            <a:lvl1pPr lvl="0">
              <a:spcBef>
                <a:spcPts val="1100"/>
              </a:spcBef>
              <a:spcAft>
                <a:spcPts val="0"/>
              </a:spcAft>
              <a:buClr>
                <a:schemeClr val="dk1"/>
              </a:buClr>
              <a:buSzPts val="2000"/>
              <a:buNone/>
              <a:defRPr b="1" sz="2000"/>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03" name="Google Shape;103;p20"/>
          <p:cNvSpPr txBox="1"/>
          <p:nvPr>
            <p:ph idx="5" type="subTitle"/>
          </p:nvPr>
        </p:nvSpPr>
        <p:spPr>
          <a:xfrm>
            <a:off x="6933565" y="1970333"/>
            <a:ext cx="4485000" cy="643200"/>
          </a:xfrm>
          <a:prstGeom prst="rect">
            <a:avLst/>
          </a:prstGeom>
        </p:spPr>
        <p:txBody>
          <a:bodyPr anchorCtr="0" anchor="t" bIns="0" lIns="0" spcFirstLastPara="1" rIns="0" wrap="square" tIns="0">
            <a:noAutofit/>
          </a:bodyPr>
          <a:lstStyle>
            <a:lvl1pPr lvl="0">
              <a:spcBef>
                <a:spcPts val="1100"/>
              </a:spcBef>
              <a:spcAft>
                <a:spcPts val="0"/>
              </a:spcAft>
              <a:buClr>
                <a:schemeClr val="dk1"/>
              </a:buClr>
              <a:buSzPts val="2000"/>
              <a:buNone/>
              <a:defRPr b="1" sz="2000"/>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04" name="Google Shape;104;p2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ontent B - 2 Column w/ Icon Spot">
  <p:cSld name="OBJECT_2_1_1_2_1_1">
    <p:spTree>
      <p:nvGrpSpPr>
        <p:cNvPr id="105" name="Shape 105"/>
        <p:cNvGrpSpPr/>
        <p:nvPr/>
      </p:nvGrpSpPr>
      <p:grpSpPr>
        <a:xfrm>
          <a:off x="0" y="0"/>
          <a:ext cx="0" cy="0"/>
          <a:chOff x="0" y="0"/>
          <a:chExt cx="0" cy="0"/>
        </a:xfrm>
      </p:grpSpPr>
      <p:sp>
        <p:nvSpPr>
          <p:cNvPr id="106" name="Google Shape;106;p21"/>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07" name="Google Shape;107;p21"/>
          <p:cNvSpPr txBox="1"/>
          <p:nvPr>
            <p:ph idx="1" type="body"/>
          </p:nvPr>
        </p:nvSpPr>
        <p:spPr>
          <a:xfrm>
            <a:off x="761809" y="3986900"/>
            <a:ext cx="4518900" cy="2261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8" name="Google Shape;108;p21"/>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09" name="Google Shape;109;p21"/>
          <p:cNvSpPr txBox="1"/>
          <p:nvPr>
            <p:ph idx="3" type="body"/>
          </p:nvPr>
        </p:nvSpPr>
        <p:spPr>
          <a:xfrm>
            <a:off x="6931932" y="3986900"/>
            <a:ext cx="4495200" cy="2261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10" name="Google Shape;110;p21"/>
          <p:cNvSpPr txBox="1"/>
          <p:nvPr>
            <p:ph idx="4" type="subTitle"/>
          </p:nvPr>
        </p:nvSpPr>
        <p:spPr>
          <a:xfrm>
            <a:off x="795814" y="3126633"/>
            <a:ext cx="44844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100"/>
              <a:buNone/>
              <a:defRPr b="1" sz="2100"/>
            </a:lvl1pPr>
            <a:lvl2pPr lvl="1">
              <a:lnSpc>
                <a:spcPct val="115000"/>
              </a:lnSpc>
              <a:spcBef>
                <a:spcPts val="500"/>
              </a:spcBef>
              <a:spcAft>
                <a:spcPts val="0"/>
              </a:spcAft>
              <a:buSzPts val="2000"/>
              <a:buNone/>
              <a:defRPr/>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11" name="Google Shape;111;p21"/>
          <p:cNvSpPr txBox="1"/>
          <p:nvPr>
            <p:ph idx="5" type="subTitle"/>
          </p:nvPr>
        </p:nvSpPr>
        <p:spPr>
          <a:xfrm>
            <a:off x="6948938" y="3126633"/>
            <a:ext cx="44613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cxnSp>
        <p:nvCxnSpPr>
          <p:cNvPr id="112" name="Google Shape;112;p21"/>
          <p:cNvCxnSpPr/>
          <p:nvPr/>
        </p:nvCxnSpPr>
        <p:spPr>
          <a:xfrm>
            <a:off x="6098592"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13" name="Google Shape;113;p2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ontent C - 3 Column">
  <p:cSld name="OBJECT_2_1_1_1_2">
    <p:spTree>
      <p:nvGrpSpPr>
        <p:cNvPr id="114" name="Shape 114"/>
        <p:cNvGrpSpPr/>
        <p:nvPr/>
      </p:nvGrpSpPr>
      <p:grpSpPr>
        <a:xfrm>
          <a:off x="0" y="0"/>
          <a:ext cx="0" cy="0"/>
          <a:chOff x="0" y="0"/>
          <a:chExt cx="0" cy="0"/>
        </a:xfrm>
      </p:grpSpPr>
      <p:sp>
        <p:nvSpPr>
          <p:cNvPr id="115" name="Google Shape;115;p22"/>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16" name="Google Shape;116;p2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cxnSp>
        <p:nvCxnSpPr>
          <p:cNvPr id="117" name="Google Shape;117;p22"/>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118" name="Google Shape;118;p22"/>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19" name="Google Shape;119;p22"/>
          <p:cNvSpPr txBox="1"/>
          <p:nvPr>
            <p:ph idx="2"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0" name="Google Shape;120;p22"/>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1" name="Google Shape;121;p22"/>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2" name="Google Shape;122;p22"/>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23" name="Google Shape;123;p22"/>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24" name="Google Shape;124;p22"/>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25" name="Google Shape;125;p2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ontent C - 3 Column w/ Icon Spot">
  <p:cSld name="OBJECT_2_1_1_2_1">
    <p:spTree>
      <p:nvGrpSpPr>
        <p:cNvPr id="126" name="Shape 126"/>
        <p:cNvGrpSpPr/>
        <p:nvPr/>
      </p:nvGrpSpPr>
      <p:grpSpPr>
        <a:xfrm>
          <a:off x="0" y="0"/>
          <a:ext cx="0" cy="0"/>
          <a:chOff x="0" y="0"/>
          <a:chExt cx="0" cy="0"/>
        </a:xfrm>
      </p:grpSpPr>
      <p:sp>
        <p:nvSpPr>
          <p:cNvPr id="127" name="Google Shape;127;p2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28" name="Google Shape;128;p23"/>
          <p:cNvSpPr txBox="1"/>
          <p:nvPr>
            <p:ph idx="1" type="body"/>
          </p:nvPr>
        </p:nvSpPr>
        <p:spPr>
          <a:xfrm>
            <a:off x="761809" y="3986900"/>
            <a:ext cx="3224100" cy="2261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9" name="Google Shape;129;p23"/>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30" name="Google Shape;130;p23"/>
          <p:cNvSpPr txBox="1"/>
          <p:nvPr>
            <p:ph idx="3" type="body"/>
          </p:nvPr>
        </p:nvSpPr>
        <p:spPr>
          <a:xfrm>
            <a:off x="4482478" y="3986900"/>
            <a:ext cx="3224100" cy="2261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1" name="Google Shape;131;p23"/>
          <p:cNvSpPr txBox="1"/>
          <p:nvPr>
            <p:ph idx="4" type="subTitle"/>
          </p:nvPr>
        </p:nvSpPr>
        <p:spPr>
          <a:xfrm>
            <a:off x="786070" y="3126633"/>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32" name="Google Shape;132;p23"/>
          <p:cNvSpPr txBox="1"/>
          <p:nvPr>
            <p:ph idx="5" type="subTitle"/>
          </p:nvPr>
        </p:nvSpPr>
        <p:spPr>
          <a:xfrm>
            <a:off x="4494675" y="3126633"/>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33" name="Google Shape;133;p23"/>
          <p:cNvSpPr txBox="1"/>
          <p:nvPr>
            <p:ph idx="6" type="body"/>
          </p:nvPr>
        </p:nvSpPr>
        <p:spPr>
          <a:xfrm>
            <a:off x="8167756" y="3986900"/>
            <a:ext cx="3224100" cy="2261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4" name="Google Shape;134;p23"/>
          <p:cNvSpPr txBox="1"/>
          <p:nvPr>
            <p:ph idx="7" type="subTitle"/>
          </p:nvPr>
        </p:nvSpPr>
        <p:spPr>
          <a:xfrm>
            <a:off x="8179953" y="31266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cxnSp>
        <p:nvCxnSpPr>
          <p:cNvPr id="135" name="Google Shape;135;p23"/>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136" name="Google Shape;136;p23"/>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37" name="Google Shape;137;p2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ontent C - 3 Column Cards">
  <p:cSld name="OBJECT_2_1_1_1_1_1">
    <p:spTree>
      <p:nvGrpSpPr>
        <p:cNvPr id="138" name="Shape 138"/>
        <p:cNvGrpSpPr/>
        <p:nvPr/>
      </p:nvGrpSpPr>
      <p:grpSpPr>
        <a:xfrm>
          <a:off x="0" y="0"/>
          <a:ext cx="0" cy="0"/>
          <a:chOff x="0" y="0"/>
          <a:chExt cx="0" cy="0"/>
        </a:xfrm>
      </p:grpSpPr>
      <p:sp>
        <p:nvSpPr>
          <p:cNvPr id="139" name="Google Shape;139;p24"/>
          <p:cNvSpPr/>
          <p:nvPr/>
        </p:nvSpPr>
        <p:spPr>
          <a:xfrm>
            <a:off x="7980003"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0" name="Google Shape;140;p24"/>
          <p:cNvSpPr/>
          <p:nvPr/>
        </p:nvSpPr>
        <p:spPr>
          <a:xfrm>
            <a:off x="4294659"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1" name="Google Shape;141;p24"/>
          <p:cNvSpPr/>
          <p:nvPr/>
        </p:nvSpPr>
        <p:spPr>
          <a:xfrm>
            <a:off x="609447"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2" name="Google Shape;142;p24"/>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43" name="Google Shape;143;p24"/>
          <p:cNvSpPr txBox="1"/>
          <p:nvPr>
            <p:ph idx="1"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4" name="Google Shape;144;p24"/>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45" name="Google Shape;145;p24"/>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6" name="Google Shape;146;p24"/>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7" name="Google Shape;147;p24"/>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48" name="Google Shape;148;p24"/>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49" name="Google Shape;149;p24"/>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2000"/>
              <a:buNone/>
              <a:defRPr b="1" sz="2000"/>
            </a:lvl1pPr>
            <a:lvl2pPr lvl="1">
              <a:lnSpc>
                <a:spcPct val="115000"/>
              </a:lnSpc>
              <a:spcBef>
                <a:spcPts val="500"/>
              </a:spcBef>
              <a:spcAft>
                <a:spcPts val="0"/>
              </a:spcAft>
              <a:buSzPts val="2000"/>
              <a:buNone/>
              <a:defRPr/>
            </a:lvl2pPr>
            <a:lvl3pPr lvl="2">
              <a:lnSpc>
                <a:spcPct val="115000"/>
              </a:lnSpc>
              <a:spcBef>
                <a:spcPts val="500"/>
              </a:spcBef>
              <a:spcAft>
                <a:spcPts val="0"/>
              </a:spcAft>
              <a:buSzPts val="2000"/>
              <a:buNone/>
              <a:defRPr sz="2000"/>
            </a:lvl3pPr>
            <a:lvl4pPr lvl="3">
              <a:lnSpc>
                <a:spcPct val="115000"/>
              </a:lnSpc>
              <a:spcBef>
                <a:spcPts val="500"/>
              </a:spcBef>
              <a:spcAft>
                <a:spcPts val="0"/>
              </a:spcAft>
              <a:buSzPts val="2000"/>
              <a:buNone/>
              <a:defRPr sz="2000"/>
            </a:lvl4pPr>
            <a:lvl5pPr lvl="4">
              <a:lnSpc>
                <a:spcPct val="115000"/>
              </a:lnSpc>
              <a:spcBef>
                <a:spcPts val="500"/>
              </a:spcBef>
              <a:spcAft>
                <a:spcPts val="0"/>
              </a:spcAft>
              <a:buSzPts val="2000"/>
              <a:buNone/>
              <a:defRPr sz="2000"/>
            </a:lvl5pPr>
            <a:lvl6pPr lvl="5">
              <a:lnSpc>
                <a:spcPct val="115000"/>
              </a:lnSpc>
              <a:spcBef>
                <a:spcPts val="500"/>
              </a:spcBef>
              <a:spcAft>
                <a:spcPts val="0"/>
              </a:spcAft>
              <a:buSzPts val="2000"/>
              <a:buNone/>
              <a:defRPr sz="2000"/>
            </a:lvl6pPr>
            <a:lvl7pPr lvl="6">
              <a:lnSpc>
                <a:spcPct val="115000"/>
              </a:lnSpc>
              <a:spcBef>
                <a:spcPts val="500"/>
              </a:spcBef>
              <a:spcAft>
                <a:spcPts val="0"/>
              </a:spcAft>
              <a:buSzPts val="2000"/>
              <a:buNone/>
              <a:defRPr sz="2000"/>
            </a:lvl7pPr>
            <a:lvl8pPr lvl="7">
              <a:lnSpc>
                <a:spcPct val="115000"/>
              </a:lnSpc>
              <a:spcBef>
                <a:spcPts val="500"/>
              </a:spcBef>
              <a:spcAft>
                <a:spcPts val="0"/>
              </a:spcAft>
              <a:buSzPts val="2000"/>
              <a:buNone/>
              <a:defRPr sz="2000"/>
            </a:lvl8pPr>
            <a:lvl9pPr lvl="8">
              <a:lnSpc>
                <a:spcPct val="115000"/>
              </a:lnSpc>
              <a:spcBef>
                <a:spcPts val="500"/>
              </a:spcBef>
              <a:spcAft>
                <a:spcPts val="0"/>
              </a:spcAft>
              <a:buSzPts val="2000"/>
              <a:buNone/>
              <a:defRPr sz="2000"/>
            </a:lvl9pPr>
          </a:lstStyle>
          <a:p/>
        </p:txBody>
      </p:sp>
      <p:sp>
        <p:nvSpPr>
          <p:cNvPr id="150" name="Google Shape;150;p2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ontent D - Card Right">
  <p:cSld name="OBJECT_2">
    <p:spTree>
      <p:nvGrpSpPr>
        <p:cNvPr id="151" name="Shape 151"/>
        <p:cNvGrpSpPr/>
        <p:nvPr/>
      </p:nvGrpSpPr>
      <p:grpSpPr>
        <a:xfrm>
          <a:off x="0" y="0"/>
          <a:ext cx="0" cy="0"/>
          <a:chOff x="0" y="0"/>
          <a:chExt cx="0" cy="0"/>
        </a:xfrm>
      </p:grpSpPr>
      <p:sp>
        <p:nvSpPr>
          <p:cNvPr id="152" name="Google Shape;152;p25"/>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53" name="Google Shape;153;p25"/>
          <p:cNvSpPr/>
          <p:nvPr/>
        </p:nvSpPr>
        <p:spPr>
          <a:xfrm>
            <a:off x="6024226"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4" name="Google Shape;154;p25"/>
          <p:cNvSpPr txBox="1"/>
          <p:nvPr>
            <p:ph idx="1" type="body"/>
          </p:nvPr>
        </p:nvSpPr>
        <p:spPr>
          <a:xfrm>
            <a:off x="761809" y="1988833"/>
            <a:ext cx="4354800" cy="41499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55" name="Google Shape;155;p25"/>
          <p:cNvSpPr txBox="1"/>
          <p:nvPr>
            <p:ph idx="2" type="body"/>
          </p:nvPr>
        </p:nvSpPr>
        <p:spPr>
          <a:xfrm>
            <a:off x="6164724" y="1988833"/>
            <a:ext cx="5244000" cy="41499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56" name="Google Shape;156;p25"/>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400"/>
              <a:buNone/>
              <a:defRPr sz="2400"/>
            </a:lvl2pPr>
            <a:lvl3pPr lvl="2">
              <a:spcBef>
                <a:spcPts val="500"/>
              </a:spcBef>
              <a:spcAft>
                <a:spcPts val="0"/>
              </a:spcAft>
              <a:buSzPts val="2400"/>
              <a:buNone/>
              <a:defRPr sz="2400"/>
            </a:lvl3pPr>
            <a:lvl4pPr lvl="3">
              <a:spcBef>
                <a:spcPts val="500"/>
              </a:spcBef>
              <a:spcAft>
                <a:spcPts val="0"/>
              </a:spcAft>
              <a:buSzPts val="2400"/>
              <a:buNone/>
              <a:defRPr sz="2400"/>
            </a:lvl4pPr>
            <a:lvl5pPr lvl="4">
              <a:spcBef>
                <a:spcPts val="500"/>
              </a:spcBef>
              <a:spcAft>
                <a:spcPts val="0"/>
              </a:spcAft>
              <a:buSzPts val="2400"/>
              <a:buNone/>
              <a:defRPr sz="2400"/>
            </a:lvl5pPr>
            <a:lvl6pPr lvl="5">
              <a:spcBef>
                <a:spcPts val="500"/>
              </a:spcBef>
              <a:spcAft>
                <a:spcPts val="0"/>
              </a:spcAft>
              <a:buSzPts val="2400"/>
              <a:buNone/>
              <a:defRPr sz="2400"/>
            </a:lvl6pPr>
            <a:lvl7pPr lvl="6">
              <a:spcBef>
                <a:spcPts val="500"/>
              </a:spcBef>
              <a:spcAft>
                <a:spcPts val="0"/>
              </a:spcAft>
              <a:buSzPts val="2400"/>
              <a:buNone/>
              <a:defRPr sz="2400"/>
            </a:lvl7pPr>
            <a:lvl8pPr lvl="7">
              <a:spcBef>
                <a:spcPts val="500"/>
              </a:spcBef>
              <a:spcAft>
                <a:spcPts val="0"/>
              </a:spcAft>
              <a:buSzPts val="2400"/>
              <a:buNone/>
              <a:defRPr sz="2400"/>
            </a:lvl8pPr>
            <a:lvl9pPr lvl="8">
              <a:spcBef>
                <a:spcPts val="500"/>
              </a:spcBef>
              <a:spcAft>
                <a:spcPts val="0"/>
              </a:spcAft>
              <a:buSzPts val="2400"/>
              <a:buNone/>
              <a:defRPr sz="2400"/>
            </a:lvl9pPr>
          </a:lstStyle>
          <a:p/>
        </p:txBody>
      </p:sp>
      <p:sp>
        <p:nvSpPr>
          <p:cNvPr id="157" name="Google Shape;157;p2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Content D - Card Left">
  <p:cSld name="OBJECT_2_2">
    <p:spTree>
      <p:nvGrpSpPr>
        <p:cNvPr id="158" name="Shape 158"/>
        <p:cNvGrpSpPr/>
        <p:nvPr/>
      </p:nvGrpSpPr>
      <p:grpSpPr>
        <a:xfrm>
          <a:off x="0" y="0"/>
          <a:ext cx="0" cy="0"/>
          <a:chOff x="0" y="0"/>
          <a:chExt cx="0" cy="0"/>
        </a:xfrm>
      </p:grpSpPr>
      <p:sp>
        <p:nvSpPr>
          <p:cNvPr id="159" name="Google Shape;159;p26"/>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60" name="Google Shape;160;p26"/>
          <p:cNvSpPr/>
          <p:nvPr/>
        </p:nvSpPr>
        <p:spPr>
          <a:xfrm>
            <a:off x="609447"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1" name="Google Shape;161;p26"/>
          <p:cNvSpPr txBox="1"/>
          <p:nvPr>
            <p:ph idx="1" type="body"/>
          </p:nvPr>
        </p:nvSpPr>
        <p:spPr>
          <a:xfrm>
            <a:off x="7072430" y="1988833"/>
            <a:ext cx="4354800" cy="41499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62" name="Google Shape;162;p26"/>
          <p:cNvSpPr txBox="1"/>
          <p:nvPr>
            <p:ph idx="2" type="body"/>
          </p:nvPr>
        </p:nvSpPr>
        <p:spPr>
          <a:xfrm>
            <a:off x="759194" y="1988833"/>
            <a:ext cx="5244000" cy="41499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63" name="Google Shape;163;p26"/>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64" name="Google Shape;164;p2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Content D - Card Large">
  <p:cSld name="OBJECT_2_1">
    <p:spTree>
      <p:nvGrpSpPr>
        <p:cNvPr id="165" name="Shape 165"/>
        <p:cNvGrpSpPr/>
        <p:nvPr/>
      </p:nvGrpSpPr>
      <p:grpSpPr>
        <a:xfrm>
          <a:off x="0" y="0"/>
          <a:ext cx="0" cy="0"/>
          <a:chOff x="0" y="0"/>
          <a:chExt cx="0" cy="0"/>
        </a:xfrm>
      </p:grpSpPr>
      <p:sp>
        <p:nvSpPr>
          <p:cNvPr id="166" name="Google Shape;166;p27"/>
          <p:cNvSpPr/>
          <p:nvPr/>
        </p:nvSpPr>
        <p:spPr>
          <a:xfrm>
            <a:off x="609447" y="1825633"/>
            <a:ext cx="109698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7" name="Google Shape;167;p27"/>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68" name="Google Shape;168;p27"/>
          <p:cNvSpPr txBox="1"/>
          <p:nvPr>
            <p:ph idx="1"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55600" lvl="0" marL="457200" marR="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69" name="Google Shape;169;p27"/>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70" name="Google Shape;170;p2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Content D - Card Quad">
  <p:cSld name="OBJECT_2_1_1">
    <p:spTree>
      <p:nvGrpSpPr>
        <p:cNvPr id="171" name="Shape 171"/>
        <p:cNvGrpSpPr/>
        <p:nvPr/>
      </p:nvGrpSpPr>
      <p:grpSpPr>
        <a:xfrm>
          <a:off x="0" y="0"/>
          <a:ext cx="0" cy="0"/>
          <a:chOff x="0" y="0"/>
          <a:chExt cx="0" cy="0"/>
        </a:xfrm>
      </p:grpSpPr>
      <p:sp>
        <p:nvSpPr>
          <p:cNvPr id="172" name="Google Shape;172;p28"/>
          <p:cNvSpPr/>
          <p:nvPr/>
        </p:nvSpPr>
        <p:spPr>
          <a:xfrm>
            <a:off x="6161558"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3" name="Google Shape;173;p28"/>
          <p:cNvSpPr/>
          <p:nvPr/>
        </p:nvSpPr>
        <p:spPr>
          <a:xfrm>
            <a:off x="609447"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4" name="Google Shape;174;p28"/>
          <p:cNvSpPr/>
          <p:nvPr/>
        </p:nvSpPr>
        <p:spPr>
          <a:xfrm>
            <a:off x="6161558"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5" name="Google Shape;175;p28"/>
          <p:cNvSpPr/>
          <p:nvPr/>
        </p:nvSpPr>
        <p:spPr>
          <a:xfrm>
            <a:off x="609447"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6" name="Google Shape;176;p2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77" name="Google Shape;177;p2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178" name="Google Shape;178;p28"/>
          <p:cNvSpPr txBox="1"/>
          <p:nvPr>
            <p:ph idx="2" type="subTitle"/>
          </p:nvPr>
        </p:nvSpPr>
        <p:spPr>
          <a:xfrm>
            <a:off x="764709" y="1988833"/>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79" name="Google Shape;179;p28"/>
          <p:cNvSpPr txBox="1"/>
          <p:nvPr>
            <p:ph idx="3" type="subTitle"/>
          </p:nvPr>
        </p:nvSpPr>
        <p:spPr>
          <a:xfrm>
            <a:off x="6313520" y="1988833"/>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80" name="Google Shape;180;p28"/>
          <p:cNvSpPr txBox="1"/>
          <p:nvPr>
            <p:ph idx="4" type="subTitle"/>
          </p:nvPr>
        </p:nvSpPr>
        <p:spPr>
          <a:xfrm>
            <a:off x="764709" y="4302068"/>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81" name="Google Shape;181;p28"/>
          <p:cNvSpPr txBox="1"/>
          <p:nvPr>
            <p:ph idx="5" type="subTitle"/>
          </p:nvPr>
        </p:nvSpPr>
        <p:spPr>
          <a:xfrm>
            <a:off x="6313520" y="4302068"/>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82" name="Google Shape;182;p2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1">
  <p:cSld name="OBJECT_2_1_1_2_1_1_1">
    <p:spTree>
      <p:nvGrpSpPr>
        <p:cNvPr id="183" name="Shape 183"/>
        <p:cNvGrpSpPr/>
        <p:nvPr/>
      </p:nvGrpSpPr>
      <p:grpSpPr>
        <a:xfrm>
          <a:off x="0" y="0"/>
          <a:ext cx="0" cy="0"/>
          <a:chOff x="0" y="0"/>
          <a:chExt cx="0" cy="0"/>
        </a:xfrm>
      </p:grpSpPr>
      <p:sp>
        <p:nvSpPr>
          <p:cNvPr id="184" name="Google Shape;184;p29"/>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Clr>
                <a:schemeClr val="accent1"/>
              </a:buClr>
              <a:buSzPts val="4800"/>
              <a:buFont typeface="DM Sans Medium"/>
              <a:buNone/>
              <a:defRPr i="0" sz="4800" u="none" cap="none" strike="noStrike">
                <a:solidFill>
                  <a:schemeClr val="accent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85" name="Google Shape;185;p2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Blank">
  <p:cSld name="OBJECT_2_1_1_2_1_1_1_3">
    <p:spTree>
      <p:nvGrpSpPr>
        <p:cNvPr id="186" name="Shape 186"/>
        <p:cNvGrpSpPr/>
        <p:nvPr/>
      </p:nvGrpSpPr>
      <p:grpSpPr>
        <a:xfrm>
          <a:off x="0" y="0"/>
          <a:ext cx="0" cy="0"/>
          <a:chOff x="0" y="0"/>
          <a:chExt cx="0" cy="0"/>
        </a:xfrm>
      </p:grpSpPr>
      <p:sp>
        <p:nvSpPr>
          <p:cNvPr id="187" name="Google Shape;187;p3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0"/>
          <p:cNvSpPr/>
          <p:nvPr/>
        </p:nvSpPr>
        <p:spPr>
          <a:xfrm>
            <a:off x="-25" y="0"/>
            <a:ext cx="12189000" cy="685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2">
  <p:cSld name="OBJECT_2_1_1_2_1_1_1_1">
    <p:bg>
      <p:bgPr>
        <a:solidFill>
          <a:schemeClr val="dk1"/>
        </a:solidFill>
      </p:bgPr>
    </p:bg>
    <p:spTree>
      <p:nvGrpSpPr>
        <p:cNvPr id="189" name="Shape 189"/>
        <p:cNvGrpSpPr/>
        <p:nvPr/>
      </p:nvGrpSpPr>
      <p:grpSpPr>
        <a:xfrm>
          <a:off x="0" y="0"/>
          <a:ext cx="0" cy="0"/>
          <a:chOff x="0" y="0"/>
          <a:chExt cx="0" cy="0"/>
        </a:xfrm>
      </p:grpSpPr>
      <p:sp>
        <p:nvSpPr>
          <p:cNvPr id="190" name="Google Shape;190;p31"/>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Clr>
                <a:schemeClr val="accent1"/>
              </a:buClr>
              <a:buSzPts val="4800"/>
              <a:buFont typeface="DM Sans Medium"/>
              <a:buNone/>
              <a:defRPr i="0" sz="4800" u="none" cap="none" strike="noStrike">
                <a:solidFill>
                  <a:schemeClr val="accent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91" name="Google Shape;191;p3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3">
  <p:cSld name="OBJECT_2_1_1_2_1_1_1_1_1">
    <p:bg>
      <p:bgPr>
        <a:solidFill>
          <a:schemeClr val="accent4"/>
        </a:solidFill>
      </p:bgPr>
    </p:bg>
    <p:spTree>
      <p:nvGrpSpPr>
        <p:cNvPr id="192" name="Shape 192"/>
        <p:cNvGrpSpPr/>
        <p:nvPr/>
      </p:nvGrpSpPr>
      <p:grpSpPr>
        <a:xfrm>
          <a:off x="0" y="0"/>
          <a:ext cx="0" cy="0"/>
          <a:chOff x="0" y="0"/>
          <a:chExt cx="0" cy="0"/>
        </a:xfrm>
      </p:grpSpPr>
      <p:sp>
        <p:nvSpPr>
          <p:cNvPr id="193" name="Google Shape;193;p32"/>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4" name="Google Shape;194;p3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4">
  <p:cSld name="OBJECT_2_1_1_2_1_1_1_1_1_1">
    <p:bg>
      <p:bgPr>
        <a:solidFill>
          <a:schemeClr val="accent1"/>
        </a:solidFill>
      </p:bgPr>
    </p:bg>
    <p:spTree>
      <p:nvGrpSpPr>
        <p:cNvPr id="195" name="Shape 195"/>
        <p:cNvGrpSpPr/>
        <p:nvPr/>
      </p:nvGrpSpPr>
      <p:grpSpPr>
        <a:xfrm>
          <a:off x="0" y="0"/>
          <a:ext cx="0" cy="0"/>
          <a:chOff x="0" y="0"/>
          <a:chExt cx="0" cy="0"/>
        </a:xfrm>
      </p:grpSpPr>
      <p:sp>
        <p:nvSpPr>
          <p:cNvPr id="196" name="Google Shape;196;p33"/>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197" name="Google Shape;197;p3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98" name="Google Shape;198;p33"/>
          <p:cNvPicPr preferRelativeResize="0"/>
          <p:nvPr/>
        </p:nvPicPr>
        <p:blipFill>
          <a:blip r:embed="rId2">
            <a:alphaModFix/>
          </a:blip>
          <a:stretch>
            <a:fillRect/>
          </a:stretch>
        </p:blipFill>
        <p:spPr>
          <a:xfrm>
            <a:off x="10666487" y="6474098"/>
            <a:ext cx="188372" cy="18837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1">
  <p:cSld name="OBJECT_2_1_1_2_1_1_1_1_1_1_1">
    <p:bg>
      <p:bgPr>
        <a:solidFill>
          <a:schemeClr val="lt1"/>
        </a:solidFill>
      </p:bgPr>
    </p:bg>
    <p:spTree>
      <p:nvGrpSpPr>
        <p:cNvPr id="199" name="Shape 199"/>
        <p:cNvGrpSpPr/>
        <p:nvPr/>
      </p:nvGrpSpPr>
      <p:grpSpPr>
        <a:xfrm>
          <a:off x="0" y="0"/>
          <a:ext cx="0" cy="0"/>
          <a:chOff x="0" y="0"/>
          <a:chExt cx="0" cy="0"/>
        </a:xfrm>
      </p:grpSpPr>
      <p:sp>
        <p:nvSpPr>
          <p:cNvPr id="200" name="Google Shape;200;p34"/>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201" name="Google Shape;201;p34"/>
          <p:cNvSpPr/>
          <p:nvPr/>
        </p:nvSpPr>
        <p:spPr>
          <a:xfrm>
            <a:off x="11225458"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2" name="Google Shape;202;p3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34"/>
          <p:cNvSpPr/>
          <p:nvPr/>
        </p:nvSpPr>
        <p:spPr>
          <a:xfrm>
            <a:off x="10205213" y="0"/>
            <a:ext cx="1989000" cy="19896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4" name="Google Shape;204;p34"/>
          <p:cNvSpPr/>
          <p:nvPr/>
        </p:nvSpPr>
        <p:spPr>
          <a:xfrm rot="10800000">
            <a:off x="10205315" y="4258800"/>
            <a:ext cx="1989000" cy="19896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5" name="Google Shape;205;p34"/>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6" name="Google Shape;206;p34"/>
          <p:cNvSpPr/>
          <p:nvPr/>
        </p:nvSpPr>
        <p:spPr>
          <a:xfrm rot="-5400000">
            <a:off x="11216810" y="3283117"/>
            <a:ext cx="977700" cy="9774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7" name="Google Shape;207;p34"/>
          <p:cNvSpPr/>
          <p:nvPr/>
        </p:nvSpPr>
        <p:spPr>
          <a:xfrm>
            <a:off x="8239838" y="975600"/>
            <a:ext cx="481200" cy="4812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8" name="Google Shape;208;p34"/>
          <p:cNvSpPr/>
          <p:nvPr/>
        </p:nvSpPr>
        <p:spPr>
          <a:xfrm>
            <a:off x="8868881" y="57672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9" name="Google Shape;209;p34"/>
          <p:cNvSpPr/>
          <p:nvPr/>
        </p:nvSpPr>
        <p:spPr>
          <a:xfrm>
            <a:off x="9968739" y="3046667"/>
            <a:ext cx="236400" cy="2364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2">
  <p:cSld name="OBJECT_2_1_1_2_1_1_1_1_1_1_1_1">
    <p:bg>
      <p:bgPr>
        <a:solidFill>
          <a:schemeClr val="lt1"/>
        </a:solidFill>
      </p:bgPr>
    </p:bg>
    <p:spTree>
      <p:nvGrpSpPr>
        <p:cNvPr id="210" name="Shape 210"/>
        <p:cNvGrpSpPr/>
        <p:nvPr/>
      </p:nvGrpSpPr>
      <p:grpSpPr>
        <a:xfrm>
          <a:off x="0" y="0"/>
          <a:ext cx="0" cy="0"/>
          <a:chOff x="0" y="0"/>
          <a:chExt cx="0" cy="0"/>
        </a:xfrm>
      </p:grpSpPr>
      <p:sp>
        <p:nvSpPr>
          <p:cNvPr id="211" name="Google Shape;211;p35"/>
          <p:cNvSpPr/>
          <p:nvPr/>
        </p:nvSpPr>
        <p:spPr>
          <a:xfrm rot="10800000">
            <a:off x="10359958" y="1989767"/>
            <a:ext cx="865500" cy="8655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12" name="Google Shape;212;p35"/>
          <p:cNvSpPr/>
          <p:nvPr/>
        </p:nvSpPr>
        <p:spPr>
          <a:xfrm rot="10800000">
            <a:off x="10508758" y="1989600"/>
            <a:ext cx="716700" cy="7167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13" name="Google Shape;213;p35"/>
          <p:cNvSpPr/>
          <p:nvPr/>
        </p:nvSpPr>
        <p:spPr>
          <a:xfrm rot="10800000">
            <a:off x="10653025" y="1989633"/>
            <a:ext cx="571800" cy="5721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14" name="Google Shape;214;p35"/>
          <p:cNvCxnSpPr>
            <a:stCxn id="213" idx="2"/>
          </p:cNvCxnSpPr>
          <p:nvPr/>
        </p:nvCxnSpPr>
        <p:spPr>
          <a:xfrm rot="10800000">
            <a:off x="10653025" y="1981383"/>
            <a:ext cx="0" cy="294300"/>
          </a:xfrm>
          <a:prstGeom prst="straightConnector1">
            <a:avLst/>
          </a:prstGeom>
          <a:noFill/>
          <a:ln cap="flat" cmpd="sng" w="9525">
            <a:solidFill>
              <a:schemeClr val="lt2"/>
            </a:solidFill>
            <a:prstDash val="solid"/>
            <a:round/>
            <a:headEnd len="med" w="med" type="none"/>
            <a:tailEnd len="med" w="med" type="none"/>
          </a:ln>
        </p:spPr>
      </p:cxnSp>
      <p:cxnSp>
        <p:nvCxnSpPr>
          <p:cNvPr id="215" name="Google Shape;215;p35"/>
          <p:cNvCxnSpPr>
            <a:stCxn id="211" idx="2"/>
          </p:cNvCxnSpPr>
          <p:nvPr/>
        </p:nvCxnSpPr>
        <p:spPr>
          <a:xfrm rot="10800000">
            <a:off x="10359958" y="1983617"/>
            <a:ext cx="0" cy="438900"/>
          </a:xfrm>
          <a:prstGeom prst="straightConnector1">
            <a:avLst/>
          </a:prstGeom>
          <a:noFill/>
          <a:ln cap="flat" cmpd="sng" w="9525">
            <a:solidFill>
              <a:schemeClr val="lt2"/>
            </a:solidFill>
            <a:prstDash val="solid"/>
            <a:round/>
            <a:headEnd len="med" w="med" type="none"/>
            <a:tailEnd len="med" w="med" type="none"/>
          </a:ln>
        </p:spPr>
      </p:cxnSp>
      <p:cxnSp>
        <p:nvCxnSpPr>
          <p:cNvPr id="216" name="Google Shape;216;p35"/>
          <p:cNvCxnSpPr>
            <a:stCxn id="212" idx="2"/>
          </p:cNvCxnSpPr>
          <p:nvPr/>
        </p:nvCxnSpPr>
        <p:spPr>
          <a:xfrm rot="10800000">
            <a:off x="10508758" y="1983450"/>
            <a:ext cx="0" cy="364500"/>
          </a:xfrm>
          <a:prstGeom prst="straightConnector1">
            <a:avLst/>
          </a:prstGeom>
          <a:noFill/>
          <a:ln cap="flat" cmpd="sng" w="9525">
            <a:solidFill>
              <a:schemeClr val="lt2"/>
            </a:solidFill>
            <a:prstDash val="solid"/>
            <a:round/>
            <a:headEnd len="med" w="med" type="none"/>
            <a:tailEnd len="med" w="med" type="none"/>
          </a:ln>
        </p:spPr>
      </p:cxnSp>
      <p:cxnSp>
        <p:nvCxnSpPr>
          <p:cNvPr id="217" name="Google Shape;217;p35"/>
          <p:cNvCxnSpPr>
            <a:stCxn id="213" idx="0"/>
          </p:cNvCxnSpPr>
          <p:nvPr/>
        </p:nvCxnSpPr>
        <p:spPr>
          <a:xfrm>
            <a:off x="10938925" y="2561733"/>
            <a:ext cx="325800" cy="0"/>
          </a:xfrm>
          <a:prstGeom prst="straightConnector1">
            <a:avLst/>
          </a:prstGeom>
          <a:noFill/>
          <a:ln cap="flat" cmpd="sng" w="9525">
            <a:solidFill>
              <a:schemeClr val="lt2"/>
            </a:solidFill>
            <a:prstDash val="solid"/>
            <a:round/>
            <a:headEnd len="med" w="med" type="none"/>
            <a:tailEnd len="med" w="med" type="none"/>
          </a:ln>
        </p:spPr>
      </p:cxnSp>
      <p:cxnSp>
        <p:nvCxnSpPr>
          <p:cNvPr id="218" name="Google Shape;218;p35"/>
          <p:cNvCxnSpPr>
            <a:stCxn id="212" idx="0"/>
          </p:cNvCxnSpPr>
          <p:nvPr/>
        </p:nvCxnSpPr>
        <p:spPr>
          <a:xfrm>
            <a:off x="10867108" y="2706300"/>
            <a:ext cx="475500" cy="0"/>
          </a:xfrm>
          <a:prstGeom prst="straightConnector1">
            <a:avLst/>
          </a:prstGeom>
          <a:noFill/>
          <a:ln cap="flat" cmpd="sng" w="9525">
            <a:solidFill>
              <a:schemeClr val="lt2"/>
            </a:solidFill>
            <a:prstDash val="solid"/>
            <a:round/>
            <a:headEnd len="med" w="med" type="none"/>
            <a:tailEnd len="med" w="med" type="none"/>
          </a:ln>
        </p:spPr>
      </p:cxnSp>
      <p:cxnSp>
        <p:nvCxnSpPr>
          <p:cNvPr id="219" name="Google Shape;219;p35"/>
          <p:cNvCxnSpPr>
            <a:stCxn id="211" idx="0"/>
          </p:cNvCxnSpPr>
          <p:nvPr/>
        </p:nvCxnSpPr>
        <p:spPr>
          <a:xfrm>
            <a:off x="10792708" y="2855267"/>
            <a:ext cx="456600" cy="0"/>
          </a:xfrm>
          <a:prstGeom prst="straightConnector1">
            <a:avLst/>
          </a:prstGeom>
          <a:noFill/>
          <a:ln cap="flat" cmpd="sng" w="9525">
            <a:solidFill>
              <a:schemeClr val="lt2"/>
            </a:solidFill>
            <a:prstDash val="solid"/>
            <a:round/>
            <a:headEnd len="med" w="med" type="none"/>
            <a:tailEnd len="med" w="med" type="none"/>
          </a:ln>
        </p:spPr>
      </p:cxnSp>
      <p:sp>
        <p:nvSpPr>
          <p:cNvPr id="220" name="Google Shape;220;p35"/>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221" name="Google Shape;221;p35"/>
          <p:cNvSpPr/>
          <p:nvPr/>
        </p:nvSpPr>
        <p:spPr>
          <a:xfrm>
            <a:off x="10250102"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2" name="Google Shape;222;p3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5"/>
          <p:cNvSpPr/>
          <p:nvPr/>
        </p:nvSpPr>
        <p:spPr>
          <a:xfrm>
            <a:off x="10205213" y="4258800"/>
            <a:ext cx="1989000" cy="1989600"/>
          </a:xfrm>
          <a:prstGeom prst="ellips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4" name="Google Shape;224;p35"/>
          <p:cNvSpPr/>
          <p:nvPr/>
        </p:nvSpPr>
        <p:spPr>
          <a:xfrm rot="-5400000">
            <a:off x="10204913" y="300"/>
            <a:ext cx="1989600" cy="19890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5" name="Google Shape;225;p35"/>
          <p:cNvSpPr/>
          <p:nvPr/>
        </p:nvSpPr>
        <p:spPr>
          <a:xfrm>
            <a:off x="11225458" y="1989733"/>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6" name="Google Shape;226;p35"/>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7" name="Google Shape;227;p35"/>
          <p:cNvSpPr/>
          <p:nvPr/>
        </p:nvSpPr>
        <p:spPr>
          <a:xfrm>
            <a:off x="9724133"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8" name="Google Shape;228;p35"/>
          <p:cNvSpPr/>
          <p:nvPr/>
        </p:nvSpPr>
        <p:spPr>
          <a:xfrm>
            <a:off x="8868881" y="4944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9" name="Google Shape;229;p35"/>
          <p:cNvSpPr/>
          <p:nvPr/>
        </p:nvSpPr>
        <p:spPr>
          <a:xfrm>
            <a:off x="10199848" y="4258800"/>
            <a:ext cx="1989000" cy="1989600"/>
          </a:xfrm>
          <a:prstGeom prst="arc">
            <a:avLst>
              <a:gd fmla="val 16200000" name="adj1"/>
              <a:gd fmla="val 0" name="adj2"/>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3">
  <p:cSld name="OBJECT_2_1_1_2_1_1_1_1_1_1_1_1_1">
    <p:bg>
      <p:bgPr>
        <a:solidFill>
          <a:schemeClr val="lt1"/>
        </a:solidFill>
      </p:bgPr>
    </p:bg>
    <p:spTree>
      <p:nvGrpSpPr>
        <p:cNvPr id="230" name="Shape 230"/>
        <p:cNvGrpSpPr/>
        <p:nvPr/>
      </p:nvGrpSpPr>
      <p:grpSpPr>
        <a:xfrm>
          <a:off x="0" y="0"/>
          <a:ext cx="0" cy="0"/>
          <a:chOff x="0" y="0"/>
          <a:chExt cx="0" cy="0"/>
        </a:xfrm>
      </p:grpSpPr>
      <p:sp>
        <p:nvSpPr>
          <p:cNvPr id="231" name="Google Shape;231;p36"/>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232" name="Google Shape;232;p36"/>
          <p:cNvSpPr/>
          <p:nvPr/>
        </p:nvSpPr>
        <p:spPr>
          <a:xfrm>
            <a:off x="10220276" y="1989600"/>
            <a:ext cx="975300" cy="975600"/>
          </a:xfrm>
          <a:prstGeom prst="rect">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3" name="Google Shape;233;p36"/>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4" name="Google Shape;234;p3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6"/>
          <p:cNvSpPr/>
          <p:nvPr/>
        </p:nvSpPr>
        <p:spPr>
          <a:xfrm rot="10800000">
            <a:off x="10202633" y="2965200"/>
            <a:ext cx="1989000" cy="1989600"/>
          </a:xfrm>
          <a:prstGeom prst="ellips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6" name="Google Shape;236;p36"/>
          <p:cNvSpPr/>
          <p:nvPr/>
        </p:nvSpPr>
        <p:spPr>
          <a:xfrm rot="-5400000">
            <a:off x="10204913" y="300"/>
            <a:ext cx="1989600" cy="19890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7" name="Google Shape;237;p36"/>
          <p:cNvSpPr/>
          <p:nvPr/>
        </p:nvSpPr>
        <p:spPr>
          <a:xfrm rot="-5400000">
            <a:off x="8287565" y="33"/>
            <a:ext cx="480300" cy="4803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238" name="Google Shape;238;p36"/>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9" name="Google Shape;239;p36"/>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0" name="Google Shape;240;p36"/>
          <p:cNvSpPr/>
          <p:nvPr/>
        </p:nvSpPr>
        <p:spPr>
          <a:xfrm rot="10800000">
            <a:off x="10202633" y="2965200"/>
            <a:ext cx="1989000" cy="19896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1" name="Google Shape;241;p36"/>
          <p:cNvSpPr/>
          <p:nvPr/>
        </p:nvSpPr>
        <p:spPr>
          <a:xfrm rot="-5400000">
            <a:off x="10202230" y="2965500"/>
            <a:ext cx="1989600" cy="19890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242" name="Google Shape;242;p36"/>
          <p:cNvCxnSpPr/>
          <p:nvPr/>
        </p:nvCxnSpPr>
        <p:spPr>
          <a:xfrm>
            <a:off x="11372088"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3" name="Google Shape;243;p36"/>
          <p:cNvCxnSpPr/>
          <p:nvPr/>
        </p:nvCxnSpPr>
        <p:spPr>
          <a:xfrm>
            <a:off x="11537980"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36"/>
          <p:cNvCxnSpPr/>
          <p:nvPr/>
        </p:nvCxnSpPr>
        <p:spPr>
          <a:xfrm>
            <a:off x="11703871"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5" name="Google Shape;245;p36"/>
          <p:cNvCxnSpPr/>
          <p:nvPr/>
        </p:nvCxnSpPr>
        <p:spPr>
          <a:xfrm>
            <a:off x="11869763"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6" name="Google Shape;246;p36"/>
          <p:cNvCxnSpPr/>
          <p:nvPr/>
        </p:nvCxnSpPr>
        <p:spPr>
          <a:xfrm>
            <a:off x="12035655" y="1986300"/>
            <a:ext cx="0" cy="9756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1">
  <p:cSld name="OBJECT_2_1_1_2_1_1_1_1_1_1_1_2">
    <p:bg>
      <p:bgPr>
        <a:solidFill>
          <a:schemeClr val="dk1"/>
        </a:solidFill>
      </p:bgPr>
    </p:bg>
    <p:spTree>
      <p:nvGrpSpPr>
        <p:cNvPr id="247" name="Shape 247"/>
        <p:cNvGrpSpPr/>
        <p:nvPr/>
      </p:nvGrpSpPr>
      <p:grpSpPr>
        <a:xfrm>
          <a:off x="0" y="0"/>
          <a:ext cx="0" cy="0"/>
          <a:chOff x="0" y="0"/>
          <a:chExt cx="0" cy="0"/>
        </a:xfrm>
      </p:grpSpPr>
      <p:sp>
        <p:nvSpPr>
          <p:cNvPr id="248" name="Google Shape;248;p37"/>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Clr>
                <a:schemeClr val="lt2"/>
              </a:buClr>
              <a:buSzPts val="6400"/>
              <a:buFont typeface="DM Sans Medium"/>
              <a:buNone/>
              <a:defRPr i="0" sz="6400" u="none" cap="none" strike="noStrike">
                <a:solidFill>
                  <a:schemeClr val="lt2"/>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249" name="Google Shape;249;p37"/>
          <p:cNvSpPr/>
          <p:nvPr/>
        </p:nvSpPr>
        <p:spPr>
          <a:xfrm>
            <a:off x="11225458"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0" name="Google Shape;250;p3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37"/>
          <p:cNvSpPr/>
          <p:nvPr/>
        </p:nvSpPr>
        <p:spPr>
          <a:xfrm>
            <a:off x="10205213" y="0"/>
            <a:ext cx="1989000" cy="19896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2" name="Google Shape;252;p37"/>
          <p:cNvSpPr/>
          <p:nvPr/>
        </p:nvSpPr>
        <p:spPr>
          <a:xfrm rot="10800000">
            <a:off x="10205315" y="4258800"/>
            <a:ext cx="1989000" cy="1989600"/>
          </a:xfrm>
          <a:prstGeom prst="rtTriangl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3" name="Google Shape;253;p37"/>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4" name="Google Shape;254;p37"/>
          <p:cNvSpPr/>
          <p:nvPr/>
        </p:nvSpPr>
        <p:spPr>
          <a:xfrm rot="-5400000">
            <a:off x="11216810" y="3283117"/>
            <a:ext cx="977700" cy="977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solidFill>
                <a:schemeClr val="lt2"/>
              </a:solidFill>
            </a:endParaRPr>
          </a:p>
        </p:txBody>
      </p:sp>
      <p:sp>
        <p:nvSpPr>
          <p:cNvPr id="255" name="Google Shape;255;p37"/>
          <p:cNvSpPr/>
          <p:nvPr/>
        </p:nvSpPr>
        <p:spPr>
          <a:xfrm>
            <a:off x="8239838" y="975600"/>
            <a:ext cx="481200" cy="4812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6" name="Google Shape;256;p37"/>
          <p:cNvSpPr/>
          <p:nvPr/>
        </p:nvSpPr>
        <p:spPr>
          <a:xfrm>
            <a:off x="8868881" y="57672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7" name="Google Shape;257;p37"/>
          <p:cNvSpPr/>
          <p:nvPr/>
        </p:nvSpPr>
        <p:spPr>
          <a:xfrm>
            <a:off x="9968739" y="3046667"/>
            <a:ext cx="236400" cy="236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2">
  <p:cSld name="OBJECT_2_1_1_2_1_1_1_1_1_1_1_1_2">
    <p:bg>
      <p:bgPr>
        <a:solidFill>
          <a:schemeClr val="dk1"/>
        </a:solidFill>
      </p:bgPr>
    </p:bg>
    <p:spTree>
      <p:nvGrpSpPr>
        <p:cNvPr id="258" name="Shape 258"/>
        <p:cNvGrpSpPr/>
        <p:nvPr/>
      </p:nvGrpSpPr>
      <p:grpSpPr>
        <a:xfrm>
          <a:off x="0" y="0"/>
          <a:ext cx="0" cy="0"/>
          <a:chOff x="0" y="0"/>
          <a:chExt cx="0" cy="0"/>
        </a:xfrm>
      </p:grpSpPr>
      <p:sp>
        <p:nvSpPr>
          <p:cNvPr id="259" name="Google Shape;259;p38"/>
          <p:cNvSpPr/>
          <p:nvPr/>
        </p:nvSpPr>
        <p:spPr>
          <a:xfrm rot="10800000">
            <a:off x="10359958" y="1989767"/>
            <a:ext cx="865500" cy="8655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60" name="Google Shape;260;p38"/>
          <p:cNvSpPr/>
          <p:nvPr/>
        </p:nvSpPr>
        <p:spPr>
          <a:xfrm rot="10800000">
            <a:off x="10508758" y="1989600"/>
            <a:ext cx="716700" cy="7167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61" name="Google Shape;261;p38"/>
          <p:cNvSpPr/>
          <p:nvPr/>
        </p:nvSpPr>
        <p:spPr>
          <a:xfrm rot="10800000">
            <a:off x="10653025" y="1989633"/>
            <a:ext cx="571800" cy="5721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62" name="Google Shape;262;p38"/>
          <p:cNvCxnSpPr>
            <a:stCxn id="261" idx="2"/>
          </p:cNvCxnSpPr>
          <p:nvPr/>
        </p:nvCxnSpPr>
        <p:spPr>
          <a:xfrm rot="10800000">
            <a:off x="10653025" y="1981383"/>
            <a:ext cx="0" cy="294300"/>
          </a:xfrm>
          <a:prstGeom prst="straightConnector1">
            <a:avLst/>
          </a:prstGeom>
          <a:noFill/>
          <a:ln cap="flat" cmpd="sng" w="9525">
            <a:solidFill>
              <a:schemeClr val="dk2"/>
            </a:solidFill>
            <a:prstDash val="solid"/>
            <a:round/>
            <a:headEnd len="med" w="med" type="none"/>
            <a:tailEnd len="med" w="med" type="none"/>
          </a:ln>
        </p:spPr>
      </p:cxnSp>
      <p:cxnSp>
        <p:nvCxnSpPr>
          <p:cNvPr id="263" name="Google Shape;263;p38"/>
          <p:cNvCxnSpPr>
            <a:stCxn id="259" idx="2"/>
          </p:cNvCxnSpPr>
          <p:nvPr/>
        </p:nvCxnSpPr>
        <p:spPr>
          <a:xfrm rot="10800000">
            <a:off x="10359958" y="1983617"/>
            <a:ext cx="0" cy="43890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38"/>
          <p:cNvCxnSpPr>
            <a:stCxn id="260" idx="2"/>
          </p:cNvCxnSpPr>
          <p:nvPr/>
        </p:nvCxnSpPr>
        <p:spPr>
          <a:xfrm rot="10800000">
            <a:off x="10508758" y="1983450"/>
            <a:ext cx="0" cy="3645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38"/>
          <p:cNvCxnSpPr>
            <a:stCxn id="261" idx="0"/>
          </p:cNvCxnSpPr>
          <p:nvPr/>
        </p:nvCxnSpPr>
        <p:spPr>
          <a:xfrm>
            <a:off x="10938925" y="2561733"/>
            <a:ext cx="325800" cy="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38"/>
          <p:cNvCxnSpPr>
            <a:stCxn id="260" idx="0"/>
          </p:cNvCxnSpPr>
          <p:nvPr/>
        </p:nvCxnSpPr>
        <p:spPr>
          <a:xfrm>
            <a:off x="10867108" y="2706300"/>
            <a:ext cx="475500" cy="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38"/>
          <p:cNvCxnSpPr>
            <a:stCxn id="259" idx="0"/>
          </p:cNvCxnSpPr>
          <p:nvPr/>
        </p:nvCxnSpPr>
        <p:spPr>
          <a:xfrm>
            <a:off x="10792708" y="2855267"/>
            <a:ext cx="456600" cy="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38"/>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269" name="Google Shape;269;p38"/>
          <p:cNvSpPr/>
          <p:nvPr/>
        </p:nvSpPr>
        <p:spPr>
          <a:xfrm>
            <a:off x="10250102"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0" name="Google Shape;270;p3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1" name="Google Shape;271;p38"/>
          <p:cNvSpPr/>
          <p:nvPr/>
        </p:nvSpPr>
        <p:spPr>
          <a:xfrm>
            <a:off x="10205213" y="42588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2" name="Google Shape;272;p38"/>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3" name="Google Shape;273;p38"/>
          <p:cNvSpPr/>
          <p:nvPr/>
        </p:nvSpPr>
        <p:spPr>
          <a:xfrm>
            <a:off x="11225458" y="1989733"/>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4" name="Google Shape;274;p38"/>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5" name="Google Shape;275;p38"/>
          <p:cNvSpPr/>
          <p:nvPr/>
        </p:nvSpPr>
        <p:spPr>
          <a:xfrm>
            <a:off x="9724133" y="5767200"/>
            <a:ext cx="481200" cy="481200"/>
          </a:xfrm>
          <a:prstGeom prst="rect">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6" name="Google Shape;276;p38"/>
          <p:cNvSpPr/>
          <p:nvPr/>
        </p:nvSpPr>
        <p:spPr>
          <a:xfrm>
            <a:off x="8868881" y="4944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7" name="Google Shape;277;p38"/>
          <p:cNvSpPr/>
          <p:nvPr/>
        </p:nvSpPr>
        <p:spPr>
          <a:xfrm>
            <a:off x="10199848" y="42588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3">
  <p:cSld name="OBJECT_2_1_1_2_1_1_1_1_1_1_1_1_1_1">
    <p:bg>
      <p:bgPr>
        <a:solidFill>
          <a:schemeClr val="dk1"/>
        </a:solidFill>
      </p:bgPr>
    </p:bg>
    <p:spTree>
      <p:nvGrpSpPr>
        <p:cNvPr id="278" name="Shape 278"/>
        <p:cNvGrpSpPr/>
        <p:nvPr/>
      </p:nvGrpSpPr>
      <p:grpSpPr>
        <a:xfrm>
          <a:off x="0" y="0"/>
          <a:ext cx="0" cy="0"/>
          <a:chOff x="0" y="0"/>
          <a:chExt cx="0" cy="0"/>
        </a:xfrm>
      </p:grpSpPr>
      <p:sp>
        <p:nvSpPr>
          <p:cNvPr id="279" name="Google Shape;279;p39"/>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280" name="Google Shape;280;p39"/>
          <p:cNvSpPr/>
          <p:nvPr/>
        </p:nvSpPr>
        <p:spPr>
          <a:xfrm>
            <a:off x="10220276" y="198960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1" name="Google Shape;281;p39"/>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2" name="Google Shape;282;p3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39"/>
          <p:cNvSpPr/>
          <p:nvPr/>
        </p:nvSpPr>
        <p:spPr>
          <a:xfrm rot="10800000">
            <a:off x="10202633" y="29652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4" name="Google Shape;284;p39"/>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5" name="Google Shape;285;p39"/>
          <p:cNvSpPr/>
          <p:nvPr/>
        </p:nvSpPr>
        <p:spPr>
          <a:xfrm rot="-5400000">
            <a:off x="8287565" y="33"/>
            <a:ext cx="480300" cy="4803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286" name="Google Shape;286;p39"/>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7" name="Google Shape;287;p39"/>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8" name="Google Shape;288;p39"/>
          <p:cNvSpPr/>
          <p:nvPr/>
        </p:nvSpPr>
        <p:spPr>
          <a:xfrm rot="10800000">
            <a:off x="10202633" y="29652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9" name="Google Shape;289;p39"/>
          <p:cNvSpPr/>
          <p:nvPr/>
        </p:nvSpPr>
        <p:spPr>
          <a:xfrm rot="-5400000">
            <a:off x="10202230" y="2965500"/>
            <a:ext cx="1989600" cy="19890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290" name="Google Shape;290;p39"/>
          <p:cNvCxnSpPr/>
          <p:nvPr/>
        </p:nvCxnSpPr>
        <p:spPr>
          <a:xfrm>
            <a:off x="11372088"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39"/>
          <p:cNvCxnSpPr/>
          <p:nvPr/>
        </p:nvCxnSpPr>
        <p:spPr>
          <a:xfrm>
            <a:off x="11537980"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39"/>
          <p:cNvCxnSpPr/>
          <p:nvPr/>
        </p:nvCxnSpPr>
        <p:spPr>
          <a:xfrm>
            <a:off x="11703871"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39"/>
          <p:cNvCxnSpPr/>
          <p:nvPr/>
        </p:nvCxnSpPr>
        <p:spPr>
          <a:xfrm>
            <a:off x="11869763"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39"/>
          <p:cNvCxnSpPr/>
          <p:nvPr/>
        </p:nvCxnSpPr>
        <p:spPr>
          <a:xfrm>
            <a:off x="12035655" y="1986300"/>
            <a:ext cx="0" cy="97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Light">
  <p:cSld name="OBJECT_2_1_1_2_1_1_1_2">
    <p:spTree>
      <p:nvGrpSpPr>
        <p:cNvPr id="295" name="Shape 295"/>
        <p:cNvGrpSpPr/>
        <p:nvPr/>
      </p:nvGrpSpPr>
      <p:grpSpPr>
        <a:xfrm>
          <a:off x="0" y="0"/>
          <a:ext cx="0" cy="0"/>
          <a:chOff x="0" y="0"/>
          <a:chExt cx="0" cy="0"/>
        </a:xfrm>
      </p:grpSpPr>
      <p:pic>
        <p:nvPicPr>
          <p:cNvPr id="296" name="Google Shape;296;p40"/>
          <p:cNvPicPr preferRelativeResize="0"/>
          <p:nvPr/>
        </p:nvPicPr>
        <p:blipFill rotWithShape="1">
          <a:blip r:embed="rId2">
            <a:alphaModFix/>
          </a:blip>
          <a:srcRect b="0" l="0" r="0" t="0"/>
          <a:stretch/>
        </p:blipFill>
        <p:spPr>
          <a:xfrm>
            <a:off x="3021211" y="2819733"/>
            <a:ext cx="6145024" cy="974022"/>
          </a:xfrm>
          <a:prstGeom prst="rect">
            <a:avLst/>
          </a:prstGeom>
          <a:noFill/>
          <a:ln>
            <a:noFill/>
          </a:ln>
        </p:spPr>
      </p:pic>
      <p:sp>
        <p:nvSpPr>
          <p:cNvPr id="297" name="Google Shape;297;p4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Dark">
  <p:cSld name="OBJECT_2_1_1_2_1_1_1_1_2">
    <p:bg>
      <p:bgPr>
        <a:solidFill>
          <a:schemeClr val="dk1"/>
        </a:solidFill>
      </p:bgPr>
    </p:bg>
    <p:spTree>
      <p:nvGrpSpPr>
        <p:cNvPr id="298" name="Shape 298"/>
        <p:cNvGrpSpPr/>
        <p:nvPr/>
      </p:nvGrpSpPr>
      <p:grpSpPr>
        <a:xfrm>
          <a:off x="0" y="0"/>
          <a:ext cx="0" cy="0"/>
          <a:chOff x="0" y="0"/>
          <a:chExt cx="0" cy="0"/>
        </a:xfrm>
      </p:grpSpPr>
      <p:pic>
        <p:nvPicPr>
          <p:cNvPr id="299" name="Google Shape;299;p41"/>
          <p:cNvPicPr preferRelativeResize="0"/>
          <p:nvPr/>
        </p:nvPicPr>
        <p:blipFill>
          <a:blip r:embed="rId2">
            <a:alphaModFix/>
          </a:blip>
          <a:stretch>
            <a:fillRect/>
          </a:stretch>
        </p:blipFill>
        <p:spPr>
          <a:xfrm>
            <a:off x="3021195" y="2819747"/>
            <a:ext cx="6145026" cy="977545"/>
          </a:xfrm>
          <a:prstGeom prst="rect">
            <a:avLst/>
          </a:prstGeom>
          <a:noFill/>
          <a:ln>
            <a:noFill/>
          </a:ln>
        </p:spPr>
      </p:pic>
      <p:sp>
        <p:nvSpPr>
          <p:cNvPr id="300" name="Google Shape;300;p4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OBJECT_3">
    <p:spTree>
      <p:nvGrpSpPr>
        <p:cNvPr id="301" name="Shape 301"/>
        <p:cNvGrpSpPr/>
        <p:nvPr/>
      </p:nvGrpSpPr>
      <p:grpSpPr>
        <a:xfrm>
          <a:off x="0" y="0"/>
          <a:ext cx="0" cy="0"/>
          <a:chOff x="0" y="0"/>
          <a:chExt cx="0" cy="0"/>
        </a:xfrm>
      </p:grpSpPr>
      <p:sp>
        <p:nvSpPr>
          <p:cNvPr id="302" name="Google Shape;302;p42"/>
          <p:cNvSpPr txBox="1"/>
          <p:nvPr>
            <p:ph type="title"/>
          </p:nvPr>
        </p:nvSpPr>
        <p:spPr>
          <a:xfrm>
            <a:off x="460864" y="365126"/>
            <a:ext cx="11257200" cy="992100"/>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303" name="Google Shape;303;p42"/>
          <p:cNvSpPr txBox="1"/>
          <p:nvPr>
            <p:ph idx="1" type="body"/>
          </p:nvPr>
        </p:nvSpPr>
        <p:spPr>
          <a:xfrm>
            <a:off x="460864" y="1585913"/>
            <a:ext cx="11257200" cy="4590900"/>
          </a:xfrm>
          <a:prstGeom prst="rect">
            <a:avLst/>
          </a:prstGeom>
          <a:noFill/>
          <a:ln>
            <a:noFill/>
          </a:ln>
        </p:spPr>
        <p:txBody>
          <a:bodyPr anchorCtr="0" anchor="t" bIns="45700" lIns="0" spcFirstLastPara="1" rIns="0" wrap="square" tIns="45700">
            <a:noAutofit/>
          </a:bodyPr>
          <a:lstStyle>
            <a:lvl1pPr indent="-406400" lvl="0" marL="457200" marR="0" algn="l">
              <a:lnSpc>
                <a:spcPct val="115000"/>
              </a:lnSpc>
              <a:spcBef>
                <a:spcPts val="1100"/>
              </a:spcBef>
              <a:spcAft>
                <a:spcPts val="0"/>
              </a:spcAft>
              <a:buClr>
                <a:schemeClr val="accent2"/>
              </a:buClr>
              <a:buSzPts val="2800"/>
              <a:buFont typeface="Barlow"/>
              <a:buChar char="▪"/>
              <a:defRPr i="0" sz="2800" u="none" cap="none" strike="noStrike">
                <a:solidFill>
                  <a:srgbClr val="3A3838"/>
                </a:solidFill>
                <a:latin typeface="Barlow"/>
                <a:ea typeface="Barlow"/>
                <a:cs typeface="Barlow"/>
                <a:sym typeface="Barlow"/>
              </a:defRPr>
            </a:lvl1pPr>
            <a:lvl2pPr indent="-381000" lvl="1" marL="914400" marR="0" algn="l">
              <a:lnSpc>
                <a:spcPct val="115000"/>
              </a:lnSpc>
              <a:spcBef>
                <a:spcPts val="500"/>
              </a:spcBef>
              <a:spcAft>
                <a:spcPts val="0"/>
              </a:spcAft>
              <a:buClr>
                <a:schemeClr val="accent2"/>
              </a:buClr>
              <a:buSzPts val="2400"/>
              <a:buFont typeface="Barlow"/>
              <a:buChar char="▪"/>
              <a:defRPr i="0" sz="2400" u="none" cap="none" strike="noStrike">
                <a:solidFill>
                  <a:srgbClr val="3A3838"/>
                </a:solidFill>
                <a:latin typeface="Barlow"/>
                <a:ea typeface="Barlow"/>
                <a:cs typeface="Barlow"/>
                <a:sym typeface="Barlow"/>
              </a:defRPr>
            </a:lvl2pPr>
            <a:lvl3pPr indent="-355600" lvl="2" marL="1371600" marR="0" algn="l">
              <a:lnSpc>
                <a:spcPct val="115000"/>
              </a:lnSpc>
              <a:spcBef>
                <a:spcPts val="500"/>
              </a:spcBef>
              <a:spcAft>
                <a:spcPts val="0"/>
              </a:spcAft>
              <a:buClr>
                <a:schemeClr val="accent2"/>
              </a:buClr>
              <a:buSzPts val="2000"/>
              <a:buFont typeface="Barlow"/>
              <a:buChar char="▪"/>
              <a:defRPr i="0" sz="2000" u="none" cap="none" strike="noStrike">
                <a:solidFill>
                  <a:srgbClr val="3A3838"/>
                </a:solidFill>
                <a:latin typeface="Barlow"/>
                <a:ea typeface="Barlow"/>
                <a:cs typeface="Barlow"/>
                <a:sym typeface="Barlow"/>
              </a:defRPr>
            </a:lvl3pPr>
            <a:lvl4pPr indent="-349250" lvl="3" marL="1828800" marR="0" algn="l">
              <a:lnSpc>
                <a:spcPct val="115000"/>
              </a:lnSpc>
              <a:spcBef>
                <a:spcPts val="500"/>
              </a:spcBef>
              <a:spcAft>
                <a:spcPts val="0"/>
              </a:spcAft>
              <a:buClr>
                <a:schemeClr val="accent2"/>
              </a:buClr>
              <a:buSzPts val="1900"/>
              <a:buFont typeface="Barlow"/>
              <a:buChar char="▪"/>
              <a:defRPr i="0" sz="1900" u="none" cap="none" strike="noStrike">
                <a:solidFill>
                  <a:srgbClr val="3A3838"/>
                </a:solidFill>
                <a:latin typeface="Barlow"/>
                <a:ea typeface="Barlow"/>
                <a:cs typeface="Barlow"/>
                <a:sym typeface="Barlow"/>
              </a:defRPr>
            </a:lvl4pPr>
            <a:lvl5pPr indent="-323850" lvl="4" marL="2286000" marR="0" algn="l">
              <a:lnSpc>
                <a:spcPct val="115000"/>
              </a:lnSpc>
              <a:spcBef>
                <a:spcPts val="500"/>
              </a:spcBef>
              <a:spcAft>
                <a:spcPts val="0"/>
              </a:spcAft>
              <a:buClr>
                <a:schemeClr val="accent2"/>
              </a:buClr>
              <a:buSzPts val="1500"/>
              <a:buFont typeface="Barlow"/>
              <a:buChar char="▪"/>
              <a:defRPr i="0" sz="1500" u="none" cap="none" strike="noStrike">
                <a:solidFill>
                  <a:srgbClr val="3A3838"/>
                </a:solidFill>
                <a:latin typeface="Barlow"/>
                <a:ea typeface="Barlow"/>
                <a:cs typeface="Barlow"/>
                <a:sym typeface="Barlow"/>
              </a:defRPr>
            </a:lvl5pPr>
            <a:lvl6pPr indent="-323850" lvl="5" marL="2743200" marR="0" algn="l">
              <a:lnSpc>
                <a:spcPct val="115000"/>
              </a:lnSpc>
              <a:spcBef>
                <a:spcPts val="500"/>
              </a:spcBef>
              <a:spcAft>
                <a:spcPts val="0"/>
              </a:spcAft>
              <a:buClr>
                <a:schemeClr val="accent2"/>
              </a:buClr>
              <a:buSzPts val="1500"/>
              <a:buFont typeface="Barlow"/>
              <a:buChar char="▪"/>
              <a:defRPr i="0" sz="1500" u="none" cap="none" strike="noStrike">
                <a:solidFill>
                  <a:schemeClr val="dk1"/>
                </a:solidFill>
                <a:latin typeface="Barlow"/>
                <a:ea typeface="Barlow"/>
                <a:cs typeface="Barlow"/>
                <a:sym typeface="Barlow"/>
              </a:defRPr>
            </a:lvl6pPr>
            <a:lvl7pPr indent="-323850" lvl="6" marL="3200400" marR="0" algn="l">
              <a:lnSpc>
                <a:spcPct val="115000"/>
              </a:lnSpc>
              <a:spcBef>
                <a:spcPts val="500"/>
              </a:spcBef>
              <a:spcAft>
                <a:spcPts val="0"/>
              </a:spcAft>
              <a:buClr>
                <a:schemeClr val="accent2"/>
              </a:buClr>
              <a:buSzPts val="1500"/>
              <a:buFont typeface="Barlow"/>
              <a:buChar char="▪"/>
              <a:defRPr i="0" sz="1500" u="none" cap="none" strike="noStrike">
                <a:solidFill>
                  <a:schemeClr val="dk1"/>
                </a:solidFill>
                <a:latin typeface="Barlow"/>
                <a:ea typeface="Barlow"/>
                <a:cs typeface="Barlow"/>
                <a:sym typeface="Barlow"/>
              </a:defRPr>
            </a:lvl7pPr>
            <a:lvl8pPr indent="-323850" lvl="7" marL="3657600" marR="0" algn="l">
              <a:lnSpc>
                <a:spcPct val="115000"/>
              </a:lnSpc>
              <a:spcBef>
                <a:spcPts val="500"/>
              </a:spcBef>
              <a:spcAft>
                <a:spcPts val="0"/>
              </a:spcAft>
              <a:buClr>
                <a:schemeClr val="accent2"/>
              </a:buClr>
              <a:buSzPts val="1500"/>
              <a:buFont typeface="Barlow"/>
              <a:buChar char="▪"/>
              <a:defRPr i="0" sz="1500" u="none" cap="none" strike="noStrike">
                <a:solidFill>
                  <a:schemeClr val="dk1"/>
                </a:solidFill>
                <a:latin typeface="Barlow"/>
                <a:ea typeface="Barlow"/>
                <a:cs typeface="Barlow"/>
                <a:sym typeface="Barlow"/>
              </a:defRPr>
            </a:lvl8pPr>
            <a:lvl9pPr indent="-323850" lvl="8" marL="4114800" marR="0" algn="l">
              <a:lnSpc>
                <a:spcPct val="115000"/>
              </a:lnSpc>
              <a:spcBef>
                <a:spcPts val="500"/>
              </a:spcBef>
              <a:spcAft>
                <a:spcPts val="0"/>
              </a:spcAft>
              <a:buClr>
                <a:schemeClr val="accent2"/>
              </a:buClr>
              <a:buSzPts val="1500"/>
              <a:buFont typeface="Barlow"/>
              <a:buChar char="▪"/>
              <a:defRPr i="0" sz="1500" u="none" cap="none" strike="noStrike">
                <a:solidFill>
                  <a:schemeClr val="dk1"/>
                </a:solidFill>
                <a:latin typeface="Barlow"/>
                <a:ea typeface="Barlow"/>
                <a:cs typeface="Barlow"/>
                <a:sym typeface="Barlow"/>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04" name="Shape 304"/>
        <p:cNvGrpSpPr/>
        <p:nvPr/>
      </p:nvGrpSpPr>
      <p:grpSpPr>
        <a:xfrm>
          <a:off x="0" y="0"/>
          <a:ext cx="0" cy="0"/>
          <a:chOff x="0" y="0"/>
          <a:chExt cx="0" cy="0"/>
        </a:xfrm>
      </p:grpSpPr>
      <p:grpSp>
        <p:nvGrpSpPr>
          <p:cNvPr id="305" name="Google Shape;305;p43"/>
          <p:cNvGrpSpPr/>
          <p:nvPr/>
        </p:nvGrpSpPr>
        <p:grpSpPr>
          <a:xfrm>
            <a:off x="0" y="3771899"/>
            <a:ext cx="12188343" cy="3086100"/>
            <a:chOff x="0" y="3771899"/>
            <a:chExt cx="12192000" cy="3086100"/>
          </a:xfrm>
        </p:grpSpPr>
        <p:grpSp>
          <p:nvGrpSpPr>
            <p:cNvPr id="306" name="Google Shape;306;p43"/>
            <p:cNvGrpSpPr/>
            <p:nvPr/>
          </p:nvGrpSpPr>
          <p:grpSpPr>
            <a:xfrm rot="10800000">
              <a:off x="0" y="3771899"/>
              <a:ext cx="12192000" cy="3086100"/>
              <a:chOff x="0" y="0"/>
              <a:chExt cx="12192000" cy="3086100"/>
            </a:xfrm>
          </p:grpSpPr>
          <p:pic>
            <p:nvPicPr>
              <p:cNvPr id="307" name="Google Shape;307;p43"/>
              <p:cNvPicPr preferRelativeResize="0"/>
              <p:nvPr/>
            </p:nvPicPr>
            <p:blipFill rotWithShape="1">
              <a:blip r:embed="rId2">
                <a:alphaModFix/>
              </a:blip>
              <a:srcRect b="0" l="0" r="42876" t="47059"/>
              <a:stretch/>
            </p:blipFill>
            <p:spPr>
              <a:xfrm flipH="1">
                <a:off x="16805" y="0"/>
                <a:ext cx="5025093" cy="1982353"/>
              </a:xfrm>
              <a:prstGeom prst="rect">
                <a:avLst/>
              </a:prstGeom>
              <a:noFill/>
              <a:ln>
                <a:noFill/>
              </a:ln>
            </p:spPr>
          </p:pic>
          <p:pic>
            <p:nvPicPr>
              <p:cNvPr id="308" name="Google Shape;308;p43"/>
              <p:cNvPicPr preferRelativeResize="0"/>
              <p:nvPr/>
            </p:nvPicPr>
            <p:blipFill rotWithShape="1">
              <a:blip r:embed="rId3">
                <a:alphaModFix/>
              </a:blip>
              <a:srcRect b="0" l="0" r="0" t="56226"/>
              <a:stretch/>
            </p:blipFill>
            <p:spPr>
              <a:xfrm>
                <a:off x="893762" y="0"/>
                <a:ext cx="6594497" cy="1514564"/>
              </a:xfrm>
              <a:prstGeom prst="rect">
                <a:avLst/>
              </a:prstGeom>
              <a:noFill/>
              <a:ln>
                <a:noFill/>
              </a:ln>
            </p:spPr>
          </p:pic>
          <p:sp>
            <p:nvSpPr>
              <p:cNvPr id="309" name="Google Shape;309;p43"/>
              <p:cNvSpPr/>
              <p:nvPr/>
            </p:nvSpPr>
            <p:spPr>
              <a:xfrm flipH="1">
                <a:off x="0" y="0"/>
                <a:ext cx="12192000" cy="3086100"/>
              </a:xfrm>
              <a:prstGeom prst="rect">
                <a:avLst/>
              </a:prstGeom>
              <a:solidFill>
                <a:schemeClr val="lt1">
                  <a:alpha val="6353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Source Sans Pro"/>
                  <a:ea typeface="Source Sans Pro"/>
                  <a:cs typeface="Source Sans Pro"/>
                  <a:sym typeface="Source Sans Pro"/>
                </a:endParaRPr>
              </a:p>
            </p:txBody>
          </p:sp>
        </p:grpSp>
        <p:grpSp>
          <p:nvGrpSpPr>
            <p:cNvPr id="310" name="Google Shape;310;p43"/>
            <p:cNvGrpSpPr/>
            <p:nvPr/>
          </p:nvGrpSpPr>
          <p:grpSpPr>
            <a:xfrm>
              <a:off x="387155" y="6522489"/>
              <a:ext cx="1029024" cy="155445"/>
              <a:chOff x="1376362" y="6289675"/>
              <a:chExt cx="2763964" cy="417525"/>
            </a:xfrm>
          </p:grpSpPr>
          <p:sp>
            <p:nvSpPr>
              <p:cNvPr id="311" name="Google Shape;311;p43"/>
              <p:cNvSpPr/>
              <p:nvPr/>
            </p:nvSpPr>
            <p:spPr>
              <a:xfrm>
                <a:off x="4098926" y="6434137"/>
                <a:ext cx="41400" cy="41400"/>
              </a:xfrm>
              <a:custGeom>
                <a:rect b="b" l="l" r="r" t="t"/>
                <a:pathLst>
                  <a:path extrusionOk="0" h="120000" w="120000">
                    <a:moveTo>
                      <a:pt x="4615" y="36923"/>
                    </a:moveTo>
                    <a:cubicBezTo>
                      <a:pt x="9230" y="27692"/>
                      <a:pt x="13846" y="23076"/>
                      <a:pt x="18461" y="18461"/>
                    </a:cubicBezTo>
                    <a:cubicBezTo>
                      <a:pt x="23076" y="13846"/>
                      <a:pt x="27692" y="9230"/>
                      <a:pt x="36923" y="4615"/>
                    </a:cubicBezTo>
                    <a:cubicBezTo>
                      <a:pt x="46153" y="4615"/>
                      <a:pt x="50769" y="0"/>
                      <a:pt x="60000" y="0"/>
                    </a:cubicBezTo>
                    <a:cubicBezTo>
                      <a:pt x="69230" y="0"/>
                      <a:pt x="78461" y="4615"/>
                      <a:pt x="83076" y="4615"/>
                    </a:cubicBezTo>
                    <a:cubicBezTo>
                      <a:pt x="92307" y="9230"/>
                      <a:pt x="96923" y="13846"/>
                      <a:pt x="101538" y="18461"/>
                    </a:cubicBezTo>
                    <a:cubicBezTo>
                      <a:pt x="106153" y="23076"/>
                      <a:pt x="110769" y="27692"/>
                      <a:pt x="115384" y="36923"/>
                    </a:cubicBezTo>
                    <a:cubicBezTo>
                      <a:pt x="120000" y="46153"/>
                      <a:pt x="120000" y="50769"/>
                      <a:pt x="120000" y="60000"/>
                    </a:cubicBezTo>
                    <a:cubicBezTo>
                      <a:pt x="120000" y="69230"/>
                      <a:pt x="120000" y="78461"/>
                      <a:pt x="115384" y="83076"/>
                    </a:cubicBezTo>
                    <a:cubicBezTo>
                      <a:pt x="110769" y="92307"/>
                      <a:pt x="106153" y="96923"/>
                      <a:pt x="101538" y="101538"/>
                    </a:cubicBezTo>
                    <a:cubicBezTo>
                      <a:pt x="96923" y="110769"/>
                      <a:pt x="92307" y="115384"/>
                      <a:pt x="83076" y="115384"/>
                    </a:cubicBezTo>
                    <a:cubicBezTo>
                      <a:pt x="78461" y="120000"/>
                      <a:pt x="69230" y="120000"/>
                      <a:pt x="60000" y="120000"/>
                    </a:cubicBezTo>
                    <a:cubicBezTo>
                      <a:pt x="50769" y="120000"/>
                      <a:pt x="46153" y="120000"/>
                      <a:pt x="36923" y="115384"/>
                    </a:cubicBezTo>
                    <a:cubicBezTo>
                      <a:pt x="27692" y="115384"/>
                      <a:pt x="23076" y="110769"/>
                      <a:pt x="18461" y="101538"/>
                    </a:cubicBezTo>
                    <a:cubicBezTo>
                      <a:pt x="13846" y="96923"/>
                      <a:pt x="9230" y="92307"/>
                      <a:pt x="4615" y="83076"/>
                    </a:cubicBezTo>
                    <a:cubicBezTo>
                      <a:pt x="0" y="78461"/>
                      <a:pt x="0" y="69230"/>
                      <a:pt x="0" y="60000"/>
                    </a:cubicBezTo>
                    <a:cubicBezTo>
                      <a:pt x="0" y="50769"/>
                      <a:pt x="0" y="46153"/>
                      <a:pt x="4615" y="36923"/>
                    </a:cubicBezTo>
                    <a:moveTo>
                      <a:pt x="13846" y="83076"/>
                    </a:moveTo>
                    <a:cubicBezTo>
                      <a:pt x="18461" y="87692"/>
                      <a:pt x="18461" y="92307"/>
                      <a:pt x="23076" y="96923"/>
                    </a:cubicBezTo>
                    <a:cubicBezTo>
                      <a:pt x="27692" y="101538"/>
                      <a:pt x="36923" y="106153"/>
                      <a:pt x="41538" y="106153"/>
                    </a:cubicBezTo>
                    <a:cubicBezTo>
                      <a:pt x="46153" y="110769"/>
                      <a:pt x="55384" y="110769"/>
                      <a:pt x="60000" y="110769"/>
                    </a:cubicBezTo>
                    <a:cubicBezTo>
                      <a:pt x="69230" y="110769"/>
                      <a:pt x="73846" y="110769"/>
                      <a:pt x="78461" y="106153"/>
                    </a:cubicBezTo>
                    <a:cubicBezTo>
                      <a:pt x="87692" y="106153"/>
                      <a:pt x="92307" y="101538"/>
                      <a:pt x="96923" y="96923"/>
                    </a:cubicBezTo>
                    <a:cubicBezTo>
                      <a:pt x="101538" y="92307"/>
                      <a:pt x="101538" y="87692"/>
                      <a:pt x="106153" y="83076"/>
                    </a:cubicBezTo>
                    <a:cubicBezTo>
                      <a:pt x="106153" y="73846"/>
                      <a:pt x="110769" y="69230"/>
                      <a:pt x="110769" y="60000"/>
                    </a:cubicBezTo>
                    <a:cubicBezTo>
                      <a:pt x="110769" y="55384"/>
                      <a:pt x="106153" y="46153"/>
                      <a:pt x="106153" y="41538"/>
                    </a:cubicBezTo>
                    <a:cubicBezTo>
                      <a:pt x="101538" y="32307"/>
                      <a:pt x="101538" y="27692"/>
                      <a:pt x="96923" y="23076"/>
                    </a:cubicBezTo>
                    <a:cubicBezTo>
                      <a:pt x="92307" y="18461"/>
                      <a:pt x="87692" y="18461"/>
                      <a:pt x="78461" y="13846"/>
                    </a:cubicBezTo>
                    <a:cubicBezTo>
                      <a:pt x="73846" y="9230"/>
                      <a:pt x="69230" y="9230"/>
                      <a:pt x="60000" y="9230"/>
                    </a:cubicBezTo>
                    <a:cubicBezTo>
                      <a:pt x="55384" y="9230"/>
                      <a:pt x="46153" y="9230"/>
                      <a:pt x="41538" y="13846"/>
                    </a:cubicBezTo>
                    <a:cubicBezTo>
                      <a:pt x="36923" y="18461"/>
                      <a:pt x="27692" y="18461"/>
                      <a:pt x="23076" y="23076"/>
                    </a:cubicBezTo>
                    <a:cubicBezTo>
                      <a:pt x="18461" y="27692"/>
                      <a:pt x="18461" y="32307"/>
                      <a:pt x="13846" y="41538"/>
                    </a:cubicBezTo>
                    <a:cubicBezTo>
                      <a:pt x="13846" y="46153"/>
                      <a:pt x="9230" y="55384"/>
                      <a:pt x="9230" y="60000"/>
                    </a:cubicBezTo>
                    <a:cubicBezTo>
                      <a:pt x="9230" y="69230"/>
                      <a:pt x="13846" y="73846"/>
                      <a:pt x="13846" y="83076"/>
                    </a:cubicBezTo>
                    <a:moveTo>
                      <a:pt x="64615" y="27692"/>
                    </a:moveTo>
                    <a:cubicBezTo>
                      <a:pt x="73846" y="27692"/>
                      <a:pt x="78461" y="27692"/>
                      <a:pt x="83076" y="32307"/>
                    </a:cubicBezTo>
                    <a:cubicBezTo>
                      <a:pt x="87692" y="32307"/>
                      <a:pt x="87692" y="41538"/>
                      <a:pt x="87692" y="46153"/>
                    </a:cubicBezTo>
                    <a:cubicBezTo>
                      <a:pt x="87692" y="50769"/>
                      <a:pt x="87692" y="55384"/>
                      <a:pt x="83076" y="60000"/>
                    </a:cubicBezTo>
                    <a:cubicBezTo>
                      <a:pt x="78461" y="64615"/>
                      <a:pt x="73846" y="64615"/>
                      <a:pt x="69230" y="64615"/>
                    </a:cubicBezTo>
                    <a:cubicBezTo>
                      <a:pt x="92307" y="96923"/>
                      <a:pt x="92307" y="96923"/>
                      <a:pt x="92307" y="96923"/>
                    </a:cubicBezTo>
                    <a:cubicBezTo>
                      <a:pt x="78461" y="96923"/>
                      <a:pt x="78461" y="96923"/>
                      <a:pt x="78461" y="96923"/>
                    </a:cubicBezTo>
                    <a:cubicBezTo>
                      <a:pt x="60000" y="64615"/>
                      <a:pt x="60000" y="64615"/>
                      <a:pt x="60000" y="64615"/>
                    </a:cubicBezTo>
                    <a:cubicBezTo>
                      <a:pt x="46153" y="64615"/>
                      <a:pt x="46153" y="64615"/>
                      <a:pt x="46153" y="64615"/>
                    </a:cubicBezTo>
                    <a:cubicBezTo>
                      <a:pt x="46153" y="96923"/>
                      <a:pt x="46153" y="96923"/>
                      <a:pt x="46153" y="96923"/>
                    </a:cubicBezTo>
                    <a:cubicBezTo>
                      <a:pt x="36923" y="96923"/>
                      <a:pt x="36923" y="96923"/>
                      <a:pt x="36923" y="96923"/>
                    </a:cubicBezTo>
                    <a:cubicBezTo>
                      <a:pt x="36923" y="27692"/>
                      <a:pt x="36923" y="27692"/>
                      <a:pt x="36923" y="27692"/>
                    </a:cubicBezTo>
                    <a:lnTo>
                      <a:pt x="64615" y="27692"/>
                    </a:lnTo>
                    <a:close/>
                    <a:moveTo>
                      <a:pt x="60000" y="55384"/>
                    </a:moveTo>
                    <a:cubicBezTo>
                      <a:pt x="60000" y="55384"/>
                      <a:pt x="64615" y="55384"/>
                      <a:pt x="64615" y="55384"/>
                    </a:cubicBezTo>
                    <a:cubicBezTo>
                      <a:pt x="69230" y="55384"/>
                      <a:pt x="69230" y="55384"/>
                      <a:pt x="73846" y="55384"/>
                    </a:cubicBezTo>
                    <a:cubicBezTo>
                      <a:pt x="73846" y="55384"/>
                      <a:pt x="73846" y="55384"/>
                      <a:pt x="73846" y="50769"/>
                    </a:cubicBezTo>
                    <a:cubicBezTo>
                      <a:pt x="78461" y="50769"/>
                      <a:pt x="78461" y="46153"/>
                      <a:pt x="78461" y="46153"/>
                    </a:cubicBezTo>
                    <a:cubicBezTo>
                      <a:pt x="78461" y="41538"/>
                      <a:pt x="78461" y="41538"/>
                      <a:pt x="78461" y="41538"/>
                    </a:cubicBezTo>
                    <a:cubicBezTo>
                      <a:pt x="73846" y="36923"/>
                      <a:pt x="73846" y="36923"/>
                      <a:pt x="73846" y="36923"/>
                    </a:cubicBezTo>
                    <a:cubicBezTo>
                      <a:pt x="69230" y="36923"/>
                      <a:pt x="69230" y="36923"/>
                      <a:pt x="69230" y="36923"/>
                    </a:cubicBezTo>
                    <a:cubicBezTo>
                      <a:pt x="64615" y="36923"/>
                      <a:pt x="64615" y="36923"/>
                      <a:pt x="60000" y="36923"/>
                    </a:cubicBezTo>
                    <a:cubicBezTo>
                      <a:pt x="46153" y="36923"/>
                      <a:pt x="46153" y="36923"/>
                      <a:pt x="46153" y="36923"/>
                    </a:cubicBezTo>
                    <a:cubicBezTo>
                      <a:pt x="46153" y="55384"/>
                      <a:pt x="46153" y="55384"/>
                      <a:pt x="46153" y="55384"/>
                    </a:cubicBezTo>
                    <a:lnTo>
                      <a:pt x="60000" y="55384"/>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2" name="Google Shape;312;p43"/>
              <p:cNvSpPr/>
              <p:nvPr/>
            </p:nvSpPr>
            <p:spPr>
              <a:xfrm>
                <a:off x="1376362" y="6337300"/>
                <a:ext cx="358800" cy="369900"/>
              </a:xfrm>
              <a:custGeom>
                <a:rect b="b" l="l" r="r" t="t"/>
                <a:pathLst>
                  <a:path extrusionOk="0" h="120000" w="120000">
                    <a:moveTo>
                      <a:pt x="0" y="30386"/>
                    </a:moveTo>
                    <a:lnTo>
                      <a:pt x="0" y="30386"/>
                    </a:lnTo>
                    <a:lnTo>
                      <a:pt x="0" y="49957"/>
                    </a:lnTo>
                    <a:lnTo>
                      <a:pt x="21238" y="60772"/>
                    </a:lnTo>
                    <a:lnTo>
                      <a:pt x="0" y="71072"/>
                    </a:lnTo>
                    <a:lnTo>
                      <a:pt x="0" y="91158"/>
                    </a:lnTo>
                    <a:lnTo>
                      <a:pt x="57345" y="120000"/>
                    </a:lnTo>
                    <a:lnTo>
                      <a:pt x="63185" y="120000"/>
                    </a:lnTo>
                    <a:lnTo>
                      <a:pt x="120000" y="91158"/>
                    </a:lnTo>
                    <a:lnTo>
                      <a:pt x="120000" y="71072"/>
                    </a:lnTo>
                    <a:lnTo>
                      <a:pt x="98761" y="60772"/>
                    </a:lnTo>
                    <a:lnTo>
                      <a:pt x="120000" y="49957"/>
                    </a:lnTo>
                    <a:lnTo>
                      <a:pt x="120000" y="30386"/>
                    </a:lnTo>
                    <a:lnTo>
                      <a:pt x="120000" y="30386"/>
                    </a:lnTo>
                    <a:lnTo>
                      <a:pt x="60000" y="0"/>
                    </a:lnTo>
                    <a:lnTo>
                      <a:pt x="0" y="30386"/>
                    </a:lnTo>
                    <a:close/>
                  </a:path>
                </a:pathLst>
              </a:custGeom>
              <a:solidFill>
                <a:srgbClr val="DC23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3" name="Google Shape;313;p43"/>
              <p:cNvSpPr/>
              <p:nvPr/>
            </p:nvSpPr>
            <p:spPr>
              <a:xfrm>
                <a:off x="1376362" y="6524625"/>
                <a:ext cx="358800" cy="126900"/>
              </a:xfrm>
              <a:custGeom>
                <a:rect b="b" l="l" r="r" t="t"/>
                <a:pathLst>
                  <a:path extrusionOk="0" h="120000" w="120000">
                    <a:moveTo>
                      <a:pt x="98761" y="0"/>
                    </a:moveTo>
                    <a:lnTo>
                      <a:pt x="60000" y="57000"/>
                    </a:lnTo>
                    <a:lnTo>
                      <a:pt x="21238" y="0"/>
                    </a:lnTo>
                    <a:lnTo>
                      <a:pt x="0" y="30000"/>
                    </a:lnTo>
                    <a:lnTo>
                      <a:pt x="60000" y="120000"/>
                    </a:lnTo>
                    <a:lnTo>
                      <a:pt x="120000" y="30000"/>
                    </a:lnTo>
                    <a:lnTo>
                      <a:pt x="98761" y="0"/>
                    </a:lnTo>
                    <a:close/>
                  </a:path>
                </a:pathLst>
              </a:custGeom>
              <a:solidFill>
                <a:srgbClr val="F0562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4" name="Google Shape;314;p43"/>
              <p:cNvSpPr/>
              <p:nvPr/>
            </p:nvSpPr>
            <p:spPr>
              <a:xfrm>
                <a:off x="1376362" y="6337300"/>
                <a:ext cx="358800" cy="187200"/>
              </a:xfrm>
              <a:custGeom>
                <a:rect b="b" l="l" r="r" t="t"/>
                <a:pathLst>
                  <a:path extrusionOk="0" h="120000" w="120000">
                    <a:moveTo>
                      <a:pt x="60000" y="0"/>
                    </a:moveTo>
                    <a:lnTo>
                      <a:pt x="120000" y="60000"/>
                    </a:lnTo>
                    <a:lnTo>
                      <a:pt x="60000" y="120000"/>
                    </a:lnTo>
                    <a:lnTo>
                      <a:pt x="0" y="60000"/>
                    </a:lnTo>
                    <a:lnTo>
                      <a:pt x="60000" y="0"/>
                    </a:lnTo>
                    <a:close/>
                  </a:path>
                </a:pathLst>
              </a:custGeom>
              <a:solidFill>
                <a:srgbClr val="F0562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5" name="Google Shape;315;p43"/>
              <p:cNvSpPr/>
              <p:nvPr/>
            </p:nvSpPr>
            <p:spPr>
              <a:xfrm>
                <a:off x="1800225" y="6289675"/>
                <a:ext cx="265200" cy="392100"/>
              </a:xfrm>
              <a:custGeom>
                <a:rect b="b" l="l" r="r" t="t"/>
                <a:pathLst>
                  <a:path extrusionOk="0" h="120000" w="120000">
                    <a:moveTo>
                      <a:pt x="86428" y="53387"/>
                    </a:moveTo>
                    <a:cubicBezTo>
                      <a:pt x="87142" y="53387"/>
                      <a:pt x="87142" y="53387"/>
                      <a:pt x="87142" y="53387"/>
                    </a:cubicBezTo>
                    <a:cubicBezTo>
                      <a:pt x="87142" y="53387"/>
                      <a:pt x="86428" y="48489"/>
                      <a:pt x="86428" y="48000"/>
                    </a:cubicBezTo>
                    <a:cubicBezTo>
                      <a:pt x="86428" y="9795"/>
                      <a:pt x="86428" y="9795"/>
                      <a:pt x="86428" y="9795"/>
                    </a:cubicBezTo>
                    <a:cubicBezTo>
                      <a:pt x="69285" y="9795"/>
                      <a:pt x="69285" y="9795"/>
                      <a:pt x="69285" y="9795"/>
                    </a:cubicBezTo>
                    <a:cubicBezTo>
                      <a:pt x="69285" y="0"/>
                      <a:pt x="69285" y="0"/>
                      <a:pt x="69285" y="0"/>
                    </a:cubicBezTo>
                    <a:cubicBezTo>
                      <a:pt x="103571" y="0"/>
                      <a:pt x="103571" y="0"/>
                      <a:pt x="103571" y="0"/>
                    </a:cubicBezTo>
                    <a:cubicBezTo>
                      <a:pt x="103571" y="109224"/>
                      <a:pt x="103571" y="109224"/>
                      <a:pt x="103571" y="109224"/>
                    </a:cubicBezTo>
                    <a:cubicBezTo>
                      <a:pt x="120000" y="109224"/>
                      <a:pt x="120000" y="109224"/>
                      <a:pt x="120000" y="109224"/>
                    </a:cubicBezTo>
                    <a:cubicBezTo>
                      <a:pt x="120000" y="119020"/>
                      <a:pt x="120000" y="119020"/>
                      <a:pt x="120000" y="119020"/>
                    </a:cubicBezTo>
                    <a:cubicBezTo>
                      <a:pt x="90714" y="119020"/>
                      <a:pt x="90714" y="119020"/>
                      <a:pt x="90714" y="119020"/>
                    </a:cubicBezTo>
                    <a:cubicBezTo>
                      <a:pt x="87857" y="107755"/>
                      <a:pt x="87857" y="107755"/>
                      <a:pt x="87857" y="107755"/>
                    </a:cubicBezTo>
                    <a:cubicBezTo>
                      <a:pt x="87142" y="107755"/>
                      <a:pt x="87142" y="107755"/>
                      <a:pt x="87142" y="107755"/>
                    </a:cubicBezTo>
                    <a:cubicBezTo>
                      <a:pt x="87142" y="107755"/>
                      <a:pt x="76428" y="120000"/>
                      <a:pt x="50000" y="120000"/>
                    </a:cubicBezTo>
                    <a:cubicBezTo>
                      <a:pt x="21428" y="120000"/>
                      <a:pt x="0" y="106775"/>
                      <a:pt x="0" y="81795"/>
                    </a:cubicBezTo>
                    <a:cubicBezTo>
                      <a:pt x="0" y="56816"/>
                      <a:pt x="22857" y="43102"/>
                      <a:pt x="50000" y="43102"/>
                    </a:cubicBezTo>
                    <a:cubicBezTo>
                      <a:pt x="77857" y="43102"/>
                      <a:pt x="86428" y="53387"/>
                      <a:pt x="86428" y="53387"/>
                    </a:cubicBezTo>
                    <a:moveTo>
                      <a:pt x="86428" y="97469"/>
                    </a:moveTo>
                    <a:cubicBezTo>
                      <a:pt x="86428" y="64163"/>
                      <a:pt x="86428" y="64163"/>
                      <a:pt x="86428" y="64163"/>
                    </a:cubicBezTo>
                    <a:cubicBezTo>
                      <a:pt x="83571" y="60734"/>
                      <a:pt x="74285" y="53387"/>
                      <a:pt x="53571" y="53387"/>
                    </a:cubicBezTo>
                    <a:cubicBezTo>
                      <a:pt x="36428" y="53387"/>
                      <a:pt x="17142" y="62204"/>
                      <a:pt x="17142" y="81795"/>
                    </a:cubicBezTo>
                    <a:cubicBezTo>
                      <a:pt x="17142" y="100897"/>
                      <a:pt x="34285" y="109714"/>
                      <a:pt x="54285" y="109714"/>
                    </a:cubicBezTo>
                    <a:cubicBezTo>
                      <a:pt x="67142" y="109714"/>
                      <a:pt x="80000" y="105795"/>
                      <a:pt x="86428" y="97469"/>
                    </a:cubicBezTo>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6" name="Google Shape;316;p43"/>
              <p:cNvSpPr/>
              <p:nvPr/>
            </p:nvSpPr>
            <p:spPr>
              <a:xfrm>
                <a:off x="2087563" y="6430962"/>
                <a:ext cx="238200" cy="250800"/>
              </a:xfrm>
              <a:custGeom>
                <a:rect b="b" l="l" r="r" t="t"/>
                <a:pathLst>
                  <a:path extrusionOk="0" h="120000" w="120000">
                    <a:moveTo>
                      <a:pt x="88000" y="98598"/>
                    </a:moveTo>
                    <a:cubicBezTo>
                      <a:pt x="88000" y="98598"/>
                      <a:pt x="77600" y="120000"/>
                      <a:pt x="41600" y="120000"/>
                    </a:cubicBezTo>
                    <a:cubicBezTo>
                      <a:pt x="16800" y="120000"/>
                      <a:pt x="0" y="105477"/>
                      <a:pt x="0" y="86369"/>
                    </a:cubicBezTo>
                    <a:cubicBezTo>
                      <a:pt x="0" y="64968"/>
                      <a:pt x="21600" y="53503"/>
                      <a:pt x="55200" y="53503"/>
                    </a:cubicBezTo>
                    <a:cubicBezTo>
                      <a:pt x="86400" y="53503"/>
                      <a:pt x="86400" y="53503"/>
                      <a:pt x="86400" y="53503"/>
                    </a:cubicBezTo>
                    <a:cubicBezTo>
                      <a:pt x="86400" y="43566"/>
                      <a:pt x="86400" y="43566"/>
                      <a:pt x="86400" y="43566"/>
                    </a:cubicBezTo>
                    <a:cubicBezTo>
                      <a:pt x="86400" y="23694"/>
                      <a:pt x="74400" y="15286"/>
                      <a:pt x="52000" y="15286"/>
                    </a:cubicBezTo>
                    <a:cubicBezTo>
                      <a:pt x="31200" y="15286"/>
                      <a:pt x="20000" y="25222"/>
                      <a:pt x="20000" y="38216"/>
                    </a:cubicBezTo>
                    <a:cubicBezTo>
                      <a:pt x="20000" y="40509"/>
                      <a:pt x="20000" y="40509"/>
                      <a:pt x="20000" y="40509"/>
                    </a:cubicBezTo>
                    <a:cubicBezTo>
                      <a:pt x="2400" y="40509"/>
                      <a:pt x="2400" y="40509"/>
                      <a:pt x="2400" y="40509"/>
                    </a:cubicBezTo>
                    <a:cubicBezTo>
                      <a:pt x="2400" y="35159"/>
                      <a:pt x="2400" y="35159"/>
                      <a:pt x="2400" y="35159"/>
                    </a:cubicBezTo>
                    <a:cubicBezTo>
                      <a:pt x="2400" y="17579"/>
                      <a:pt x="17600" y="0"/>
                      <a:pt x="52800" y="0"/>
                    </a:cubicBezTo>
                    <a:cubicBezTo>
                      <a:pt x="85600" y="0"/>
                      <a:pt x="105600" y="14522"/>
                      <a:pt x="105600" y="44331"/>
                    </a:cubicBezTo>
                    <a:cubicBezTo>
                      <a:pt x="105600" y="103184"/>
                      <a:pt x="105600" y="103184"/>
                      <a:pt x="105600" y="103184"/>
                    </a:cubicBezTo>
                    <a:cubicBezTo>
                      <a:pt x="120000" y="103184"/>
                      <a:pt x="120000" y="103184"/>
                      <a:pt x="120000" y="103184"/>
                    </a:cubicBezTo>
                    <a:cubicBezTo>
                      <a:pt x="120000" y="118471"/>
                      <a:pt x="120000" y="118471"/>
                      <a:pt x="120000" y="118471"/>
                    </a:cubicBezTo>
                    <a:cubicBezTo>
                      <a:pt x="91200" y="118471"/>
                      <a:pt x="91200" y="118471"/>
                      <a:pt x="91200" y="118471"/>
                    </a:cubicBezTo>
                    <a:cubicBezTo>
                      <a:pt x="88800" y="98598"/>
                      <a:pt x="88800" y="98598"/>
                      <a:pt x="88800" y="98598"/>
                    </a:cubicBezTo>
                    <a:lnTo>
                      <a:pt x="88000" y="98598"/>
                    </a:lnTo>
                    <a:close/>
                    <a:moveTo>
                      <a:pt x="86400" y="67261"/>
                    </a:moveTo>
                    <a:cubicBezTo>
                      <a:pt x="56800" y="67261"/>
                      <a:pt x="56800" y="67261"/>
                      <a:pt x="56800" y="67261"/>
                    </a:cubicBezTo>
                    <a:cubicBezTo>
                      <a:pt x="35200" y="67261"/>
                      <a:pt x="19200" y="72611"/>
                      <a:pt x="19200" y="86369"/>
                    </a:cubicBezTo>
                    <a:cubicBezTo>
                      <a:pt x="19200" y="97834"/>
                      <a:pt x="30400" y="105477"/>
                      <a:pt x="45600" y="105477"/>
                    </a:cubicBezTo>
                    <a:cubicBezTo>
                      <a:pt x="74400" y="105477"/>
                      <a:pt x="86400" y="84840"/>
                      <a:pt x="86400" y="84840"/>
                    </a:cubicBezTo>
                    <a:lnTo>
                      <a:pt x="86400" y="67261"/>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7" name="Google Shape;317;p43"/>
              <p:cNvSpPr/>
              <p:nvPr/>
            </p:nvSpPr>
            <p:spPr>
              <a:xfrm>
                <a:off x="2332038" y="6369050"/>
                <a:ext cx="158700" cy="312600"/>
              </a:xfrm>
              <a:custGeom>
                <a:rect b="b" l="l" r="r" t="t"/>
                <a:pathLst>
                  <a:path extrusionOk="0" h="120000" w="120000">
                    <a:moveTo>
                      <a:pt x="56400" y="0"/>
                    </a:moveTo>
                    <a:cubicBezTo>
                      <a:pt x="56400" y="25230"/>
                      <a:pt x="56400" y="25230"/>
                      <a:pt x="56400" y="25230"/>
                    </a:cubicBezTo>
                    <a:cubicBezTo>
                      <a:pt x="114000" y="25230"/>
                      <a:pt x="114000" y="25230"/>
                      <a:pt x="114000" y="25230"/>
                    </a:cubicBezTo>
                    <a:cubicBezTo>
                      <a:pt x="114000" y="36923"/>
                      <a:pt x="114000" y="36923"/>
                      <a:pt x="114000" y="36923"/>
                    </a:cubicBezTo>
                    <a:cubicBezTo>
                      <a:pt x="56400" y="36923"/>
                      <a:pt x="56400" y="36923"/>
                      <a:pt x="56400" y="36923"/>
                    </a:cubicBezTo>
                    <a:cubicBezTo>
                      <a:pt x="56400" y="87384"/>
                      <a:pt x="56400" y="87384"/>
                      <a:pt x="56400" y="87384"/>
                    </a:cubicBezTo>
                    <a:cubicBezTo>
                      <a:pt x="56400" y="100923"/>
                      <a:pt x="68400" y="107076"/>
                      <a:pt x="86400" y="107076"/>
                    </a:cubicBezTo>
                    <a:cubicBezTo>
                      <a:pt x="106800" y="107076"/>
                      <a:pt x="120000" y="104000"/>
                      <a:pt x="120000" y="104000"/>
                    </a:cubicBezTo>
                    <a:cubicBezTo>
                      <a:pt x="120000" y="116923"/>
                      <a:pt x="120000" y="116923"/>
                      <a:pt x="120000" y="116923"/>
                    </a:cubicBezTo>
                    <a:cubicBezTo>
                      <a:pt x="120000" y="116923"/>
                      <a:pt x="104400" y="120000"/>
                      <a:pt x="82800" y="120000"/>
                    </a:cubicBezTo>
                    <a:cubicBezTo>
                      <a:pt x="46800" y="120000"/>
                      <a:pt x="27600" y="109538"/>
                      <a:pt x="27600" y="88615"/>
                    </a:cubicBezTo>
                    <a:cubicBezTo>
                      <a:pt x="27600" y="36923"/>
                      <a:pt x="27600" y="36923"/>
                      <a:pt x="27600" y="36923"/>
                    </a:cubicBezTo>
                    <a:cubicBezTo>
                      <a:pt x="0" y="36923"/>
                      <a:pt x="0" y="36923"/>
                      <a:pt x="0" y="36923"/>
                    </a:cubicBezTo>
                    <a:cubicBezTo>
                      <a:pt x="0" y="25230"/>
                      <a:pt x="0" y="25230"/>
                      <a:pt x="0" y="25230"/>
                    </a:cubicBezTo>
                    <a:cubicBezTo>
                      <a:pt x="27600" y="25230"/>
                      <a:pt x="27600" y="25230"/>
                      <a:pt x="27600" y="25230"/>
                    </a:cubicBezTo>
                    <a:cubicBezTo>
                      <a:pt x="32400" y="0"/>
                      <a:pt x="32400" y="0"/>
                      <a:pt x="32400" y="0"/>
                    </a:cubicBezTo>
                    <a:lnTo>
                      <a:pt x="56400" y="0"/>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8" name="Google Shape;318;p43"/>
              <p:cNvSpPr/>
              <p:nvPr/>
            </p:nvSpPr>
            <p:spPr>
              <a:xfrm>
                <a:off x="2513013" y="6430962"/>
                <a:ext cx="236400" cy="250800"/>
              </a:xfrm>
              <a:custGeom>
                <a:rect b="b" l="l" r="r" t="t"/>
                <a:pathLst>
                  <a:path extrusionOk="0" h="120000" w="120000">
                    <a:moveTo>
                      <a:pt x="88000" y="98598"/>
                    </a:moveTo>
                    <a:cubicBezTo>
                      <a:pt x="88000" y="98598"/>
                      <a:pt x="77600" y="120000"/>
                      <a:pt x="41600" y="120000"/>
                    </a:cubicBezTo>
                    <a:cubicBezTo>
                      <a:pt x="16800" y="120000"/>
                      <a:pt x="0" y="105477"/>
                      <a:pt x="0" y="86369"/>
                    </a:cubicBezTo>
                    <a:cubicBezTo>
                      <a:pt x="0" y="64968"/>
                      <a:pt x="21600" y="53503"/>
                      <a:pt x="55200" y="53503"/>
                    </a:cubicBezTo>
                    <a:cubicBezTo>
                      <a:pt x="86400" y="53503"/>
                      <a:pt x="86400" y="53503"/>
                      <a:pt x="86400" y="53503"/>
                    </a:cubicBezTo>
                    <a:cubicBezTo>
                      <a:pt x="86400" y="43566"/>
                      <a:pt x="86400" y="43566"/>
                      <a:pt x="86400" y="43566"/>
                    </a:cubicBezTo>
                    <a:cubicBezTo>
                      <a:pt x="86400" y="23694"/>
                      <a:pt x="74400" y="15286"/>
                      <a:pt x="52000" y="15286"/>
                    </a:cubicBezTo>
                    <a:cubicBezTo>
                      <a:pt x="31200" y="15286"/>
                      <a:pt x="20000" y="25222"/>
                      <a:pt x="20000" y="38216"/>
                    </a:cubicBezTo>
                    <a:cubicBezTo>
                      <a:pt x="20000" y="40509"/>
                      <a:pt x="20000" y="40509"/>
                      <a:pt x="20000" y="40509"/>
                    </a:cubicBezTo>
                    <a:cubicBezTo>
                      <a:pt x="2400" y="40509"/>
                      <a:pt x="2400" y="40509"/>
                      <a:pt x="2400" y="40509"/>
                    </a:cubicBezTo>
                    <a:cubicBezTo>
                      <a:pt x="2400" y="35159"/>
                      <a:pt x="2400" y="35159"/>
                      <a:pt x="2400" y="35159"/>
                    </a:cubicBezTo>
                    <a:cubicBezTo>
                      <a:pt x="2400" y="17579"/>
                      <a:pt x="17600" y="0"/>
                      <a:pt x="52800" y="0"/>
                    </a:cubicBezTo>
                    <a:cubicBezTo>
                      <a:pt x="85600" y="0"/>
                      <a:pt x="105600" y="14522"/>
                      <a:pt x="105600" y="44331"/>
                    </a:cubicBezTo>
                    <a:cubicBezTo>
                      <a:pt x="105600" y="103184"/>
                      <a:pt x="105600" y="103184"/>
                      <a:pt x="105600" y="103184"/>
                    </a:cubicBezTo>
                    <a:cubicBezTo>
                      <a:pt x="120000" y="103184"/>
                      <a:pt x="120000" y="103184"/>
                      <a:pt x="120000" y="103184"/>
                    </a:cubicBezTo>
                    <a:cubicBezTo>
                      <a:pt x="120000" y="118471"/>
                      <a:pt x="120000" y="118471"/>
                      <a:pt x="120000" y="118471"/>
                    </a:cubicBezTo>
                    <a:cubicBezTo>
                      <a:pt x="91200" y="118471"/>
                      <a:pt x="91200" y="118471"/>
                      <a:pt x="91200" y="118471"/>
                    </a:cubicBezTo>
                    <a:cubicBezTo>
                      <a:pt x="88800" y="98598"/>
                      <a:pt x="88800" y="98598"/>
                      <a:pt x="88800" y="98598"/>
                    </a:cubicBezTo>
                    <a:lnTo>
                      <a:pt x="88000" y="98598"/>
                    </a:lnTo>
                    <a:close/>
                    <a:moveTo>
                      <a:pt x="86400" y="67261"/>
                    </a:moveTo>
                    <a:cubicBezTo>
                      <a:pt x="56800" y="67261"/>
                      <a:pt x="56800" y="67261"/>
                      <a:pt x="56800" y="67261"/>
                    </a:cubicBezTo>
                    <a:cubicBezTo>
                      <a:pt x="35200" y="67261"/>
                      <a:pt x="19200" y="72611"/>
                      <a:pt x="19200" y="86369"/>
                    </a:cubicBezTo>
                    <a:cubicBezTo>
                      <a:pt x="19200" y="97834"/>
                      <a:pt x="30400" y="105477"/>
                      <a:pt x="46400" y="105477"/>
                    </a:cubicBezTo>
                    <a:cubicBezTo>
                      <a:pt x="74400" y="105477"/>
                      <a:pt x="86400" y="84840"/>
                      <a:pt x="86400" y="84840"/>
                    </a:cubicBezTo>
                    <a:lnTo>
                      <a:pt x="86400" y="67261"/>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19" name="Google Shape;319;p43"/>
              <p:cNvSpPr/>
              <p:nvPr/>
            </p:nvSpPr>
            <p:spPr>
              <a:xfrm>
                <a:off x="2749550" y="6289675"/>
                <a:ext cx="266700" cy="392100"/>
              </a:xfrm>
              <a:custGeom>
                <a:rect b="b" l="l" r="r" t="t"/>
                <a:pathLst>
                  <a:path extrusionOk="0" h="120000" w="120000">
                    <a:moveTo>
                      <a:pt x="32142" y="107755"/>
                    </a:moveTo>
                    <a:cubicBezTo>
                      <a:pt x="29285" y="119020"/>
                      <a:pt x="29285" y="119020"/>
                      <a:pt x="29285" y="119020"/>
                    </a:cubicBezTo>
                    <a:cubicBezTo>
                      <a:pt x="16428" y="119020"/>
                      <a:pt x="16428" y="119020"/>
                      <a:pt x="16428" y="119020"/>
                    </a:cubicBezTo>
                    <a:cubicBezTo>
                      <a:pt x="16428" y="9795"/>
                      <a:pt x="16428" y="9795"/>
                      <a:pt x="16428" y="9795"/>
                    </a:cubicBezTo>
                    <a:cubicBezTo>
                      <a:pt x="0" y="9795"/>
                      <a:pt x="0" y="9795"/>
                      <a:pt x="0" y="9795"/>
                    </a:cubicBezTo>
                    <a:cubicBezTo>
                      <a:pt x="0" y="0"/>
                      <a:pt x="0" y="0"/>
                      <a:pt x="0" y="0"/>
                    </a:cubicBezTo>
                    <a:cubicBezTo>
                      <a:pt x="33571" y="0"/>
                      <a:pt x="33571" y="0"/>
                      <a:pt x="33571" y="0"/>
                    </a:cubicBezTo>
                    <a:cubicBezTo>
                      <a:pt x="33571" y="48000"/>
                      <a:pt x="33571" y="48000"/>
                      <a:pt x="33571" y="48000"/>
                    </a:cubicBezTo>
                    <a:cubicBezTo>
                      <a:pt x="33571" y="48489"/>
                      <a:pt x="32857" y="53387"/>
                      <a:pt x="32857" y="53387"/>
                    </a:cubicBezTo>
                    <a:cubicBezTo>
                      <a:pt x="33571" y="53387"/>
                      <a:pt x="33571" y="53387"/>
                      <a:pt x="33571" y="53387"/>
                    </a:cubicBezTo>
                    <a:cubicBezTo>
                      <a:pt x="33571" y="53387"/>
                      <a:pt x="43571" y="43102"/>
                      <a:pt x="70000" y="43102"/>
                    </a:cubicBezTo>
                    <a:cubicBezTo>
                      <a:pt x="97142" y="43102"/>
                      <a:pt x="120000" y="56816"/>
                      <a:pt x="120000" y="81795"/>
                    </a:cubicBezTo>
                    <a:cubicBezTo>
                      <a:pt x="120000" y="106775"/>
                      <a:pt x="98571" y="120000"/>
                      <a:pt x="70000" y="120000"/>
                    </a:cubicBezTo>
                    <a:cubicBezTo>
                      <a:pt x="44285" y="120000"/>
                      <a:pt x="32857" y="107755"/>
                      <a:pt x="32857" y="107755"/>
                    </a:cubicBezTo>
                    <a:lnTo>
                      <a:pt x="32142" y="107755"/>
                    </a:lnTo>
                    <a:close/>
                    <a:moveTo>
                      <a:pt x="33571" y="64163"/>
                    </a:moveTo>
                    <a:cubicBezTo>
                      <a:pt x="33571" y="97469"/>
                      <a:pt x="33571" y="97469"/>
                      <a:pt x="33571" y="97469"/>
                    </a:cubicBezTo>
                    <a:cubicBezTo>
                      <a:pt x="39285" y="105795"/>
                      <a:pt x="52857" y="109714"/>
                      <a:pt x="66428" y="109714"/>
                    </a:cubicBezTo>
                    <a:cubicBezTo>
                      <a:pt x="85714" y="109714"/>
                      <a:pt x="102857" y="100897"/>
                      <a:pt x="102857" y="81795"/>
                    </a:cubicBezTo>
                    <a:cubicBezTo>
                      <a:pt x="102857" y="62204"/>
                      <a:pt x="84285" y="53387"/>
                      <a:pt x="66428" y="53387"/>
                    </a:cubicBezTo>
                    <a:cubicBezTo>
                      <a:pt x="46428" y="53387"/>
                      <a:pt x="37142" y="60734"/>
                      <a:pt x="33571" y="64163"/>
                    </a:cubicBezTo>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20" name="Google Shape;320;p43"/>
              <p:cNvSpPr/>
              <p:nvPr/>
            </p:nvSpPr>
            <p:spPr>
              <a:xfrm>
                <a:off x="3032125" y="6430962"/>
                <a:ext cx="173100" cy="247500"/>
              </a:xfrm>
              <a:custGeom>
                <a:rect b="b" l="l" r="r" t="t"/>
                <a:pathLst>
                  <a:path extrusionOk="0" h="120000" w="120000">
                    <a:moveTo>
                      <a:pt x="120000" y="19354"/>
                    </a:moveTo>
                    <a:cubicBezTo>
                      <a:pt x="116697" y="18580"/>
                      <a:pt x="110091" y="17806"/>
                      <a:pt x="101284" y="17806"/>
                    </a:cubicBezTo>
                    <a:cubicBezTo>
                      <a:pt x="59449" y="17806"/>
                      <a:pt x="51743" y="52645"/>
                      <a:pt x="51743" y="52645"/>
                    </a:cubicBezTo>
                    <a:cubicBezTo>
                      <a:pt x="51743" y="104516"/>
                      <a:pt x="51743" y="104516"/>
                      <a:pt x="51743" y="104516"/>
                    </a:cubicBezTo>
                    <a:cubicBezTo>
                      <a:pt x="78165" y="104516"/>
                      <a:pt x="78165" y="104516"/>
                      <a:pt x="78165" y="104516"/>
                    </a:cubicBezTo>
                    <a:cubicBezTo>
                      <a:pt x="78165" y="120000"/>
                      <a:pt x="78165" y="120000"/>
                      <a:pt x="78165" y="120000"/>
                    </a:cubicBezTo>
                    <a:cubicBezTo>
                      <a:pt x="0" y="120000"/>
                      <a:pt x="0" y="120000"/>
                      <a:pt x="0" y="120000"/>
                    </a:cubicBezTo>
                    <a:cubicBezTo>
                      <a:pt x="0" y="104516"/>
                      <a:pt x="0" y="104516"/>
                      <a:pt x="0" y="104516"/>
                    </a:cubicBezTo>
                    <a:cubicBezTo>
                      <a:pt x="24220" y="104516"/>
                      <a:pt x="24220" y="104516"/>
                      <a:pt x="24220" y="104516"/>
                    </a:cubicBezTo>
                    <a:cubicBezTo>
                      <a:pt x="24220" y="17806"/>
                      <a:pt x="24220" y="17806"/>
                      <a:pt x="24220" y="17806"/>
                    </a:cubicBezTo>
                    <a:cubicBezTo>
                      <a:pt x="0" y="17806"/>
                      <a:pt x="0" y="17806"/>
                      <a:pt x="0" y="17806"/>
                    </a:cubicBezTo>
                    <a:cubicBezTo>
                      <a:pt x="0" y="2322"/>
                      <a:pt x="0" y="2322"/>
                      <a:pt x="0" y="2322"/>
                    </a:cubicBezTo>
                    <a:cubicBezTo>
                      <a:pt x="45137" y="2322"/>
                      <a:pt x="45137" y="2322"/>
                      <a:pt x="45137" y="2322"/>
                    </a:cubicBezTo>
                    <a:cubicBezTo>
                      <a:pt x="47339" y="31741"/>
                      <a:pt x="47339" y="31741"/>
                      <a:pt x="47339" y="31741"/>
                    </a:cubicBezTo>
                    <a:cubicBezTo>
                      <a:pt x="48440" y="31741"/>
                      <a:pt x="48440" y="31741"/>
                      <a:pt x="48440" y="31741"/>
                    </a:cubicBezTo>
                    <a:cubicBezTo>
                      <a:pt x="48440" y="31741"/>
                      <a:pt x="56146" y="0"/>
                      <a:pt x="102385" y="0"/>
                    </a:cubicBezTo>
                    <a:cubicBezTo>
                      <a:pt x="110091" y="0"/>
                      <a:pt x="115596" y="774"/>
                      <a:pt x="120000" y="1548"/>
                    </a:cubicBezTo>
                    <a:lnTo>
                      <a:pt x="120000" y="19354"/>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21" name="Google Shape;321;p43"/>
              <p:cNvSpPr/>
              <p:nvPr/>
            </p:nvSpPr>
            <p:spPr>
              <a:xfrm>
                <a:off x="3241675" y="6329362"/>
                <a:ext cx="108000" cy="349200"/>
              </a:xfrm>
              <a:custGeom>
                <a:rect b="b" l="l" r="r" t="t"/>
                <a:pathLst>
                  <a:path extrusionOk="0" h="120000" w="120000">
                    <a:moveTo>
                      <a:pt x="81176" y="108990"/>
                    </a:moveTo>
                    <a:cubicBezTo>
                      <a:pt x="120000" y="108990"/>
                      <a:pt x="120000" y="108990"/>
                      <a:pt x="120000" y="108990"/>
                    </a:cubicBezTo>
                    <a:cubicBezTo>
                      <a:pt x="120000" y="120000"/>
                      <a:pt x="120000" y="120000"/>
                      <a:pt x="120000" y="120000"/>
                    </a:cubicBezTo>
                    <a:cubicBezTo>
                      <a:pt x="0" y="120000"/>
                      <a:pt x="0" y="120000"/>
                      <a:pt x="0" y="120000"/>
                    </a:cubicBezTo>
                    <a:cubicBezTo>
                      <a:pt x="0" y="108990"/>
                      <a:pt x="0" y="108990"/>
                      <a:pt x="0" y="108990"/>
                    </a:cubicBezTo>
                    <a:cubicBezTo>
                      <a:pt x="38823" y="108990"/>
                      <a:pt x="38823" y="108990"/>
                      <a:pt x="38823" y="108990"/>
                    </a:cubicBezTo>
                    <a:cubicBezTo>
                      <a:pt x="38823" y="47339"/>
                      <a:pt x="38823" y="47339"/>
                      <a:pt x="38823" y="47339"/>
                    </a:cubicBezTo>
                    <a:cubicBezTo>
                      <a:pt x="0" y="47339"/>
                      <a:pt x="0" y="47339"/>
                      <a:pt x="0" y="47339"/>
                    </a:cubicBezTo>
                    <a:cubicBezTo>
                      <a:pt x="0" y="36330"/>
                      <a:pt x="0" y="36330"/>
                      <a:pt x="0" y="36330"/>
                    </a:cubicBezTo>
                    <a:cubicBezTo>
                      <a:pt x="81176" y="36330"/>
                      <a:pt x="81176" y="36330"/>
                      <a:pt x="81176" y="36330"/>
                    </a:cubicBezTo>
                    <a:lnTo>
                      <a:pt x="81176" y="108990"/>
                    </a:lnTo>
                    <a:close/>
                    <a:moveTo>
                      <a:pt x="58235" y="20917"/>
                    </a:moveTo>
                    <a:cubicBezTo>
                      <a:pt x="40588" y="20917"/>
                      <a:pt x="24705" y="16513"/>
                      <a:pt x="24705" y="10458"/>
                    </a:cubicBezTo>
                    <a:cubicBezTo>
                      <a:pt x="24705" y="4403"/>
                      <a:pt x="40588" y="0"/>
                      <a:pt x="58235" y="0"/>
                    </a:cubicBezTo>
                    <a:cubicBezTo>
                      <a:pt x="77647" y="0"/>
                      <a:pt x="93529" y="4403"/>
                      <a:pt x="93529" y="10458"/>
                    </a:cubicBezTo>
                    <a:cubicBezTo>
                      <a:pt x="93529" y="16513"/>
                      <a:pt x="77647" y="20917"/>
                      <a:pt x="58235" y="20917"/>
                    </a:cubicBezTo>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22" name="Google Shape;322;p43"/>
              <p:cNvSpPr/>
              <p:nvPr/>
            </p:nvSpPr>
            <p:spPr>
              <a:xfrm>
                <a:off x="3362326" y="6430962"/>
                <a:ext cx="222300" cy="250800"/>
              </a:xfrm>
              <a:custGeom>
                <a:rect b="b" l="l" r="r" t="t"/>
                <a:pathLst>
                  <a:path extrusionOk="0" h="120000" w="120000">
                    <a:moveTo>
                      <a:pt x="20571" y="60382"/>
                    </a:moveTo>
                    <a:cubicBezTo>
                      <a:pt x="20571" y="90191"/>
                      <a:pt x="42857" y="104713"/>
                      <a:pt x="67714" y="104713"/>
                    </a:cubicBezTo>
                    <a:cubicBezTo>
                      <a:pt x="97714" y="104713"/>
                      <a:pt x="110571" y="91719"/>
                      <a:pt x="110571" y="91719"/>
                    </a:cubicBezTo>
                    <a:cubicBezTo>
                      <a:pt x="117428" y="104713"/>
                      <a:pt x="117428" y="104713"/>
                      <a:pt x="117428" y="104713"/>
                    </a:cubicBezTo>
                    <a:cubicBezTo>
                      <a:pt x="117428" y="104713"/>
                      <a:pt x="102857" y="120000"/>
                      <a:pt x="66000" y="120000"/>
                    </a:cubicBezTo>
                    <a:cubicBezTo>
                      <a:pt x="27428" y="120000"/>
                      <a:pt x="0" y="98598"/>
                      <a:pt x="0" y="60382"/>
                    </a:cubicBezTo>
                    <a:cubicBezTo>
                      <a:pt x="0" y="19872"/>
                      <a:pt x="24857" y="0"/>
                      <a:pt x="64285" y="0"/>
                    </a:cubicBezTo>
                    <a:cubicBezTo>
                      <a:pt x="105428" y="0"/>
                      <a:pt x="120000" y="19872"/>
                      <a:pt x="120000" y="42038"/>
                    </a:cubicBezTo>
                    <a:cubicBezTo>
                      <a:pt x="120000" y="48152"/>
                      <a:pt x="120000" y="48152"/>
                      <a:pt x="120000" y="48152"/>
                    </a:cubicBezTo>
                    <a:cubicBezTo>
                      <a:pt x="101142" y="48152"/>
                      <a:pt x="101142" y="48152"/>
                      <a:pt x="101142" y="48152"/>
                    </a:cubicBezTo>
                    <a:cubicBezTo>
                      <a:pt x="101142" y="44331"/>
                      <a:pt x="101142" y="44331"/>
                      <a:pt x="101142" y="44331"/>
                    </a:cubicBezTo>
                    <a:cubicBezTo>
                      <a:pt x="101142" y="26751"/>
                      <a:pt x="90000" y="16050"/>
                      <a:pt x="64285" y="16050"/>
                    </a:cubicBezTo>
                    <a:cubicBezTo>
                      <a:pt x="38571" y="16050"/>
                      <a:pt x="20571" y="27515"/>
                      <a:pt x="20571" y="60382"/>
                    </a:cubicBezTo>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23" name="Google Shape;323;p43"/>
              <p:cNvSpPr/>
              <p:nvPr/>
            </p:nvSpPr>
            <p:spPr>
              <a:xfrm>
                <a:off x="3598862" y="6289675"/>
                <a:ext cx="274500" cy="388800"/>
              </a:xfrm>
              <a:custGeom>
                <a:rect b="b" l="l" r="r" t="t"/>
                <a:pathLst>
                  <a:path extrusionOk="0" h="120000" w="120000">
                    <a:moveTo>
                      <a:pt x="32601" y="75918"/>
                    </a:moveTo>
                    <a:lnTo>
                      <a:pt x="58265" y="75918"/>
                    </a:lnTo>
                    <a:lnTo>
                      <a:pt x="83930" y="54367"/>
                    </a:lnTo>
                    <a:lnTo>
                      <a:pt x="70751" y="54367"/>
                    </a:lnTo>
                    <a:lnTo>
                      <a:pt x="70751" y="45061"/>
                    </a:lnTo>
                    <a:lnTo>
                      <a:pt x="118612" y="45061"/>
                    </a:lnTo>
                    <a:lnTo>
                      <a:pt x="118612" y="54367"/>
                    </a:lnTo>
                    <a:lnTo>
                      <a:pt x="101965" y="54367"/>
                    </a:lnTo>
                    <a:lnTo>
                      <a:pt x="71445" y="80816"/>
                    </a:lnTo>
                    <a:lnTo>
                      <a:pt x="104046" y="110204"/>
                    </a:lnTo>
                    <a:lnTo>
                      <a:pt x="120000" y="110204"/>
                    </a:lnTo>
                    <a:lnTo>
                      <a:pt x="120000" y="120000"/>
                    </a:lnTo>
                    <a:lnTo>
                      <a:pt x="94335" y="120000"/>
                    </a:lnTo>
                    <a:lnTo>
                      <a:pt x="56878" y="85224"/>
                    </a:lnTo>
                    <a:lnTo>
                      <a:pt x="32601" y="85224"/>
                    </a:lnTo>
                    <a:lnTo>
                      <a:pt x="32601" y="110204"/>
                    </a:lnTo>
                    <a:lnTo>
                      <a:pt x="47167" y="110204"/>
                    </a:lnTo>
                    <a:lnTo>
                      <a:pt x="47167" y="120000"/>
                    </a:lnTo>
                    <a:lnTo>
                      <a:pt x="0" y="120000"/>
                    </a:lnTo>
                    <a:lnTo>
                      <a:pt x="0" y="110204"/>
                    </a:lnTo>
                    <a:lnTo>
                      <a:pt x="15953" y="110204"/>
                    </a:lnTo>
                    <a:lnTo>
                      <a:pt x="15953" y="9795"/>
                    </a:lnTo>
                    <a:lnTo>
                      <a:pt x="0" y="9795"/>
                    </a:lnTo>
                    <a:lnTo>
                      <a:pt x="0" y="0"/>
                    </a:lnTo>
                    <a:lnTo>
                      <a:pt x="32601" y="0"/>
                    </a:lnTo>
                    <a:lnTo>
                      <a:pt x="32601" y="75918"/>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sp>
            <p:nvSpPr>
              <p:cNvPr id="324" name="Google Shape;324;p43"/>
              <p:cNvSpPr/>
              <p:nvPr/>
            </p:nvSpPr>
            <p:spPr>
              <a:xfrm>
                <a:off x="3890962" y="6430962"/>
                <a:ext cx="203100" cy="250800"/>
              </a:xfrm>
              <a:custGeom>
                <a:rect b="b" l="l" r="r" t="t"/>
                <a:pathLst>
                  <a:path extrusionOk="0" h="120000" w="120000">
                    <a:moveTo>
                      <a:pt x="20625" y="80254"/>
                    </a:moveTo>
                    <a:cubicBezTo>
                      <a:pt x="20625" y="83312"/>
                      <a:pt x="20625" y="83312"/>
                      <a:pt x="20625" y="83312"/>
                    </a:cubicBezTo>
                    <a:cubicBezTo>
                      <a:pt x="20625" y="94777"/>
                      <a:pt x="32812" y="104713"/>
                      <a:pt x="59062" y="104713"/>
                    </a:cubicBezTo>
                    <a:cubicBezTo>
                      <a:pt x="85312" y="104713"/>
                      <a:pt x="97500" y="97834"/>
                      <a:pt x="97500" y="86369"/>
                    </a:cubicBezTo>
                    <a:cubicBezTo>
                      <a:pt x="97500" y="74140"/>
                      <a:pt x="77812" y="70318"/>
                      <a:pt x="57187" y="67261"/>
                    </a:cubicBezTo>
                    <a:cubicBezTo>
                      <a:pt x="31875" y="63439"/>
                      <a:pt x="3750" y="58089"/>
                      <a:pt x="3750" y="32866"/>
                    </a:cubicBezTo>
                    <a:cubicBezTo>
                      <a:pt x="3750" y="12993"/>
                      <a:pt x="26250" y="0"/>
                      <a:pt x="58125" y="0"/>
                    </a:cubicBezTo>
                    <a:cubicBezTo>
                      <a:pt x="100312" y="0"/>
                      <a:pt x="116250" y="14522"/>
                      <a:pt x="116250" y="32101"/>
                    </a:cubicBezTo>
                    <a:cubicBezTo>
                      <a:pt x="116250" y="40509"/>
                      <a:pt x="116250" y="40509"/>
                      <a:pt x="116250" y="40509"/>
                    </a:cubicBezTo>
                    <a:cubicBezTo>
                      <a:pt x="94687" y="40509"/>
                      <a:pt x="94687" y="40509"/>
                      <a:pt x="94687" y="40509"/>
                    </a:cubicBezTo>
                    <a:cubicBezTo>
                      <a:pt x="94687" y="35159"/>
                      <a:pt x="94687" y="35159"/>
                      <a:pt x="94687" y="35159"/>
                    </a:cubicBezTo>
                    <a:cubicBezTo>
                      <a:pt x="94687" y="22929"/>
                      <a:pt x="84375" y="15286"/>
                      <a:pt x="59062" y="15286"/>
                    </a:cubicBezTo>
                    <a:cubicBezTo>
                      <a:pt x="43125" y="15286"/>
                      <a:pt x="26250" y="20636"/>
                      <a:pt x="26250" y="32866"/>
                    </a:cubicBezTo>
                    <a:cubicBezTo>
                      <a:pt x="26250" y="46624"/>
                      <a:pt x="45937" y="49681"/>
                      <a:pt x="66562" y="52738"/>
                    </a:cubicBezTo>
                    <a:cubicBezTo>
                      <a:pt x="93750" y="56560"/>
                      <a:pt x="120000" y="63439"/>
                      <a:pt x="120000" y="86369"/>
                    </a:cubicBezTo>
                    <a:cubicBezTo>
                      <a:pt x="120000" y="104713"/>
                      <a:pt x="102187" y="120000"/>
                      <a:pt x="60000" y="120000"/>
                    </a:cubicBezTo>
                    <a:cubicBezTo>
                      <a:pt x="15937" y="120000"/>
                      <a:pt x="0" y="103949"/>
                      <a:pt x="0" y="87898"/>
                    </a:cubicBezTo>
                    <a:cubicBezTo>
                      <a:pt x="0" y="80254"/>
                      <a:pt x="0" y="80254"/>
                      <a:pt x="0" y="80254"/>
                    </a:cubicBezTo>
                    <a:lnTo>
                      <a:pt x="20625" y="80254"/>
                    </a:lnTo>
                    <a:close/>
                  </a:path>
                </a:pathLst>
              </a:custGeom>
              <a:solidFill>
                <a:srgbClr val="44454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Source Sans Pro"/>
                  <a:ea typeface="Source Sans Pro"/>
                  <a:cs typeface="Source Sans Pro"/>
                  <a:sym typeface="Source Sans Pro"/>
                </a:endParaRPr>
              </a:p>
            </p:txBody>
          </p:sp>
        </p:grpSp>
      </p:grpSp>
      <p:sp>
        <p:nvSpPr>
          <p:cNvPr id="325" name="Google Shape;325;p43"/>
          <p:cNvSpPr txBox="1"/>
          <p:nvPr>
            <p:ph type="title"/>
          </p:nvPr>
        </p:nvSpPr>
        <p:spPr>
          <a:xfrm>
            <a:off x="361446" y="367689"/>
            <a:ext cx="11484600" cy="549900"/>
          </a:xfrm>
          <a:prstGeom prst="rect">
            <a:avLst/>
          </a:prstGeom>
          <a:noFill/>
          <a:ln>
            <a:noFill/>
          </a:ln>
        </p:spPr>
        <p:txBody>
          <a:bodyPr anchorCtr="0" anchor="t" bIns="121875" lIns="121875" spcFirstLastPara="1" rIns="121875" wrap="square" tIns="121875">
            <a:noAutofit/>
          </a:bodyPr>
          <a:lstStyle>
            <a:lvl1pPr lvl="0" marR="0" algn="ctr">
              <a:lnSpc>
                <a:spcPct val="90000"/>
              </a:lnSpc>
              <a:spcBef>
                <a:spcPts val="800"/>
              </a:spcBef>
              <a:spcAft>
                <a:spcPts val="0"/>
              </a:spcAft>
              <a:buClr>
                <a:srgbClr val="3F3F3F"/>
              </a:buClr>
              <a:buSzPts val="1500"/>
              <a:buFont typeface="Arial"/>
              <a:buNone/>
              <a:defRPr b="1" i="0" sz="3600" u="none" cap="none" strike="noStrike">
                <a:solidFill>
                  <a:srgbClr val="3F3F3F"/>
                </a:solidFill>
                <a:latin typeface="Source Sans Pro"/>
                <a:ea typeface="Source Sans Pro"/>
                <a:cs typeface="Source Sans Pro"/>
                <a:sym typeface="Source Sans Pro"/>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326" name="Google Shape;326;p43"/>
          <p:cNvSpPr txBox="1"/>
          <p:nvPr>
            <p:ph idx="1" type="body"/>
          </p:nvPr>
        </p:nvSpPr>
        <p:spPr>
          <a:xfrm>
            <a:off x="365602" y="1102517"/>
            <a:ext cx="11481900" cy="5317200"/>
          </a:xfrm>
          <a:prstGeom prst="rect">
            <a:avLst/>
          </a:prstGeom>
          <a:noFill/>
          <a:ln>
            <a:noFill/>
          </a:ln>
        </p:spPr>
        <p:txBody>
          <a:bodyPr anchorCtr="0" anchor="t" bIns="121875" lIns="121875" spcFirstLastPara="1" rIns="121875" wrap="square" tIns="121875">
            <a:noAutofit/>
          </a:bodyPr>
          <a:lstStyle>
            <a:lvl1pPr indent="-406400" lvl="0" marL="457200" marR="0" algn="l">
              <a:lnSpc>
                <a:spcPct val="90000"/>
              </a:lnSpc>
              <a:spcBef>
                <a:spcPts val="0"/>
              </a:spcBef>
              <a:spcAft>
                <a:spcPts val="0"/>
              </a:spcAft>
              <a:buClr>
                <a:srgbClr val="7F7F7F"/>
              </a:buClr>
              <a:buSzPts val="2800"/>
              <a:buFont typeface="Arial"/>
              <a:buChar char="•"/>
              <a:defRPr b="0" i="0" sz="2800" u="none" cap="none" strike="noStrike">
                <a:solidFill>
                  <a:srgbClr val="3F3F3F"/>
                </a:solidFill>
                <a:latin typeface="Source Sans Pro"/>
                <a:ea typeface="Source Sans Pro"/>
                <a:cs typeface="Source Sans Pro"/>
                <a:sym typeface="Source Sans Pro"/>
              </a:defRPr>
            </a:lvl1pPr>
            <a:lvl2pPr indent="-355600" lvl="1" marL="914400" marR="0" algn="l">
              <a:lnSpc>
                <a:spcPct val="90000"/>
              </a:lnSpc>
              <a:spcBef>
                <a:spcPts val="700"/>
              </a:spcBef>
              <a:spcAft>
                <a:spcPts val="0"/>
              </a:spcAft>
              <a:buClr>
                <a:srgbClr val="7F7F7F"/>
              </a:buClr>
              <a:buSzPts val="2000"/>
              <a:buFont typeface="Arial"/>
              <a:buChar char="–"/>
              <a:defRPr b="0" i="0" sz="2000" u="none" cap="none" strike="noStrike">
                <a:solidFill>
                  <a:srgbClr val="3F3F3F"/>
                </a:solidFill>
                <a:latin typeface="Source Sans Pro"/>
                <a:ea typeface="Source Sans Pro"/>
                <a:cs typeface="Source Sans Pro"/>
                <a:sym typeface="Source Sans Pro"/>
              </a:defRPr>
            </a:lvl2pPr>
            <a:lvl3pPr indent="-349250" lvl="2" marL="1371600" marR="0" algn="l">
              <a:lnSpc>
                <a:spcPct val="90000"/>
              </a:lnSpc>
              <a:spcBef>
                <a:spcPts val="700"/>
              </a:spcBef>
              <a:spcAft>
                <a:spcPts val="0"/>
              </a:spcAft>
              <a:buClr>
                <a:srgbClr val="7F7F7F"/>
              </a:buClr>
              <a:buSzPts val="1900"/>
              <a:buFont typeface="Arial"/>
              <a:buChar char="•"/>
              <a:defRPr b="0" i="0" sz="1900" u="none" cap="none" strike="noStrike">
                <a:solidFill>
                  <a:srgbClr val="3F3F3F"/>
                </a:solidFill>
                <a:latin typeface="Source Sans Pro"/>
                <a:ea typeface="Source Sans Pro"/>
                <a:cs typeface="Source Sans Pro"/>
                <a:sym typeface="Source Sans Pro"/>
              </a:defRPr>
            </a:lvl3pPr>
            <a:lvl4pPr indent="-349250" lvl="3" marL="1828800" marR="0" algn="l">
              <a:lnSpc>
                <a:spcPct val="90000"/>
              </a:lnSpc>
              <a:spcBef>
                <a:spcPts val="700"/>
              </a:spcBef>
              <a:spcAft>
                <a:spcPts val="0"/>
              </a:spcAft>
              <a:buClr>
                <a:srgbClr val="7F7F7F"/>
              </a:buClr>
              <a:buSzPts val="1900"/>
              <a:buFont typeface="Arial"/>
              <a:buChar char="–"/>
              <a:defRPr b="0" i="0" sz="1900" u="none" cap="none" strike="noStrike">
                <a:solidFill>
                  <a:srgbClr val="3F3F3F"/>
                </a:solidFill>
                <a:latin typeface="Source Sans Pro"/>
                <a:ea typeface="Source Sans Pro"/>
                <a:cs typeface="Source Sans Pro"/>
                <a:sym typeface="Source Sans Pro"/>
              </a:defRPr>
            </a:lvl4pPr>
            <a:lvl5pPr indent="-349250" lvl="4" marL="2286000" marR="0" algn="l">
              <a:lnSpc>
                <a:spcPct val="90000"/>
              </a:lnSpc>
              <a:spcBef>
                <a:spcPts val="700"/>
              </a:spcBef>
              <a:spcAft>
                <a:spcPts val="0"/>
              </a:spcAft>
              <a:buClr>
                <a:srgbClr val="7F7F7F"/>
              </a:buClr>
              <a:buSzPts val="1900"/>
              <a:buFont typeface="Arial"/>
              <a:buChar char="•"/>
              <a:defRPr b="0" i="0" sz="1900" u="none" cap="none" strike="noStrike">
                <a:solidFill>
                  <a:srgbClr val="3F3F3F"/>
                </a:solidFill>
                <a:latin typeface="Source Sans Pro"/>
                <a:ea typeface="Source Sans Pro"/>
                <a:cs typeface="Source Sans Pro"/>
                <a:sym typeface="Source Sans Pro"/>
              </a:defRPr>
            </a:lvl5pPr>
            <a:lvl6pPr indent="-228600" lvl="5" marL="2743200" marR="0" algn="l">
              <a:lnSpc>
                <a:spcPct val="90000"/>
              </a:lnSpc>
              <a:spcBef>
                <a:spcPts val="700"/>
              </a:spcBef>
              <a:spcAft>
                <a:spcPts val="0"/>
              </a:spcAft>
              <a:buClr>
                <a:schemeClr val="dk1"/>
              </a:buClr>
              <a:buSzPts val="1500"/>
              <a:buFont typeface="Arial"/>
              <a:buNone/>
              <a:defRPr b="0" i="0" sz="800" u="none" cap="none" strike="noStrike">
                <a:solidFill>
                  <a:schemeClr val="dk1"/>
                </a:solidFill>
                <a:latin typeface="Source Sans Pro"/>
                <a:ea typeface="Source Sans Pro"/>
                <a:cs typeface="Source Sans Pro"/>
                <a:sym typeface="Source Sans Pro"/>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Source Sans Pro"/>
                <a:ea typeface="Source Sans Pro"/>
                <a:cs typeface="Source Sans Pro"/>
                <a:sym typeface="Source Sans Pro"/>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Source Sans Pro"/>
                <a:ea typeface="Source Sans Pro"/>
                <a:cs typeface="Source Sans Pro"/>
                <a:sym typeface="Source Sans Pro"/>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Source Sans Pro"/>
                <a:ea typeface="Source Sans Pro"/>
                <a:cs typeface="Source Sans Pro"/>
                <a:sym typeface="Source Sans Pro"/>
              </a:defRPr>
            </a:lvl9pPr>
          </a:lstStyle>
          <a:p/>
        </p:txBody>
      </p:sp>
      <p:sp>
        <p:nvSpPr>
          <p:cNvPr id="327" name="Google Shape;327;p43"/>
          <p:cNvSpPr txBox="1"/>
          <p:nvPr>
            <p:ph idx="12" type="sldNum"/>
          </p:nvPr>
        </p:nvSpPr>
        <p:spPr>
          <a:xfrm>
            <a:off x="11579069" y="6446443"/>
            <a:ext cx="342600" cy="2973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262626"/>
              </a:buClr>
              <a:buSzPts val="1100"/>
              <a:buFont typeface="Source Sans Pro"/>
              <a:buNone/>
              <a:defRPr b="0" i="0" sz="1100" u="none" cap="none" strike="noStrike">
                <a:solidFill>
                  <a:srgbClr val="262626"/>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Content A - Basic White 1 1">
  <p:cSld name="OBJECT_1_1_1">
    <p:bg>
      <p:bgPr>
        <a:solidFill>
          <a:srgbClr val="FFFFFF"/>
        </a:solidFill>
      </p:bgPr>
    </p:bg>
    <p:spTree>
      <p:nvGrpSpPr>
        <p:cNvPr id="328" name="Shape 328"/>
        <p:cNvGrpSpPr/>
        <p:nvPr/>
      </p:nvGrpSpPr>
      <p:grpSpPr>
        <a:xfrm>
          <a:off x="0" y="0"/>
          <a:ext cx="0" cy="0"/>
          <a:chOff x="0" y="0"/>
          <a:chExt cx="0" cy="0"/>
        </a:xfrm>
      </p:grpSpPr>
      <p:sp>
        <p:nvSpPr>
          <p:cNvPr id="329" name="Google Shape;329;p44"/>
          <p:cNvSpPr txBox="1"/>
          <p:nvPr>
            <p:ph type="title"/>
          </p:nvPr>
        </p:nvSpPr>
        <p:spPr>
          <a:xfrm>
            <a:off x="749245" y="2307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p:txBody>
      </p:sp>
      <p:sp>
        <p:nvSpPr>
          <p:cNvPr id="330" name="Google Shape;330;p44"/>
          <p:cNvSpPr txBox="1"/>
          <p:nvPr>
            <p:ph idx="12" type="sldNum"/>
          </p:nvPr>
        </p:nvSpPr>
        <p:spPr>
          <a:xfrm>
            <a:off x="11097669" y="6473300"/>
            <a:ext cx="324300" cy="1866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11" Type="http://schemas.openxmlformats.org/officeDocument/2006/relationships/slideLayout" Target="../slideLayouts/slideLayout21.xml"/><Relationship Id="rId33" Type="http://schemas.openxmlformats.org/officeDocument/2006/relationships/theme" Target="../theme/theme1.xml"/><Relationship Id="rId10" Type="http://schemas.openxmlformats.org/officeDocument/2006/relationships/slideLayout" Target="../slideLayouts/slideLayout20.xml"/><Relationship Id="rId32" Type="http://schemas.openxmlformats.org/officeDocument/2006/relationships/slideLayout" Target="../slideLayouts/slideLayout42.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496" y="593367"/>
            <a:ext cx="11358000" cy="763500"/>
          </a:xfrm>
          <a:prstGeom prst="rect">
            <a:avLst/>
          </a:prstGeom>
          <a:noFill/>
          <a:ln>
            <a:noFill/>
          </a:ln>
        </p:spPr>
        <p:txBody>
          <a:bodyPr anchorCtr="0" anchor="t" bIns="121875" lIns="121875" spcFirstLastPara="1" rIns="121875" wrap="square" tIns="121875">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496" y="1536633"/>
            <a:ext cx="11358000" cy="4555200"/>
          </a:xfrm>
          <a:prstGeom prst="rect">
            <a:avLst/>
          </a:prstGeom>
          <a:noFill/>
          <a:ln>
            <a:noFill/>
          </a:ln>
        </p:spPr>
        <p:txBody>
          <a:bodyPr anchorCtr="0" anchor="t" bIns="121875" lIns="121875" spcFirstLastPara="1" rIns="121875" wrap="square" tIns="121875">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3784" y="6217622"/>
            <a:ext cx="731400" cy="524700"/>
          </a:xfrm>
          <a:prstGeom prst="rect">
            <a:avLst/>
          </a:prstGeom>
          <a:noFill/>
          <a:ln>
            <a:noFill/>
          </a:ln>
        </p:spPr>
        <p:txBody>
          <a:bodyPr anchorCtr="0" anchor="ctr" bIns="121875" lIns="121875" spcFirstLastPara="1" rIns="121875" wrap="square" tIns="121875">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52" name="Google Shape;52;p13"/>
          <p:cNvSpPr txBox="1"/>
          <p:nvPr>
            <p:ph idx="1" type="body"/>
          </p:nvPr>
        </p:nvSpPr>
        <p:spPr>
          <a:xfrm>
            <a:off x="761809" y="1825633"/>
            <a:ext cx="10589400" cy="4351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algn="l">
              <a:lnSpc>
                <a:spcPct val="90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53" name="Google Shape;53;p13"/>
          <p:cNvSpPr txBox="1"/>
          <p:nvPr/>
        </p:nvSpPr>
        <p:spPr>
          <a:xfrm>
            <a:off x="646561" y="6361500"/>
            <a:ext cx="5377800" cy="4155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accent5"/>
                </a:solidFill>
                <a:latin typeface="DM Sans"/>
                <a:ea typeface="DM Sans"/>
                <a:cs typeface="DM Sans"/>
                <a:sym typeface="DM Sans"/>
              </a:rPr>
              <a:t>©2025 Databricks Inc. — All rights reserved</a:t>
            </a:r>
            <a:endParaRPr sz="1100">
              <a:solidFill>
                <a:schemeClr val="accent5"/>
              </a:solidFill>
              <a:latin typeface="DM Sans"/>
              <a:ea typeface="DM Sans"/>
              <a:cs typeface="DM Sans"/>
              <a:sym typeface="DM Sans"/>
            </a:endParaRPr>
          </a:p>
        </p:txBody>
      </p:sp>
      <p:pic>
        <p:nvPicPr>
          <p:cNvPr id="54" name="Google Shape;54;p13"/>
          <p:cNvPicPr preferRelativeResize="0"/>
          <p:nvPr/>
        </p:nvPicPr>
        <p:blipFill>
          <a:blip r:embed="rId1">
            <a:alphaModFix/>
          </a:blip>
          <a:stretch>
            <a:fillRect/>
          </a:stretch>
        </p:blipFill>
        <p:spPr>
          <a:xfrm>
            <a:off x="10665331" y="6473302"/>
            <a:ext cx="186673" cy="186673"/>
          </a:xfrm>
          <a:prstGeom prst="rect">
            <a:avLst/>
          </a:prstGeom>
          <a:noFill/>
          <a:ln>
            <a:noFill/>
          </a:ln>
        </p:spPr>
      </p:pic>
      <p:sp>
        <p:nvSpPr>
          <p:cNvPr id="55" name="Google Shape;55;p13"/>
          <p:cNvSpPr txBox="1"/>
          <p:nvPr>
            <p:ph idx="12" type="sldNum"/>
          </p:nvPr>
        </p:nvSpPr>
        <p:spPr>
          <a:xfrm>
            <a:off x="10866463" y="6351634"/>
            <a:ext cx="666600" cy="524700"/>
          </a:xfrm>
          <a:prstGeom prst="rect">
            <a:avLst/>
          </a:prstGeom>
          <a:noFill/>
          <a:ln>
            <a:noFill/>
          </a:ln>
        </p:spPr>
        <p:txBody>
          <a:bodyPr anchorCtr="0" anchor="t" bIns="121875" lIns="121875" spcFirstLastPara="1" rIns="121875" wrap="square" tIns="121875">
            <a:noAutofit/>
          </a:bodyPr>
          <a:lstStyle>
            <a:lvl1pPr lvl="0" algn="r">
              <a:buNone/>
              <a:defRPr sz="1100">
                <a:solidFill>
                  <a:schemeClr val="accent5"/>
                </a:solidFill>
                <a:latin typeface="DM Sans"/>
                <a:ea typeface="DM Sans"/>
                <a:cs typeface="DM Sans"/>
                <a:sym typeface="DM Sans"/>
              </a:defRPr>
            </a:lvl1pPr>
            <a:lvl2pPr lvl="1" algn="r">
              <a:buNone/>
              <a:defRPr sz="1100">
                <a:solidFill>
                  <a:schemeClr val="accent5"/>
                </a:solidFill>
                <a:latin typeface="DM Sans"/>
                <a:ea typeface="DM Sans"/>
                <a:cs typeface="DM Sans"/>
                <a:sym typeface="DM Sans"/>
              </a:defRPr>
            </a:lvl2pPr>
            <a:lvl3pPr lvl="2" algn="r">
              <a:buNone/>
              <a:defRPr sz="1100">
                <a:solidFill>
                  <a:schemeClr val="accent5"/>
                </a:solidFill>
                <a:latin typeface="DM Sans"/>
                <a:ea typeface="DM Sans"/>
                <a:cs typeface="DM Sans"/>
                <a:sym typeface="DM Sans"/>
              </a:defRPr>
            </a:lvl3pPr>
            <a:lvl4pPr lvl="3" algn="r">
              <a:buNone/>
              <a:defRPr sz="1100">
                <a:solidFill>
                  <a:schemeClr val="accent5"/>
                </a:solidFill>
                <a:latin typeface="DM Sans"/>
                <a:ea typeface="DM Sans"/>
                <a:cs typeface="DM Sans"/>
                <a:sym typeface="DM Sans"/>
              </a:defRPr>
            </a:lvl4pPr>
            <a:lvl5pPr lvl="4" algn="r">
              <a:buNone/>
              <a:defRPr sz="1100">
                <a:solidFill>
                  <a:schemeClr val="accent5"/>
                </a:solidFill>
                <a:latin typeface="DM Sans"/>
                <a:ea typeface="DM Sans"/>
                <a:cs typeface="DM Sans"/>
                <a:sym typeface="DM Sans"/>
              </a:defRPr>
            </a:lvl5pPr>
            <a:lvl6pPr lvl="5" algn="r">
              <a:buNone/>
              <a:defRPr sz="1100">
                <a:solidFill>
                  <a:schemeClr val="accent5"/>
                </a:solidFill>
                <a:latin typeface="DM Sans"/>
                <a:ea typeface="DM Sans"/>
                <a:cs typeface="DM Sans"/>
                <a:sym typeface="DM Sans"/>
              </a:defRPr>
            </a:lvl6pPr>
            <a:lvl7pPr lvl="6" algn="r">
              <a:buNone/>
              <a:defRPr sz="1100">
                <a:solidFill>
                  <a:schemeClr val="accent5"/>
                </a:solidFill>
                <a:latin typeface="DM Sans"/>
                <a:ea typeface="DM Sans"/>
                <a:cs typeface="DM Sans"/>
                <a:sym typeface="DM Sans"/>
              </a:defRPr>
            </a:lvl7pPr>
            <a:lvl8pPr lvl="7" algn="r">
              <a:buNone/>
              <a:defRPr sz="1100">
                <a:solidFill>
                  <a:schemeClr val="accent5"/>
                </a:solidFill>
                <a:latin typeface="DM Sans"/>
                <a:ea typeface="DM Sans"/>
                <a:cs typeface="DM Sans"/>
                <a:sym typeface="DM Sans"/>
              </a:defRPr>
            </a:lvl8pPr>
            <a:lvl9pPr lvl="8" algn="r">
              <a:buNone/>
              <a:defRPr sz="1100">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
          <p15:clr>
            <a:srgbClr val="EA4335"/>
          </p15:clr>
        </p15:guide>
        <p15:guide id="2" pos="480">
          <p15:clr>
            <a:srgbClr val="EA4335"/>
          </p15:clr>
        </p15:guide>
        <p15:guide id="3" pos="960">
          <p15:clr>
            <a:srgbClr val="EA4335"/>
          </p15:clr>
        </p15:guide>
        <p15:guide id="4" pos="1056">
          <p15:clr>
            <a:srgbClr val="EA4335"/>
          </p15:clr>
        </p15:guide>
        <p15:guide id="5" pos="1518">
          <p15:clr>
            <a:srgbClr val="EA4335"/>
          </p15:clr>
        </p15:guide>
        <p15:guide id="6" pos="1614">
          <p15:clr>
            <a:srgbClr val="EA4335"/>
          </p15:clr>
        </p15:guide>
        <p15:guide id="7" pos="2091">
          <p15:clr>
            <a:srgbClr val="EA4335"/>
          </p15:clr>
        </p15:guide>
        <p15:guide id="8" pos="2185">
          <p15:clr>
            <a:srgbClr val="EA4335"/>
          </p15:clr>
        </p15:guide>
        <p15:guide id="9" pos="2651">
          <p15:clr>
            <a:srgbClr val="EA4335"/>
          </p15:clr>
        </p15:guide>
        <p15:guide id="10" pos="2755">
          <p15:clr>
            <a:srgbClr val="EA4335"/>
          </p15:clr>
        </p15:guide>
        <p15:guide id="11" pos="3223">
          <p15:clr>
            <a:srgbClr val="EA4335"/>
          </p15:clr>
        </p15:guide>
        <p15:guide id="12" pos="3326">
          <p15:clr>
            <a:srgbClr val="EA4335"/>
          </p15:clr>
        </p15:guide>
        <p15:guide id="13" pos="3795">
          <p15:clr>
            <a:srgbClr val="EA4335"/>
          </p15:clr>
        </p15:guide>
        <p15:guide id="14" pos="3883">
          <p15:clr>
            <a:srgbClr val="EA4335"/>
          </p15:clr>
        </p15:guide>
        <p15:guide id="15" pos="4367">
          <p15:clr>
            <a:srgbClr val="EA4335"/>
          </p15:clr>
        </p15:guide>
        <p15:guide id="16" pos="4455">
          <p15:clr>
            <a:srgbClr val="EA4335"/>
          </p15:clr>
        </p15:guide>
        <p15:guide id="17" pos="4923">
          <p15:clr>
            <a:srgbClr val="EA4335"/>
          </p15:clr>
        </p15:guide>
        <p15:guide id="18" pos="5027">
          <p15:clr>
            <a:srgbClr val="EA4335"/>
          </p15:clr>
        </p15:guide>
        <p15:guide id="19" pos="5493">
          <p15:clr>
            <a:srgbClr val="EA4335"/>
          </p15:clr>
        </p15:guide>
        <p15:guide id="20" pos="5587">
          <p15:clr>
            <a:srgbClr val="EA4335"/>
          </p15:clr>
        </p15:guide>
        <p15:guide id="21" pos="6064">
          <p15:clr>
            <a:srgbClr val="EA4335"/>
          </p15:clr>
        </p15:guide>
        <p15:guide id="22" pos="6161">
          <p15:clr>
            <a:srgbClr val="EA4335"/>
          </p15:clr>
        </p15:guide>
        <p15:guide id="23" pos="6622">
          <p15:clr>
            <a:srgbClr val="EA4335"/>
          </p15:clr>
        </p15:guide>
        <p15:guide id="24" pos="6718">
          <p15:clr>
            <a:srgbClr val="EA4335"/>
          </p15:clr>
        </p15:guide>
        <p15:guide id="25" pos="7198">
          <p15:clr>
            <a:srgbClr val="EA4335"/>
          </p15:clr>
        </p15:guide>
        <p15:guide id="26" pos="7294">
          <p15:clr>
            <a:srgbClr val="EA4335"/>
          </p15:clr>
        </p15:guide>
        <p15:guide id="27" orient="horz" pos="3936">
          <p15:clr>
            <a:srgbClr val="EA4335"/>
          </p15:clr>
        </p15:guide>
        <p15:guide id="28" orient="horz" pos="384">
          <p15:clr>
            <a:srgbClr val="EA4335"/>
          </p15:clr>
        </p15:guide>
        <p15:guide id="29" pos="3839">
          <p15:clr>
            <a:srgbClr val="EA4335"/>
          </p15:clr>
        </p15:guide>
        <p15:guide id="30" orient="horz" pos="21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9.png"/><Relationship Id="rId9" Type="http://schemas.openxmlformats.org/officeDocument/2006/relationships/image" Target="../media/image15.png"/><Relationship Id="rId5" Type="http://schemas.openxmlformats.org/officeDocument/2006/relationships/image" Target="../media/image37.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7.png"/><Relationship Id="rId11" Type="http://schemas.openxmlformats.org/officeDocument/2006/relationships/image" Target="../media/image9.png"/><Relationship Id="rId10" Type="http://schemas.openxmlformats.org/officeDocument/2006/relationships/image" Target="../media/image12.png"/><Relationship Id="rId13" Type="http://schemas.openxmlformats.org/officeDocument/2006/relationships/image" Target="../media/image16.png"/><Relationship Id="rId12" Type="http://schemas.openxmlformats.org/officeDocument/2006/relationships/image" Target="../media/image21.png"/><Relationship Id="rId1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2.png"/><Relationship Id="rId5" Type="http://schemas.openxmlformats.org/officeDocument/2006/relationships/image" Target="../media/image2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comments" Target="../comments/comment1.xml"/><Relationship Id="rId4" Type="http://schemas.openxmlformats.org/officeDocument/2006/relationships/image" Target="../media/image26.png"/><Relationship Id="rId9"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7.png"/><Relationship Id="rId7" Type="http://schemas.openxmlformats.org/officeDocument/2006/relationships/image" Target="../media/image18.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40.png"/><Relationship Id="rId5" Type="http://schemas.openxmlformats.org/officeDocument/2006/relationships/image" Target="../media/image14.png"/><Relationship Id="rId6"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32.png"/><Relationship Id="rId7"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52.png"/><Relationship Id="rId5"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54.png"/><Relationship Id="rId6"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32.png"/><Relationship Id="rId6"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32.png"/><Relationship Id="rId6"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47.png"/><Relationship Id="rId4" Type="http://schemas.openxmlformats.org/officeDocument/2006/relationships/image" Target="../media/image26.png"/><Relationship Id="rId9"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image" Target="../media/image49.png"/><Relationship Id="rId7" Type="http://schemas.openxmlformats.org/officeDocument/2006/relationships/image" Target="../media/image81.png"/><Relationship Id="rId8"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 Id="rId3" Type="http://schemas.openxmlformats.org/officeDocument/2006/relationships/image" Target="../media/image4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 Id="rId3" Type="http://schemas.openxmlformats.org/officeDocument/2006/relationships/image" Target="../media/image41.png"/><Relationship Id="rId4" Type="http://schemas.openxmlformats.org/officeDocument/2006/relationships/image" Target="../media/image60.png"/><Relationship Id="rId9" Type="http://schemas.openxmlformats.org/officeDocument/2006/relationships/image" Target="../media/image56.png"/><Relationship Id="rId5" Type="http://schemas.openxmlformats.org/officeDocument/2006/relationships/image" Target="../media/image70.png"/><Relationship Id="rId6" Type="http://schemas.openxmlformats.org/officeDocument/2006/relationships/image" Target="../media/image50.png"/><Relationship Id="rId7" Type="http://schemas.openxmlformats.org/officeDocument/2006/relationships/image" Target="../media/image69.png"/><Relationship Id="rId8"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26.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1.xml"/><Relationship Id="rId3" Type="http://schemas.openxmlformats.org/officeDocument/2006/relationships/image" Target="../media/image63.png"/><Relationship Id="rId4" Type="http://schemas.openxmlformats.org/officeDocument/2006/relationships/image" Target="../media/image68.png"/><Relationship Id="rId5" Type="http://schemas.openxmlformats.org/officeDocument/2006/relationships/image" Target="../media/image74.png"/><Relationship Id="rId6" Type="http://schemas.openxmlformats.org/officeDocument/2006/relationships/image" Target="../media/image76.png"/><Relationship Id="rId7" Type="http://schemas.openxmlformats.org/officeDocument/2006/relationships/image" Target="../media/image146.png"/><Relationship Id="rId8" Type="http://schemas.openxmlformats.org/officeDocument/2006/relationships/image" Target="../media/image6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 Id="rId3" Type="http://schemas.openxmlformats.org/officeDocument/2006/relationships/image" Target="../media/image63.png"/><Relationship Id="rId4" Type="http://schemas.openxmlformats.org/officeDocument/2006/relationships/image" Target="../media/image68.png"/><Relationship Id="rId5" Type="http://schemas.openxmlformats.org/officeDocument/2006/relationships/image" Target="../media/image74.png"/><Relationship Id="rId6" Type="http://schemas.openxmlformats.org/officeDocument/2006/relationships/image" Target="../media/image146.png"/><Relationship Id="rId7" Type="http://schemas.openxmlformats.org/officeDocument/2006/relationships/image" Target="../media/image66.png"/><Relationship Id="rId8" Type="http://schemas.openxmlformats.org/officeDocument/2006/relationships/image" Target="../media/image7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 Id="rId3" Type="http://schemas.openxmlformats.org/officeDocument/2006/relationships/image" Target="../media/image63.png"/><Relationship Id="rId4" Type="http://schemas.openxmlformats.org/officeDocument/2006/relationships/image" Target="../media/image74.png"/><Relationship Id="rId5" Type="http://schemas.openxmlformats.org/officeDocument/2006/relationships/image" Target="../media/image76.png"/><Relationship Id="rId6" Type="http://schemas.openxmlformats.org/officeDocument/2006/relationships/image" Target="../media/image146.png"/><Relationship Id="rId7" Type="http://schemas.openxmlformats.org/officeDocument/2006/relationships/image" Target="../media/image87.png"/><Relationship Id="rId8" Type="http://schemas.openxmlformats.org/officeDocument/2006/relationships/image" Target="../media/image6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0" Type="http://schemas.openxmlformats.org/officeDocument/2006/relationships/image" Target="../media/image20.png"/><Relationship Id="rId21" Type="http://schemas.openxmlformats.org/officeDocument/2006/relationships/image" Target="../media/image93.png"/><Relationship Id="rId1" Type="http://schemas.openxmlformats.org/officeDocument/2006/relationships/slideLayout" Target="../slideLayouts/slideLayout17.xml"/><Relationship Id="rId2" Type="http://schemas.openxmlformats.org/officeDocument/2006/relationships/notesSlide" Target="../notesSlides/notesSlide57.xml"/><Relationship Id="rId3" Type="http://schemas.openxmlformats.org/officeDocument/2006/relationships/image" Target="../media/image79.png"/><Relationship Id="rId4" Type="http://schemas.openxmlformats.org/officeDocument/2006/relationships/image" Target="../media/image92.png"/><Relationship Id="rId9" Type="http://schemas.openxmlformats.org/officeDocument/2006/relationships/image" Target="../media/image86.png"/><Relationship Id="rId5" Type="http://schemas.openxmlformats.org/officeDocument/2006/relationships/image" Target="../media/image73.png"/><Relationship Id="rId6" Type="http://schemas.openxmlformats.org/officeDocument/2006/relationships/image" Target="../media/image94.png"/><Relationship Id="rId7" Type="http://schemas.openxmlformats.org/officeDocument/2006/relationships/image" Target="../media/image84.png"/><Relationship Id="rId8" Type="http://schemas.openxmlformats.org/officeDocument/2006/relationships/image" Target="../media/image85.png"/><Relationship Id="rId11" Type="http://schemas.openxmlformats.org/officeDocument/2006/relationships/image" Target="../media/image88.png"/><Relationship Id="rId10" Type="http://schemas.openxmlformats.org/officeDocument/2006/relationships/image" Target="../media/image78.png"/><Relationship Id="rId13" Type="http://schemas.openxmlformats.org/officeDocument/2006/relationships/image" Target="../media/image90.png"/><Relationship Id="rId12" Type="http://schemas.openxmlformats.org/officeDocument/2006/relationships/image" Target="../media/image95.png"/><Relationship Id="rId15" Type="http://schemas.openxmlformats.org/officeDocument/2006/relationships/image" Target="../media/image91.png"/><Relationship Id="rId14" Type="http://schemas.openxmlformats.org/officeDocument/2006/relationships/image" Target="../media/image97.png"/><Relationship Id="rId17" Type="http://schemas.openxmlformats.org/officeDocument/2006/relationships/image" Target="../media/image105.png"/><Relationship Id="rId16" Type="http://schemas.openxmlformats.org/officeDocument/2006/relationships/image" Target="../media/image89.png"/><Relationship Id="rId19" Type="http://schemas.openxmlformats.org/officeDocument/2006/relationships/image" Target="../media/image98.png"/><Relationship Id="rId18" Type="http://schemas.openxmlformats.org/officeDocument/2006/relationships/image" Target="../media/image10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23.png"/><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 Id="rId3" Type="http://schemas.openxmlformats.org/officeDocument/2006/relationships/image" Target="../media/image23.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 Id="rId3" Type="http://schemas.openxmlformats.org/officeDocument/2006/relationships/image" Target="../media/image3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26.png"/><Relationship Id="rId4" Type="http://schemas.openxmlformats.org/officeDocument/2006/relationships/image" Target="../media/image119.png"/><Relationship Id="rId5" Type="http://schemas.openxmlformats.org/officeDocument/2006/relationships/image" Target="../media/image112.png"/><Relationship Id="rId6" Type="http://schemas.openxmlformats.org/officeDocument/2006/relationships/image" Target="../media/image127.png"/><Relationship Id="rId7" Type="http://schemas.openxmlformats.org/officeDocument/2006/relationships/image" Target="../media/image10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0" Type="http://schemas.openxmlformats.org/officeDocument/2006/relationships/image" Target="../media/image125.png"/><Relationship Id="rId22" Type="http://schemas.openxmlformats.org/officeDocument/2006/relationships/image" Target="../media/image135.png"/><Relationship Id="rId21" Type="http://schemas.openxmlformats.org/officeDocument/2006/relationships/image" Target="../media/image129.png"/><Relationship Id="rId24" Type="http://schemas.openxmlformats.org/officeDocument/2006/relationships/image" Target="../media/image131.png"/><Relationship Id="rId23" Type="http://schemas.openxmlformats.org/officeDocument/2006/relationships/image" Target="../media/image133.png"/><Relationship Id="rId1" Type="http://schemas.openxmlformats.org/officeDocument/2006/relationships/slideLayout" Target="../slideLayouts/slideLayout17.xml"/><Relationship Id="rId2" Type="http://schemas.openxmlformats.org/officeDocument/2006/relationships/notesSlide" Target="../notesSlides/notesSlide65.xml"/><Relationship Id="rId3" Type="http://schemas.openxmlformats.org/officeDocument/2006/relationships/image" Target="../media/image25.png"/><Relationship Id="rId4" Type="http://schemas.openxmlformats.org/officeDocument/2006/relationships/image" Target="../media/image126.png"/><Relationship Id="rId9" Type="http://schemas.openxmlformats.org/officeDocument/2006/relationships/image" Target="../media/image109.png"/><Relationship Id="rId25" Type="http://schemas.openxmlformats.org/officeDocument/2006/relationships/image" Target="../media/image128.png"/><Relationship Id="rId5" Type="http://schemas.openxmlformats.org/officeDocument/2006/relationships/image" Target="../media/image12.png"/><Relationship Id="rId6" Type="http://schemas.openxmlformats.org/officeDocument/2006/relationships/image" Target="../media/image117.png"/><Relationship Id="rId7" Type="http://schemas.openxmlformats.org/officeDocument/2006/relationships/image" Target="../media/image15.png"/><Relationship Id="rId8" Type="http://schemas.openxmlformats.org/officeDocument/2006/relationships/image" Target="../media/image116.png"/><Relationship Id="rId11" Type="http://schemas.openxmlformats.org/officeDocument/2006/relationships/image" Target="../media/image114.png"/><Relationship Id="rId10" Type="http://schemas.openxmlformats.org/officeDocument/2006/relationships/image" Target="../media/image93.png"/><Relationship Id="rId13" Type="http://schemas.openxmlformats.org/officeDocument/2006/relationships/image" Target="../media/image13.png"/><Relationship Id="rId12" Type="http://schemas.openxmlformats.org/officeDocument/2006/relationships/image" Target="../media/image132.png"/><Relationship Id="rId15" Type="http://schemas.openxmlformats.org/officeDocument/2006/relationships/image" Target="../media/image115.png"/><Relationship Id="rId14" Type="http://schemas.openxmlformats.org/officeDocument/2006/relationships/image" Target="../media/image118.png"/><Relationship Id="rId17" Type="http://schemas.openxmlformats.org/officeDocument/2006/relationships/image" Target="../media/image130.png"/><Relationship Id="rId16" Type="http://schemas.openxmlformats.org/officeDocument/2006/relationships/image" Target="../media/image122.png"/><Relationship Id="rId19" Type="http://schemas.openxmlformats.org/officeDocument/2006/relationships/image" Target="../media/image123.png"/><Relationship Id="rId18" Type="http://schemas.openxmlformats.org/officeDocument/2006/relationships/image" Target="../media/image124.png"/></Relationships>
</file>

<file path=ppt/slides/_rels/slide66.xml.rels><?xml version="1.0" encoding="UTF-8" standalone="yes"?><Relationships xmlns="http://schemas.openxmlformats.org/package/2006/relationships"><Relationship Id="rId20" Type="http://schemas.openxmlformats.org/officeDocument/2006/relationships/image" Target="../media/image131.png"/><Relationship Id="rId21" Type="http://schemas.openxmlformats.org/officeDocument/2006/relationships/image" Target="../media/image128.png"/><Relationship Id="rId1" Type="http://schemas.openxmlformats.org/officeDocument/2006/relationships/slideLayout" Target="../slideLayouts/slideLayout17.xml"/><Relationship Id="rId2" Type="http://schemas.openxmlformats.org/officeDocument/2006/relationships/notesSlide" Target="../notesSlides/notesSlide66.xml"/><Relationship Id="rId3" Type="http://schemas.openxmlformats.org/officeDocument/2006/relationships/image" Target="../media/image126.png"/><Relationship Id="rId4" Type="http://schemas.openxmlformats.org/officeDocument/2006/relationships/image" Target="../media/image15.png"/><Relationship Id="rId9" Type="http://schemas.openxmlformats.org/officeDocument/2006/relationships/image" Target="../media/image25.png"/><Relationship Id="rId5" Type="http://schemas.openxmlformats.org/officeDocument/2006/relationships/image" Target="../media/image116.png"/><Relationship Id="rId6" Type="http://schemas.openxmlformats.org/officeDocument/2006/relationships/image" Target="../media/image109.png"/><Relationship Id="rId7" Type="http://schemas.openxmlformats.org/officeDocument/2006/relationships/image" Target="../media/image93.png"/><Relationship Id="rId8" Type="http://schemas.openxmlformats.org/officeDocument/2006/relationships/image" Target="../media/image114.png"/><Relationship Id="rId11" Type="http://schemas.openxmlformats.org/officeDocument/2006/relationships/image" Target="../media/image13.png"/><Relationship Id="rId10" Type="http://schemas.openxmlformats.org/officeDocument/2006/relationships/image" Target="../media/image132.png"/><Relationship Id="rId13" Type="http://schemas.openxmlformats.org/officeDocument/2006/relationships/image" Target="../media/image115.png"/><Relationship Id="rId12" Type="http://schemas.openxmlformats.org/officeDocument/2006/relationships/image" Target="../media/image118.png"/><Relationship Id="rId15" Type="http://schemas.openxmlformats.org/officeDocument/2006/relationships/image" Target="../media/image130.png"/><Relationship Id="rId14" Type="http://schemas.openxmlformats.org/officeDocument/2006/relationships/image" Target="../media/image122.png"/><Relationship Id="rId17" Type="http://schemas.openxmlformats.org/officeDocument/2006/relationships/image" Target="../media/image123.png"/><Relationship Id="rId16" Type="http://schemas.openxmlformats.org/officeDocument/2006/relationships/image" Target="../media/image124.png"/><Relationship Id="rId19" Type="http://schemas.openxmlformats.org/officeDocument/2006/relationships/image" Target="../media/image133.png"/><Relationship Id="rId18" Type="http://schemas.openxmlformats.org/officeDocument/2006/relationships/image" Target="../media/image125.png"/></Relationships>
</file>

<file path=ppt/slides/_rels/slide67.xml.rels><?xml version="1.0" encoding="UTF-8" standalone="yes"?><Relationships xmlns="http://schemas.openxmlformats.org/package/2006/relationships"><Relationship Id="rId20" Type="http://schemas.openxmlformats.org/officeDocument/2006/relationships/image" Target="../media/image131.png"/><Relationship Id="rId22" Type="http://schemas.openxmlformats.org/officeDocument/2006/relationships/image" Target="../media/image128.png"/><Relationship Id="rId21" Type="http://schemas.openxmlformats.org/officeDocument/2006/relationships/image" Target="../media/image129.png"/><Relationship Id="rId1" Type="http://schemas.openxmlformats.org/officeDocument/2006/relationships/slideLayout" Target="../slideLayouts/slideLayout17.xml"/><Relationship Id="rId2" Type="http://schemas.openxmlformats.org/officeDocument/2006/relationships/notesSlide" Target="../notesSlides/notesSlide67.xml"/><Relationship Id="rId3" Type="http://schemas.openxmlformats.org/officeDocument/2006/relationships/image" Target="../media/image126.png"/><Relationship Id="rId4" Type="http://schemas.openxmlformats.org/officeDocument/2006/relationships/image" Target="../media/image15.png"/><Relationship Id="rId9" Type="http://schemas.openxmlformats.org/officeDocument/2006/relationships/image" Target="../media/image25.png"/><Relationship Id="rId5" Type="http://schemas.openxmlformats.org/officeDocument/2006/relationships/image" Target="../media/image116.png"/><Relationship Id="rId6" Type="http://schemas.openxmlformats.org/officeDocument/2006/relationships/image" Target="../media/image109.png"/><Relationship Id="rId7" Type="http://schemas.openxmlformats.org/officeDocument/2006/relationships/image" Target="../media/image93.png"/><Relationship Id="rId8" Type="http://schemas.openxmlformats.org/officeDocument/2006/relationships/image" Target="../media/image114.png"/><Relationship Id="rId11" Type="http://schemas.openxmlformats.org/officeDocument/2006/relationships/image" Target="../media/image13.png"/><Relationship Id="rId10" Type="http://schemas.openxmlformats.org/officeDocument/2006/relationships/image" Target="../media/image132.png"/><Relationship Id="rId13" Type="http://schemas.openxmlformats.org/officeDocument/2006/relationships/image" Target="../media/image115.png"/><Relationship Id="rId12" Type="http://schemas.openxmlformats.org/officeDocument/2006/relationships/image" Target="../media/image118.png"/><Relationship Id="rId15" Type="http://schemas.openxmlformats.org/officeDocument/2006/relationships/image" Target="../media/image130.png"/><Relationship Id="rId14" Type="http://schemas.openxmlformats.org/officeDocument/2006/relationships/image" Target="../media/image122.png"/><Relationship Id="rId17" Type="http://schemas.openxmlformats.org/officeDocument/2006/relationships/image" Target="../media/image123.png"/><Relationship Id="rId16" Type="http://schemas.openxmlformats.org/officeDocument/2006/relationships/image" Target="../media/image124.png"/><Relationship Id="rId19" Type="http://schemas.openxmlformats.org/officeDocument/2006/relationships/image" Target="../media/image133.png"/><Relationship Id="rId18" Type="http://schemas.openxmlformats.org/officeDocument/2006/relationships/image" Target="../media/image125.png"/></Relationships>
</file>

<file path=ppt/slides/_rels/slide68.xml.rels><?xml version="1.0" encoding="UTF-8" standalone="yes"?><Relationships xmlns="http://schemas.openxmlformats.org/package/2006/relationships"><Relationship Id="rId20" Type="http://schemas.openxmlformats.org/officeDocument/2006/relationships/image" Target="../media/image131.png"/><Relationship Id="rId22" Type="http://schemas.openxmlformats.org/officeDocument/2006/relationships/image" Target="../media/image128.png"/><Relationship Id="rId21" Type="http://schemas.openxmlformats.org/officeDocument/2006/relationships/image" Target="../media/image135.png"/><Relationship Id="rId1" Type="http://schemas.openxmlformats.org/officeDocument/2006/relationships/slideLayout" Target="../slideLayouts/slideLayout17.xml"/><Relationship Id="rId2" Type="http://schemas.openxmlformats.org/officeDocument/2006/relationships/notesSlide" Target="../notesSlides/notesSlide68.xml"/><Relationship Id="rId3" Type="http://schemas.openxmlformats.org/officeDocument/2006/relationships/image" Target="../media/image126.png"/><Relationship Id="rId4" Type="http://schemas.openxmlformats.org/officeDocument/2006/relationships/image" Target="../media/image15.png"/><Relationship Id="rId9" Type="http://schemas.openxmlformats.org/officeDocument/2006/relationships/image" Target="../media/image25.png"/><Relationship Id="rId5" Type="http://schemas.openxmlformats.org/officeDocument/2006/relationships/image" Target="../media/image116.png"/><Relationship Id="rId6" Type="http://schemas.openxmlformats.org/officeDocument/2006/relationships/image" Target="../media/image109.png"/><Relationship Id="rId7" Type="http://schemas.openxmlformats.org/officeDocument/2006/relationships/image" Target="../media/image93.png"/><Relationship Id="rId8" Type="http://schemas.openxmlformats.org/officeDocument/2006/relationships/image" Target="../media/image114.png"/><Relationship Id="rId11" Type="http://schemas.openxmlformats.org/officeDocument/2006/relationships/image" Target="../media/image13.png"/><Relationship Id="rId10" Type="http://schemas.openxmlformats.org/officeDocument/2006/relationships/image" Target="../media/image132.png"/><Relationship Id="rId13" Type="http://schemas.openxmlformats.org/officeDocument/2006/relationships/image" Target="../media/image115.png"/><Relationship Id="rId12" Type="http://schemas.openxmlformats.org/officeDocument/2006/relationships/image" Target="../media/image118.png"/><Relationship Id="rId15" Type="http://schemas.openxmlformats.org/officeDocument/2006/relationships/image" Target="../media/image130.png"/><Relationship Id="rId14" Type="http://schemas.openxmlformats.org/officeDocument/2006/relationships/image" Target="../media/image122.png"/><Relationship Id="rId17" Type="http://schemas.openxmlformats.org/officeDocument/2006/relationships/image" Target="../media/image123.png"/><Relationship Id="rId16" Type="http://schemas.openxmlformats.org/officeDocument/2006/relationships/image" Target="../media/image124.png"/><Relationship Id="rId19" Type="http://schemas.openxmlformats.org/officeDocument/2006/relationships/image" Target="../media/image133.png"/><Relationship Id="rId18" Type="http://schemas.openxmlformats.org/officeDocument/2006/relationships/image" Target="../media/image125.png"/></Relationships>
</file>

<file path=ppt/slides/_rels/slide69.xml.rels><?xml version="1.0" encoding="UTF-8" standalone="yes"?><Relationships xmlns="http://schemas.openxmlformats.org/package/2006/relationships"><Relationship Id="rId20" Type="http://schemas.openxmlformats.org/officeDocument/2006/relationships/image" Target="../media/image131.png"/><Relationship Id="rId21" Type="http://schemas.openxmlformats.org/officeDocument/2006/relationships/image" Target="../media/image128.png"/><Relationship Id="rId1" Type="http://schemas.openxmlformats.org/officeDocument/2006/relationships/slideLayout" Target="../slideLayouts/slideLayout17.xml"/><Relationship Id="rId2" Type="http://schemas.openxmlformats.org/officeDocument/2006/relationships/notesSlide" Target="../notesSlides/notesSlide69.xml"/><Relationship Id="rId3" Type="http://schemas.openxmlformats.org/officeDocument/2006/relationships/image" Target="../media/image126.png"/><Relationship Id="rId4" Type="http://schemas.openxmlformats.org/officeDocument/2006/relationships/image" Target="../media/image15.png"/><Relationship Id="rId9" Type="http://schemas.openxmlformats.org/officeDocument/2006/relationships/image" Target="../media/image114.png"/><Relationship Id="rId5" Type="http://schemas.openxmlformats.org/officeDocument/2006/relationships/image" Target="../media/image116.png"/><Relationship Id="rId6" Type="http://schemas.openxmlformats.org/officeDocument/2006/relationships/image" Target="../media/image25.png"/><Relationship Id="rId7" Type="http://schemas.openxmlformats.org/officeDocument/2006/relationships/image" Target="../media/image109.png"/><Relationship Id="rId8" Type="http://schemas.openxmlformats.org/officeDocument/2006/relationships/image" Target="../media/image93.png"/><Relationship Id="rId11" Type="http://schemas.openxmlformats.org/officeDocument/2006/relationships/image" Target="../media/image13.png"/><Relationship Id="rId10" Type="http://schemas.openxmlformats.org/officeDocument/2006/relationships/image" Target="../media/image132.png"/><Relationship Id="rId13" Type="http://schemas.openxmlformats.org/officeDocument/2006/relationships/image" Target="../media/image115.png"/><Relationship Id="rId12" Type="http://schemas.openxmlformats.org/officeDocument/2006/relationships/image" Target="../media/image118.png"/><Relationship Id="rId15" Type="http://schemas.openxmlformats.org/officeDocument/2006/relationships/image" Target="../media/image130.png"/><Relationship Id="rId14" Type="http://schemas.openxmlformats.org/officeDocument/2006/relationships/image" Target="../media/image122.png"/><Relationship Id="rId17" Type="http://schemas.openxmlformats.org/officeDocument/2006/relationships/image" Target="../media/image123.png"/><Relationship Id="rId16" Type="http://schemas.openxmlformats.org/officeDocument/2006/relationships/image" Target="../media/image124.png"/><Relationship Id="rId19" Type="http://schemas.openxmlformats.org/officeDocument/2006/relationships/image" Target="../media/image133.png"/><Relationship Id="rId18" Type="http://schemas.openxmlformats.org/officeDocument/2006/relationships/image" Target="../media/image125.png"/></Relationships>
</file>

<file path=ppt/slides/_rels/slide70.xml.rels><?xml version="1.0" encoding="UTF-8" standalone="yes"?><Relationships xmlns="http://schemas.openxmlformats.org/package/2006/relationships"><Relationship Id="rId20" Type="http://schemas.openxmlformats.org/officeDocument/2006/relationships/image" Target="../media/image131.png"/><Relationship Id="rId21" Type="http://schemas.openxmlformats.org/officeDocument/2006/relationships/image" Target="../media/image128.png"/><Relationship Id="rId1" Type="http://schemas.openxmlformats.org/officeDocument/2006/relationships/slideLayout" Target="../slideLayouts/slideLayout17.xml"/><Relationship Id="rId2" Type="http://schemas.openxmlformats.org/officeDocument/2006/relationships/notesSlide" Target="../notesSlides/notesSlide70.xml"/><Relationship Id="rId3" Type="http://schemas.openxmlformats.org/officeDocument/2006/relationships/image" Target="../media/image126.png"/><Relationship Id="rId4" Type="http://schemas.openxmlformats.org/officeDocument/2006/relationships/image" Target="../media/image15.png"/><Relationship Id="rId9" Type="http://schemas.openxmlformats.org/officeDocument/2006/relationships/image" Target="../media/image114.png"/><Relationship Id="rId5" Type="http://schemas.openxmlformats.org/officeDocument/2006/relationships/image" Target="../media/image116.png"/><Relationship Id="rId6" Type="http://schemas.openxmlformats.org/officeDocument/2006/relationships/image" Target="../media/image25.png"/><Relationship Id="rId7" Type="http://schemas.openxmlformats.org/officeDocument/2006/relationships/image" Target="../media/image109.png"/><Relationship Id="rId8" Type="http://schemas.openxmlformats.org/officeDocument/2006/relationships/image" Target="../media/image93.png"/><Relationship Id="rId11" Type="http://schemas.openxmlformats.org/officeDocument/2006/relationships/image" Target="../media/image13.png"/><Relationship Id="rId10" Type="http://schemas.openxmlformats.org/officeDocument/2006/relationships/image" Target="../media/image132.png"/><Relationship Id="rId13" Type="http://schemas.openxmlformats.org/officeDocument/2006/relationships/image" Target="../media/image115.png"/><Relationship Id="rId12" Type="http://schemas.openxmlformats.org/officeDocument/2006/relationships/image" Target="../media/image118.png"/><Relationship Id="rId15" Type="http://schemas.openxmlformats.org/officeDocument/2006/relationships/image" Target="../media/image130.png"/><Relationship Id="rId14" Type="http://schemas.openxmlformats.org/officeDocument/2006/relationships/image" Target="../media/image122.png"/><Relationship Id="rId17" Type="http://schemas.openxmlformats.org/officeDocument/2006/relationships/image" Target="../media/image123.png"/><Relationship Id="rId16" Type="http://schemas.openxmlformats.org/officeDocument/2006/relationships/image" Target="../media/image124.png"/><Relationship Id="rId19" Type="http://schemas.openxmlformats.org/officeDocument/2006/relationships/image" Target="../media/image133.png"/><Relationship Id="rId18" Type="http://schemas.openxmlformats.org/officeDocument/2006/relationships/image" Target="../media/image125.png"/></Relationships>
</file>

<file path=ppt/slides/_rels/slide71.xml.rels><?xml version="1.0" encoding="UTF-8" standalone="yes"?><Relationships xmlns="http://schemas.openxmlformats.org/package/2006/relationships"><Relationship Id="rId20" Type="http://schemas.openxmlformats.org/officeDocument/2006/relationships/image" Target="../media/image133.png"/><Relationship Id="rId22" Type="http://schemas.openxmlformats.org/officeDocument/2006/relationships/image" Target="../media/image128.png"/><Relationship Id="rId21" Type="http://schemas.openxmlformats.org/officeDocument/2006/relationships/image" Target="../media/image131.png"/><Relationship Id="rId1" Type="http://schemas.openxmlformats.org/officeDocument/2006/relationships/slideLayout" Target="../slideLayouts/slideLayout17.xml"/><Relationship Id="rId2" Type="http://schemas.openxmlformats.org/officeDocument/2006/relationships/notesSlide" Target="../notesSlides/notesSlide71.xml"/><Relationship Id="rId3" Type="http://schemas.openxmlformats.org/officeDocument/2006/relationships/image" Target="../media/image126.png"/><Relationship Id="rId4" Type="http://schemas.openxmlformats.org/officeDocument/2006/relationships/image" Target="../media/image117.png"/><Relationship Id="rId9" Type="http://schemas.openxmlformats.org/officeDocument/2006/relationships/image" Target="../media/image114.png"/><Relationship Id="rId5" Type="http://schemas.openxmlformats.org/officeDocument/2006/relationships/image" Target="../media/image15.png"/><Relationship Id="rId6" Type="http://schemas.openxmlformats.org/officeDocument/2006/relationships/image" Target="../media/image116.png"/><Relationship Id="rId7" Type="http://schemas.openxmlformats.org/officeDocument/2006/relationships/image" Target="../media/image109.png"/><Relationship Id="rId8" Type="http://schemas.openxmlformats.org/officeDocument/2006/relationships/image" Target="../media/image93.png"/><Relationship Id="rId11" Type="http://schemas.openxmlformats.org/officeDocument/2006/relationships/image" Target="../media/image132.png"/><Relationship Id="rId10" Type="http://schemas.openxmlformats.org/officeDocument/2006/relationships/image" Target="../media/image25.png"/><Relationship Id="rId13" Type="http://schemas.openxmlformats.org/officeDocument/2006/relationships/image" Target="../media/image118.png"/><Relationship Id="rId12" Type="http://schemas.openxmlformats.org/officeDocument/2006/relationships/image" Target="../media/image13.png"/><Relationship Id="rId15" Type="http://schemas.openxmlformats.org/officeDocument/2006/relationships/image" Target="../media/image122.png"/><Relationship Id="rId14" Type="http://schemas.openxmlformats.org/officeDocument/2006/relationships/image" Target="../media/image115.png"/><Relationship Id="rId17" Type="http://schemas.openxmlformats.org/officeDocument/2006/relationships/image" Target="../media/image124.png"/><Relationship Id="rId16" Type="http://schemas.openxmlformats.org/officeDocument/2006/relationships/image" Target="../media/image130.png"/><Relationship Id="rId19" Type="http://schemas.openxmlformats.org/officeDocument/2006/relationships/image" Target="../media/image125.png"/><Relationship Id="rId18" Type="http://schemas.openxmlformats.org/officeDocument/2006/relationships/image" Target="../media/image123.png"/></Relationships>
</file>

<file path=ppt/slides/_rels/slide72.xml.rels><?xml version="1.0" encoding="UTF-8" standalone="yes"?><Relationships xmlns="http://schemas.openxmlformats.org/package/2006/relationships"><Relationship Id="rId20" Type="http://schemas.openxmlformats.org/officeDocument/2006/relationships/image" Target="../media/image131.png"/><Relationship Id="rId21" Type="http://schemas.openxmlformats.org/officeDocument/2006/relationships/image" Target="../media/image128.png"/><Relationship Id="rId1" Type="http://schemas.openxmlformats.org/officeDocument/2006/relationships/slideLayout" Target="../slideLayouts/slideLayout17.xml"/><Relationship Id="rId2" Type="http://schemas.openxmlformats.org/officeDocument/2006/relationships/notesSlide" Target="../notesSlides/notesSlide72.xml"/><Relationship Id="rId3" Type="http://schemas.openxmlformats.org/officeDocument/2006/relationships/image" Target="../media/image126.png"/><Relationship Id="rId4" Type="http://schemas.openxmlformats.org/officeDocument/2006/relationships/image" Target="../media/image15.png"/><Relationship Id="rId9" Type="http://schemas.openxmlformats.org/officeDocument/2006/relationships/image" Target="../media/image25.png"/><Relationship Id="rId5" Type="http://schemas.openxmlformats.org/officeDocument/2006/relationships/image" Target="../media/image116.png"/><Relationship Id="rId6" Type="http://schemas.openxmlformats.org/officeDocument/2006/relationships/image" Target="../media/image109.png"/><Relationship Id="rId7" Type="http://schemas.openxmlformats.org/officeDocument/2006/relationships/image" Target="../media/image93.png"/><Relationship Id="rId8" Type="http://schemas.openxmlformats.org/officeDocument/2006/relationships/image" Target="../media/image114.png"/><Relationship Id="rId11" Type="http://schemas.openxmlformats.org/officeDocument/2006/relationships/image" Target="../media/image13.png"/><Relationship Id="rId10" Type="http://schemas.openxmlformats.org/officeDocument/2006/relationships/image" Target="../media/image132.png"/><Relationship Id="rId13" Type="http://schemas.openxmlformats.org/officeDocument/2006/relationships/image" Target="../media/image115.png"/><Relationship Id="rId12" Type="http://schemas.openxmlformats.org/officeDocument/2006/relationships/image" Target="../media/image118.png"/><Relationship Id="rId15" Type="http://schemas.openxmlformats.org/officeDocument/2006/relationships/image" Target="../media/image130.png"/><Relationship Id="rId14" Type="http://schemas.openxmlformats.org/officeDocument/2006/relationships/image" Target="../media/image122.png"/><Relationship Id="rId17" Type="http://schemas.openxmlformats.org/officeDocument/2006/relationships/image" Target="../media/image123.png"/><Relationship Id="rId16" Type="http://schemas.openxmlformats.org/officeDocument/2006/relationships/image" Target="../media/image124.png"/><Relationship Id="rId19" Type="http://schemas.openxmlformats.org/officeDocument/2006/relationships/image" Target="../media/image133.png"/><Relationship Id="rId18" Type="http://schemas.openxmlformats.org/officeDocument/2006/relationships/image" Target="../media/image12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 Id="rId3" Type="http://schemas.openxmlformats.org/officeDocument/2006/relationships/image" Target="../media/image116.png"/><Relationship Id="rId4" Type="http://schemas.openxmlformats.org/officeDocument/2006/relationships/image" Target="../media/image109.png"/><Relationship Id="rId9" Type="http://schemas.openxmlformats.org/officeDocument/2006/relationships/image" Target="../media/image13.png"/><Relationship Id="rId5" Type="http://schemas.openxmlformats.org/officeDocument/2006/relationships/image" Target="../media/image114.png"/><Relationship Id="rId6" Type="http://schemas.openxmlformats.org/officeDocument/2006/relationships/image" Target="../media/image93.png"/><Relationship Id="rId7" Type="http://schemas.openxmlformats.org/officeDocument/2006/relationships/image" Target="../media/image25.png"/><Relationship Id="rId8" Type="http://schemas.openxmlformats.org/officeDocument/2006/relationships/image" Target="../media/image132.png"/><Relationship Id="rId11" Type="http://schemas.openxmlformats.org/officeDocument/2006/relationships/image" Target="../media/image115.png"/><Relationship Id="rId10" Type="http://schemas.openxmlformats.org/officeDocument/2006/relationships/image" Target="../media/image118.png"/><Relationship Id="rId13" Type="http://schemas.openxmlformats.org/officeDocument/2006/relationships/image" Target="../media/image133.png"/><Relationship Id="rId12" Type="http://schemas.openxmlformats.org/officeDocument/2006/relationships/image" Target="../media/image122.png"/><Relationship Id="rId15" Type="http://schemas.openxmlformats.org/officeDocument/2006/relationships/image" Target="../media/image124.png"/><Relationship Id="rId14" Type="http://schemas.openxmlformats.org/officeDocument/2006/relationships/image" Target="../media/image131.png"/><Relationship Id="rId17" Type="http://schemas.openxmlformats.org/officeDocument/2006/relationships/image" Target="../media/image128.png"/><Relationship Id="rId16" Type="http://schemas.openxmlformats.org/officeDocument/2006/relationships/image" Target="../media/image1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 Id="rId3" Type="http://schemas.openxmlformats.org/officeDocument/2006/relationships/image" Target="../media/image126.png"/><Relationship Id="rId4" Type="http://schemas.openxmlformats.org/officeDocument/2006/relationships/image" Target="../media/image116.png"/><Relationship Id="rId9" Type="http://schemas.openxmlformats.org/officeDocument/2006/relationships/image" Target="../media/image132.png"/><Relationship Id="rId5" Type="http://schemas.openxmlformats.org/officeDocument/2006/relationships/image" Target="../media/image109.png"/><Relationship Id="rId6" Type="http://schemas.openxmlformats.org/officeDocument/2006/relationships/image" Target="../media/image114.png"/><Relationship Id="rId7" Type="http://schemas.openxmlformats.org/officeDocument/2006/relationships/image" Target="../media/image93.png"/><Relationship Id="rId8" Type="http://schemas.openxmlformats.org/officeDocument/2006/relationships/image" Target="../media/image25.png"/><Relationship Id="rId11" Type="http://schemas.openxmlformats.org/officeDocument/2006/relationships/image" Target="../media/image118.png"/><Relationship Id="rId10" Type="http://schemas.openxmlformats.org/officeDocument/2006/relationships/image" Target="../media/image13.png"/><Relationship Id="rId13" Type="http://schemas.openxmlformats.org/officeDocument/2006/relationships/image" Target="../media/image122.png"/><Relationship Id="rId12" Type="http://schemas.openxmlformats.org/officeDocument/2006/relationships/image" Target="../media/image115.png"/><Relationship Id="rId15" Type="http://schemas.openxmlformats.org/officeDocument/2006/relationships/image" Target="../media/image133.png"/><Relationship Id="rId14" Type="http://schemas.openxmlformats.org/officeDocument/2006/relationships/image" Target="../media/image123.png"/><Relationship Id="rId17" Type="http://schemas.openxmlformats.org/officeDocument/2006/relationships/image" Target="../media/image128.png"/><Relationship Id="rId16" Type="http://schemas.openxmlformats.org/officeDocument/2006/relationships/image" Target="../media/image131.png"/></Relationships>
</file>

<file path=ppt/slides/_rels/slide75.xml.rels><?xml version="1.0" encoding="UTF-8" standalone="yes"?><Relationships xmlns="http://schemas.openxmlformats.org/package/2006/relationships"><Relationship Id="rId20" Type="http://schemas.openxmlformats.org/officeDocument/2006/relationships/image" Target="../media/image133.png"/><Relationship Id="rId22" Type="http://schemas.openxmlformats.org/officeDocument/2006/relationships/image" Target="../media/image128.png"/><Relationship Id="rId21" Type="http://schemas.openxmlformats.org/officeDocument/2006/relationships/image" Target="../media/image131.png"/><Relationship Id="rId1" Type="http://schemas.openxmlformats.org/officeDocument/2006/relationships/slideLayout" Target="../slideLayouts/slideLayout17.xml"/><Relationship Id="rId2" Type="http://schemas.openxmlformats.org/officeDocument/2006/relationships/notesSlide" Target="../notesSlides/notesSlide75.xml"/><Relationship Id="rId3" Type="http://schemas.openxmlformats.org/officeDocument/2006/relationships/image" Target="../media/image25.png"/><Relationship Id="rId4" Type="http://schemas.openxmlformats.org/officeDocument/2006/relationships/image" Target="../media/image126.png"/><Relationship Id="rId9" Type="http://schemas.openxmlformats.org/officeDocument/2006/relationships/image" Target="../media/image93.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16.png"/><Relationship Id="rId8" Type="http://schemas.openxmlformats.org/officeDocument/2006/relationships/image" Target="../media/image109.png"/><Relationship Id="rId11" Type="http://schemas.openxmlformats.org/officeDocument/2006/relationships/image" Target="../media/image132.png"/><Relationship Id="rId10" Type="http://schemas.openxmlformats.org/officeDocument/2006/relationships/image" Target="../media/image114.png"/><Relationship Id="rId13" Type="http://schemas.openxmlformats.org/officeDocument/2006/relationships/image" Target="../media/image118.png"/><Relationship Id="rId12" Type="http://schemas.openxmlformats.org/officeDocument/2006/relationships/image" Target="../media/image13.png"/><Relationship Id="rId15" Type="http://schemas.openxmlformats.org/officeDocument/2006/relationships/image" Target="../media/image122.png"/><Relationship Id="rId14" Type="http://schemas.openxmlformats.org/officeDocument/2006/relationships/image" Target="../media/image115.png"/><Relationship Id="rId17" Type="http://schemas.openxmlformats.org/officeDocument/2006/relationships/image" Target="../media/image124.png"/><Relationship Id="rId16" Type="http://schemas.openxmlformats.org/officeDocument/2006/relationships/image" Target="../media/image130.png"/><Relationship Id="rId19" Type="http://schemas.openxmlformats.org/officeDocument/2006/relationships/image" Target="../media/image125.png"/><Relationship Id="rId18" Type="http://schemas.openxmlformats.org/officeDocument/2006/relationships/image" Target="../media/image1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 Id="rId3" Type="http://schemas.openxmlformats.org/officeDocument/2006/relationships/image" Target="../media/image13.png"/><Relationship Id="rId4" Type="http://schemas.openxmlformats.org/officeDocument/2006/relationships/image" Target="../media/image118.png"/><Relationship Id="rId9"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22.png"/><Relationship Id="rId7" Type="http://schemas.openxmlformats.org/officeDocument/2006/relationships/image" Target="../media/image116.png"/><Relationship Id="rId8" Type="http://schemas.openxmlformats.org/officeDocument/2006/relationships/image" Target="../media/image109.png"/><Relationship Id="rId11" Type="http://schemas.openxmlformats.org/officeDocument/2006/relationships/image" Target="../media/image25.png"/><Relationship Id="rId10" Type="http://schemas.openxmlformats.org/officeDocument/2006/relationships/image" Target="../media/image93.png"/><Relationship Id="rId13" Type="http://schemas.openxmlformats.org/officeDocument/2006/relationships/image" Target="../media/image12.png"/><Relationship Id="rId12" Type="http://schemas.openxmlformats.org/officeDocument/2006/relationships/image" Target="../media/image132.png"/><Relationship Id="rId15" Type="http://schemas.openxmlformats.org/officeDocument/2006/relationships/image" Target="../media/image124.png"/><Relationship Id="rId14" Type="http://schemas.openxmlformats.org/officeDocument/2006/relationships/image" Target="../media/image140.png"/><Relationship Id="rId17" Type="http://schemas.openxmlformats.org/officeDocument/2006/relationships/image" Target="../media/image125.png"/><Relationship Id="rId16" Type="http://schemas.openxmlformats.org/officeDocument/2006/relationships/image" Target="../media/image123.png"/><Relationship Id="rId18" Type="http://schemas.openxmlformats.org/officeDocument/2006/relationships/image" Target="../media/image1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5"/>
          <p:cNvSpPr txBox="1"/>
          <p:nvPr>
            <p:ph type="title"/>
          </p:nvPr>
        </p:nvSpPr>
        <p:spPr>
          <a:xfrm>
            <a:off x="1675975" y="535625"/>
            <a:ext cx="8837100" cy="5712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3600"/>
              <a:t>This is a customer facing deck.</a:t>
            </a:r>
            <a:endParaRPr sz="3600"/>
          </a:p>
          <a:p>
            <a:pPr indent="0" lvl="0" marL="0" rtl="0" algn="ctr">
              <a:spcBef>
                <a:spcPts val="0"/>
              </a:spcBef>
              <a:spcAft>
                <a:spcPts val="0"/>
              </a:spcAft>
              <a:buNone/>
            </a:pPr>
            <a:r>
              <a:t/>
            </a:r>
            <a:endParaRPr sz="3600"/>
          </a:p>
          <a:p>
            <a:pPr indent="0" lvl="0" marL="0" rtl="0" algn="ctr">
              <a:spcBef>
                <a:spcPts val="0"/>
              </a:spcBef>
              <a:spcAft>
                <a:spcPts val="0"/>
              </a:spcAft>
              <a:buNone/>
            </a:pPr>
            <a:r>
              <a:rPr lang="en" sz="3600"/>
              <a:t>However, it contains a lot of details that might make the Databricks platform look more complicated than necessary.</a:t>
            </a:r>
            <a:br>
              <a:rPr lang="en" sz="3600"/>
            </a:br>
            <a:r>
              <a:rPr lang="en" sz="3600"/>
              <a:t> </a:t>
            </a:r>
            <a:br>
              <a:rPr lang="en" sz="3600"/>
            </a:br>
            <a:r>
              <a:rPr lang="en" sz="3600"/>
              <a:t>Please consider to only share the slides with customers necessary for the purpose of your session.</a:t>
            </a:r>
            <a:endParaRPr sz="3600"/>
          </a:p>
        </p:txBody>
      </p:sp>
      <p:sp>
        <p:nvSpPr>
          <p:cNvPr id="336" name="Google Shape;336;p4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37" name="Google Shape;337;p45"/>
          <p:cNvSpPr/>
          <p:nvPr/>
        </p:nvSpPr>
        <p:spPr>
          <a:xfrm rot="-1799885">
            <a:off x="-64972" y="756954"/>
            <a:ext cx="3342794" cy="734542"/>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chemeClr val="dk2"/>
                </a:solidFill>
                <a:latin typeface="DM Sans"/>
                <a:ea typeface="DM Sans"/>
                <a:cs typeface="DM Sans"/>
                <a:sym typeface="DM Sans"/>
              </a:rPr>
              <a:t>Delete before sharing </a:t>
            </a:r>
            <a:endParaRPr b="1" sz="2300">
              <a:solidFill>
                <a:schemeClr val="dk2"/>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1" name="Shape 341"/>
        <p:cNvGrpSpPr/>
        <p:nvPr/>
      </p:nvGrpSpPr>
      <p:grpSpPr>
        <a:xfrm>
          <a:off x="0" y="0"/>
          <a:ext cx="0" cy="0"/>
          <a:chOff x="0" y="0"/>
          <a:chExt cx="0" cy="0"/>
        </a:xfrm>
      </p:grpSpPr>
      <p:sp>
        <p:nvSpPr>
          <p:cNvPr id="342" name="Google Shape;342;p46"/>
          <p:cNvSpPr txBox="1"/>
          <p:nvPr>
            <p:ph idx="2" type="body"/>
          </p:nvPr>
        </p:nvSpPr>
        <p:spPr>
          <a:xfrm>
            <a:off x="761800" y="1184623"/>
            <a:ext cx="10659300" cy="495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1100">
                <a:latin typeface="DM Sans Medium"/>
                <a:ea typeface="DM Sans Medium"/>
                <a:cs typeface="DM Sans Medium"/>
                <a:sym typeface="DM Sans Medium"/>
              </a:rPr>
              <a:t>2024-07-29</a:t>
            </a:r>
            <a:endParaRPr sz="900">
              <a:latin typeface="DM Sans SemiBold"/>
              <a:ea typeface="DM Sans SemiBold"/>
              <a:cs typeface="DM Sans SemiBold"/>
              <a:sym typeface="DM Sans SemiBold"/>
            </a:endParaRPr>
          </a:p>
          <a:p>
            <a:pPr indent="-285750" lvl="0" marL="457200" rtl="0" algn="l">
              <a:lnSpc>
                <a:spcPct val="100000"/>
              </a:lnSpc>
              <a:spcBef>
                <a:spcPts val="0"/>
              </a:spcBef>
              <a:spcAft>
                <a:spcPts val="0"/>
              </a:spcAft>
              <a:buSzPts val="900"/>
              <a:buChar char="•"/>
            </a:pPr>
            <a:r>
              <a:rPr lang="en" sz="900"/>
              <a:t>Added generic serverless compute architecture</a:t>
            </a:r>
            <a:endParaRPr sz="900"/>
          </a:p>
          <a:p>
            <a:pPr indent="-285750" lvl="0" marL="457200" rtl="0" algn="l">
              <a:lnSpc>
                <a:spcPct val="100000"/>
              </a:lnSpc>
              <a:spcBef>
                <a:spcPts val="0"/>
              </a:spcBef>
              <a:spcAft>
                <a:spcPts val="0"/>
              </a:spcAft>
              <a:buSzPts val="900"/>
              <a:buChar char="•"/>
            </a:pPr>
            <a:r>
              <a:rPr lang="en" sz="900"/>
              <a:t>Added architecture overview for model serving, online tables and vector search</a:t>
            </a:r>
            <a:endParaRPr sz="900"/>
          </a:p>
          <a:p>
            <a:pPr indent="-285750" lvl="0" marL="457200" rtl="0" algn="l">
              <a:lnSpc>
                <a:spcPct val="100000"/>
              </a:lnSpc>
              <a:spcBef>
                <a:spcPts val="0"/>
              </a:spcBef>
              <a:spcAft>
                <a:spcPts val="0"/>
              </a:spcAft>
              <a:buSzPts val="900"/>
              <a:buChar char="•"/>
            </a:pPr>
            <a:r>
              <a:rPr lang="en" sz="900"/>
              <a:t>Enhanced Dashboards to AI/BI in the reference architecture, including Dashboards and Genie</a:t>
            </a:r>
            <a:endParaRPr sz="900"/>
          </a:p>
          <a:p>
            <a:pPr indent="-285750" lvl="0" marL="457200" rtl="0" algn="l">
              <a:lnSpc>
                <a:spcPct val="100000"/>
              </a:lnSpc>
              <a:spcBef>
                <a:spcPts val="0"/>
              </a:spcBef>
              <a:spcAft>
                <a:spcPts val="0"/>
              </a:spcAft>
              <a:buSzPts val="900"/>
              <a:buChar char="•"/>
            </a:pPr>
            <a:r>
              <a:rPr lang="en" sz="900"/>
              <a:t>Aligned Mosaic overview with the 6 Mosaic AI architecture deck</a:t>
            </a:r>
            <a:endParaRPr sz="900"/>
          </a:p>
          <a:p>
            <a:pPr indent="-285750" lvl="0" marL="457200" rtl="0" algn="l">
              <a:lnSpc>
                <a:spcPct val="100000"/>
              </a:lnSpc>
              <a:spcBef>
                <a:spcPts val="0"/>
              </a:spcBef>
              <a:spcAft>
                <a:spcPts val="0"/>
              </a:spcAft>
              <a:buSzPts val="900"/>
              <a:buChar char="•"/>
            </a:pPr>
            <a:r>
              <a:rPr lang="en" sz="900"/>
              <a:t>Added data access patterns from Unity Catalog deck</a:t>
            </a:r>
            <a:endParaRPr sz="900"/>
          </a:p>
          <a:p>
            <a:pPr indent="0" lvl="0" marL="0" rtl="0" algn="l">
              <a:lnSpc>
                <a:spcPct val="100000"/>
              </a:lnSpc>
              <a:spcBef>
                <a:spcPts val="0"/>
              </a:spcBef>
              <a:spcAft>
                <a:spcPts val="0"/>
              </a:spcAft>
              <a:buNone/>
            </a:pPr>
            <a:r>
              <a:rPr lang="en" sz="1100">
                <a:latin typeface="DM Sans Medium"/>
                <a:ea typeface="DM Sans Medium"/>
                <a:cs typeface="DM Sans Medium"/>
                <a:sym typeface="DM Sans Medium"/>
              </a:rPr>
              <a:t>2024-10-30</a:t>
            </a:r>
            <a:endParaRPr sz="900">
              <a:latin typeface="DM Sans SemiBold"/>
              <a:ea typeface="DM Sans SemiBold"/>
              <a:cs typeface="DM Sans SemiBold"/>
              <a:sym typeface="DM Sans SemiBold"/>
            </a:endParaRPr>
          </a:p>
          <a:p>
            <a:pPr indent="-285750" lvl="0" marL="457200" rtl="0" algn="l">
              <a:lnSpc>
                <a:spcPct val="100000"/>
              </a:lnSpc>
              <a:spcBef>
                <a:spcPts val="0"/>
              </a:spcBef>
              <a:spcAft>
                <a:spcPts val="0"/>
              </a:spcAft>
              <a:buSzPts val="900"/>
              <a:buChar char="•"/>
            </a:pPr>
            <a:r>
              <a:rPr lang="en" sz="900"/>
              <a:t>Modern Platform framework</a:t>
            </a:r>
            <a:endParaRPr sz="900"/>
          </a:p>
          <a:p>
            <a:pPr indent="-285750" lvl="1" marL="914400" rtl="0" algn="l">
              <a:lnSpc>
                <a:spcPct val="100000"/>
              </a:lnSpc>
              <a:spcBef>
                <a:spcPts val="0"/>
              </a:spcBef>
              <a:spcAft>
                <a:spcPts val="0"/>
              </a:spcAft>
              <a:buClr>
                <a:schemeClr val="accent4"/>
              </a:buClr>
              <a:buSzPts val="900"/>
              <a:buChar char="•"/>
            </a:pPr>
            <a:r>
              <a:rPr lang="en" sz="900"/>
              <a:t>Added “Databricks Apps” and “Lakeflow Connect”, “MLOps” to Automation, “Iceberg” to cloud storage</a:t>
            </a:r>
            <a:endParaRPr sz="900"/>
          </a:p>
          <a:p>
            <a:pPr indent="-285750" lvl="1" marL="914400" rtl="0" algn="l">
              <a:lnSpc>
                <a:spcPct val="100000"/>
              </a:lnSpc>
              <a:spcBef>
                <a:spcPts val="0"/>
              </a:spcBef>
              <a:spcAft>
                <a:spcPts val="0"/>
              </a:spcAft>
              <a:buClr>
                <a:schemeClr val="accent4"/>
              </a:buClr>
              <a:buSzPts val="900"/>
              <a:buChar char="•"/>
            </a:pPr>
            <a:r>
              <a:rPr lang="en" sz="900"/>
              <a:t>Replaced “SQL Connectors” with “AI functions”</a:t>
            </a:r>
            <a:endParaRPr sz="900"/>
          </a:p>
          <a:p>
            <a:pPr indent="-285750" lvl="0" marL="457200" rtl="0" algn="l">
              <a:lnSpc>
                <a:spcPct val="100000"/>
              </a:lnSpc>
              <a:spcBef>
                <a:spcPts val="0"/>
              </a:spcBef>
              <a:spcAft>
                <a:spcPts val="0"/>
              </a:spcAft>
              <a:buSzPts val="900"/>
              <a:buChar char="•"/>
            </a:pPr>
            <a:r>
              <a:rPr lang="en" sz="900"/>
              <a:t>Reference architectures</a:t>
            </a:r>
            <a:endParaRPr sz="900"/>
          </a:p>
          <a:p>
            <a:pPr indent="-285750" lvl="1" marL="914400" rtl="0" algn="l">
              <a:lnSpc>
                <a:spcPct val="100000"/>
              </a:lnSpc>
              <a:spcBef>
                <a:spcPts val="0"/>
              </a:spcBef>
              <a:spcAft>
                <a:spcPts val="0"/>
              </a:spcAft>
              <a:buClr>
                <a:schemeClr val="accent4"/>
              </a:buClr>
              <a:buSzPts val="900"/>
              <a:buChar char="•"/>
            </a:pPr>
            <a:r>
              <a:rPr lang="en" sz="900"/>
              <a:t>Removed Private Preview from Lakeflow Connect</a:t>
            </a:r>
            <a:endParaRPr sz="900"/>
          </a:p>
          <a:p>
            <a:pPr indent="-285750" lvl="1" marL="914400" rtl="0" algn="l">
              <a:lnSpc>
                <a:spcPct val="100000"/>
              </a:lnSpc>
              <a:spcBef>
                <a:spcPts val="0"/>
              </a:spcBef>
              <a:spcAft>
                <a:spcPts val="0"/>
              </a:spcAft>
              <a:buClr>
                <a:schemeClr val="accent4"/>
              </a:buClr>
              <a:buSzPts val="900"/>
              <a:buChar char="•"/>
            </a:pPr>
            <a:r>
              <a:rPr lang="en" sz="900"/>
              <a:t>Added “Databricks Apps”</a:t>
            </a:r>
            <a:endParaRPr sz="900"/>
          </a:p>
          <a:p>
            <a:pPr indent="-285750" lvl="1" marL="914400" rtl="0" algn="l">
              <a:lnSpc>
                <a:spcPct val="100000"/>
              </a:lnSpc>
              <a:spcBef>
                <a:spcPts val="0"/>
              </a:spcBef>
              <a:spcAft>
                <a:spcPts val="0"/>
              </a:spcAft>
              <a:buClr>
                <a:schemeClr val="accent4"/>
              </a:buClr>
              <a:buSzPts val="900"/>
              <a:buChar char="•"/>
            </a:pPr>
            <a:r>
              <a:rPr lang="en" sz="900"/>
              <a:t>Renamed “Orchestration” to “Automation &amp; Orchestration” and added details</a:t>
            </a:r>
            <a:endParaRPr sz="900"/>
          </a:p>
          <a:p>
            <a:pPr indent="-285750" lvl="1" marL="914400" rtl="0" algn="l">
              <a:lnSpc>
                <a:spcPct val="100000"/>
              </a:lnSpc>
              <a:spcBef>
                <a:spcPts val="0"/>
              </a:spcBef>
              <a:spcAft>
                <a:spcPts val="0"/>
              </a:spcAft>
              <a:buClr>
                <a:schemeClr val="accent4"/>
              </a:buClr>
              <a:buSzPts val="900"/>
              <a:buChar char="•"/>
            </a:pPr>
            <a:r>
              <a:rPr lang="en" sz="900"/>
              <a:t>Added “Feature Engineering” to “Data Science &amp; Machine Learning”</a:t>
            </a:r>
            <a:endParaRPr sz="900"/>
          </a:p>
          <a:p>
            <a:pPr indent="-285750" lvl="1" marL="914400" rtl="0" algn="l">
              <a:lnSpc>
                <a:spcPct val="100000"/>
              </a:lnSpc>
              <a:spcBef>
                <a:spcPts val="0"/>
              </a:spcBef>
              <a:spcAft>
                <a:spcPts val="0"/>
              </a:spcAft>
              <a:buClr>
                <a:schemeClr val="accent4"/>
              </a:buClr>
              <a:buSzPts val="900"/>
              <a:buChar char="•"/>
            </a:pPr>
            <a:r>
              <a:rPr lang="en" sz="900"/>
              <a:t>Added a new high level workflow “Ingestion”</a:t>
            </a:r>
            <a:endParaRPr sz="900"/>
          </a:p>
          <a:p>
            <a:pPr indent="0" lvl="0" marL="0" rtl="0" algn="l">
              <a:lnSpc>
                <a:spcPct val="100000"/>
              </a:lnSpc>
              <a:spcBef>
                <a:spcPts val="0"/>
              </a:spcBef>
              <a:spcAft>
                <a:spcPts val="0"/>
              </a:spcAft>
              <a:buNone/>
            </a:pPr>
            <a:r>
              <a:rPr lang="en" sz="1100">
                <a:latin typeface="DM Sans Medium"/>
                <a:ea typeface="DM Sans Medium"/>
                <a:cs typeface="DM Sans Medium"/>
                <a:sym typeface="DM Sans Medium"/>
              </a:rPr>
              <a:t>2025-03-19</a:t>
            </a:r>
            <a:endParaRPr sz="900">
              <a:latin typeface="DM Sans SemiBold"/>
              <a:ea typeface="DM Sans SemiBold"/>
              <a:cs typeface="DM Sans SemiBold"/>
              <a:sym typeface="DM Sans SemiBold"/>
            </a:endParaRPr>
          </a:p>
          <a:p>
            <a:pPr indent="-285750" lvl="1" marL="457200" rtl="0" algn="l">
              <a:lnSpc>
                <a:spcPct val="100000"/>
              </a:lnSpc>
              <a:spcBef>
                <a:spcPts val="0"/>
              </a:spcBef>
              <a:spcAft>
                <a:spcPts val="0"/>
              </a:spcAft>
              <a:buClr>
                <a:schemeClr val="accent1"/>
              </a:buClr>
              <a:buSzPts val="900"/>
              <a:buChar char="•"/>
            </a:pPr>
            <a:r>
              <a:rPr lang="en" sz="900"/>
              <a:t>Replaced UniForm with Iceberg</a:t>
            </a:r>
            <a:endParaRPr sz="900"/>
          </a:p>
          <a:p>
            <a:pPr indent="-285750" lvl="1" marL="457200" rtl="0" algn="l">
              <a:lnSpc>
                <a:spcPct val="100000"/>
              </a:lnSpc>
              <a:spcBef>
                <a:spcPts val="0"/>
              </a:spcBef>
              <a:spcAft>
                <a:spcPts val="0"/>
              </a:spcAft>
              <a:buClr>
                <a:schemeClr val="accent1"/>
              </a:buClr>
              <a:buSzPts val="900"/>
              <a:buChar char="•"/>
            </a:pPr>
            <a:r>
              <a:rPr lang="en" sz="900"/>
              <a:t>Added Interoperability view for external apps with Delta and Iceberg</a:t>
            </a:r>
            <a:endParaRPr sz="900"/>
          </a:p>
          <a:p>
            <a:pPr indent="-285750" lvl="1" marL="457200" rtl="0" algn="l">
              <a:lnSpc>
                <a:spcPct val="100000"/>
              </a:lnSpc>
              <a:spcBef>
                <a:spcPts val="0"/>
              </a:spcBef>
              <a:spcAft>
                <a:spcPts val="0"/>
              </a:spcAft>
              <a:buClr>
                <a:schemeClr val="accent1"/>
              </a:buClr>
              <a:buSzPts val="900"/>
              <a:buChar char="•"/>
            </a:pPr>
            <a:r>
              <a:rPr lang="en" sz="900"/>
              <a:t>Reference Architectures</a:t>
            </a:r>
            <a:endParaRPr sz="900"/>
          </a:p>
          <a:p>
            <a:pPr indent="-285750" lvl="2" marL="914400" rtl="0" algn="l">
              <a:lnSpc>
                <a:spcPct val="100000"/>
              </a:lnSpc>
              <a:spcBef>
                <a:spcPts val="0"/>
              </a:spcBef>
              <a:spcAft>
                <a:spcPts val="0"/>
              </a:spcAft>
              <a:buSzPts val="900"/>
              <a:buChar char="•"/>
            </a:pPr>
            <a:r>
              <a:rPr lang="en" sz="900"/>
              <a:t>Added connectors and APIs capability to the Data Warehouse domain</a:t>
            </a:r>
            <a:endParaRPr sz="900"/>
          </a:p>
          <a:p>
            <a:pPr indent="-285750" lvl="2" marL="914400" rtl="0" algn="l">
              <a:lnSpc>
                <a:spcPct val="100000"/>
              </a:lnSpc>
              <a:spcBef>
                <a:spcPts val="0"/>
              </a:spcBef>
              <a:spcAft>
                <a:spcPts val="0"/>
              </a:spcAft>
              <a:buSzPts val="900"/>
              <a:buChar char="•"/>
            </a:pPr>
            <a:r>
              <a:rPr lang="en" sz="900"/>
              <a:t>Added use case for adding Catalog Federation</a:t>
            </a:r>
            <a:endParaRPr sz="900"/>
          </a:p>
          <a:p>
            <a:pPr indent="-285750" lvl="2" marL="914400" rtl="0" algn="l">
              <a:lnSpc>
                <a:spcPct val="100000"/>
              </a:lnSpc>
              <a:spcBef>
                <a:spcPts val="0"/>
              </a:spcBef>
              <a:spcAft>
                <a:spcPts val="0"/>
              </a:spcAft>
              <a:buSzPts val="900"/>
              <a:buChar char="•"/>
            </a:pPr>
            <a:r>
              <a:rPr lang="en" sz="900"/>
              <a:t>Added Clean Rooms</a:t>
            </a:r>
            <a:endParaRPr sz="900"/>
          </a:p>
          <a:p>
            <a:pPr indent="-285750" lvl="2" marL="914400" rtl="0" algn="l">
              <a:lnSpc>
                <a:spcPct val="100000"/>
              </a:lnSpc>
              <a:spcBef>
                <a:spcPts val="0"/>
              </a:spcBef>
              <a:spcAft>
                <a:spcPts val="0"/>
              </a:spcAft>
              <a:buSzPts val="900"/>
              <a:buChar char="•"/>
            </a:pPr>
            <a:r>
              <a:rPr lang="en" sz="900"/>
              <a:t>Added use case using data from Databricks Marketplace and Delta Sharing (D2D)</a:t>
            </a:r>
            <a:endParaRPr sz="900"/>
          </a:p>
          <a:p>
            <a:pPr indent="0" lvl="0" marL="0" rtl="0" algn="l">
              <a:lnSpc>
                <a:spcPct val="100000"/>
              </a:lnSpc>
              <a:spcBef>
                <a:spcPts val="0"/>
              </a:spcBef>
              <a:spcAft>
                <a:spcPts val="0"/>
              </a:spcAft>
              <a:buNone/>
            </a:pPr>
            <a:r>
              <a:rPr lang="en" sz="1100">
                <a:latin typeface="DM Sans Medium"/>
                <a:ea typeface="DM Sans Medium"/>
                <a:cs typeface="DM Sans Medium"/>
                <a:sym typeface="DM Sans Medium"/>
              </a:rPr>
              <a:t>2025-04-01</a:t>
            </a:r>
            <a:endParaRPr sz="1100">
              <a:latin typeface="DM Sans Medium"/>
              <a:ea typeface="DM Sans Medium"/>
              <a:cs typeface="DM Sans Medium"/>
              <a:sym typeface="DM Sans Medium"/>
            </a:endParaRPr>
          </a:p>
          <a:p>
            <a:pPr indent="-285750" lvl="0" marL="457200" rtl="0" algn="l">
              <a:lnSpc>
                <a:spcPct val="100000"/>
              </a:lnSpc>
              <a:spcBef>
                <a:spcPts val="0"/>
              </a:spcBef>
              <a:spcAft>
                <a:spcPts val="0"/>
              </a:spcAft>
              <a:buSzPts val="900"/>
              <a:buChar char="•"/>
            </a:pPr>
            <a:r>
              <a:rPr lang="en" sz="900"/>
              <a:t>Replaced “Delta Live Tables” with “DLT” (we don’t use the long form any more)</a:t>
            </a:r>
            <a:endParaRPr sz="900"/>
          </a:p>
          <a:p>
            <a:pPr indent="-285750" lvl="0" marL="457200" rtl="0" algn="l">
              <a:lnSpc>
                <a:spcPct val="100000"/>
              </a:lnSpc>
              <a:spcBef>
                <a:spcPts val="0"/>
              </a:spcBef>
              <a:spcAft>
                <a:spcPts val="0"/>
              </a:spcAft>
              <a:buSzPts val="900"/>
              <a:buChar char="•"/>
            </a:pPr>
            <a:r>
              <a:rPr lang="en" sz="900"/>
              <a:t>Removed DatabricksIQ</a:t>
            </a:r>
            <a:endParaRPr sz="900"/>
          </a:p>
          <a:p>
            <a:pPr indent="-285750" lvl="0" marL="457200" rtl="0" algn="l">
              <a:lnSpc>
                <a:spcPct val="100000"/>
              </a:lnSpc>
              <a:spcBef>
                <a:spcPts val="0"/>
              </a:spcBef>
              <a:spcAft>
                <a:spcPts val="0"/>
              </a:spcAft>
              <a:buSzPts val="900"/>
              <a:buChar char="•"/>
            </a:pPr>
            <a:r>
              <a:rPr lang="en" sz="900"/>
              <a:t>Added “App Developer” persona to the scope slides</a:t>
            </a:r>
            <a:endParaRPr sz="900"/>
          </a:p>
          <a:p>
            <a:pPr indent="0" lvl="0" marL="0" rtl="0" algn="l">
              <a:lnSpc>
                <a:spcPct val="100000"/>
              </a:lnSpc>
              <a:spcBef>
                <a:spcPts val="0"/>
              </a:spcBef>
              <a:spcAft>
                <a:spcPts val="0"/>
              </a:spcAft>
              <a:buNone/>
            </a:pPr>
            <a:r>
              <a:rPr lang="en" sz="1100">
                <a:latin typeface="DM Sans Medium"/>
                <a:ea typeface="DM Sans Medium"/>
                <a:cs typeface="DM Sans Medium"/>
                <a:sym typeface="DM Sans Medium"/>
              </a:rPr>
              <a:t>2025-07-10</a:t>
            </a:r>
            <a:endParaRPr sz="1100">
              <a:latin typeface="DM Sans Medium"/>
              <a:ea typeface="DM Sans Medium"/>
              <a:cs typeface="DM Sans Medium"/>
              <a:sym typeface="DM Sans Medium"/>
            </a:endParaRPr>
          </a:p>
          <a:p>
            <a:pPr indent="-285750" lvl="0" marL="457200" rtl="0" algn="l">
              <a:lnSpc>
                <a:spcPct val="100000"/>
              </a:lnSpc>
              <a:spcBef>
                <a:spcPts val="0"/>
              </a:spcBef>
              <a:spcAft>
                <a:spcPts val="0"/>
              </a:spcAft>
              <a:buSzPts val="900"/>
              <a:buChar char="•"/>
            </a:pPr>
            <a:r>
              <a:rPr lang="en" sz="900"/>
              <a:t>Replaced “DLT” with “Lakeflow Declarative Pipelines”</a:t>
            </a:r>
            <a:endParaRPr sz="900"/>
          </a:p>
          <a:p>
            <a:pPr indent="-285750" lvl="0" marL="457200" rtl="0" algn="l">
              <a:lnSpc>
                <a:spcPct val="100000"/>
              </a:lnSpc>
              <a:spcBef>
                <a:spcPts val="0"/>
              </a:spcBef>
              <a:spcAft>
                <a:spcPts val="0"/>
              </a:spcAft>
              <a:buSzPts val="900"/>
              <a:buChar char="•"/>
            </a:pPr>
            <a:r>
              <a:rPr lang="en" sz="900"/>
              <a:t>Replaced “Workflows” with “Lakeflow Jobs”</a:t>
            </a:r>
            <a:endParaRPr sz="900"/>
          </a:p>
          <a:p>
            <a:pPr indent="-285750" lvl="0" marL="457200" rtl="0" algn="l">
              <a:lnSpc>
                <a:spcPct val="100000"/>
              </a:lnSpc>
              <a:spcBef>
                <a:spcPts val="0"/>
              </a:spcBef>
              <a:spcAft>
                <a:spcPts val="0"/>
              </a:spcAft>
              <a:buSzPts val="900"/>
              <a:buChar char="•"/>
            </a:pPr>
            <a:r>
              <a:rPr lang="en" sz="900"/>
              <a:t>Added “Operational Database” domain with “Lakebase”</a:t>
            </a:r>
            <a:endParaRPr sz="900"/>
          </a:p>
          <a:p>
            <a:pPr indent="-285750" lvl="0" marL="457200" rtl="0" algn="l">
              <a:lnSpc>
                <a:spcPct val="100000"/>
              </a:lnSpc>
              <a:spcBef>
                <a:spcPts val="0"/>
              </a:spcBef>
              <a:spcAft>
                <a:spcPts val="0"/>
              </a:spcAft>
              <a:buSzPts val="900"/>
              <a:buChar char="•"/>
            </a:pPr>
            <a:r>
              <a:rPr lang="en" sz="900"/>
              <a:t>Reworked the High Level Architecture section to include Lakebase</a:t>
            </a:r>
            <a:endParaRPr sz="900"/>
          </a:p>
        </p:txBody>
      </p:sp>
      <p:sp>
        <p:nvSpPr>
          <p:cNvPr id="343" name="Google Shape;343;p4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Changes</a:t>
            </a:r>
            <a:endParaRPr/>
          </a:p>
        </p:txBody>
      </p:sp>
      <p:sp>
        <p:nvSpPr>
          <p:cNvPr id="344" name="Google Shape;344;p4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System Architecture</a:t>
            </a:r>
            <a:endParaRPr/>
          </a:p>
        </p:txBody>
      </p:sp>
      <p:sp>
        <p:nvSpPr>
          <p:cNvPr id="350" name="Google Shape;350;p47"/>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Cloud agnostic Overview</a:t>
            </a:r>
            <a:endParaRPr/>
          </a:p>
        </p:txBody>
      </p:sp>
      <p:sp>
        <p:nvSpPr>
          <p:cNvPr id="351" name="Google Shape;351;p4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47"/>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Bernhard Walter</a:t>
            </a:r>
            <a:br>
              <a:rPr lang="en"/>
            </a:br>
            <a:r>
              <a:rPr lang="en"/>
              <a:t>Last updated 2025-</a:t>
            </a:r>
            <a:r>
              <a:rPr lang="en"/>
              <a:t>04-02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8"/>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Positioning</a:t>
            </a:r>
            <a:endParaRPr/>
          </a:p>
        </p:txBody>
      </p:sp>
      <p:sp>
        <p:nvSpPr>
          <p:cNvPr id="358" name="Google Shape;358;p4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8"/>
          <p:cNvSpPr/>
          <p:nvPr/>
        </p:nvSpPr>
        <p:spPr>
          <a:xfrm>
            <a:off x="11427150" y="2391275"/>
            <a:ext cx="509100" cy="248700"/>
          </a:xfrm>
          <a:prstGeom prst="roundRect">
            <a:avLst>
              <a:gd fmla="val 16667" name="adj"/>
            </a:avLst>
          </a:prstGeom>
          <a:solidFill>
            <a:srgbClr val="FF3621"/>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49"/>
          <p:cNvSpPr txBox="1"/>
          <p:nvPr>
            <p:ph type="title"/>
          </p:nvPr>
        </p:nvSpPr>
        <p:spPr>
          <a:xfrm>
            <a:off x="749250" y="535625"/>
            <a:ext cx="9321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Intelligence Platform</a:t>
            </a:r>
            <a:endParaRPr/>
          </a:p>
        </p:txBody>
      </p:sp>
      <p:sp>
        <p:nvSpPr>
          <p:cNvPr id="365" name="Google Shape;365;p4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54750"/>
          </a:srgbClr>
        </a:solidFill>
      </p:bgPr>
    </p:bg>
    <p:spTree>
      <p:nvGrpSpPr>
        <p:cNvPr id="369" name="Shape 369"/>
        <p:cNvGrpSpPr/>
        <p:nvPr/>
      </p:nvGrpSpPr>
      <p:grpSpPr>
        <a:xfrm>
          <a:off x="0" y="0"/>
          <a:ext cx="0" cy="0"/>
          <a:chOff x="0" y="0"/>
          <a:chExt cx="0" cy="0"/>
        </a:xfrm>
      </p:grpSpPr>
      <p:sp>
        <p:nvSpPr>
          <p:cNvPr id="370" name="Google Shape;370;p50"/>
          <p:cNvSpPr txBox="1"/>
          <p:nvPr>
            <p:ph type="title"/>
          </p:nvPr>
        </p:nvSpPr>
        <p:spPr>
          <a:xfrm>
            <a:off x="749250" y="307000"/>
            <a:ext cx="112302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Modern Data Platform</a:t>
            </a:r>
            <a:r>
              <a:rPr lang="en" sz="3600"/>
              <a:t> - Framework</a:t>
            </a:r>
            <a:endParaRPr sz="3600"/>
          </a:p>
        </p:txBody>
      </p:sp>
      <p:sp>
        <p:nvSpPr>
          <p:cNvPr id="371" name="Google Shape;371;p50"/>
          <p:cNvSpPr txBox="1"/>
          <p:nvPr>
            <p:ph idx="12" type="sldNum"/>
          </p:nvPr>
        </p:nvSpPr>
        <p:spPr>
          <a:xfrm>
            <a:off x="11097669" y="6473300"/>
            <a:ext cx="324300" cy="1866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0"/>
          <p:cNvSpPr/>
          <p:nvPr/>
        </p:nvSpPr>
        <p:spPr>
          <a:xfrm>
            <a:off x="1092875" y="5471195"/>
            <a:ext cx="9973800" cy="911700"/>
          </a:xfrm>
          <a:prstGeom prst="roundRect">
            <a:avLst>
              <a:gd fmla="val 10399"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Cloud Storage</a:t>
            </a:r>
            <a:endParaRPr>
              <a:solidFill>
                <a:schemeClr val="accent1"/>
              </a:solidFill>
              <a:latin typeface="DM Sans Medium"/>
              <a:ea typeface="DM Sans Medium"/>
              <a:cs typeface="DM Sans Medium"/>
              <a:sym typeface="DM Sans Medium"/>
            </a:endParaRPr>
          </a:p>
        </p:txBody>
      </p:sp>
      <p:sp>
        <p:nvSpPr>
          <p:cNvPr id="373" name="Google Shape;373;p50"/>
          <p:cNvSpPr/>
          <p:nvPr/>
        </p:nvSpPr>
        <p:spPr>
          <a:xfrm>
            <a:off x="1092875" y="4866238"/>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 &amp; AI </a:t>
            </a:r>
            <a:r>
              <a:rPr lang="en">
                <a:solidFill>
                  <a:schemeClr val="accent1"/>
                </a:solidFill>
                <a:latin typeface="DM Sans Medium"/>
                <a:ea typeface="DM Sans Medium"/>
                <a:cs typeface="DM Sans Medium"/>
                <a:sym typeface="DM Sans Medium"/>
              </a:rPr>
              <a:t>Governance</a:t>
            </a:r>
            <a:endParaRPr>
              <a:solidFill>
                <a:schemeClr val="accent1"/>
              </a:solidFill>
              <a:latin typeface="DM Sans Medium"/>
              <a:ea typeface="DM Sans Medium"/>
              <a:cs typeface="DM Sans Medium"/>
              <a:sym typeface="DM Sans Medium"/>
            </a:endParaRPr>
          </a:p>
        </p:txBody>
      </p:sp>
      <p:sp>
        <p:nvSpPr>
          <p:cNvPr id="374" name="Google Shape;374;p50"/>
          <p:cNvSpPr/>
          <p:nvPr/>
        </p:nvSpPr>
        <p:spPr>
          <a:xfrm>
            <a:off x="1086225" y="2124699"/>
            <a:ext cx="8487300" cy="465000"/>
          </a:xfrm>
          <a:prstGeom prst="roundRect">
            <a:avLst>
              <a:gd fmla="val 15419"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Orchestration</a:t>
            </a:r>
            <a:endParaRPr>
              <a:solidFill>
                <a:schemeClr val="accent1"/>
              </a:solidFill>
              <a:latin typeface="DM Sans Medium"/>
              <a:ea typeface="DM Sans Medium"/>
              <a:cs typeface="DM Sans Medium"/>
              <a:sym typeface="DM Sans Medium"/>
            </a:endParaRPr>
          </a:p>
        </p:txBody>
      </p:sp>
      <p:sp>
        <p:nvSpPr>
          <p:cNvPr id="375" name="Google Shape;375;p50"/>
          <p:cNvSpPr/>
          <p:nvPr/>
        </p:nvSpPr>
        <p:spPr>
          <a:xfrm>
            <a:off x="9654050" y="1585825"/>
            <a:ext cx="1412700" cy="26145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Collaboration</a:t>
            </a:r>
            <a:endParaRPr>
              <a:solidFill>
                <a:schemeClr val="accent1"/>
              </a:solidFill>
              <a:latin typeface="DM Sans Medium"/>
              <a:ea typeface="DM Sans Medium"/>
              <a:cs typeface="DM Sans Medium"/>
              <a:sym typeface="DM Sans Medium"/>
            </a:endParaRPr>
          </a:p>
        </p:txBody>
      </p:sp>
      <p:sp>
        <p:nvSpPr>
          <p:cNvPr id="376" name="Google Shape;376;p50"/>
          <p:cNvSpPr/>
          <p:nvPr/>
        </p:nvSpPr>
        <p:spPr>
          <a:xfrm>
            <a:off x="1092875" y="4267499"/>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AI Engine</a:t>
            </a:r>
            <a:endParaRPr>
              <a:solidFill>
                <a:schemeClr val="accent1"/>
              </a:solidFill>
              <a:latin typeface="DM Sans Medium"/>
              <a:ea typeface="DM Sans Medium"/>
              <a:cs typeface="DM Sans Medium"/>
              <a:sym typeface="DM Sans Medium"/>
            </a:endParaRPr>
          </a:p>
        </p:txBody>
      </p:sp>
      <p:sp>
        <p:nvSpPr>
          <p:cNvPr id="377" name="Google Shape;377;p50"/>
          <p:cNvSpPr txBox="1"/>
          <p:nvPr/>
        </p:nvSpPr>
        <p:spPr>
          <a:xfrm>
            <a:off x="9498924" y="991150"/>
            <a:ext cx="1598700" cy="3624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a:solidFill>
                  <a:schemeClr val="accent1"/>
                </a:solidFill>
                <a:latin typeface="DM Sans SemiBold"/>
                <a:ea typeface="DM Sans SemiBold"/>
                <a:cs typeface="DM Sans SemiBold"/>
                <a:sym typeface="DM Sans SemiBold"/>
              </a:rPr>
              <a:t>Business Partner</a:t>
            </a:r>
            <a:endParaRPr>
              <a:solidFill>
                <a:schemeClr val="accent1"/>
              </a:solidFill>
              <a:latin typeface="DM Sans SemiBold"/>
              <a:ea typeface="DM Sans SemiBold"/>
              <a:cs typeface="DM Sans SemiBold"/>
              <a:sym typeface="DM Sans SemiBold"/>
            </a:endParaRPr>
          </a:p>
        </p:txBody>
      </p:sp>
      <p:sp>
        <p:nvSpPr>
          <p:cNvPr id="378" name="Google Shape;378;p50"/>
          <p:cNvSpPr txBox="1"/>
          <p:nvPr/>
        </p:nvSpPr>
        <p:spPr>
          <a:xfrm>
            <a:off x="5854525" y="991150"/>
            <a:ext cx="17328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Business Analyst</a:t>
            </a:r>
            <a:endParaRPr>
              <a:solidFill>
                <a:schemeClr val="accent1"/>
              </a:solidFill>
              <a:latin typeface="DM Sans SemiBold"/>
              <a:ea typeface="DM Sans SemiBold"/>
              <a:cs typeface="DM Sans SemiBold"/>
              <a:sym typeface="DM Sans SemiBold"/>
            </a:endParaRPr>
          </a:p>
        </p:txBody>
      </p:sp>
      <p:sp>
        <p:nvSpPr>
          <p:cNvPr id="379" name="Google Shape;379;p50"/>
          <p:cNvSpPr txBox="1"/>
          <p:nvPr/>
        </p:nvSpPr>
        <p:spPr>
          <a:xfrm>
            <a:off x="977200" y="994575"/>
            <a:ext cx="14127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Data Engineer  </a:t>
            </a:r>
            <a:endParaRPr>
              <a:solidFill>
                <a:schemeClr val="accent1"/>
              </a:solidFill>
              <a:latin typeface="DM Sans SemiBold"/>
              <a:ea typeface="DM Sans SemiBold"/>
              <a:cs typeface="DM Sans SemiBold"/>
              <a:sym typeface="DM Sans SemiBold"/>
            </a:endParaRPr>
          </a:p>
        </p:txBody>
      </p:sp>
      <p:sp>
        <p:nvSpPr>
          <p:cNvPr id="380" name="Google Shape;380;p50"/>
          <p:cNvSpPr/>
          <p:nvPr/>
        </p:nvSpPr>
        <p:spPr>
          <a:xfrm>
            <a:off x="1476060"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0"/>
          <p:cNvSpPr/>
          <p:nvPr/>
        </p:nvSpPr>
        <p:spPr>
          <a:xfrm>
            <a:off x="6426413"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0"/>
          <p:cNvSpPr txBox="1"/>
          <p:nvPr/>
        </p:nvSpPr>
        <p:spPr>
          <a:xfrm>
            <a:off x="3668226" y="99800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Data Scientist</a:t>
            </a:r>
            <a:endParaRPr>
              <a:solidFill>
                <a:schemeClr val="accent1"/>
              </a:solidFill>
              <a:latin typeface="DM Sans SemiBold"/>
              <a:ea typeface="DM Sans SemiBold"/>
              <a:cs typeface="DM Sans SemiBold"/>
              <a:sym typeface="DM Sans SemiBold"/>
            </a:endParaRPr>
          </a:p>
        </p:txBody>
      </p:sp>
      <p:sp>
        <p:nvSpPr>
          <p:cNvPr id="383" name="Google Shape;383;p50"/>
          <p:cNvSpPr/>
          <p:nvPr/>
        </p:nvSpPr>
        <p:spPr>
          <a:xfrm>
            <a:off x="4239876"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0"/>
          <p:cNvSpPr/>
          <p:nvPr/>
        </p:nvSpPr>
        <p:spPr>
          <a:xfrm>
            <a:off x="2828968"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0"/>
          <p:cNvSpPr txBox="1"/>
          <p:nvPr/>
        </p:nvSpPr>
        <p:spPr>
          <a:xfrm>
            <a:off x="2429513" y="994574"/>
            <a:ext cx="12753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ML Engineer  </a:t>
            </a:r>
            <a:endParaRPr>
              <a:solidFill>
                <a:schemeClr val="accent1"/>
              </a:solidFill>
              <a:latin typeface="DM Sans SemiBold"/>
              <a:ea typeface="DM Sans SemiBold"/>
              <a:cs typeface="DM Sans SemiBold"/>
              <a:sym typeface="DM Sans SemiBold"/>
            </a:endParaRPr>
          </a:p>
        </p:txBody>
      </p:sp>
      <p:sp>
        <p:nvSpPr>
          <p:cNvPr id="386" name="Google Shape;386;p50"/>
          <p:cNvSpPr/>
          <p:nvPr/>
        </p:nvSpPr>
        <p:spPr>
          <a:xfrm>
            <a:off x="1086225" y="1585825"/>
            <a:ext cx="39816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91425" spcFirstLastPara="1" rIns="0" wrap="square" tIns="0">
            <a:noAutofit/>
          </a:bodyPr>
          <a:lstStyle/>
          <a:p>
            <a:pPr indent="0" lvl="0" marL="0" marR="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ETL &amp; DS tools</a:t>
            </a:r>
            <a:endParaRPr>
              <a:solidFill>
                <a:schemeClr val="accent1"/>
              </a:solidFill>
              <a:latin typeface="DM Sans Medium"/>
              <a:ea typeface="DM Sans Medium"/>
              <a:cs typeface="DM Sans Medium"/>
              <a:sym typeface="DM Sans Medium"/>
            </a:endParaRPr>
          </a:p>
        </p:txBody>
      </p:sp>
      <p:sp>
        <p:nvSpPr>
          <p:cNvPr id="387" name="Google Shape;387;p50"/>
          <p:cNvSpPr/>
          <p:nvPr/>
        </p:nvSpPr>
        <p:spPr>
          <a:xfrm>
            <a:off x="5136650" y="1585800"/>
            <a:ext cx="29718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BI Tools</a:t>
            </a:r>
            <a:endParaRPr>
              <a:solidFill>
                <a:schemeClr val="accent1"/>
              </a:solidFill>
              <a:latin typeface="DM Sans Medium"/>
              <a:ea typeface="DM Sans Medium"/>
              <a:cs typeface="DM Sans Medium"/>
              <a:sym typeface="DM Sans Medium"/>
            </a:endParaRPr>
          </a:p>
        </p:txBody>
      </p:sp>
      <p:sp>
        <p:nvSpPr>
          <p:cNvPr id="388" name="Google Shape;388;p50"/>
          <p:cNvSpPr/>
          <p:nvPr/>
        </p:nvSpPr>
        <p:spPr>
          <a:xfrm>
            <a:off x="8170725" y="1585800"/>
            <a:ext cx="14127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Data and AI Apps</a:t>
            </a:r>
            <a:endParaRPr>
              <a:solidFill>
                <a:srgbClr val="B7B7B7"/>
              </a:solidFill>
              <a:latin typeface="DM Sans Medium"/>
              <a:ea typeface="DM Sans Medium"/>
              <a:cs typeface="DM Sans Medium"/>
              <a:sym typeface="DM Sans Medium"/>
            </a:endParaRPr>
          </a:p>
        </p:txBody>
      </p:sp>
      <p:sp>
        <p:nvSpPr>
          <p:cNvPr id="389" name="Google Shape;389;p50"/>
          <p:cNvSpPr txBox="1"/>
          <p:nvPr/>
        </p:nvSpPr>
        <p:spPr>
          <a:xfrm>
            <a:off x="8018771" y="99115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App Developer</a:t>
            </a:r>
            <a:endParaRPr>
              <a:solidFill>
                <a:schemeClr val="accent1"/>
              </a:solidFill>
              <a:latin typeface="DM Sans SemiBold"/>
              <a:ea typeface="DM Sans SemiBold"/>
              <a:cs typeface="DM Sans SemiBold"/>
              <a:sym typeface="DM Sans SemiBold"/>
            </a:endParaRPr>
          </a:p>
        </p:txBody>
      </p:sp>
      <p:sp>
        <p:nvSpPr>
          <p:cNvPr id="390" name="Google Shape;390;p50"/>
          <p:cNvSpPr/>
          <p:nvPr/>
        </p:nvSpPr>
        <p:spPr>
          <a:xfrm>
            <a:off x="8526705"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391" name="Google Shape;391;p50"/>
          <p:cNvSpPr/>
          <p:nvPr/>
        </p:nvSpPr>
        <p:spPr>
          <a:xfrm rot="10800000">
            <a:off x="10035200" y="1406775"/>
            <a:ext cx="526200" cy="72900"/>
          </a:xfrm>
          <a:prstGeom prst="triangle">
            <a:avLst>
              <a:gd fmla="val 50000" name="adj"/>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392" name="Google Shape;392;p50"/>
          <p:cNvSpPr/>
          <p:nvPr/>
        </p:nvSpPr>
        <p:spPr>
          <a:xfrm>
            <a:off x="3364813" y="2658125"/>
            <a:ext cx="2203500" cy="1542000"/>
          </a:xfrm>
          <a:prstGeom prst="roundRect">
            <a:avLst>
              <a:gd fmla="val 7491"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Advanced Analytics,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ML &amp; AI</a:t>
            </a:r>
            <a:endParaRPr>
              <a:solidFill>
                <a:schemeClr val="accent1"/>
              </a:solidFill>
              <a:latin typeface="DM Sans Medium"/>
              <a:ea typeface="DM Sans Medium"/>
              <a:cs typeface="DM Sans Medium"/>
              <a:sym typeface="DM Sans Medium"/>
            </a:endParaRPr>
          </a:p>
        </p:txBody>
      </p:sp>
      <p:sp>
        <p:nvSpPr>
          <p:cNvPr id="393" name="Google Shape;393;p50"/>
          <p:cNvSpPr/>
          <p:nvPr/>
        </p:nvSpPr>
        <p:spPr>
          <a:xfrm>
            <a:off x="5643402" y="2658125"/>
            <a:ext cx="22035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Data Warehouse</a:t>
            </a:r>
            <a:endParaRPr>
              <a:solidFill>
                <a:schemeClr val="accent1"/>
              </a:solidFill>
              <a:latin typeface="DM Sans Medium"/>
              <a:ea typeface="DM Sans Medium"/>
              <a:cs typeface="DM Sans Medium"/>
              <a:sym typeface="DM Sans Medium"/>
            </a:endParaRPr>
          </a:p>
        </p:txBody>
      </p:sp>
      <p:sp>
        <p:nvSpPr>
          <p:cNvPr id="394" name="Google Shape;394;p50"/>
          <p:cNvSpPr/>
          <p:nvPr/>
        </p:nvSpPr>
        <p:spPr>
          <a:xfrm>
            <a:off x="1086225" y="2658125"/>
            <a:ext cx="2203500" cy="1547700"/>
          </a:xfrm>
          <a:prstGeom prst="roundRect">
            <a:avLst>
              <a:gd fmla="val 7335"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Ingest &amp; Transform</a:t>
            </a:r>
            <a:endParaRPr>
              <a:solidFill>
                <a:schemeClr val="accent1"/>
              </a:solidFill>
              <a:latin typeface="DM Sans Medium"/>
              <a:ea typeface="DM Sans Medium"/>
              <a:cs typeface="DM Sans Medium"/>
              <a:sym typeface="DM Sans Medium"/>
            </a:endParaRPr>
          </a:p>
        </p:txBody>
      </p:sp>
      <p:sp>
        <p:nvSpPr>
          <p:cNvPr id="395" name="Google Shape;395;p50"/>
          <p:cNvSpPr/>
          <p:nvPr/>
        </p:nvSpPr>
        <p:spPr>
          <a:xfrm>
            <a:off x="7927625" y="2657600"/>
            <a:ext cx="16458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Operational Database</a:t>
            </a:r>
            <a:endParaRPr>
              <a:solidFill>
                <a:schemeClr val="accent1"/>
              </a:solidFill>
              <a:latin typeface="DM Sans Medium"/>
              <a:ea typeface="DM Sans Medium"/>
              <a:cs typeface="DM Sans Medium"/>
              <a:sym typeface="DM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54750"/>
          </a:srgbClr>
        </a:solidFill>
      </p:bgPr>
    </p:bg>
    <p:spTree>
      <p:nvGrpSpPr>
        <p:cNvPr id="399" name="Shape 399"/>
        <p:cNvGrpSpPr/>
        <p:nvPr/>
      </p:nvGrpSpPr>
      <p:grpSpPr>
        <a:xfrm>
          <a:off x="0" y="0"/>
          <a:ext cx="0" cy="0"/>
          <a:chOff x="0" y="0"/>
          <a:chExt cx="0" cy="0"/>
        </a:xfrm>
      </p:grpSpPr>
      <p:sp>
        <p:nvSpPr>
          <p:cNvPr id="400" name="Google Shape;400;p51"/>
          <p:cNvSpPr/>
          <p:nvPr/>
        </p:nvSpPr>
        <p:spPr>
          <a:xfrm>
            <a:off x="3364813" y="2658125"/>
            <a:ext cx="2203500" cy="1542000"/>
          </a:xfrm>
          <a:prstGeom prst="roundRect">
            <a:avLst>
              <a:gd fmla="val 7491"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Advanced Analytics, </a:t>
            </a:r>
            <a:br>
              <a:rPr lang="en">
                <a:solidFill>
                  <a:srgbClr val="B7B7B7"/>
                </a:solidFill>
                <a:latin typeface="DM Sans Medium"/>
                <a:ea typeface="DM Sans Medium"/>
                <a:cs typeface="DM Sans Medium"/>
                <a:sym typeface="DM Sans Medium"/>
              </a:rPr>
            </a:br>
            <a:r>
              <a:rPr lang="en">
                <a:solidFill>
                  <a:srgbClr val="B7B7B7"/>
                </a:solidFill>
                <a:latin typeface="DM Sans Medium"/>
                <a:ea typeface="DM Sans Medium"/>
                <a:cs typeface="DM Sans Medium"/>
                <a:sym typeface="DM Sans Medium"/>
              </a:rPr>
              <a:t>ML &amp; AI</a:t>
            </a:r>
            <a:endParaRPr>
              <a:solidFill>
                <a:srgbClr val="B7B7B7"/>
              </a:solidFill>
              <a:latin typeface="DM Sans Medium"/>
              <a:ea typeface="DM Sans Medium"/>
              <a:cs typeface="DM Sans Medium"/>
              <a:sym typeface="DM Sans Medium"/>
            </a:endParaRPr>
          </a:p>
        </p:txBody>
      </p:sp>
      <p:sp>
        <p:nvSpPr>
          <p:cNvPr id="401" name="Google Shape;401;p51"/>
          <p:cNvSpPr/>
          <p:nvPr/>
        </p:nvSpPr>
        <p:spPr>
          <a:xfrm>
            <a:off x="5643402" y="2658125"/>
            <a:ext cx="22035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Data Warehouse</a:t>
            </a:r>
            <a:endParaRPr>
              <a:solidFill>
                <a:srgbClr val="B7B7B7"/>
              </a:solidFill>
              <a:latin typeface="DM Sans Medium"/>
              <a:ea typeface="DM Sans Medium"/>
              <a:cs typeface="DM Sans Medium"/>
              <a:sym typeface="DM Sans Medium"/>
            </a:endParaRPr>
          </a:p>
        </p:txBody>
      </p:sp>
      <p:sp>
        <p:nvSpPr>
          <p:cNvPr id="402" name="Google Shape;402;p51"/>
          <p:cNvSpPr/>
          <p:nvPr/>
        </p:nvSpPr>
        <p:spPr>
          <a:xfrm>
            <a:off x="1086225" y="2658125"/>
            <a:ext cx="2203500" cy="1547700"/>
          </a:xfrm>
          <a:prstGeom prst="roundRect">
            <a:avLst>
              <a:gd fmla="val 7335"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Ingest &amp; Transform</a:t>
            </a:r>
            <a:endParaRPr>
              <a:solidFill>
                <a:srgbClr val="B7B7B7"/>
              </a:solidFill>
              <a:latin typeface="DM Sans Medium"/>
              <a:ea typeface="DM Sans Medium"/>
              <a:cs typeface="DM Sans Medium"/>
              <a:sym typeface="DM Sans Medium"/>
            </a:endParaRPr>
          </a:p>
        </p:txBody>
      </p:sp>
      <p:grpSp>
        <p:nvGrpSpPr>
          <p:cNvPr id="403" name="Google Shape;403;p51"/>
          <p:cNvGrpSpPr/>
          <p:nvPr/>
        </p:nvGrpSpPr>
        <p:grpSpPr>
          <a:xfrm>
            <a:off x="1166116" y="3140950"/>
            <a:ext cx="6622202" cy="966000"/>
            <a:chOff x="1217775" y="3064750"/>
            <a:chExt cx="8260200" cy="966000"/>
          </a:xfrm>
        </p:grpSpPr>
        <p:sp>
          <p:nvSpPr>
            <p:cNvPr id="404" name="Google Shape;404;p51"/>
            <p:cNvSpPr/>
            <p:nvPr/>
          </p:nvSpPr>
          <p:spPr>
            <a:xfrm>
              <a:off x="1217775" y="3064750"/>
              <a:ext cx="8260200" cy="966000"/>
            </a:xfrm>
            <a:prstGeom prst="roundRect">
              <a:avLst>
                <a:gd fmla="val 8144" name="adj"/>
              </a:avLst>
            </a:prstGeom>
            <a:solidFill>
              <a:srgbClr val="D8E2E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800">
                <a:solidFill>
                  <a:schemeClr val="accent1"/>
                </a:solidFill>
                <a:latin typeface="DM Sans Medium"/>
                <a:ea typeface="DM Sans Medium"/>
                <a:cs typeface="DM Sans Medium"/>
                <a:sym typeface="DM Sans Medium"/>
              </a:endParaRPr>
            </a:p>
          </p:txBody>
        </p:sp>
        <p:pic>
          <p:nvPicPr>
            <p:cNvPr id="405" name="Google Shape;405;p51"/>
            <p:cNvPicPr preferRelativeResize="0"/>
            <p:nvPr/>
          </p:nvPicPr>
          <p:blipFill>
            <a:blip r:embed="rId3">
              <a:alphaModFix/>
            </a:blip>
            <a:stretch>
              <a:fillRect/>
            </a:stretch>
          </p:blipFill>
          <p:spPr>
            <a:xfrm>
              <a:off x="6255286" y="3604605"/>
              <a:ext cx="355310" cy="292396"/>
            </a:xfrm>
            <a:prstGeom prst="rect">
              <a:avLst/>
            </a:prstGeom>
            <a:noFill/>
            <a:ln>
              <a:noFill/>
            </a:ln>
          </p:spPr>
        </p:pic>
        <p:sp>
          <p:nvSpPr>
            <p:cNvPr id="406" name="Google Shape;406;p51"/>
            <p:cNvSpPr txBox="1"/>
            <p:nvPr/>
          </p:nvSpPr>
          <p:spPr>
            <a:xfrm>
              <a:off x="6512781" y="3598383"/>
              <a:ext cx="897300" cy="29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300"/>
                </a:spcAft>
                <a:buNone/>
              </a:pPr>
              <a:r>
                <a:rPr lang="en" sz="1200">
                  <a:solidFill>
                    <a:schemeClr val="accent1"/>
                  </a:solidFill>
                  <a:latin typeface="DM Sans Medium"/>
                  <a:ea typeface="DM Sans Medium"/>
                  <a:cs typeface="DM Sans Medium"/>
                  <a:sym typeface="DM Sans Medium"/>
                </a:rPr>
                <a:t>Photon</a:t>
              </a:r>
              <a:endParaRPr sz="1200">
                <a:solidFill>
                  <a:schemeClr val="accent1"/>
                </a:solidFill>
                <a:latin typeface="DM Sans Medium"/>
                <a:ea typeface="DM Sans Medium"/>
                <a:cs typeface="DM Sans Medium"/>
                <a:sym typeface="DM Sans Medium"/>
              </a:endParaRPr>
            </a:p>
          </p:txBody>
        </p:sp>
        <p:pic>
          <p:nvPicPr>
            <p:cNvPr id="407" name="Google Shape;407;p51"/>
            <p:cNvPicPr preferRelativeResize="0"/>
            <p:nvPr/>
          </p:nvPicPr>
          <p:blipFill>
            <a:blip r:embed="rId4">
              <a:alphaModFix/>
            </a:blip>
            <a:stretch>
              <a:fillRect/>
            </a:stretch>
          </p:blipFill>
          <p:spPr>
            <a:xfrm>
              <a:off x="6416748" y="3267400"/>
              <a:ext cx="662289" cy="273373"/>
            </a:xfrm>
            <a:prstGeom prst="rect">
              <a:avLst/>
            </a:prstGeom>
            <a:noFill/>
            <a:ln>
              <a:noFill/>
            </a:ln>
          </p:spPr>
        </p:pic>
      </p:grpSp>
      <p:sp>
        <p:nvSpPr>
          <p:cNvPr id="408" name="Google Shape;408;p51"/>
          <p:cNvSpPr/>
          <p:nvPr/>
        </p:nvSpPr>
        <p:spPr>
          <a:xfrm>
            <a:off x="7927625" y="2657600"/>
            <a:ext cx="16458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Operational Database</a:t>
            </a:r>
            <a:endParaRPr>
              <a:solidFill>
                <a:srgbClr val="B7B7B7"/>
              </a:solidFill>
              <a:latin typeface="DM Sans Medium"/>
              <a:ea typeface="DM Sans Medium"/>
              <a:cs typeface="DM Sans Medium"/>
              <a:sym typeface="DM Sans Medium"/>
            </a:endParaRPr>
          </a:p>
        </p:txBody>
      </p:sp>
      <p:sp>
        <p:nvSpPr>
          <p:cNvPr id="409" name="Google Shape;409;p51"/>
          <p:cNvSpPr txBox="1"/>
          <p:nvPr/>
        </p:nvSpPr>
        <p:spPr>
          <a:xfrm>
            <a:off x="9498924" y="991150"/>
            <a:ext cx="1598700" cy="3624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a:solidFill>
                  <a:srgbClr val="618794"/>
                </a:solidFill>
                <a:latin typeface="DM Sans SemiBold"/>
                <a:ea typeface="DM Sans SemiBold"/>
                <a:cs typeface="DM Sans SemiBold"/>
                <a:sym typeface="DM Sans SemiBold"/>
              </a:rPr>
              <a:t>Business Partner</a:t>
            </a:r>
            <a:endParaRPr>
              <a:solidFill>
                <a:srgbClr val="618794"/>
              </a:solidFill>
              <a:latin typeface="DM Sans SemiBold"/>
              <a:ea typeface="DM Sans SemiBold"/>
              <a:cs typeface="DM Sans SemiBold"/>
              <a:sym typeface="DM Sans SemiBold"/>
            </a:endParaRPr>
          </a:p>
        </p:txBody>
      </p:sp>
      <p:sp>
        <p:nvSpPr>
          <p:cNvPr id="410" name="Google Shape;410;p51"/>
          <p:cNvSpPr txBox="1"/>
          <p:nvPr/>
        </p:nvSpPr>
        <p:spPr>
          <a:xfrm>
            <a:off x="5854525" y="991150"/>
            <a:ext cx="17328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Business Analyst</a:t>
            </a:r>
            <a:endParaRPr>
              <a:solidFill>
                <a:srgbClr val="618794"/>
              </a:solidFill>
              <a:latin typeface="DM Sans SemiBold"/>
              <a:ea typeface="DM Sans SemiBold"/>
              <a:cs typeface="DM Sans SemiBold"/>
              <a:sym typeface="DM Sans SemiBold"/>
            </a:endParaRPr>
          </a:p>
        </p:txBody>
      </p:sp>
      <p:sp>
        <p:nvSpPr>
          <p:cNvPr id="411" name="Google Shape;411;p51"/>
          <p:cNvSpPr txBox="1"/>
          <p:nvPr/>
        </p:nvSpPr>
        <p:spPr>
          <a:xfrm>
            <a:off x="977200" y="994575"/>
            <a:ext cx="14127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Data Engineer  </a:t>
            </a:r>
            <a:endParaRPr>
              <a:solidFill>
                <a:srgbClr val="618794"/>
              </a:solidFill>
              <a:latin typeface="DM Sans SemiBold"/>
              <a:ea typeface="DM Sans SemiBold"/>
              <a:cs typeface="DM Sans SemiBold"/>
              <a:sym typeface="DM Sans SemiBold"/>
            </a:endParaRPr>
          </a:p>
        </p:txBody>
      </p:sp>
      <p:sp>
        <p:nvSpPr>
          <p:cNvPr id="412" name="Google Shape;412;p51"/>
          <p:cNvSpPr/>
          <p:nvPr/>
        </p:nvSpPr>
        <p:spPr>
          <a:xfrm>
            <a:off x="1476060"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1"/>
          <p:cNvSpPr/>
          <p:nvPr/>
        </p:nvSpPr>
        <p:spPr>
          <a:xfrm>
            <a:off x="6426413"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1"/>
          <p:cNvSpPr txBox="1"/>
          <p:nvPr/>
        </p:nvSpPr>
        <p:spPr>
          <a:xfrm>
            <a:off x="3668226" y="99800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Data Scientist</a:t>
            </a:r>
            <a:endParaRPr>
              <a:solidFill>
                <a:srgbClr val="618794"/>
              </a:solidFill>
              <a:latin typeface="DM Sans SemiBold"/>
              <a:ea typeface="DM Sans SemiBold"/>
              <a:cs typeface="DM Sans SemiBold"/>
              <a:sym typeface="DM Sans SemiBold"/>
            </a:endParaRPr>
          </a:p>
        </p:txBody>
      </p:sp>
      <p:sp>
        <p:nvSpPr>
          <p:cNvPr id="415" name="Google Shape;415;p51"/>
          <p:cNvSpPr/>
          <p:nvPr/>
        </p:nvSpPr>
        <p:spPr>
          <a:xfrm>
            <a:off x="4239876"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1"/>
          <p:cNvSpPr/>
          <p:nvPr/>
        </p:nvSpPr>
        <p:spPr>
          <a:xfrm>
            <a:off x="2828968"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1"/>
          <p:cNvSpPr txBox="1"/>
          <p:nvPr/>
        </p:nvSpPr>
        <p:spPr>
          <a:xfrm>
            <a:off x="2429513" y="994574"/>
            <a:ext cx="12753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ML Engineer  </a:t>
            </a:r>
            <a:endParaRPr>
              <a:solidFill>
                <a:srgbClr val="618794"/>
              </a:solidFill>
              <a:latin typeface="DM Sans SemiBold"/>
              <a:ea typeface="DM Sans SemiBold"/>
              <a:cs typeface="DM Sans SemiBold"/>
              <a:sym typeface="DM Sans SemiBold"/>
            </a:endParaRPr>
          </a:p>
        </p:txBody>
      </p:sp>
      <p:sp>
        <p:nvSpPr>
          <p:cNvPr id="418" name="Google Shape;418;p51"/>
          <p:cNvSpPr/>
          <p:nvPr/>
        </p:nvSpPr>
        <p:spPr>
          <a:xfrm>
            <a:off x="1086225" y="1585825"/>
            <a:ext cx="39816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91425" spcFirstLastPara="1" rIns="0" wrap="square" tIns="0">
            <a:noAutofit/>
          </a:bodyPr>
          <a:lstStyle/>
          <a:p>
            <a:pPr indent="0" lvl="0" marL="0" marR="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Dev tools</a:t>
            </a:r>
            <a:endParaRPr>
              <a:solidFill>
                <a:srgbClr val="B7B7B7"/>
              </a:solidFill>
              <a:latin typeface="DM Sans Medium"/>
              <a:ea typeface="DM Sans Medium"/>
              <a:cs typeface="DM Sans Medium"/>
              <a:sym typeface="DM Sans Medium"/>
            </a:endParaRPr>
          </a:p>
        </p:txBody>
      </p:sp>
      <p:sp>
        <p:nvSpPr>
          <p:cNvPr id="419" name="Google Shape;419;p51"/>
          <p:cNvSpPr/>
          <p:nvPr/>
        </p:nvSpPr>
        <p:spPr>
          <a:xfrm>
            <a:off x="5136650" y="1585800"/>
            <a:ext cx="29718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BI</a:t>
            </a:r>
            <a:endParaRPr>
              <a:solidFill>
                <a:srgbClr val="B7B7B7"/>
              </a:solidFill>
              <a:latin typeface="DM Sans Medium"/>
              <a:ea typeface="DM Sans Medium"/>
              <a:cs typeface="DM Sans Medium"/>
              <a:sym typeface="DM Sans Medium"/>
            </a:endParaRPr>
          </a:p>
        </p:txBody>
      </p:sp>
      <p:sp>
        <p:nvSpPr>
          <p:cNvPr id="420" name="Google Shape;420;p51"/>
          <p:cNvSpPr/>
          <p:nvPr/>
        </p:nvSpPr>
        <p:spPr>
          <a:xfrm>
            <a:off x="8170725" y="1585800"/>
            <a:ext cx="14127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Apps</a:t>
            </a:r>
            <a:endParaRPr>
              <a:solidFill>
                <a:srgbClr val="B7B7B7"/>
              </a:solidFill>
              <a:latin typeface="DM Sans Medium"/>
              <a:ea typeface="DM Sans Medium"/>
              <a:cs typeface="DM Sans Medium"/>
              <a:sym typeface="DM Sans Medium"/>
            </a:endParaRPr>
          </a:p>
        </p:txBody>
      </p:sp>
      <p:sp>
        <p:nvSpPr>
          <p:cNvPr id="421" name="Google Shape;421;p51"/>
          <p:cNvSpPr txBox="1"/>
          <p:nvPr/>
        </p:nvSpPr>
        <p:spPr>
          <a:xfrm>
            <a:off x="8018771" y="99115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App Developer</a:t>
            </a:r>
            <a:endParaRPr>
              <a:solidFill>
                <a:srgbClr val="618794"/>
              </a:solidFill>
              <a:latin typeface="DM Sans SemiBold"/>
              <a:ea typeface="DM Sans SemiBold"/>
              <a:cs typeface="DM Sans SemiBold"/>
              <a:sym typeface="DM Sans SemiBold"/>
            </a:endParaRPr>
          </a:p>
        </p:txBody>
      </p:sp>
      <p:sp>
        <p:nvSpPr>
          <p:cNvPr id="422" name="Google Shape;422;p51"/>
          <p:cNvSpPr/>
          <p:nvPr/>
        </p:nvSpPr>
        <p:spPr>
          <a:xfrm>
            <a:off x="8526705"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23" name="Google Shape;423;p51"/>
          <p:cNvSpPr txBox="1"/>
          <p:nvPr>
            <p:ph type="title"/>
          </p:nvPr>
        </p:nvSpPr>
        <p:spPr>
          <a:xfrm>
            <a:off x="749250" y="307000"/>
            <a:ext cx="112302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sz="3600"/>
          </a:p>
        </p:txBody>
      </p:sp>
      <p:sp>
        <p:nvSpPr>
          <p:cNvPr id="424" name="Google Shape;424;p51"/>
          <p:cNvSpPr txBox="1"/>
          <p:nvPr>
            <p:ph idx="12" type="sldNum"/>
          </p:nvPr>
        </p:nvSpPr>
        <p:spPr>
          <a:xfrm>
            <a:off x="11097669" y="6473300"/>
            <a:ext cx="324300" cy="1866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1"/>
          <p:cNvSpPr/>
          <p:nvPr/>
        </p:nvSpPr>
        <p:spPr>
          <a:xfrm>
            <a:off x="1092875" y="5471195"/>
            <a:ext cx="9973800" cy="911700"/>
          </a:xfrm>
          <a:prstGeom prst="roundRect">
            <a:avLst>
              <a:gd fmla="val 10399"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B7B7B7"/>
                </a:solidFill>
                <a:latin typeface="DM Sans Medium"/>
                <a:ea typeface="DM Sans Medium"/>
                <a:cs typeface="DM Sans Medium"/>
                <a:sym typeface="DM Sans Medium"/>
              </a:rPr>
              <a:t>Cloud Storage</a:t>
            </a:r>
            <a:endParaRPr>
              <a:solidFill>
                <a:srgbClr val="B7B7B7"/>
              </a:solidFill>
              <a:latin typeface="DM Sans Medium"/>
              <a:ea typeface="DM Sans Medium"/>
              <a:cs typeface="DM Sans Medium"/>
              <a:sym typeface="DM Sans Medium"/>
            </a:endParaRPr>
          </a:p>
        </p:txBody>
      </p:sp>
      <p:sp>
        <p:nvSpPr>
          <p:cNvPr id="426" name="Google Shape;426;p51"/>
          <p:cNvSpPr/>
          <p:nvPr/>
        </p:nvSpPr>
        <p:spPr>
          <a:xfrm>
            <a:off x="1092875" y="4866238"/>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0" wrap="square" tIns="91425">
            <a:noAutofit/>
          </a:bodyPr>
          <a:lstStyle/>
          <a:p>
            <a:pPr indent="0" lvl="0" marL="0" rtl="0" algn="l">
              <a:spcBef>
                <a:spcPts val="0"/>
              </a:spcBef>
              <a:spcAft>
                <a:spcPts val="0"/>
              </a:spcAft>
              <a:buNone/>
            </a:pPr>
            <a:r>
              <a:rPr lang="en">
                <a:solidFill>
                  <a:srgbClr val="B7B7B7"/>
                </a:solidFill>
                <a:latin typeface="DM Sans Medium"/>
                <a:ea typeface="DM Sans Medium"/>
                <a:cs typeface="DM Sans Medium"/>
                <a:sym typeface="DM Sans Medium"/>
              </a:rPr>
              <a:t>Data &amp; AI </a:t>
            </a:r>
            <a:r>
              <a:rPr lang="en">
                <a:solidFill>
                  <a:srgbClr val="B7B7B7"/>
                </a:solidFill>
                <a:latin typeface="DM Sans Medium"/>
                <a:ea typeface="DM Sans Medium"/>
                <a:cs typeface="DM Sans Medium"/>
                <a:sym typeface="DM Sans Medium"/>
              </a:rPr>
              <a:t>Governance</a:t>
            </a:r>
            <a:endParaRPr>
              <a:solidFill>
                <a:srgbClr val="B7B7B7"/>
              </a:solidFill>
              <a:latin typeface="DM Sans Medium"/>
              <a:ea typeface="DM Sans Medium"/>
              <a:cs typeface="DM Sans Medium"/>
              <a:sym typeface="DM Sans Medium"/>
            </a:endParaRPr>
          </a:p>
        </p:txBody>
      </p:sp>
      <p:sp>
        <p:nvSpPr>
          <p:cNvPr id="427" name="Google Shape;427;p51"/>
          <p:cNvSpPr/>
          <p:nvPr/>
        </p:nvSpPr>
        <p:spPr>
          <a:xfrm>
            <a:off x="1086225" y="2124699"/>
            <a:ext cx="8487300" cy="465000"/>
          </a:xfrm>
          <a:prstGeom prst="roundRect">
            <a:avLst>
              <a:gd fmla="val 15419" name="adj"/>
            </a:avLst>
          </a:prstGeom>
          <a:solidFill>
            <a:srgbClr val="FFFFFF"/>
          </a:solidFill>
          <a:ln cap="flat" cmpd="sng" w="9525">
            <a:solidFill>
              <a:schemeClr val="accent5"/>
            </a:solidFill>
            <a:prstDash val="solid"/>
            <a:round/>
            <a:headEnd len="sm" w="sm" type="none"/>
            <a:tailEnd len="sm" w="sm" type="none"/>
          </a:ln>
        </p:spPr>
        <p:txBody>
          <a:bodyPr anchorCtr="0" anchor="ctr" bIns="0" lIns="91425" spcFirstLastPara="1" rIns="0" wrap="square" tIns="0">
            <a:noAutofit/>
          </a:bodyPr>
          <a:lstStyle/>
          <a:p>
            <a:pPr indent="0" lvl="0" marL="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Automation</a:t>
            </a:r>
            <a:endParaRPr>
              <a:solidFill>
                <a:srgbClr val="B7B7B7"/>
              </a:solidFill>
              <a:latin typeface="DM Sans Medium"/>
              <a:ea typeface="DM Sans Medium"/>
              <a:cs typeface="DM Sans Medium"/>
              <a:sym typeface="DM Sans Medium"/>
            </a:endParaRPr>
          </a:p>
        </p:txBody>
      </p:sp>
      <p:sp>
        <p:nvSpPr>
          <p:cNvPr id="428" name="Google Shape;428;p51"/>
          <p:cNvSpPr/>
          <p:nvPr/>
        </p:nvSpPr>
        <p:spPr>
          <a:xfrm>
            <a:off x="9654050" y="1585825"/>
            <a:ext cx="1412700" cy="26145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91425">
            <a:noAutofit/>
          </a:bodyPr>
          <a:lstStyle/>
          <a:p>
            <a:pPr indent="0" lvl="0" marL="0" rtl="0" algn="ctr">
              <a:spcBef>
                <a:spcPts val="0"/>
              </a:spcBef>
              <a:spcAft>
                <a:spcPts val="0"/>
              </a:spcAft>
              <a:buNone/>
            </a:pPr>
            <a:r>
              <a:rPr lang="en">
                <a:solidFill>
                  <a:srgbClr val="B7B7B7"/>
                </a:solidFill>
                <a:latin typeface="DM Sans Medium"/>
                <a:ea typeface="DM Sans Medium"/>
                <a:cs typeface="DM Sans Medium"/>
                <a:sym typeface="DM Sans Medium"/>
              </a:rPr>
              <a:t>Collaboration</a:t>
            </a:r>
            <a:endParaRPr>
              <a:solidFill>
                <a:srgbClr val="B7B7B7"/>
              </a:solidFill>
              <a:latin typeface="DM Sans Medium"/>
              <a:ea typeface="DM Sans Medium"/>
              <a:cs typeface="DM Sans Medium"/>
              <a:sym typeface="DM Sans Medium"/>
            </a:endParaRPr>
          </a:p>
        </p:txBody>
      </p:sp>
      <p:sp>
        <p:nvSpPr>
          <p:cNvPr id="429" name="Google Shape;429;p51"/>
          <p:cNvSpPr/>
          <p:nvPr/>
        </p:nvSpPr>
        <p:spPr>
          <a:xfrm>
            <a:off x="1092875" y="4267499"/>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0" wrap="square" tIns="91425">
            <a:noAutofit/>
          </a:bodyPr>
          <a:lstStyle/>
          <a:p>
            <a:pPr indent="0" lvl="0" marL="0" rtl="0" algn="l">
              <a:spcBef>
                <a:spcPts val="0"/>
              </a:spcBef>
              <a:spcAft>
                <a:spcPts val="0"/>
              </a:spcAft>
              <a:buNone/>
            </a:pPr>
            <a:r>
              <a:rPr lang="en">
                <a:solidFill>
                  <a:srgbClr val="B7B7B7"/>
                </a:solidFill>
                <a:latin typeface="DM Sans Medium"/>
                <a:ea typeface="DM Sans Medium"/>
                <a:cs typeface="DM Sans Medium"/>
                <a:sym typeface="DM Sans Medium"/>
              </a:rPr>
              <a:t>AI Engine</a:t>
            </a:r>
            <a:endParaRPr>
              <a:solidFill>
                <a:srgbClr val="B7B7B7"/>
              </a:solidFill>
              <a:latin typeface="DM Sans Medium"/>
              <a:ea typeface="DM Sans Medium"/>
              <a:cs typeface="DM Sans Medium"/>
              <a:sym typeface="DM Sans Medium"/>
            </a:endParaRPr>
          </a:p>
        </p:txBody>
      </p:sp>
      <p:grpSp>
        <p:nvGrpSpPr>
          <p:cNvPr id="430" name="Google Shape;430;p51"/>
          <p:cNvGrpSpPr/>
          <p:nvPr/>
        </p:nvGrpSpPr>
        <p:grpSpPr>
          <a:xfrm>
            <a:off x="2270155" y="1638700"/>
            <a:ext cx="2625720" cy="362400"/>
            <a:chOff x="2638348" y="1638700"/>
            <a:chExt cx="2625720" cy="362400"/>
          </a:xfrm>
        </p:grpSpPr>
        <p:sp>
          <p:nvSpPr>
            <p:cNvPr id="431" name="Google Shape;431;p51"/>
            <p:cNvSpPr/>
            <p:nvPr/>
          </p:nvSpPr>
          <p:spPr>
            <a:xfrm>
              <a:off x="4476568" y="1638700"/>
              <a:ext cx="787500" cy="3624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t/>
              </a:r>
              <a:endParaRPr sz="1000">
                <a:solidFill>
                  <a:schemeClr val="accent1"/>
                </a:solidFill>
                <a:latin typeface="DM Sans Medium"/>
                <a:ea typeface="DM Sans Medium"/>
                <a:cs typeface="DM Sans Medium"/>
                <a:sym typeface="DM Sans Medium"/>
              </a:endParaRPr>
            </a:p>
          </p:txBody>
        </p:sp>
        <p:sp>
          <p:nvSpPr>
            <p:cNvPr id="432" name="Google Shape;432;p51"/>
            <p:cNvSpPr/>
            <p:nvPr/>
          </p:nvSpPr>
          <p:spPr>
            <a:xfrm>
              <a:off x="2638348" y="1638700"/>
              <a:ext cx="7875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IDE support</a:t>
              </a:r>
              <a:endParaRPr sz="1100">
                <a:solidFill>
                  <a:schemeClr val="accent1"/>
                </a:solidFill>
                <a:latin typeface="DM Sans Medium"/>
                <a:ea typeface="DM Sans Medium"/>
                <a:cs typeface="DM Sans Medium"/>
                <a:sym typeface="DM Sans Medium"/>
              </a:endParaRPr>
            </a:p>
          </p:txBody>
        </p:sp>
        <p:sp>
          <p:nvSpPr>
            <p:cNvPr id="433" name="Google Shape;433;p51"/>
            <p:cNvSpPr/>
            <p:nvPr/>
          </p:nvSpPr>
          <p:spPr>
            <a:xfrm>
              <a:off x="3564185" y="1638700"/>
              <a:ext cx="7875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Notebooks</a:t>
              </a:r>
              <a:endParaRPr sz="1100">
                <a:solidFill>
                  <a:schemeClr val="accent1"/>
                </a:solidFill>
                <a:latin typeface="DM Sans Medium"/>
                <a:ea typeface="DM Sans Medium"/>
                <a:cs typeface="DM Sans Medium"/>
                <a:sym typeface="DM Sans Medium"/>
              </a:endParaRPr>
            </a:p>
          </p:txBody>
        </p:sp>
        <p:pic>
          <p:nvPicPr>
            <p:cNvPr id="434" name="Google Shape;434;p51"/>
            <p:cNvPicPr preferRelativeResize="0"/>
            <p:nvPr/>
          </p:nvPicPr>
          <p:blipFill rotWithShape="1">
            <a:blip r:embed="rId5">
              <a:alphaModFix/>
            </a:blip>
            <a:srcRect b="0" l="0" r="0" t="0"/>
            <a:stretch/>
          </p:blipFill>
          <p:spPr>
            <a:xfrm>
              <a:off x="4561592" y="1706302"/>
              <a:ext cx="622499" cy="227205"/>
            </a:xfrm>
            <a:prstGeom prst="rect">
              <a:avLst/>
            </a:prstGeom>
            <a:noFill/>
            <a:ln>
              <a:noFill/>
            </a:ln>
          </p:spPr>
        </p:pic>
      </p:grpSp>
      <p:grpSp>
        <p:nvGrpSpPr>
          <p:cNvPr id="435" name="Google Shape;435;p51"/>
          <p:cNvGrpSpPr/>
          <p:nvPr/>
        </p:nvGrpSpPr>
        <p:grpSpPr>
          <a:xfrm>
            <a:off x="5989288" y="3223075"/>
            <a:ext cx="1727339" cy="360925"/>
            <a:chOff x="6047213" y="3146875"/>
            <a:chExt cx="1727339" cy="360925"/>
          </a:xfrm>
        </p:grpSpPr>
        <p:sp>
          <p:nvSpPr>
            <p:cNvPr id="436" name="Google Shape;436;p51"/>
            <p:cNvSpPr/>
            <p:nvPr/>
          </p:nvSpPr>
          <p:spPr>
            <a:xfrm>
              <a:off x="6969952" y="3146875"/>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Databricks SQL</a:t>
              </a:r>
              <a:endParaRPr sz="1100">
                <a:solidFill>
                  <a:schemeClr val="accent1"/>
                </a:solidFill>
                <a:latin typeface="DM Sans Medium"/>
                <a:ea typeface="DM Sans Medium"/>
                <a:cs typeface="DM Sans Medium"/>
                <a:sym typeface="DM Sans Medium"/>
              </a:endParaRPr>
            </a:p>
          </p:txBody>
        </p:sp>
        <p:sp>
          <p:nvSpPr>
            <p:cNvPr id="437" name="Google Shape;437;p51"/>
            <p:cNvSpPr/>
            <p:nvPr/>
          </p:nvSpPr>
          <p:spPr>
            <a:xfrm>
              <a:off x="6047213" y="3146900"/>
              <a:ext cx="8229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AI Functions</a:t>
              </a:r>
              <a:endParaRPr sz="1100">
                <a:solidFill>
                  <a:schemeClr val="accent1"/>
                </a:solidFill>
                <a:latin typeface="DM Sans Medium"/>
                <a:ea typeface="DM Sans Medium"/>
                <a:cs typeface="DM Sans Medium"/>
                <a:sym typeface="DM Sans Medium"/>
              </a:endParaRPr>
            </a:p>
          </p:txBody>
        </p:sp>
      </p:grpSp>
      <p:grpSp>
        <p:nvGrpSpPr>
          <p:cNvPr id="438" name="Google Shape;438;p51"/>
          <p:cNvGrpSpPr/>
          <p:nvPr/>
        </p:nvGrpSpPr>
        <p:grpSpPr>
          <a:xfrm>
            <a:off x="4305700" y="4318700"/>
            <a:ext cx="4580100" cy="429000"/>
            <a:chOff x="4305700" y="4318700"/>
            <a:chExt cx="4580100" cy="429000"/>
          </a:xfrm>
        </p:grpSpPr>
        <p:sp>
          <p:nvSpPr>
            <p:cNvPr id="439" name="Google Shape;439;p51"/>
            <p:cNvSpPr/>
            <p:nvPr/>
          </p:nvSpPr>
          <p:spPr>
            <a:xfrm>
              <a:off x="4305700" y="4318700"/>
              <a:ext cx="4580100" cy="4290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t/>
              </a:r>
              <a:endParaRPr sz="1100">
                <a:solidFill>
                  <a:schemeClr val="accent1"/>
                </a:solidFill>
                <a:latin typeface="DM Sans Medium"/>
                <a:ea typeface="DM Sans Medium"/>
                <a:cs typeface="DM Sans Medium"/>
                <a:sym typeface="DM Sans Medium"/>
              </a:endParaRPr>
            </a:p>
          </p:txBody>
        </p:sp>
        <p:sp>
          <p:nvSpPr>
            <p:cNvPr id="440" name="Google Shape;440;p51"/>
            <p:cNvSpPr txBox="1"/>
            <p:nvPr/>
          </p:nvSpPr>
          <p:spPr>
            <a:xfrm>
              <a:off x="4336776" y="4375150"/>
              <a:ext cx="997500" cy="3201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Medium"/>
                  <a:ea typeface="DM Sans Medium"/>
                  <a:cs typeface="DM Sans Medium"/>
                  <a:sym typeface="DM Sans Medium"/>
                </a:rPr>
                <a:t>Data Intelligence</a:t>
              </a:r>
              <a:endParaRPr sz="1100">
                <a:solidFill>
                  <a:schemeClr val="accent1"/>
                </a:solidFill>
                <a:latin typeface="DM Sans Medium"/>
                <a:ea typeface="DM Sans Medium"/>
                <a:cs typeface="DM Sans Medium"/>
                <a:sym typeface="DM Sans Medium"/>
              </a:endParaRPr>
            </a:p>
          </p:txBody>
        </p:sp>
        <p:sp>
          <p:nvSpPr>
            <p:cNvPr id="441" name="Google Shape;441;p51"/>
            <p:cNvSpPr txBox="1"/>
            <p:nvPr/>
          </p:nvSpPr>
          <p:spPr>
            <a:xfrm>
              <a:off x="5518380" y="4377925"/>
              <a:ext cx="777900" cy="3216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Search &amp; Discover</a:t>
              </a:r>
              <a:endParaRPr i="1" sz="1000">
                <a:solidFill>
                  <a:schemeClr val="accent5"/>
                </a:solidFill>
                <a:latin typeface="DM Sans"/>
                <a:ea typeface="DM Sans"/>
                <a:cs typeface="DM Sans"/>
                <a:sym typeface="DM Sans"/>
              </a:endParaRPr>
            </a:p>
          </p:txBody>
        </p:sp>
        <p:sp>
          <p:nvSpPr>
            <p:cNvPr id="442" name="Google Shape;442;p51"/>
            <p:cNvSpPr txBox="1"/>
            <p:nvPr/>
          </p:nvSpPr>
          <p:spPr>
            <a:xfrm>
              <a:off x="6741213" y="4458335"/>
              <a:ext cx="7128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Assistant</a:t>
              </a:r>
              <a:endParaRPr i="1" sz="1000">
                <a:solidFill>
                  <a:schemeClr val="accent5"/>
                </a:solidFill>
                <a:latin typeface="DM Sans"/>
                <a:ea typeface="DM Sans"/>
                <a:cs typeface="DM Sans"/>
                <a:sym typeface="DM Sans"/>
              </a:endParaRPr>
            </a:p>
          </p:txBody>
        </p:sp>
        <p:sp>
          <p:nvSpPr>
            <p:cNvPr id="443" name="Google Shape;443;p51"/>
            <p:cNvSpPr txBox="1"/>
            <p:nvPr/>
          </p:nvSpPr>
          <p:spPr>
            <a:xfrm>
              <a:off x="7956774" y="4377925"/>
              <a:ext cx="845400" cy="3216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Performance Optimizations</a:t>
              </a:r>
              <a:endParaRPr i="1" sz="1000">
                <a:solidFill>
                  <a:schemeClr val="accent5"/>
                </a:solidFill>
                <a:latin typeface="DM Sans"/>
                <a:ea typeface="DM Sans"/>
                <a:cs typeface="DM Sans"/>
                <a:sym typeface="DM Sans"/>
              </a:endParaRPr>
            </a:p>
          </p:txBody>
        </p:sp>
      </p:grpSp>
      <p:grpSp>
        <p:nvGrpSpPr>
          <p:cNvPr id="444" name="Google Shape;444;p51"/>
          <p:cNvGrpSpPr/>
          <p:nvPr/>
        </p:nvGrpSpPr>
        <p:grpSpPr>
          <a:xfrm>
            <a:off x="3424785" y="3223088"/>
            <a:ext cx="1708372" cy="788134"/>
            <a:chOff x="4396078" y="3146888"/>
            <a:chExt cx="1708372" cy="788134"/>
          </a:xfrm>
        </p:grpSpPr>
        <p:sp>
          <p:nvSpPr>
            <p:cNvPr id="445" name="Google Shape;445;p51"/>
            <p:cNvSpPr/>
            <p:nvPr/>
          </p:nvSpPr>
          <p:spPr>
            <a:xfrm>
              <a:off x="4396078" y="3146888"/>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ML</a:t>
              </a:r>
              <a:endParaRPr sz="1100">
                <a:solidFill>
                  <a:schemeClr val="accent1"/>
                </a:solidFill>
                <a:latin typeface="DM Sans Medium"/>
                <a:ea typeface="DM Sans Medium"/>
                <a:cs typeface="DM Sans Medium"/>
                <a:sym typeface="DM Sans Medium"/>
              </a:endParaRPr>
            </a:p>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Modeling</a:t>
              </a:r>
              <a:endParaRPr sz="1100">
                <a:solidFill>
                  <a:schemeClr val="accent1"/>
                </a:solidFill>
                <a:latin typeface="DM Sans Medium"/>
                <a:ea typeface="DM Sans Medium"/>
                <a:cs typeface="DM Sans Medium"/>
                <a:sym typeface="DM Sans Medium"/>
              </a:endParaRPr>
            </a:p>
          </p:txBody>
        </p:sp>
        <p:sp>
          <p:nvSpPr>
            <p:cNvPr id="446" name="Google Shape;446;p51"/>
            <p:cNvSpPr/>
            <p:nvPr/>
          </p:nvSpPr>
          <p:spPr>
            <a:xfrm>
              <a:off x="5299850" y="3146888"/>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Gen AI</a:t>
              </a:r>
              <a:endParaRPr sz="1100">
                <a:solidFill>
                  <a:schemeClr val="accent1"/>
                </a:solidFill>
                <a:latin typeface="DM Sans Medium"/>
                <a:ea typeface="DM Sans Medium"/>
                <a:cs typeface="DM Sans Medium"/>
                <a:sym typeface="DM Sans Medium"/>
              </a:endParaRPr>
            </a:p>
          </p:txBody>
        </p:sp>
        <p:sp>
          <p:nvSpPr>
            <p:cNvPr id="447" name="Google Shape;447;p51"/>
            <p:cNvSpPr/>
            <p:nvPr/>
          </p:nvSpPr>
          <p:spPr>
            <a:xfrm>
              <a:off x="4396078" y="3574112"/>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Real time Analytics</a:t>
              </a:r>
              <a:endParaRPr sz="1100">
                <a:solidFill>
                  <a:schemeClr val="accent1"/>
                </a:solidFill>
                <a:latin typeface="DM Sans Medium"/>
                <a:ea typeface="DM Sans Medium"/>
                <a:cs typeface="DM Sans Medium"/>
                <a:sym typeface="DM Sans Medium"/>
              </a:endParaRPr>
            </a:p>
          </p:txBody>
        </p:sp>
        <p:sp>
          <p:nvSpPr>
            <p:cNvPr id="448" name="Google Shape;448;p51"/>
            <p:cNvSpPr/>
            <p:nvPr/>
          </p:nvSpPr>
          <p:spPr>
            <a:xfrm>
              <a:off x="5299850" y="3574122"/>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Model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Serving</a:t>
              </a:r>
              <a:endParaRPr sz="1100">
                <a:solidFill>
                  <a:schemeClr val="accent1"/>
                </a:solidFill>
                <a:latin typeface="DM Sans Medium"/>
                <a:ea typeface="DM Sans Medium"/>
                <a:cs typeface="DM Sans Medium"/>
                <a:sym typeface="DM Sans Medium"/>
              </a:endParaRPr>
            </a:p>
          </p:txBody>
        </p:sp>
      </p:grpSp>
      <p:sp>
        <p:nvSpPr>
          <p:cNvPr id="449" name="Google Shape;449;p51"/>
          <p:cNvSpPr/>
          <p:nvPr/>
        </p:nvSpPr>
        <p:spPr>
          <a:xfrm rot="10800000">
            <a:off x="10035200" y="1406775"/>
            <a:ext cx="526200" cy="72900"/>
          </a:xfrm>
          <a:prstGeom prst="triangle">
            <a:avLst>
              <a:gd fmla="val 50000" name="adj"/>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450" name="Google Shape;450;p51"/>
          <p:cNvGrpSpPr/>
          <p:nvPr/>
        </p:nvGrpSpPr>
        <p:grpSpPr>
          <a:xfrm>
            <a:off x="2548169" y="5512483"/>
            <a:ext cx="1920306" cy="844222"/>
            <a:chOff x="2548169" y="5512483"/>
            <a:chExt cx="1920306" cy="844222"/>
          </a:xfrm>
        </p:grpSpPr>
        <p:pic>
          <p:nvPicPr>
            <p:cNvPr id="451" name="Google Shape;451;p51"/>
            <p:cNvPicPr preferRelativeResize="0"/>
            <p:nvPr/>
          </p:nvPicPr>
          <p:blipFill>
            <a:blip r:embed="rId6">
              <a:alphaModFix/>
            </a:blip>
            <a:stretch>
              <a:fillRect/>
            </a:stretch>
          </p:blipFill>
          <p:spPr>
            <a:xfrm>
              <a:off x="2548169" y="6100349"/>
              <a:ext cx="232282" cy="192628"/>
            </a:xfrm>
            <a:prstGeom prst="rect">
              <a:avLst/>
            </a:prstGeom>
            <a:noFill/>
            <a:ln>
              <a:noFill/>
            </a:ln>
          </p:spPr>
        </p:pic>
        <p:sp>
          <p:nvSpPr>
            <p:cNvPr id="452" name="Google Shape;452;p51"/>
            <p:cNvSpPr txBox="1"/>
            <p:nvPr/>
          </p:nvSpPr>
          <p:spPr>
            <a:xfrm>
              <a:off x="2754788" y="5512483"/>
              <a:ext cx="925800" cy="3201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Amazon S3</a:t>
              </a:r>
              <a:endParaRPr sz="1100">
                <a:solidFill>
                  <a:schemeClr val="accent1"/>
                </a:solidFill>
                <a:latin typeface="DM Sans"/>
                <a:ea typeface="DM Sans"/>
                <a:cs typeface="DM Sans"/>
                <a:sym typeface="DM Sans"/>
              </a:endParaRPr>
            </a:p>
          </p:txBody>
        </p:sp>
        <p:sp>
          <p:nvSpPr>
            <p:cNvPr id="453" name="Google Shape;453;p51"/>
            <p:cNvSpPr txBox="1"/>
            <p:nvPr/>
          </p:nvSpPr>
          <p:spPr>
            <a:xfrm>
              <a:off x="2754815" y="5774525"/>
              <a:ext cx="1179000" cy="3201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Microsoft </a:t>
              </a:r>
              <a:r>
                <a:rPr lang="en" sz="1100">
                  <a:solidFill>
                    <a:schemeClr val="accent1"/>
                  </a:solidFill>
                  <a:latin typeface="DM Sans"/>
                  <a:ea typeface="DM Sans"/>
                  <a:cs typeface="DM Sans"/>
                  <a:sym typeface="DM Sans"/>
                </a:rPr>
                <a:t>ADLS</a:t>
              </a:r>
              <a:endParaRPr sz="1100">
                <a:solidFill>
                  <a:schemeClr val="accent1"/>
                </a:solidFill>
                <a:latin typeface="DM Sans"/>
                <a:ea typeface="DM Sans"/>
                <a:cs typeface="DM Sans"/>
                <a:sym typeface="DM Sans"/>
              </a:endParaRPr>
            </a:p>
          </p:txBody>
        </p:sp>
        <p:sp>
          <p:nvSpPr>
            <p:cNvPr id="454" name="Google Shape;454;p51"/>
            <p:cNvSpPr txBox="1"/>
            <p:nvPr/>
          </p:nvSpPr>
          <p:spPr>
            <a:xfrm>
              <a:off x="2754788" y="6036605"/>
              <a:ext cx="1617000" cy="3201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Google Cloud Storage</a:t>
              </a:r>
              <a:endParaRPr sz="1100">
                <a:solidFill>
                  <a:schemeClr val="accent1"/>
                </a:solidFill>
                <a:latin typeface="DM Sans"/>
                <a:ea typeface="DM Sans"/>
                <a:cs typeface="DM Sans"/>
                <a:sym typeface="DM Sans"/>
              </a:endParaRPr>
            </a:p>
          </p:txBody>
        </p:sp>
        <p:pic>
          <p:nvPicPr>
            <p:cNvPr id="455" name="Google Shape;455;p51"/>
            <p:cNvPicPr preferRelativeResize="0"/>
            <p:nvPr/>
          </p:nvPicPr>
          <p:blipFill rotWithShape="1">
            <a:blip r:embed="rId7">
              <a:alphaModFix/>
            </a:blip>
            <a:srcRect b="0" l="0" r="0" t="0"/>
            <a:stretch/>
          </p:blipFill>
          <p:spPr>
            <a:xfrm>
              <a:off x="2572546" y="5581263"/>
              <a:ext cx="182526" cy="182526"/>
            </a:xfrm>
            <a:prstGeom prst="rect">
              <a:avLst/>
            </a:prstGeom>
            <a:noFill/>
            <a:ln>
              <a:noFill/>
            </a:ln>
          </p:spPr>
        </p:pic>
        <p:pic>
          <p:nvPicPr>
            <p:cNvPr id="456" name="Google Shape;456;p51"/>
            <p:cNvPicPr preferRelativeResize="0"/>
            <p:nvPr/>
          </p:nvPicPr>
          <p:blipFill>
            <a:blip r:embed="rId8">
              <a:alphaModFix/>
            </a:blip>
            <a:stretch>
              <a:fillRect/>
            </a:stretch>
          </p:blipFill>
          <p:spPr>
            <a:xfrm>
              <a:off x="2561581" y="5830643"/>
              <a:ext cx="207099" cy="203414"/>
            </a:xfrm>
            <a:prstGeom prst="rect">
              <a:avLst/>
            </a:prstGeom>
            <a:noFill/>
            <a:ln>
              <a:noFill/>
            </a:ln>
          </p:spPr>
        </p:pic>
        <p:sp>
          <p:nvSpPr>
            <p:cNvPr id="457" name="Google Shape;457;p51"/>
            <p:cNvSpPr/>
            <p:nvPr/>
          </p:nvSpPr>
          <p:spPr>
            <a:xfrm rot="5400000">
              <a:off x="4036175" y="5881225"/>
              <a:ext cx="791700" cy="72900"/>
            </a:xfrm>
            <a:prstGeom prst="triangle">
              <a:avLst>
                <a:gd fmla="val 50000" name="adj"/>
              </a:avLst>
            </a:prstGeom>
            <a:solidFill>
              <a:srgbClr val="CCD8DD"/>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458" name="Google Shape;458;p51"/>
          <p:cNvGrpSpPr/>
          <p:nvPr/>
        </p:nvGrpSpPr>
        <p:grpSpPr>
          <a:xfrm>
            <a:off x="4516555" y="5549179"/>
            <a:ext cx="1017600" cy="522024"/>
            <a:chOff x="4516555" y="5701579"/>
            <a:chExt cx="1017600" cy="522024"/>
          </a:xfrm>
        </p:grpSpPr>
        <p:pic>
          <p:nvPicPr>
            <p:cNvPr id="459" name="Google Shape;459;p51"/>
            <p:cNvPicPr preferRelativeResize="0"/>
            <p:nvPr/>
          </p:nvPicPr>
          <p:blipFill>
            <a:blip r:embed="rId9">
              <a:alphaModFix/>
            </a:blip>
            <a:stretch>
              <a:fillRect/>
            </a:stretch>
          </p:blipFill>
          <p:spPr>
            <a:xfrm>
              <a:off x="4850062" y="5701579"/>
              <a:ext cx="333150" cy="317441"/>
            </a:xfrm>
            <a:prstGeom prst="rect">
              <a:avLst/>
            </a:prstGeom>
            <a:noFill/>
            <a:ln>
              <a:noFill/>
            </a:ln>
          </p:spPr>
        </p:pic>
        <p:sp>
          <p:nvSpPr>
            <p:cNvPr id="460" name="Google Shape;460;p51"/>
            <p:cNvSpPr txBox="1"/>
            <p:nvPr/>
          </p:nvSpPr>
          <p:spPr>
            <a:xfrm>
              <a:off x="4516555" y="5926303"/>
              <a:ext cx="1017600" cy="29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300"/>
                </a:spcAft>
                <a:buNone/>
              </a:pPr>
              <a:r>
                <a:rPr lang="en" sz="1100">
                  <a:solidFill>
                    <a:schemeClr val="accent1"/>
                  </a:solidFill>
                  <a:latin typeface="DM Sans Medium"/>
                  <a:ea typeface="DM Sans Medium"/>
                  <a:cs typeface="DM Sans Medium"/>
                  <a:sym typeface="DM Sans Medium"/>
                </a:rPr>
                <a:t>Delta Lake</a:t>
              </a:r>
              <a:endParaRPr sz="1100">
                <a:solidFill>
                  <a:schemeClr val="accent1"/>
                </a:solidFill>
                <a:latin typeface="DM Sans Medium"/>
                <a:ea typeface="DM Sans Medium"/>
                <a:cs typeface="DM Sans Medium"/>
                <a:sym typeface="DM Sans Medium"/>
              </a:endParaRPr>
            </a:p>
          </p:txBody>
        </p:sp>
      </p:grpSp>
      <p:grpSp>
        <p:nvGrpSpPr>
          <p:cNvPr id="461" name="Google Shape;461;p51"/>
          <p:cNvGrpSpPr/>
          <p:nvPr/>
        </p:nvGrpSpPr>
        <p:grpSpPr>
          <a:xfrm>
            <a:off x="10020400" y="5687425"/>
            <a:ext cx="999000" cy="471900"/>
            <a:chOff x="10020400" y="5687425"/>
            <a:chExt cx="999000" cy="471900"/>
          </a:xfrm>
        </p:grpSpPr>
        <p:sp>
          <p:nvSpPr>
            <p:cNvPr id="462" name="Google Shape;462;p51"/>
            <p:cNvSpPr/>
            <p:nvPr/>
          </p:nvSpPr>
          <p:spPr>
            <a:xfrm>
              <a:off x="10067721" y="5709745"/>
              <a:ext cx="902100" cy="429000"/>
            </a:xfrm>
            <a:prstGeom prst="roundRect">
              <a:avLst>
                <a:gd fmla="val 8183"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solidFill>
                    <a:schemeClr val="accent5"/>
                  </a:solidFill>
                  <a:latin typeface="DM Sans"/>
                  <a:ea typeface="DM Sans"/>
                  <a:cs typeface="DM Sans"/>
                  <a:sym typeface="DM Sans"/>
                </a:rPr>
                <a:t>No proprietary data formats</a:t>
              </a:r>
              <a:endParaRPr sz="1000">
                <a:solidFill>
                  <a:schemeClr val="accent5"/>
                </a:solidFill>
                <a:latin typeface="DM Sans"/>
                <a:ea typeface="DM Sans"/>
                <a:cs typeface="DM Sans"/>
                <a:sym typeface="DM Sans"/>
              </a:endParaRPr>
            </a:p>
          </p:txBody>
        </p:sp>
        <p:cxnSp>
          <p:nvCxnSpPr>
            <p:cNvPr id="463" name="Google Shape;463;p51"/>
            <p:cNvCxnSpPr/>
            <p:nvPr/>
          </p:nvCxnSpPr>
          <p:spPr>
            <a:xfrm>
              <a:off x="10020400" y="5687425"/>
              <a:ext cx="999000" cy="471900"/>
            </a:xfrm>
            <a:prstGeom prst="straightConnector1">
              <a:avLst/>
            </a:prstGeom>
            <a:noFill/>
            <a:ln cap="flat" cmpd="sng" w="19050">
              <a:solidFill>
                <a:schemeClr val="dk2"/>
              </a:solidFill>
              <a:prstDash val="solid"/>
              <a:round/>
              <a:headEnd len="med" w="med" type="none"/>
              <a:tailEnd len="med" w="med" type="none"/>
            </a:ln>
          </p:spPr>
        </p:cxnSp>
      </p:grpSp>
      <p:grpSp>
        <p:nvGrpSpPr>
          <p:cNvPr id="464" name="Google Shape;464;p51"/>
          <p:cNvGrpSpPr/>
          <p:nvPr/>
        </p:nvGrpSpPr>
        <p:grpSpPr>
          <a:xfrm>
            <a:off x="1244872" y="3223100"/>
            <a:ext cx="1949883" cy="805104"/>
            <a:chOff x="1263150" y="3146900"/>
            <a:chExt cx="1949883" cy="805104"/>
          </a:xfrm>
        </p:grpSpPr>
        <p:sp>
          <p:nvSpPr>
            <p:cNvPr id="465" name="Google Shape;465;p51"/>
            <p:cNvSpPr/>
            <p:nvPr/>
          </p:nvSpPr>
          <p:spPr>
            <a:xfrm>
              <a:off x="1263150" y="3148525"/>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Batch &amp; Streaming</a:t>
              </a:r>
              <a:endParaRPr sz="1100">
                <a:solidFill>
                  <a:schemeClr val="accent1"/>
                </a:solidFill>
                <a:latin typeface="DM Sans Medium"/>
                <a:ea typeface="DM Sans Medium"/>
                <a:cs typeface="DM Sans Medium"/>
                <a:sym typeface="DM Sans Medium"/>
              </a:endParaRPr>
            </a:p>
          </p:txBody>
        </p:sp>
        <p:sp>
          <p:nvSpPr>
            <p:cNvPr id="466" name="Google Shape;466;p51"/>
            <p:cNvSpPr/>
            <p:nvPr/>
          </p:nvSpPr>
          <p:spPr>
            <a:xfrm>
              <a:off x="2184333" y="3591100"/>
              <a:ext cx="10287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000">
                  <a:solidFill>
                    <a:schemeClr val="accent1"/>
                  </a:solidFill>
                  <a:latin typeface="DM Sans Medium"/>
                  <a:ea typeface="DM Sans Medium"/>
                  <a:cs typeface="DM Sans Medium"/>
                  <a:sym typeface="DM Sans Medium"/>
                </a:rPr>
                <a:t>Lakeflow Decla- rative Pipelines</a:t>
              </a:r>
              <a:endParaRPr sz="1000">
                <a:solidFill>
                  <a:schemeClr val="accent1"/>
                </a:solidFill>
                <a:latin typeface="DM Sans Medium"/>
                <a:ea typeface="DM Sans Medium"/>
                <a:cs typeface="DM Sans Medium"/>
                <a:sym typeface="DM Sans Medium"/>
              </a:endParaRPr>
            </a:p>
          </p:txBody>
        </p:sp>
        <p:sp>
          <p:nvSpPr>
            <p:cNvPr id="467" name="Google Shape;467;p51"/>
            <p:cNvSpPr/>
            <p:nvPr/>
          </p:nvSpPr>
          <p:spPr>
            <a:xfrm>
              <a:off x="2184332" y="3146900"/>
              <a:ext cx="10287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Data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Quality</a:t>
              </a:r>
              <a:endParaRPr sz="1100">
                <a:solidFill>
                  <a:schemeClr val="accent1"/>
                </a:solidFill>
                <a:latin typeface="DM Sans Medium"/>
                <a:ea typeface="DM Sans Medium"/>
                <a:cs typeface="DM Sans Medium"/>
                <a:sym typeface="DM Sans Medium"/>
              </a:endParaRPr>
            </a:p>
          </p:txBody>
        </p:sp>
        <p:sp>
          <p:nvSpPr>
            <p:cNvPr id="468" name="Google Shape;468;p51"/>
            <p:cNvSpPr/>
            <p:nvPr/>
          </p:nvSpPr>
          <p:spPr>
            <a:xfrm>
              <a:off x="1270364" y="3591104"/>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Lakeflow Connect</a:t>
              </a:r>
              <a:endParaRPr sz="1100">
                <a:solidFill>
                  <a:schemeClr val="accent1"/>
                </a:solidFill>
                <a:latin typeface="DM Sans Medium"/>
                <a:ea typeface="DM Sans Medium"/>
                <a:cs typeface="DM Sans Medium"/>
                <a:sym typeface="DM Sans Medium"/>
              </a:endParaRPr>
            </a:p>
          </p:txBody>
        </p:sp>
      </p:grpSp>
      <p:sp>
        <p:nvSpPr>
          <p:cNvPr id="469" name="Google Shape;469;p51"/>
          <p:cNvSpPr/>
          <p:nvPr/>
        </p:nvSpPr>
        <p:spPr>
          <a:xfrm>
            <a:off x="8729054" y="1638700"/>
            <a:ext cx="8037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Databricks Apps </a:t>
            </a:r>
            <a:endParaRPr sz="1100">
              <a:solidFill>
                <a:schemeClr val="accent1"/>
              </a:solidFill>
              <a:latin typeface="DM Sans Medium"/>
              <a:ea typeface="DM Sans Medium"/>
              <a:cs typeface="DM Sans Medium"/>
              <a:sym typeface="DM Sans Medium"/>
            </a:endParaRPr>
          </a:p>
        </p:txBody>
      </p:sp>
      <p:grpSp>
        <p:nvGrpSpPr>
          <p:cNvPr id="470" name="Google Shape;470;p51"/>
          <p:cNvGrpSpPr/>
          <p:nvPr/>
        </p:nvGrpSpPr>
        <p:grpSpPr>
          <a:xfrm>
            <a:off x="5467604" y="1638700"/>
            <a:ext cx="2565350" cy="362400"/>
            <a:chOff x="5467604" y="1638700"/>
            <a:chExt cx="2565350" cy="362400"/>
          </a:xfrm>
        </p:grpSpPr>
        <p:sp>
          <p:nvSpPr>
            <p:cNvPr id="471" name="Google Shape;471;p51"/>
            <p:cNvSpPr/>
            <p:nvPr/>
          </p:nvSpPr>
          <p:spPr>
            <a:xfrm>
              <a:off x="7200754" y="1638700"/>
              <a:ext cx="8322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SQL Editor</a:t>
              </a:r>
              <a:endParaRPr sz="1100">
                <a:solidFill>
                  <a:schemeClr val="accent1"/>
                </a:solidFill>
                <a:latin typeface="DM Sans Medium"/>
                <a:ea typeface="DM Sans Medium"/>
                <a:cs typeface="DM Sans Medium"/>
                <a:sym typeface="DM Sans Medium"/>
              </a:endParaRPr>
            </a:p>
          </p:txBody>
        </p:sp>
        <p:sp>
          <p:nvSpPr>
            <p:cNvPr id="472" name="Google Shape;472;p51"/>
            <p:cNvSpPr/>
            <p:nvPr/>
          </p:nvSpPr>
          <p:spPr>
            <a:xfrm>
              <a:off x="5467604" y="1638700"/>
              <a:ext cx="8037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AI/BI</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Genie </a:t>
              </a:r>
              <a:endParaRPr sz="1100">
                <a:solidFill>
                  <a:schemeClr val="accent1"/>
                </a:solidFill>
                <a:latin typeface="DM Sans Medium"/>
                <a:ea typeface="DM Sans Medium"/>
                <a:cs typeface="DM Sans Medium"/>
                <a:sym typeface="DM Sans Medium"/>
              </a:endParaRPr>
            </a:p>
          </p:txBody>
        </p:sp>
        <p:sp>
          <p:nvSpPr>
            <p:cNvPr id="473" name="Google Shape;473;p51"/>
            <p:cNvSpPr/>
            <p:nvPr/>
          </p:nvSpPr>
          <p:spPr>
            <a:xfrm>
              <a:off x="6334179" y="1638700"/>
              <a:ext cx="8037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AI/BI Dashboard</a:t>
              </a:r>
              <a:endParaRPr sz="1100">
                <a:solidFill>
                  <a:schemeClr val="accent1"/>
                </a:solidFill>
                <a:latin typeface="DM Sans Medium"/>
                <a:ea typeface="DM Sans Medium"/>
                <a:cs typeface="DM Sans Medium"/>
                <a:sym typeface="DM Sans Medium"/>
              </a:endParaRPr>
            </a:p>
          </p:txBody>
        </p:sp>
      </p:grpSp>
      <p:grpSp>
        <p:nvGrpSpPr>
          <p:cNvPr id="474" name="Google Shape;474;p51"/>
          <p:cNvGrpSpPr/>
          <p:nvPr/>
        </p:nvGrpSpPr>
        <p:grpSpPr>
          <a:xfrm>
            <a:off x="4091285" y="2173263"/>
            <a:ext cx="2757447" cy="362413"/>
            <a:chOff x="4091285" y="2173263"/>
            <a:chExt cx="2757447" cy="362413"/>
          </a:xfrm>
        </p:grpSpPr>
        <p:sp>
          <p:nvSpPr>
            <p:cNvPr id="475" name="Google Shape;475;p51"/>
            <p:cNvSpPr/>
            <p:nvPr/>
          </p:nvSpPr>
          <p:spPr>
            <a:xfrm>
              <a:off x="4091285" y="2173263"/>
              <a:ext cx="8046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Lakeflow</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Jobs</a:t>
              </a:r>
              <a:endParaRPr sz="1100">
                <a:solidFill>
                  <a:schemeClr val="accent1"/>
                </a:solidFill>
                <a:latin typeface="DM Sans Medium"/>
                <a:ea typeface="DM Sans Medium"/>
                <a:cs typeface="DM Sans Medium"/>
                <a:sym typeface="DM Sans Medium"/>
              </a:endParaRPr>
            </a:p>
          </p:txBody>
        </p:sp>
        <p:sp>
          <p:nvSpPr>
            <p:cNvPr id="476" name="Google Shape;476;p51"/>
            <p:cNvSpPr/>
            <p:nvPr/>
          </p:nvSpPr>
          <p:spPr>
            <a:xfrm>
              <a:off x="5067708" y="2173275"/>
              <a:ext cx="8046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CI/CD</a:t>
              </a:r>
              <a:endParaRPr sz="1100">
                <a:solidFill>
                  <a:schemeClr val="accent1"/>
                </a:solidFill>
                <a:latin typeface="DM Sans Medium"/>
                <a:ea typeface="DM Sans Medium"/>
                <a:cs typeface="DM Sans Medium"/>
                <a:sym typeface="DM Sans Medium"/>
              </a:endParaRPr>
            </a:p>
          </p:txBody>
        </p:sp>
        <p:sp>
          <p:nvSpPr>
            <p:cNvPr id="477" name="Google Shape;477;p51"/>
            <p:cNvSpPr/>
            <p:nvPr/>
          </p:nvSpPr>
          <p:spPr>
            <a:xfrm>
              <a:off x="6044132" y="2173275"/>
              <a:ext cx="8046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MLOps</a:t>
              </a:r>
              <a:endParaRPr sz="1100">
                <a:solidFill>
                  <a:schemeClr val="accent1"/>
                </a:solidFill>
                <a:latin typeface="DM Sans Medium"/>
                <a:ea typeface="DM Sans Medium"/>
                <a:cs typeface="DM Sans Medium"/>
                <a:sym typeface="DM Sans Medium"/>
              </a:endParaRPr>
            </a:p>
          </p:txBody>
        </p:sp>
      </p:grpSp>
      <p:grpSp>
        <p:nvGrpSpPr>
          <p:cNvPr id="478" name="Google Shape;478;p51"/>
          <p:cNvGrpSpPr/>
          <p:nvPr/>
        </p:nvGrpSpPr>
        <p:grpSpPr>
          <a:xfrm>
            <a:off x="9897511" y="2177672"/>
            <a:ext cx="925800" cy="1414208"/>
            <a:chOff x="9897511" y="2177672"/>
            <a:chExt cx="925800" cy="1414208"/>
          </a:xfrm>
        </p:grpSpPr>
        <p:sp>
          <p:nvSpPr>
            <p:cNvPr id="479" name="Google Shape;479;p51"/>
            <p:cNvSpPr/>
            <p:nvPr/>
          </p:nvSpPr>
          <p:spPr>
            <a:xfrm>
              <a:off x="9897511" y="2177672"/>
              <a:ext cx="925800" cy="3693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        Delta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          Sharing</a:t>
              </a:r>
              <a:endParaRPr sz="1100">
                <a:solidFill>
                  <a:schemeClr val="accent1"/>
                </a:solidFill>
                <a:latin typeface="DM Sans Medium"/>
                <a:ea typeface="DM Sans Medium"/>
                <a:cs typeface="DM Sans Medium"/>
                <a:sym typeface="DM Sans Medium"/>
              </a:endParaRPr>
            </a:p>
          </p:txBody>
        </p:sp>
        <p:sp>
          <p:nvSpPr>
            <p:cNvPr id="480" name="Google Shape;480;p51"/>
            <p:cNvSpPr/>
            <p:nvPr/>
          </p:nvSpPr>
          <p:spPr>
            <a:xfrm>
              <a:off x="9897511" y="2700129"/>
              <a:ext cx="925800" cy="3693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Marketplace</a:t>
              </a:r>
              <a:endParaRPr sz="1100">
                <a:solidFill>
                  <a:schemeClr val="accent1"/>
                </a:solidFill>
                <a:latin typeface="DM Sans Medium"/>
                <a:ea typeface="DM Sans Medium"/>
                <a:cs typeface="DM Sans Medium"/>
                <a:sym typeface="DM Sans Medium"/>
              </a:endParaRPr>
            </a:p>
          </p:txBody>
        </p:sp>
        <p:pic>
          <p:nvPicPr>
            <p:cNvPr id="481" name="Google Shape;481;p51"/>
            <p:cNvPicPr preferRelativeResize="0"/>
            <p:nvPr/>
          </p:nvPicPr>
          <p:blipFill>
            <a:blip r:embed="rId10">
              <a:alphaModFix/>
            </a:blip>
            <a:stretch>
              <a:fillRect/>
            </a:stretch>
          </p:blipFill>
          <p:spPr>
            <a:xfrm>
              <a:off x="9937617" y="2244145"/>
              <a:ext cx="282300" cy="236358"/>
            </a:xfrm>
            <a:prstGeom prst="rect">
              <a:avLst/>
            </a:prstGeom>
            <a:noFill/>
            <a:ln>
              <a:noFill/>
            </a:ln>
          </p:spPr>
        </p:pic>
        <p:sp>
          <p:nvSpPr>
            <p:cNvPr id="482" name="Google Shape;482;p51"/>
            <p:cNvSpPr/>
            <p:nvPr/>
          </p:nvSpPr>
          <p:spPr>
            <a:xfrm>
              <a:off x="9897511" y="3222579"/>
              <a:ext cx="925800" cy="3693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Clean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Rooms</a:t>
              </a:r>
              <a:endParaRPr sz="1100">
                <a:solidFill>
                  <a:schemeClr val="accent1"/>
                </a:solidFill>
                <a:latin typeface="DM Sans Medium"/>
                <a:ea typeface="DM Sans Medium"/>
                <a:cs typeface="DM Sans Medium"/>
                <a:sym typeface="DM Sans Medium"/>
              </a:endParaRPr>
            </a:p>
          </p:txBody>
        </p:sp>
      </p:grpSp>
      <p:grpSp>
        <p:nvGrpSpPr>
          <p:cNvPr id="483" name="Google Shape;483;p51"/>
          <p:cNvGrpSpPr/>
          <p:nvPr/>
        </p:nvGrpSpPr>
        <p:grpSpPr>
          <a:xfrm>
            <a:off x="5550725" y="5518442"/>
            <a:ext cx="3643071" cy="515676"/>
            <a:chOff x="5550725" y="5723874"/>
            <a:chExt cx="3643071" cy="515676"/>
          </a:xfrm>
        </p:grpSpPr>
        <p:sp>
          <p:nvSpPr>
            <p:cNvPr id="484" name="Google Shape;484;p51"/>
            <p:cNvSpPr/>
            <p:nvPr/>
          </p:nvSpPr>
          <p:spPr>
            <a:xfrm>
              <a:off x="7178773" y="5724645"/>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images</a:t>
              </a:r>
              <a:endParaRPr sz="1100">
                <a:solidFill>
                  <a:schemeClr val="accent1"/>
                </a:solidFill>
                <a:latin typeface="DM Sans"/>
                <a:ea typeface="DM Sans"/>
                <a:cs typeface="DM Sans"/>
                <a:sym typeface="DM Sans"/>
              </a:endParaRPr>
            </a:p>
          </p:txBody>
        </p:sp>
        <p:sp>
          <p:nvSpPr>
            <p:cNvPr id="485" name="Google Shape;485;p51"/>
            <p:cNvSpPr/>
            <p:nvPr/>
          </p:nvSpPr>
          <p:spPr>
            <a:xfrm>
              <a:off x="6488811" y="5724645"/>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CSV</a:t>
              </a:r>
              <a:endParaRPr sz="1100">
                <a:solidFill>
                  <a:schemeClr val="accent1"/>
                </a:solidFill>
                <a:latin typeface="DM Sans"/>
                <a:ea typeface="DM Sans"/>
                <a:cs typeface="DM Sans"/>
                <a:sym typeface="DM Sans"/>
              </a:endParaRPr>
            </a:p>
          </p:txBody>
        </p:sp>
        <p:sp>
          <p:nvSpPr>
            <p:cNvPr id="486" name="Google Shape;486;p51"/>
            <p:cNvSpPr/>
            <p:nvPr/>
          </p:nvSpPr>
          <p:spPr>
            <a:xfrm>
              <a:off x="7868735" y="5723874"/>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arbitrary</a:t>
              </a:r>
              <a:endParaRPr sz="1100">
                <a:solidFill>
                  <a:schemeClr val="accent1"/>
                </a:solidFill>
                <a:latin typeface="DM Sans"/>
                <a:ea typeface="DM Sans"/>
                <a:cs typeface="DM Sans"/>
                <a:sym typeface="DM Sans"/>
              </a:endParaRPr>
            </a:p>
          </p:txBody>
        </p:sp>
        <p:sp>
          <p:nvSpPr>
            <p:cNvPr id="487" name="Google Shape;487;p51"/>
            <p:cNvSpPr/>
            <p:nvPr/>
          </p:nvSpPr>
          <p:spPr>
            <a:xfrm>
              <a:off x="8558696" y="5724628"/>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 . .</a:t>
              </a:r>
              <a:endParaRPr sz="1100">
                <a:solidFill>
                  <a:schemeClr val="accent1"/>
                </a:solidFill>
                <a:latin typeface="DM Sans"/>
                <a:ea typeface="DM Sans"/>
                <a:cs typeface="DM Sans"/>
                <a:sym typeface="DM Sans"/>
              </a:endParaRPr>
            </a:p>
          </p:txBody>
        </p:sp>
        <p:sp>
          <p:nvSpPr>
            <p:cNvPr id="488" name="Google Shape;488;p51"/>
            <p:cNvSpPr/>
            <p:nvPr/>
          </p:nvSpPr>
          <p:spPr>
            <a:xfrm>
              <a:off x="7515449" y="5967750"/>
              <a:ext cx="867000" cy="2718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228600" rtl="0" algn="ctr">
                <a:spcBef>
                  <a:spcPts val="0"/>
                </a:spcBef>
                <a:spcAft>
                  <a:spcPts val="0"/>
                </a:spcAft>
                <a:buNone/>
              </a:pPr>
              <a:r>
                <a:rPr lang="en" sz="1100">
                  <a:solidFill>
                    <a:schemeClr val="accent1"/>
                  </a:solidFill>
                  <a:latin typeface="DM Sans Medium"/>
                  <a:ea typeface="DM Sans Medium"/>
                  <a:cs typeface="DM Sans Medium"/>
                  <a:sym typeface="DM Sans Medium"/>
                </a:rPr>
                <a:t>Parquet</a:t>
              </a:r>
              <a:endParaRPr sz="1100">
                <a:solidFill>
                  <a:schemeClr val="accent1"/>
                </a:solidFill>
                <a:latin typeface="DM Sans Medium"/>
                <a:ea typeface="DM Sans Medium"/>
                <a:cs typeface="DM Sans Medium"/>
                <a:sym typeface="DM Sans Medium"/>
              </a:endParaRPr>
            </a:p>
          </p:txBody>
        </p:sp>
        <p:sp>
          <p:nvSpPr>
            <p:cNvPr id="489" name="Google Shape;489;p51"/>
            <p:cNvSpPr/>
            <p:nvPr/>
          </p:nvSpPr>
          <p:spPr>
            <a:xfrm>
              <a:off x="5798850" y="5965731"/>
              <a:ext cx="712800" cy="2718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45700" wrap="square" tIns="91425">
              <a:noAutofit/>
            </a:bodyPr>
            <a:lstStyle/>
            <a:p>
              <a:pPr indent="0" lvl="0" marL="0" marR="0" rtl="0" algn="l">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        Delta</a:t>
              </a:r>
              <a:endParaRPr sz="1100">
                <a:solidFill>
                  <a:schemeClr val="accent1"/>
                </a:solidFill>
                <a:latin typeface="DM Sans Medium"/>
                <a:ea typeface="DM Sans Medium"/>
                <a:cs typeface="DM Sans Medium"/>
                <a:sym typeface="DM Sans Medium"/>
              </a:endParaRPr>
            </a:p>
          </p:txBody>
        </p:sp>
        <p:sp>
          <p:nvSpPr>
            <p:cNvPr id="490" name="Google Shape;490;p51"/>
            <p:cNvSpPr/>
            <p:nvPr/>
          </p:nvSpPr>
          <p:spPr>
            <a:xfrm>
              <a:off x="5798850" y="5724645"/>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JSON</a:t>
              </a:r>
              <a:endParaRPr sz="1100">
                <a:solidFill>
                  <a:schemeClr val="accent1"/>
                </a:solidFill>
                <a:latin typeface="DM Sans"/>
                <a:ea typeface="DM Sans"/>
                <a:cs typeface="DM Sans"/>
                <a:sym typeface="DM Sans"/>
              </a:endParaRPr>
            </a:p>
          </p:txBody>
        </p:sp>
        <p:sp>
          <p:nvSpPr>
            <p:cNvPr id="491" name="Google Shape;491;p51"/>
            <p:cNvSpPr/>
            <p:nvPr/>
          </p:nvSpPr>
          <p:spPr>
            <a:xfrm rot="-5400000">
              <a:off x="5343125" y="5952375"/>
              <a:ext cx="488100" cy="72900"/>
            </a:xfrm>
            <a:prstGeom prst="triangle">
              <a:avLst>
                <a:gd fmla="val 5000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92" name="Google Shape;492;p51"/>
            <p:cNvPicPr preferRelativeResize="0"/>
            <p:nvPr/>
          </p:nvPicPr>
          <p:blipFill>
            <a:blip r:embed="rId9">
              <a:alphaModFix/>
            </a:blip>
            <a:stretch>
              <a:fillRect/>
            </a:stretch>
          </p:blipFill>
          <p:spPr>
            <a:xfrm>
              <a:off x="5839550" y="6008547"/>
              <a:ext cx="204300" cy="194646"/>
            </a:xfrm>
            <a:prstGeom prst="rect">
              <a:avLst/>
            </a:prstGeom>
            <a:noFill/>
            <a:ln>
              <a:noFill/>
            </a:ln>
          </p:spPr>
        </p:pic>
        <p:sp>
          <p:nvSpPr>
            <p:cNvPr id="493" name="Google Shape;493;p51"/>
            <p:cNvSpPr/>
            <p:nvPr/>
          </p:nvSpPr>
          <p:spPr>
            <a:xfrm>
              <a:off x="6580050" y="5965725"/>
              <a:ext cx="867000" cy="2718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45700" wrap="square" tIns="91425">
              <a:noAutofit/>
            </a:bodyPr>
            <a:lstStyle/>
            <a:p>
              <a:pPr indent="0" lvl="0" marL="0" marR="0" rtl="0" algn="l">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        Iceberg</a:t>
              </a:r>
              <a:endParaRPr sz="1100">
                <a:solidFill>
                  <a:schemeClr val="accent1"/>
                </a:solidFill>
                <a:latin typeface="DM Sans Medium"/>
                <a:ea typeface="DM Sans Medium"/>
                <a:cs typeface="DM Sans Medium"/>
                <a:sym typeface="DM Sans Medium"/>
              </a:endParaRPr>
            </a:p>
          </p:txBody>
        </p:sp>
        <p:pic>
          <p:nvPicPr>
            <p:cNvPr id="494" name="Google Shape;494;p51"/>
            <p:cNvPicPr preferRelativeResize="0"/>
            <p:nvPr/>
          </p:nvPicPr>
          <p:blipFill>
            <a:blip r:embed="rId11">
              <a:alphaModFix/>
            </a:blip>
            <a:stretch>
              <a:fillRect/>
            </a:stretch>
          </p:blipFill>
          <p:spPr>
            <a:xfrm>
              <a:off x="6622601" y="5999481"/>
              <a:ext cx="204300" cy="204300"/>
            </a:xfrm>
            <a:prstGeom prst="rect">
              <a:avLst/>
            </a:prstGeom>
            <a:noFill/>
            <a:ln>
              <a:noFill/>
            </a:ln>
          </p:spPr>
        </p:pic>
        <p:pic>
          <p:nvPicPr>
            <p:cNvPr id="495" name="Google Shape;495;p51"/>
            <p:cNvPicPr preferRelativeResize="0"/>
            <p:nvPr/>
          </p:nvPicPr>
          <p:blipFill>
            <a:blip r:embed="rId12">
              <a:alphaModFix/>
            </a:blip>
            <a:stretch>
              <a:fillRect/>
            </a:stretch>
          </p:blipFill>
          <p:spPr>
            <a:xfrm>
              <a:off x="7538323" y="6011625"/>
              <a:ext cx="237375" cy="186600"/>
            </a:xfrm>
            <a:prstGeom prst="rect">
              <a:avLst/>
            </a:prstGeom>
            <a:noFill/>
            <a:ln>
              <a:noFill/>
            </a:ln>
          </p:spPr>
        </p:pic>
      </p:grpSp>
      <p:grpSp>
        <p:nvGrpSpPr>
          <p:cNvPr id="496" name="Google Shape;496;p51"/>
          <p:cNvGrpSpPr/>
          <p:nvPr/>
        </p:nvGrpSpPr>
        <p:grpSpPr>
          <a:xfrm>
            <a:off x="4305700" y="4919425"/>
            <a:ext cx="6278100" cy="429000"/>
            <a:chOff x="4305700" y="4919425"/>
            <a:chExt cx="6278100" cy="429000"/>
          </a:xfrm>
        </p:grpSpPr>
        <p:sp>
          <p:nvSpPr>
            <p:cNvPr id="497" name="Google Shape;497;p51"/>
            <p:cNvSpPr/>
            <p:nvPr/>
          </p:nvSpPr>
          <p:spPr>
            <a:xfrm>
              <a:off x="4305700" y="4919425"/>
              <a:ext cx="6278100" cy="4290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t/>
              </a:r>
              <a:endParaRPr sz="1100">
                <a:solidFill>
                  <a:schemeClr val="accent1"/>
                </a:solidFill>
                <a:latin typeface="DM Sans Medium"/>
                <a:ea typeface="DM Sans Medium"/>
                <a:cs typeface="DM Sans Medium"/>
                <a:sym typeface="DM Sans Medium"/>
              </a:endParaRPr>
            </a:p>
          </p:txBody>
        </p:sp>
        <p:sp>
          <p:nvSpPr>
            <p:cNvPr id="498" name="Google Shape;498;p51"/>
            <p:cNvSpPr txBox="1"/>
            <p:nvPr/>
          </p:nvSpPr>
          <p:spPr>
            <a:xfrm>
              <a:off x="4699175" y="4975900"/>
              <a:ext cx="635100" cy="320100"/>
            </a:xfrm>
            <a:prstGeom prst="rect">
              <a:avLst/>
            </a:prstGeom>
            <a:no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Medium"/>
                  <a:ea typeface="DM Sans Medium"/>
                  <a:cs typeface="DM Sans Medium"/>
                  <a:sym typeface="DM Sans Medium"/>
                </a:rPr>
                <a:t>Unity Catalog</a:t>
              </a:r>
              <a:endParaRPr sz="1100">
                <a:solidFill>
                  <a:schemeClr val="accent1"/>
                </a:solidFill>
                <a:latin typeface="DM Sans Medium"/>
                <a:ea typeface="DM Sans Medium"/>
                <a:cs typeface="DM Sans Medium"/>
                <a:sym typeface="DM Sans Medium"/>
              </a:endParaRPr>
            </a:p>
          </p:txBody>
        </p:sp>
        <p:sp>
          <p:nvSpPr>
            <p:cNvPr id="499" name="Google Shape;499;p51"/>
            <p:cNvSpPr txBox="1"/>
            <p:nvPr/>
          </p:nvSpPr>
          <p:spPr>
            <a:xfrm>
              <a:off x="5530588" y="4978672"/>
              <a:ext cx="560100" cy="3216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Access Control</a:t>
              </a:r>
              <a:endParaRPr i="1" sz="1000">
                <a:solidFill>
                  <a:schemeClr val="accent5"/>
                </a:solidFill>
                <a:latin typeface="DM Sans"/>
                <a:ea typeface="DM Sans"/>
                <a:cs typeface="DM Sans"/>
                <a:sym typeface="DM Sans"/>
              </a:endParaRPr>
            </a:p>
          </p:txBody>
        </p:sp>
        <p:sp>
          <p:nvSpPr>
            <p:cNvPr id="500" name="Google Shape;500;p51"/>
            <p:cNvSpPr txBox="1"/>
            <p:nvPr/>
          </p:nvSpPr>
          <p:spPr>
            <a:xfrm>
              <a:off x="6115083" y="5059072"/>
              <a:ext cx="5934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Auditing</a:t>
              </a:r>
              <a:endParaRPr i="1" sz="1000">
                <a:solidFill>
                  <a:schemeClr val="accent5"/>
                </a:solidFill>
                <a:latin typeface="DM Sans"/>
                <a:ea typeface="DM Sans"/>
                <a:cs typeface="DM Sans"/>
                <a:sym typeface="DM Sans"/>
              </a:endParaRPr>
            </a:p>
          </p:txBody>
        </p:sp>
        <p:sp>
          <p:nvSpPr>
            <p:cNvPr id="501" name="Google Shape;501;p51"/>
            <p:cNvSpPr txBox="1"/>
            <p:nvPr/>
          </p:nvSpPr>
          <p:spPr>
            <a:xfrm>
              <a:off x="6732879" y="5059072"/>
              <a:ext cx="7128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Discovery</a:t>
              </a:r>
              <a:endParaRPr i="1" sz="1000">
                <a:solidFill>
                  <a:schemeClr val="accent5"/>
                </a:solidFill>
                <a:latin typeface="DM Sans"/>
                <a:ea typeface="DM Sans"/>
                <a:cs typeface="DM Sans"/>
                <a:sym typeface="DM Sans"/>
              </a:endParaRPr>
            </a:p>
          </p:txBody>
        </p:sp>
        <p:sp>
          <p:nvSpPr>
            <p:cNvPr id="502" name="Google Shape;502;p51"/>
            <p:cNvSpPr txBox="1"/>
            <p:nvPr/>
          </p:nvSpPr>
          <p:spPr>
            <a:xfrm>
              <a:off x="7470075" y="5059072"/>
              <a:ext cx="5601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Lineage</a:t>
              </a:r>
              <a:endParaRPr i="1" sz="1000">
                <a:solidFill>
                  <a:schemeClr val="accent5"/>
                </a:solidFill>
                <a:latin typeface="DM Sans"/>
                <a:ea typeface="DM Sans"/>
                <a:cs typeface="DM Sans"/>
                <a:sym typeface="DM Sans"/>
              </a:endParaRPr>
            </a:p>
          </p:txBody>
        </p:sp>
        <p:sp>
          <p:nvSpPr>
            <p:cNvPr id="503" name="Google Shape;503;p51"/>
            <p:cNvSpPr txBox="1"/>
            <p:nvPr/>
          </p:nvSpPr>
          <p:spPr>
            <a:xfrm>
              <a:off x="8054571" y="5059074"/>
              <a:ext cx="777900" cy="160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000">
                  <a:solidFill>
                    <a:schemeClr val="accent5"/>
                  </a:solidFill>
                  <a:latin typeface="DM Sans"/>
                  <a:ea typeface="DM Sans"/>
                  <a:cs typeface="DM Sans"/>
                  <a:sym typeface="DM Sans"/>
                </a:rPr>
                <a:t>Federation</a:t>
              </a:r>
              <a:endParaRPr i="1" sz="1000">
                <a:solidFill>
                  <a:schemeClr val="accent5"/>
                </a:solidFill>
                <a:latin typeface="DM Sans"/>
                <a:ea typeface="DM Sans"/>
                <a:cs typeface="DM Sans"/>
                <a:sym typeface="DM Sans"/>
              </a:endParaRPr>
            </a:p>
          </p:txBody>
        </p:sp>
        <p:sp>
          <p:nvSpPr>
            <p:cNvPr id="504" name="Google Shape;504;p51"/>
            <p:cNvSpPr txBox="1"/>
            <p:nvPr/>
          </p:nvSpPr>
          <p:spPr>
            <a:xfrm>
              <a:off x="9659163" y="4970122"/>
              <a:ext cx="777900" cy="33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000">
                  <a:solidFill>
                    <a:schemeClr val="accent5"/>
                  </a:solidFill>
                  <a:latin typeface="DM Sans"/>
                  <a:ea typeface="DM Sans"/>
                  <a:cs typeface="DM Sans"/>
                  <a:sym typeface="DM Sans"/>
                </a:rPr>
                <a:t>Quality Monitoring</a:t>
              </a:r>
              <a:endParaRPr i="1" sz="1000">
                <a:solidFill>
                  <a:schemeClr val="accent5"/>
                </a:solidFill>
                <a:latin typeface="DM Sans"/>
                <a:ea typeface="DM Sans"/>
                <a:cs typeface="DM Sans"/>
                <a:sym typeface="DM Sans"/>
              </a:endParaRPr>
            </a:p>
          </p:txBody>
        </p:sp>
        <p:pic>
          <p:nvPicPr>
            <p:cNvPr id="505" name="Google Shape;505;p51"/>
            <p:cNvPicPr preferRelativeResize="0"/>
            <p:nvPr/>
          </p:nvPicPr>
          <p:blipFill>
            <a:blip r:embed="rId13">
              <a:alphaModFix/>
            </a:blip>
            <a:stretch>
              <a:fillRect/>
            </a:stretch>
          </p:blipFill>
          <p:spPr>
            <a:xfrm>
              <a:off x="4462346" y="4991000"/>
              <a:ext cx="282300" cy="282300"/>
            </a:xfrm>
            <a:prstGeom prst="rect">
              <a:avLst/>
            </a:prstGeom>
            <a:noFill/>
            <a:ln>
              <a:noFill/>
            </a:ln>
          </p:spPr>
        </p:pic>
        <p:sp>
          <p:nvSpPr>
            <p:cNvPr id="506" name="Google Shape;506;p51"/>
            <p:cNvSpPr txBox="1"/>
            <p:nvPr/>
          </p:nvSpPr>
          <p:spPr>
            <a:xfrm>
              <a:off x="8856867" y="4970122"/>
              <a:ext cx="777900" cy="33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000">
                  <a:solidFill>
                    <a:schemeClr val="accent5"/>
                  </a:solidFill>
                  <a:latin typeface="DM Sans"/>
                  <a:ea typeface="DM Sans"/>
                  <a:cs typeface="DM Sans"/>
                  <a:sym typeface="DM Sans"/>
                </a:rPr>
                <a:t>Business Semantics</a:t>
              </a:r>
              <a:endParaRPr i="1" sz="1000">
                <a:solidFill>
                  <a:schemeClr val="accent5"/>
                </a:solidFill>
                <a:latin typeface="DM Sans"/>
                <a:ea typeface="DM Sans"/>
                <a:cs typeface="DM Sans"/>
                <a:sym typeface="DM Sans"/>
              </a:endParaRPr>
            </a:p>
          </p:txBody>
        </p:sp>
      </p:grpSp>
      <p:grpSp>
        <p:nvGrpSpPr>
          <p:cNvPr id="507" name="Google Shape;507;p51"/>
          <p:cNvGrpSpPr/>
          <p:nvPr/>
        </p:nvGrpSpPr>
        <p:grpSpPr>
          <a:xfrm>
            <a:off x="4589560" y="3203428"/>
            <a:ext cx="4563265" cy="3113475"/>
            <a:chOff x="4589560" y="3223075"/>
            <a:chExt cx="4563265" cy="3113475"/>
          </a:xfrm>
        </p:grpSpPr>
        <p:sp>
          <p:nvSpPr>
            <p:cNvPr id="508" name="Google Shape;508;p51"/>
            <p:cNvSpPr/>
            <p:nvPr/>
          </p:nvSpPr>
          <p:spPr>
            <a:xfrm>
              <a:off x="8348225" y="3223075"/>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Lakebase</a:t>
              </a:r>
              <a:endParaRPr sz="1100">
                <a:solidFill>
                  <a:schemeClr val="accent1"/>
                </a:solidFill>
                <a:latin typeface="DM Sans Medium"/>
                <a:ea typeface="DM Sans Medium"/>
                <a:cs typeface="DM Sans Medium"/>
                <a:sym typeface="DM Sans Medium"/>
              </a:endParaRPr>
            </a:p>
          </p:txBody>
        </p:sp>
        <p:grpSp>
          <p:nvGrpSpPr>
            <p:cNvPr id="509" name="Google Shape;509;p51"/>
            <p:cNvGrpSpPr/>
            <p:nvPr/>
          </p:nvGrpSpPr>
          <p:grpSpPr>
            <a:xfrm>
              <a:off x="4589560" y="6096550"/>
              <a:ext cx="901390" cy="240000"/>
              <a:chOff x="4589560" y="6340596"/>
              <a:chExt cx="901390" cy="240000"/>
            </a:xfrm>
          </p:grpSpPr>
          <p:sp>
            <p:nvSpPr>
              <p:cNvPr id="510" name="Google Shape;510;p51"/>
              <p:cNvSpPr/>
              <p:nvPr/>
            </p:nvSpPr>
            <p:spPr>
              <a:xfrm>
                <a:off x="4591850" y="6340596"/>
                <a:ext cx="899100" cy="240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228600" rtl="0" algn="ctr">
                  <a:spcBef>
                    <a:spcPts val="0"/>
                  </a:spcBef>
                  <a:spcAft>
                    <a:spcPts val="0"/>
                  </a:spcAft>
                  <a:buNone/>
                </a:pPr>
                <a:r>
                  <a:rPr lang="en" sz="1100">
                    <a:solidFill>
                      <a:schemeClr val="accent1"/>
                    </a:solidFill>
                    <a:latin typeface="DM Sans Medium"/>
                    <a:ea typeface="DM Sans Medium"/>
                    <a:cs typeface="DM Sans Medium"/>
                    <a:sym typeface="DM Sans Medium"/>
                  </a:rPr>
                  <a:t>Database</a:t>
                </a:r>
                <a:endParaRPr sz="1100">
                  <a:solidFill>
                    <a:schemeClr val="accent1"/>
                  </a:solidFill>
                  <a:latin typeface="DM Sans Medium"/>
                  <a:ea typeface="DM Sans Medium"/>
                  <a:cs typeface="DM Sans Medium"/>
                  <a:sym typeface="DM Sans Medium"/>
                </a:endParaRPr>
              </a:p>
            </p:txBody>
          </p:sp>
          <p:pic>
            <p:nvPicPr>
              <p:cNvPr id="511" name="Google Shape;511;p51"/>
              <p:cNvPicPr preferRelativeResize="0"/>
              <p:nvPr/>
            </p:nvPicPr>
            <p:blipFill rotWithShape="1">
              <a:blip r:embed="rId14">
                <a:alphaModFix/>
              </a:blip>
              <a:srcRect b="27541" l="0" r="0" t="0"/>
              <a:stretch/>
            </p:blipFill>
            <p:spPr>
              <a:xfrm>
                <a:off x="4589560" y="6356875"/>
                <a:ext cx="266325" cy="207650"/>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5" name="Shape 515"/>
        <p:cNvGrpSpPr/>
        <p:nvPr/>
      </p:nvGrpSpPr>
      <p:grpSpPr>
        <a:xfrm>
          <a:off x="0" y="0"/>
          <a:ext cx="0" cy="0"/>
          <a:chOff x="0" y="0"/>
          <a:chExt cx="0" cy="0"/>
        </a:xfrm>
      </p:grpSpPr>
      <p:sp>
        <p:nvSpPr>
          <p:cNvPr id="516" name="Google Shape;516;p52"/>
          <p:cNvSpPr txBox="1"/>
          <p:nvPr>
            <p:ph type="title"/>
          </p:nvPr>
        </p:nvSpPr>
        <p:spPr>
          <a:xfrm>
            <a:off x="749250" y="535625"/>
            <a:ext cx="9321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Databricks AI</a:t>
            </a:r>
            <a:endParaRPr/>
          </a:p>
        </p:txBody>
      </p:sp>
      <p:sp>
        <p:nvSpPr>
          <p:cNvPr id="517" name="Google Shape;517;p5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3"/>
          <p:cNvSpPr/>
          <p:nvPr/>
        </p:nvSpPr>
        <p:spPr>
          <a:xfrm>
            <a:off x="1144225" y="5838124"/>
            <a:ext cx="8028900" cy="466200"/>
          </a:xfrm>
          <a:prstGeom prst="roundRect">
            <a:avLst>
              <a:gd fmla="val 22609"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523" name="Google Shape;523;p5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Mosaic AI </a:t>
            </a:r>
            <a:endParaRPr/>
          </a:p>
        </p:txBody>
      </p:sp>
      <p:sp>
        <p:nvSpPr>
          <p:cNvPr id="524" name="Google Shape;524;p5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525" name="Google Shape;525;p53"/>
          <p:cNvSpPr txBox="1"/>
          <p:nvPr/>
        </p:nvSpPr>
        <p:spPr>
          <a:xfrm>
            <a:off x="1144238" y="1713150"/>
            <a:ext cx="8028900" cy="336600"/>
          </a:xfrm>
          <a:prstGeom prst="rect">
            <a:avLst/>
          </a:prstGeom>
          <a:solidFill>
            <a:srgbClr val="EFEFE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lang="en" sz="1600">
                <a:solidFill>
                  <a:schemeClr val="accent1"/>
                </a:solidFill>
                <a:latin typeface="DM Sans Medium"/>
                <a:ea typeface="DM Sans Medium"/>
                <a:cs typeface="DM Sans Medium"/>
                <a:sym typeface="DM Sans Medium"/>
              </a:rPr>
              <a:t>Databricks AI</a:t>
            </a:r>
            <a:endParaRPr sz="1600">
              <a:solidFill>
                <a:schemeClr val="accent1"/>
              </a:solidFill>
              <a:latin typeface="DM Sans Medium"/>
              <a:ea typeface="DM Sans Medium"/>
              <a:cs typeface="DM Sans Medium"/>
              <a:sym typeface="DM Sans Medium"/>
            </a:endParaRPr>
          </a:p>
        </p:txBody>
      </p:sp>
      <p:sp>
        <p:nvSpPr>
          <p:cNvPr id="526" name="Google Shape;526;p53"/>
          <p:cNvSpPr txBox="1"/>
          <p:nvPr/>
        </p:nvSpPr>
        <p:spPr>
          <a:xfrm>
            <a:off x="9865800" y="1723050"/>
            <a:ext cx="1953000" cy="3366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600">
                <a:solidFill>
                  <a:schemeClr val="accent1"/>
                </a:solidFill>
                <a:latin typeface="DM Sans"/>
                <a:ea typeface="DM Sans"/>
                <a:cs typeface="DM Sans"/>
                <a:sym typeface="DM Sans"/>
              </a:rPr>
              <a:t>External Services</a:t>
            </a:r>
            <a:endParaRPr b="1" i="0" sz="1600" u="none" cap="none" strike="noStrike">
              <a:solidFill>
                <a:schemeClr val="accent1"/>
              </a:solidFill>
              <a:latin typeface="DM Sans"/>
              <a:ea typeface="DM Sans"/>
              <a:cs typeface="DM Sans"/>
              <a:sym typeface="DM Sans"/>
            </a:endParaRPr>
          </a:p>
        </p:txBody>
      </p:sp>
      <p:sp>
        <p:nvSpPr>
          <p:cNvPr id="527" name="Google Shape;527;p53"/>
          <p:cNvSpPr/>
          <p:nvPr/>
        </p:nvSpPr>
        <p:spPr>
          <a:xfrm>
            <a:off x="1140375" y="2774075"/>
            <a:ext cx="2219100" cy="1398900"/>
          </a:xfrm>
          <a:prstGeom prst="roundRect">
            <a:avLst>
              <a:gd fmla="val 10473"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lang="en" sz="1500" u="none" cap="none" strike="noStrike">
                <a:solidFill>
                  <a:schemeClr val="accent1"/>
                </a:solidFill>
                <a:latin typeface="DM Sans Medium"/>
                <a:ea typeface="DM Sans Medium"/>
                <a:cs typeface="DM Sans Medium"/>
                <a:sym typeface="DM Sans Medium"/>
              </a:rPr>
              <a:t>Prepare</a:t>
            </a:r>
            <a:r>
              <a:rPr lang="en" sz="1500">
                <a:solidFill>
                  <a:schemeClr val="accent1"/>
                </a:solidFill>
                <a:latin typeface="DM Sans Medium"/>
                <a:ea typeface="DM Sans Medium"/>
                <a:cs typeface="DM Sans Medium"/>
                <a:sym typeface="DM Sans Medium"/>
              </a:rPr>
              <a:t> </a:t>
            </a:r>
            <a:r>
              <a:rPr lang="en" sz="1500" u="none" cap="none" strike="noStrike">
                <a:solidFill>
                  <a:schemeClr val="accent1"/>
                </a:solidFill>
                <a:latin typeface="DM Sans Medium"/>
                <a:ea typeface="DM Sans Medium"/>
                <a:cs typeface="DM Sans Medium"/>
                <a:sym typeface="DM Sans Medium"/>
              </a:rPr>
              <a:t>Data</a:t>
            </a:r>
            <a:endParaRPr sz="1500">
              <a:solidFill>
                <a:schemeClr val="accent1"/>
              </a:solidFill>
              <a:latin typeface="DM Sans Medium"/>
              <a:ea typeface="DM Sans Medium"/>
              <a:cs typeface="DM Sans Medium"/>
              <a:sym typeface="DM Sans Medium"/>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Discover &amp; Transform Structured Data into Features</a:t>
            </a:r>
            <a:endParaRPr sz="1000">
              <a:solidFill>
                <a:schemeClr val="accent5"/>
              </a:solidFill>
              <a:latin typeface="DM Sans"/>
              <a:ea typeface="DM Sans"/>
              <a:cs typeface="DM Sans"/>
              <a:sym typeface="DM Sans"/>
            </a:endParaRPr>
          </a:p>
          <a:p>
            <a:pPr indent="-154940" lvl="0" marL="182880" rtl="0" algn="l">
              <a:spcBef>
                <a:spcPts val="200"/>
              </a:spcBef>
              <a:spcAft>
                <a:spcPts val="200"/>
              </a:spcAft>
              <a:buClr>
                <a:schemeClr val="accent5"/>
              </a:buClr>
              <a:buSzPts val="1000"/>
              <a:buFont typeface="DM Sans"/>
              <a:buChar char="●"/>
            </a:pPr>
            <a:r>
              <a:rPr lang="en" sz="1000">
                <a:solidFill>
                  <a:schemeClr val="accent5"/>
                </a:solidFill>
                <a:latin typeface="DM Sans"/>
                <a:ea typeface="DM Sans"/>
                <a:cs typeface="DM Sans"/>
                <a:sym typeface="DM Sans"/>
              </a:rPr>
              <a:t>Chunk &amp; Create Embeddings from Unstructured Data</a:t>
            </a:r>
            <a:endParaRPr sz="1500">
              <a:solidFill>
                <a:schemeClr val="accent1"/>
              </a:solidFill>
              <a:latin typeface="DM Sans Medium"/>
              <a:ea typeface="DM Sans Medium"/>
              <a:cs typeface="DM Sans Medium"/>
              <a:sym typeface="DM Sans Medium"/>
            </a:endParaRPr>
          </a:p>
        </p:txBody>
      </p:sp>
      <p:sp>
        <p:nvSpPr>
          <p:cNvPr id="528" name="Google Shape;528;p53"/>
          <p:cNvSpPr/>
          <p:nvPr/>
        </p:nvSpPr>
        <p:spPr>
          <a:xfrm>
            <a:off x="3448750" y="2778675"/>
            <a:ext cx="3437700" cy="1398900"/>
          </a:xfrm>
          <a:prstGeom prst="roundRect">
            <a:avLst>
              <a:gd fmla="val 11284"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sz="1500">
                <a:solidFill>
                  <a:schemeClr val="accent1"/>
                </a:solidFill>
                <a:latin typeface="DM Sans Medium"/>
                <a:ea typeface="DM Sans Medium"/>
                <a:cs typeface="DM Sans Medium"/>
                <a:sym typeface="DM Sans Medium"/>
              </a:rPr>
              <a:t>Develop &amp; Evaluate AI</a:t>
            </a:r>
            <a:endParaRPr sz="1500">
              <a:solidFill>
                <a:schemeClr val="accent1"/>
              </a:solidFill>
              <a:latin typeface="DM Sans Medium"/>
              <a:ea typeface="DM Sans Medium"/>
              <a:cs typeface="DM Sans Medium"/>
              <a:sym typeface="DM Sans Medium"/>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Train and Test Algorithms</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Fine-Tune &amp; Prompt Engineer Models </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Create GenAI agents &amp; tools</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Evaluate Experiments </a:t>
            </a:r>
            <a:endParaRPr sz="1000">
              <a:solidFill>
                <a:schemeClr val="accent5"/>
              </a:solidFill>
              <a:latin typeface="DM Sans"/>
              <a:ea typeface="DM Sans"/>
              <a:cs typeface="DM Sans"/>
              <a:sym typeface="DM Sans"/>
            </a:endParaRPr>
          </a:p>
          <a:p>
            <a:pPr indent="0" lvl="0" marL="0" rtl="0" algn="ctr">
              <a:spcBef>
                <a:spcPts val="200"/>
              </a:spcBef>
              <a:spcAft>
                <a:spcPts val="200"/>
              </a:spcAft>
              <a:buNone/>
            </a:pPr>
            <a:r>
              <a:rPr lang="en" sz="1500">
                <a:solidFill>
                  <a:schemeClr val="accent1"/>
                </a:solidFill>
                <a:latin typeface="DM Sans Medium"/>
                <a:ea typeface="DM Sans Medium"/>
                <a:cs typeface="DM Sans Medium"/>
                <a:sym typeface="DM Sans Medium"/>
              </a:rPr>
              <a:t> </a:t>
            </a:r>
            <a:endParaRPr sz="1500">
              <a:solidFill>
                <a:schemeClr val="accent1"/>
              </a:solidFill>
              <a:latin typeface="DM Sans Medium"/>
              <a:ea typeface="DM Sans Medium"/>
              <a:cs typeface="DM Sans Medium"/>
              <a:sym typeface="DM Sans Medium"/>
            </a:endParaRPr>
          </a:p>
        </p:txBody>
      </p:sp>
      <p:sp>
        <p:nvSpPr>
          <p:cNvPr id="529" name="Google Shape;529;p53"/>
          <p:cNvSpPr/>
          <p:nvPr/>
        </p:nvSpPr>
        <p:spPr>
          <a:xfrm>
            <a:off x="1140400" y="4865800"/>
            <a:ext cx="8028900" cy="899700"/>
          </a:xfrm>
          <a:prstGeom prst="roundRect">
            <a:avLst>
              <a:gd fmla="val 10352"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149225" lvl="0" marL="3657600" rtl="0" algn="l">
              <a:spcBef>
                <a:spcPts val="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Manage security &amp; permissions</a:t>
            </a:r>
            <a:endParaRPr sz="1000">
              <a:solidFill>
                <a:schemeClr val="accent5"/>
              </a:solidFill>
              <a:latin typeface="DM Sans"/>
              <a:ea typeface="DM Sans"/>
              <a:cs typeface="DM Sans"/>
              <a:sym typeface="DM Sans"/>
            </a:endParaRPr>
          </a:p>
          <a:p>
            <a:pPr indent="-149225" lvl="0" marL="3657600"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Manage models, features, and functions </a:t>
            </a:r>
            <a:endParaRPr sz="1000">
              <a:solidFill>
                <a:schemeClr val="accent5"/>
              </a:solidFill>
              <a:latin typeface="DM Sans"/>
              <a:ea typeface="DM Sans"/>
              <a:cs typeface="DM Sans"/>
              <a:sym typeface="DM Sans"/>
            </a:endParaRPr>
          </a:p>
          <a:p>
            <a:pPr indent="-149225" lvl="0" marL="3657600"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Track model lineage</a:t>
            </a:r>
            <a:endParaRPr sz="1000">
              <a:solidFill>
                <a:schemeClr val="accent5"/>
              </a:solidFill>
              <a:latin typeface="DM Sans"/>
              <a:ea typeface="DM Sans"/>
              <a:cs typeface="DM Sans"/>
              <a:sym typeface="DM Sans"/>
            </a:endParaRPr>
          </a:p>
          <a:p>
            <a:pPr indent="-149225" lvl="0" marL="3657600"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Data monitoring</a:t>
            </a:r>
            <a:endParaRPr sz="1000">
              <a:solidFill>
                <a:schemeClr val="accent5"/>
              </a:solidFill>
              <a:latin typeface="DM Sans"/>
              <a:ea typeface="DM Sans"/>
              <a:cs typeface="DM Sans"/>
              <a:sym typeface="DM Sans"/>
            </a:endParaRPr>
          </a:p>
          <a:p>
            <a:pPr indent="-149225" lvl="0" marL="3657600" rtl="0" algn="l">
              <a:spcBef>
                <a:spcPts val="100"/>
              </a:spcBef>
              <a:spcAft>
                <a:spcPts val="100"/>
              </a:spcAft>
              <a:buClr>
                <a:schemeClr val="accent5"/>
              </a:buClr>
              <a:buSzPts val="1000"/>
              <a:buFont typeface="DM Sans"/>
              <a:buChar char="●"/>
            </a:pPr>
            <a:r>
              <a:rPr lang="en" sz="1000">
                <a:solidFill>
                  <a:schemeClr val="accent5"/>
                </a:solidFill>
                <a:latin typeface="DM Sans"/>
                <a:ea typeface="DM Sans"/>
                <a:cs typeface="DM Sans"/>
                <a:sym typeface="DM Sans"/>
              </a:rPr>
              <a:t>AI monitoring </a:t>
            </a:r>
            <a:r>
              <a:rPr lang="en" sz="1000">
                <a:solidFill>
                  <a:schemeClr val="accent5"/>
                </a:solidFill>
                <a:latin typeface="DM Sans"/>
                <a:ea typeface="DM Sans"/>
                <a:cs typeface="DM Sans"/>
                <a:sym typeface="DM Sans"/>
              </a:rPr>
              <a:t>(metrics, model quality, drift of data and predictions)</a:t>
            </a:r>
            <a:endParaRPr sz="1000">
              <a:solidFill>
                <a:schemeClr val="accent5"/>
              </a:solidFill>
              <a:latin typeface="DM Sans"/>
              <a:ea typeface="DM Sans"/>
              <a:cs typeface="DM Sans"/>
              <a:sym typeface="DM Sans"/>
            </a:endParaRPr>
          </a:p>
        </p:txBody>
      </p:sp>
      <p:sp>
        <p:nvSpPr>
          <p:cNvPr id="530" name="Google Shape;530;p53"/>
          <p:cNvSpPr/>
          <p:nvPr/>
        </p:nvSpPr>
        <p:spPr>
          <a:xfrm>
            <a:off x="6960575" y="2768325"/>
            <a:ext cx="2219100" cy="1398900"/>
          </a:xfrm>
          <a:prstGeom prst="roundRect">
            <a:avLst>
              <a:gd fmla="val 9027"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lang="en" sz="1500">
                <a:solidFill>
                  <a:schemeClr val="accent1"/>
                </a:solidFill>
                <a:latin typeface="DM Sans Medium"/>
                <a:ea typeface="DM Sans Medium"/>
                <a:cs typeface="DM Sans Medium"/>
                <a:sym typeface="DM Sans Medium"/>
              </a:rPr>
              <a:t>Serve</a:t>
            </a:r>
            <a:r>
              <a:rPr lang="en" sz="1500" u="none" cap="none" strike="noStrike">
                <a:solidFill>
                  <a:schemeClr val="accent1"/>
                </a:solidFill>
                <a:latin typeface="DM Sans Medium"/>
                <a:ea typeface="DM Sans Medium"/>
                <a:cs typeface="DM Sans Medium"/>
                <a:sym typeface="DM Sans Medium"/>
              </a:rPr>
              <a:t> Data &amp; AI</a:t>
            </a:r>
            <a:endParaRPr sz="1500" u="none" cap="none" strike="noStrike">
              <a:solidFill>
                <a:schemeClr val="accent1"/>
              </a:solidFill>
              <a:latin typeface="DM Sans Medium"/>
              <a:ea typeface="DM Sans Medium"/>
              <a:cs typeface="DM Sans Medium"/>
              <a:sym typeface="DM Sans Medium"/>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Low Latency Model Serving</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Log Model Requests/ Responses</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Low Latency Feature Serving</a:t>
            </a:r>
            <a:endParaRPr sz="1000">
              <a:solidFill>
                <a:schemeClr val="accent5"/>
              </a:solidFill>
              <a:latin typeface="DM Sans"/>
              <a:ea typeface="DM Sans"/>
              <a:cs typeface="DM Sans"/>
              <a:sym typeface="DM Sans"/>
            </a:endParaRPr>
          </a:p>
          <a:p>
            <a:pPr indent="-154940" lvl="0" marL="182880" rtl="0" algn="l">
              <a:spcBef>
                <a:spcPts val="200"/>
              </a:spcBef>
              <a:spcAft>
                <a:spcPts val="200"/>
              </a:spcAft>
              <a:buClr>
                <a:schemeClr val="accent5"/>
              </a:buClr>
              <a:buSzPts val="1000"/>
              <a:buFont typeface="DM Sans"/>
              <a:buChar char="●"/>
            </a:pPr>
            <a:r>
              <a:rPr lang="en" sz="1000">
                <a:solidFill>
                  <a:schemeClr val="accent5"/>
                </a:solidFill>
                <a:latin typeface="DM Sans"/>
                <a:ea typeface="DM Sans"/>
                <a:cs typeface="DM Sans"/>
                <a:sym typeface="DM Sans"/>
              </a:rPr>
              <a:t>Query Embeddings in Vector DB</a:t>
            </a:r>
            <a:endParaRPr sz="1000">
              <a:solidFill>
                <a:schemeClr val="accent5"/>
              </a:solidFill>
              <a:latin typeface="DM Sans"/>
              <a:ea typeface="DM Sans"/>
              <a:cs typeface="DM Sans"/>
              <a:sym typeface="DM Sans"/>
            </a:endParaRPr>
          </a:p>
        </p:txBody>
      </p:sp>
      <p:sp>
        <p:nvSpPr>
          <p:cNvPr id="531" name="Google Shape;531;p53"/>
          <p:cNvSpPr/>
          <p:nvPr/>
        </p:nvSpPr>
        <p:spPr>
          <a:xfrm>
            <a:off x="1140375" y="2230221"/>
            <a:ext cx="8039400" cy="466200"/>
          </a:xfrm>
          <a:prstGeom prst="roundRect">
            <a:avLst>
              <a:gd fmla="val 16667"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149225" lvl="0" marL="3657600" marR="0" rtl="0" algn="l">
              <a:lnSpc>
                <a:spcPct val="100000"/>
              </a:lnSpc>
              <a:spcBef>
                <a:spcPts val="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Move Code, Data, and Models between development and production </a:t>
            </a:r>
            <a:endParaRPr sz="1000">
              <a:solidFill>
                <a:schemeClr val="accent5"/>
              </a:solidFill>
              <a:latin typeface="DM Sans"/>
              <a:ea typeface="DM Sans"/>
              <a:cs typeface="DM Sans"/>
              <a:sym typeface="DM Sans"/>
            </a:endParaRPr>
          </a:p>
          <a:p>
            <a:pPr indent="-149225" lvl="0" marL="3657600" marR="0" rtl="0" algn="l">
              <a:lnSpc>
                <a:spcPct val="100000"/>
              </a:lnSpc>
              <a:spcBef>
                <a:spcPts val="200"/>
              </a:spcBef>
              <a:spcAft>
                <a:spcPts val="200"/>
              </a:spcAft>
              <a:buClr>
                <a:schemeClr val="accent5"/>
              </a:buClr>
              <a:buSzPts val="1000"/>
              <a:buFont typeface="DM Sans"/>
              <a:buChar char="●"/>
            </a:pPr>
            <a:r>
              <a:rPr lang="en" sz="1000">
                <a:solidFill>
                  <a:schemeClr val="accent5"/>
                </a:solidFill>
                <a:latin typeface="DM Sans"/>
                <a:ea typeface="DM Sans"/>
                <a:cs typeface="DM Sans"/>
                <a:sym typeface="DM Sans"/>
              </a:rPr>
              <a:t>Manage Models, Features, Experiments</a:t>
            </a:r>
            <a:endParaRPr sz="1000">
              <a:solidFill>
                <a:schemeClr val="accent5"/>
              </a:solidFill>
              <a:latin typeface="DM Sans"/>
              <a:ea typeface="DM Sans"/>
              <a:cs typeface="DM Sans"/>
              <a:sym typeface="DM Sans"/>
            </a:endParaRPr>
          </a:p>
        </p:txBody>
      </p:sp>
      <p:sp>
        <p:nvSpPr>
          <p:cNvPr id="532" name="Google Shape;532;p5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End to end AI capabilities …</a:t>
            </a:r>
            <a:endParaRPr/>
          </a:p>
        </p:txBody>
      </p:sp>
      <p:sp>
        <p:nvSpPr>
          <p:cNvPr id="533" name="Google Shape;533;p53"/>
          <p:cNvSpPr txBox="1"/>
          <p:nvPr/>
        </p:nvSpPr>
        <p:spPr>
          <a:xfrm>
            <a:off x="1317213" y="2258754"/>
            <a:ext cx="188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1"/>
                </a:solidFill>
                <a:latin typeface="DM Sans Medium"/>
                <a:ea typeface="DM Sans Medium"/>
                <a:cs typeface="DM Sans Medium"/>
                <a:sym typeface="DM Sans Medium"/>
              </a:rPr>
              <a:t>MLOps + LLMOps</a:t>
            </a:r>
            <a:endParaRPr/>
          </a:p>
        </p:txBody>
      </p:sp>
      <p:sp>
        <p:nvSpPr>
          <p:cNvPr id="534" name="Google Shape;534;p53"/>
          <p:cNvSpPr txBox="1"/>
          <p:nvPr/>
        </p:nvSpPr>
        <p:spPr>
          <a:xfrm>
            <a:off x="1317213" y="5112700"/>
            <a:ext cx="21987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400"/>
              </a:spcAft>
              <a:buNone/>
            </a:pPr>
            <a:r>
              <a:rPr lang="en" sz="1500">
                <a:solidFill>
                  <a:schemeClr val="accent1"/>
                </a:solidFill>
                <a:latin typeface="DM Sans Medium"/>
                <a:ea typeface="DM Sans Medium"/>
                <a:cs typeface="DM Sans Medium"/>
                <a:sym typeface="DM Sans Medium"/>
              </a:rPr>
              <a:t>Data &amp; AI </a:t>
            </a:r>
            <a:r>
              <a:rPr lang="en" sz="1500">
                <a:solidFill>
                  <a:schemeClr val="accent1"/>
                </a:solidFill>
                <a:latin typeface="DM Sans Medium"/>
                <a:ea typeface="DM Sans Medium"/>
                <a:cs typeface="DM Sans Medium"/>
                <a:sym typeface="DM Sans Medium"/>
              </a:rPr>
              <a:t>Governance</a:t>
            </a:r>
            <a:endParaRPr/>
          </a:p>
        </p:txBody>
      </p:sp>
      <p:sp>
        <p:nvSpPr>
          <p:cNvPr id="535" name="Google Shape;535;p53"/>
          <p:cNvSpPr/>
          <p:nvPr/>
        </p:nvSpPr>
        <p:spPr>
          <a:xfrm>
            <a:off x="1140400" y="4259500"/>
            <a:ext cx="8028900" cy="534600"/>
          </a:xfrm>
          <a:prstGeom prst="roundRect">
            <a:avLst>
              <a:gd fmla="val 22609" name="adj"/>
            </a:avLst>
          </a:prstGeom>
          <a:solidFill>
            <a:srgbClr val="FFFFFF"/>
          </a:solidFill>
          <a:ln cap="flat" cmpd="sng" w="19050">
            <a:solidFill>
              <a:srgbClr val="B7B7B7"/>
            </a:solidFill>
            <a:prstDash val="solid"/>
            <a:round/>
            <a:headEnd len="sm" w="sm" type="none"/>
            <a:tailEnd len="sm" w="sm" type="none"/>
          </a:ln>
        </p:spPr>
        <p:txBody>
          <a:bodyPr anchorCtr="0" anchor="ctr" bIns="0" lIns="182875" spcFirstLastPara="1" rIns="91425" wrap="square" tIns="0">
            <a:noAutofit/>
          </a:bodyPr>
          <a:lstStyle/>
          <a:p>
            <a:pPr indent="-149225" lvl="0" marL="3457575" rtl="0" algn="l">
              <a:spcBef>
                <a:spcPts val="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AI driven discovery and search</a:t>
            </a:r>
            <a:endParaRPr sz="1000">
              <a:solidFill>
                <a:schemeClr val="accent5"/>
              </a:solidFill>
              <a:latin typeface="DM Sans"/>
              <a:ea typeface="DM Sans"/>
              <a:cs typeface="DM Sans"/>
              <a:sym typeface="DM Sans"/>
            </a:endParaRPr>
          </a:p>
          <a:p>
            <a:pPr indent="-149225" lvl="0" marL="3457575"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AI Assistant</a:t>
            </a:r>
            <a:endParaRPr sz="1000">
              <a:solidFill>
                <a:schemeClr val="accent5"/>
              </a:solidFill>
              <a:latin typeface="DM Sans"/>
              <a:ea typeface="DM Sans"/>
              <a:cs typeface="DM Sans"/>
              <a:sym typeface="DM Sans"/>
            </a:endParaRPr>
          </a:p>
          <a:p>
            <a:pPr indent="-149225" lvl="0" marL="3457575" rtl="0" algn="l">
              <a:spcBef>
                <a:spcPts val="100"/>
              </a:spcBef>
              <a:spcAft>
                <a:spcPts val="100"/>
              </a:spcAft>
              <a:buClr>
                <a:schemeClr val="accent5"/>
              </a:buClr>
              <a:buSzPts val="1000"/>
              <a:buFont typeface="DM Sans"/>
              <a:buChar char="●"/>
            </a:pPr>
            <a:r>
              <a:rPr lang="en" sz="1000">
                <a:solidFill>
                  <a:schemeClr val="accent5"/>
                </a:solidFill>
                <a:latin typeface="DM Sans"/>
                <a:ea typeface="DM Sans"/>
                <a:cs typeface="DM Sans"/>
                <a:sym typeface="DM Sans"/>
              </a:rPr>
              <a:t>AI driven performance optimization and scaling</a:t>
            </a:r>
            <a:endParaRPr sz="1000">
              <a:solidFill>
                <a:schemeClr val="accent5"/>
              </a:solidFill>
              <a:latin typeface="DM Sans"/>
              <a:ea typeface="DM Sans"/>
              <a:cs typeface="DM Sans"/>
              <a:sym typeface="DM Sans"/>
            </a:endParaRPr>
          </a:p>
        </p:txBody>
      </p:sp>
      <p:sp>
        <p:nvSpPr>
          <p:cNvPr id="536" name="Google Shape;536;p53"/>
          <p:cNvSpPr txBox="1"/>
          <p:nvPr/>
        </p:nvSpPr>
        <p:spPr>
          <a:xfrm>
            <a:off x="1317213" y="4319726"/>
            <a:ext cx="1882200" cy="41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400"/>
              </a:spcAft>
              <a:buNone/>
            </a:pPr>
            <a:r>
              <a:rPr lang="en" sz="1500">
                <a:solidFill>
                  <a:schemeClr val="accent1"/>
                </a:solidFill>
                <a:latin typeface="DM Sans Medium"/>
                <a:ea typeface="DM Sans Medium"/>
                <a:cs typeface="DM Sans Medium"/>
                <a:sym typeface="DM Sans Medium"/>
              </a:rPr>
              <a:t>AI Engine</a:t>
            </a:r>
            <a:endParaRPr sz="1500">
              <a:solidFill>
                <a:schemeClr val="accent1"/>
              </a:solidFill>
              <a:latin typeface="DM Sans Medium"/>
              <a:ea typeface="DM Sans Medium"/>
              <a:cs typeface="DM Sans Medium"/>
              <a:sym typeface="DM Sans Medium"/>
            </a:endParaRPr>
          </a:p>
        </p:txBody>
      </p:sp>
      <p:sp>
        <p:nvSpPr>
          <p:cNvPr id="537" name="Google Shape;537;p53"/>
          <p:cNvSpPr/>
          <p:nvPr/>
        </p:nvSpPr>
        <p:spPr>
          <a:xfrm>
            <a:off x="9865800" y="2766250"/>
            <a:ext cx="1953000" cy="947100"/>
          </a:xfrm>
          <a:prstGeom prst="roundRect">
            <a:avLst>
              <a:gd fmla="val 12524" name="adj"/>
            </a:avLst>
          </a:prstGeom>
          <a:solidFill>
            <a:srgbClr val="FFFFFF"/>
          </a:solidFill>
          <a:ln cap="flat" cmpd="sng" w="9525">
            <a:solidFill>
              <a:srgbClr val="B7B7B7"/>
            </a:solidFill>
            <a:prstDash val="solid"/>
            <a:round/>
            <a:headEnd len="sm" w="sm" type="none"/>
            <a:tailEnd len="sm" w="sm" type="none"/>
          </a:ln>
        </p:spPr>
        <p:txBody>
          <a:bodyPr anchorCtr="0" anchor="t" bIns="91425" lIns="0" spcFirstLastPara="1" rIns="0" wrap="square" tIns="1827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AI Models &amp; Tools</a:t>
            </a:r>
            <a:endParaRPr sz="1000">
              <a:solidFill>
                <a:schemeClr val="accent5"/>
              </a:solidFill>
              <a:latin typeface="DM Sans"/>
              <a:ea typeface="DM Sans"/>
              <a:cs typeface="DM Sans"/>
              <a:sym typeface="DM Sans"/>
            </a:endParaRPr>
          </a:p>
          <a:p>
            <a:pPr indent="-149225" lvl="0" marL="171450" rtl="0" algn="l">
              <a:spcBef>
                <a:spcPts val="4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Commercial AI models</a:t>
            </a:r>
            <a:endParaRPr sz="1000">
              <a:solidFill>
                <a:schemeClr val="accent5"/>
              </a:solidFill>
              <a:latin typeface="DM Sans"/>
              <a:ea typeface="DM Sans"/>
              <a:cs typeface="DM Sans"/>
              <a:sym typeface="DM Sans"/>
            </a:endParaRPr>
          </a:p>
          <a:p>
            <a:pPr indent="-149225" lvl="0" marL="171450" rtl="0" algn="l">
              <a:spcBef>
                <a:spcPts val="4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Community AI models </a:t>
            </a:r>
            <a:endParaRPr sz="1000">
              <a:solidFill>
                <a:schemeClr val="accent5"/>
              </a:solidFill>
              <a:latin typeface="DM Sans"/>
              <a:ea typeface="DM Sans"/>
              <a:cs typeface="DM Sans"/>
              <a:sym typeface="DM Sans"/>
            </a:endParaRPr>
          </a:p>
          <a:p>
            <a:pPr indent="-149225" lvl="0" marL="171450" rtl="0" algn="l">
              <a:spcBef>
                <a:spcPts val="400"/>
              </a:spcBef>
              <a:spcAft>
                <a:spcPts val="400"/>
              </a:spcAft>
              <a:buClr>
                <a:schemeClr val="accent5"/>
              </a:buClr>
              <a:buSzPts val="1000"/>
              <a:buFont typeface="DM Sans"/>
              <a:buChar char="●"/>
            </a:pPr>
            <a:r>
              <a:rPr lang="en" sz="1000">
                <a:solidFill>
                  <a:schemeClr val="accent5"/>
                </a:solidFill>
                <a:latin typeface="DM Sans"/>
                <a:ea typeface="DM Sans"/>
                <a:cs typeface="DM Sans"/>
                <a:sym typeface="DM Sans"/>
              </a:rPr>
              <a:t>Community tools</a:t>
            </a:r>
            <a:endParaRPr sz="1000">
              <a:solidFill>
                <a:schemeClr val="accent5"/>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4"/>
          <p:cNvSpPr/>
          <p:nvPr/>
        </p:nvSpPr>
        <p:spPr>
          <a:xfrm>
            <a:off x="9865800" y="2850275"/>
            <a:ext cx="1953000" cy="1409400"/>
          </a:xfrm>
          <a:prstGeom prst="roundRect">
            <a:avLst>
              <a:gd fmla="val 10121" name="adj"/>
            </a:avLst>
          </a:prstGeom>
          <a:solidFill>
            <a:srgbClr val="FFFFFF"/>
          </a:solidFill>
          <a:ln cap="flat" cmpd="sng" w="9525">
            <a:solidFill>
              <a:srgbClr val="B7B7B7"/>
            </a:solidFill>
            <a:prstDash val="dash"/>
            <a:round/>
            <a:headEnd len="sm" w="sm" type="none"/>
            <a:tailEnd len="sm" w="sm" type="none"/>
          </a:ln>
        </p:spPr>
        <p:txBody>
          <a:bodyPr anchorCtr="0" anchor="t" bIns="91425" lIns="0" spcFirstLastPara="1" rIns="0" wrap="square" tIns="18275">
            <a:noAutofit/>
          </a:bodyPr>
          <a:lstStyle/>
          <a:p>
            <a:pPr indent="0" lvl="0" marL="0" rtl="0" algn="ctr">
              <a:spcBef>
                <a:spcPts val="0"/>
              </a:spcBef>
              <a:spcAft>
                <a:spcPts val="400"/>
              </a:spcAft>
              <a:buNone/>
            </a:pPr>
            <a:r>
              <a:rPr lang="en" sz="1500">
                <a:solidFill>
                  <a:schemeClr val="accent1"/>
                </a:solidFill>
                <a:latin typeface="DM Sans Medium"/>
                <a:ea typeface="DM Sans Medium"/>
                <a:cs typeface="DM Sans Medium"/>
                <a:sym typeface="DM Sans Medium"/>
              </a:rPr>
              <a:t>AI Models &amp; Tools</a:t>
            </a:r>
            <a:endParaRPr i="1" sz="1000">
              <a:solidFill>
                <a:schemeClr val="accent5"/>
              </a:solidFill>
              <a:latin typeface="DM Sans"/>
              <a:ea typeface="DM Sans"/>
              <a:cs typeface="DM Sans"/>
              <a:sym typeface="DM Sans"/>
            </a:endParaRPr>
          </a:p>
        </p:txBody>
      </p:sp>
      <p:sp>
        <p:nvSpPr>
          <p:cNvPr id="543" name="Google Shape;543;p54"/>
          <p:cNvSpPr/>
          <p:nvPr/>
        </p:nvSpPr>
        <p:spPr>
          <a:xfrm>
            <a:off x="1144238" y="4897900"/>
            <a:ext cx="8028900" cy="845100"/>
          </a:xfrm>
          <a:prstGeom prst="roundRect">
            <a:avLst>
              <a:gd fmla="val 10352"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400"/>
              </a:spcAft>
              <a:buNone/>
            </a:pPr>
            <a:r>
              <a:t/>
            </a:r>
            <a:endParaRPr i="1" sz="1000">
              <a:solidFill>
                <a:schemeClr val="accent5"/>
              </a:solidFill>
              <a:latin typeface="DM Sans"/>
              <a:ea typeface="DM Sans"/>
              <a:cs typeface="DM Sans"/>
              <a:sym typeface="DM Sans"/>
            </a:endParaRPr>
          </a:p>
        </p:txBody>
      </p:sp>
      <p:sp>
        <p:nvSpPr>
          <p:cNvPr id="544" name="Google Shape;544;p54"/>
          <p:cNvSpPr/>
          <p:nvPr/>
        </p:nvSpPr>
        <p:spPr>
          <a:xfrm>
            <a:off x="1144225" y="5837400"/>
            <a:ext cx="8028900" cy="466200"/>
          </a:xfrm>
          <a:prstGeom prst="roundRect">
            <a:avLst>
              <a:gd fmla="val 22609"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545" name="Google Shape;545;p54"/>
          <p:cNvSpPr/>
          <p:nvPr/>
        </p:nvSpPr>
        <p:spPr>
          <a:xfrm>
            <a:off x="1144225" y="2850725"/>
            <a:ext cx="2219100" cy="1398600"/>
          </a:xfrm>
          <a:prstGeom prst="roundRect">
            <a:avLst>
              <a:gd fmla="val 10473"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400"/>
              </a:spcAft>
              <a:buNone/>
            </a:pPr>
            <a:r>
              <a:rPr i="0" lang="en" sz="1500" u="none" cap="none" strike="noStrike">
                <a:solidFill>
                  <a:schemeClr val="accent1"/>
                </a:solidFill>
                <a:latin typeface="DM Sans Medium"/>
                <a:ea typeface="DM Sans Medium"/>
                <a:cs typeface="DM Sans Medium"/>
                <a:sym typeface="DM Sans Medium"/>
              </a:rPr>
              <a:t>Prepare</a:t>
            </a:r>
            <a:r>
              <a:rPr lang="en" sz="1500">
                <a:solidFill>
                  <a:schemeClr val="accent1"/>
                </a:solidFill>
                <a:latin typeface="DM Sans Medium"/>
                <a:ea typeface="DM Sans Medium"/>
                <a:cs typeface="DM Sans Medium"/>
                <a:sym typeface="DM Sans Medium"/>
              </a:rPr>
              <a:t> </a:t>
            </a:r>
            <a:r>
              <a:rPr i="0" lang="en" sz="1500" u="none" cap="none" strike="noStrike">
                <a:solidFill>
                  <a:schemeClr val="accent1"/>
                </a:solidFill>
                <a:latin typeface="DM Sans Medium"/>
                <a:ea typeface="DM Sans Medium"/>
                <a:cs typeface="DM Sans Medium"/>
                <a:sym typeface="DM Sans Medium"/>
              </a:rPr>
              <a:t>Data</a:t>
            </a:r>
            <a:endParaRPr sz="1500">
              <a:solidFill>
                <a:schemeClr val="accent1"/>
              </a:solidFill>
              <a:latin typeface="DM Sans Medium"/>
              <a:ea typeface="DM Sans Medium"/>
              <a:cs typeface="DM Sans Medium"/>
              <a:sym typeface="DM Sans Medium"/>
            </a:endParaRPr>
          </a:p>
        </p:txBody>
      </p:sp>
      <p:sp>
        <p:nvSpPr>
          <p:cNvPr id="546" name="Google Shape;546;p54"/>
          <p:cNvSpPr/>
          <p:nvPr/>
        </p:nvSpPr>
        <p:spPr>
          <a:xfrm>
            <a:off x="3452525" y="2855675"/>
            <a:ext cx="3437700" cy="1398600"/>
          </a:xfrm>
          <a:prstGeom prst="roundRect">
            <a:avLst>
              <a:gd fmla="val 11168"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rtl="0" algn="ctr">
              <a:spcBef>
                <a:spcPts val="0"/>
              </a:spcBef>
              <a:spcAft>
                <a:spcPts val="400"/>
              </a:spcAft>
              <a:buNone/>
            </a:pPr>
            <a:r>
              <a:rPr lang="en" sz="1500">
                <a:solidFill>
                  <a:schemeClr val="accent1"/>
                </a:solidFill>
                <a:latin typeface="DM Sans Medium"/>
                <a:ea typeface="DM Sans Medium"/>
                <a:cs typeface="DM Sans Medium"/>
                <a:sym typeface="DM Sans Medium"/>
              </a:rPr>
              <a:t>Develop &amp; Evaluate AI</a:t>
            </a:r>
            <a:endParaRPr sz="1500">
              <a:solidFill>
                <a:schemeClr val="accent1"/>
              </a:solidFill>
              <a:latin typeface="DM Sans Medium"/>
              <a:ea typeface="DM Sans Medium"/>
              <a:cs typeface="DM Sans Medium"/>
              <a:sym typeface="DM Sans Medium"/>
            </a:endParaRPr>
          </a:p>
        </p:txBody>
      </p:sp>
      <p:sp>
        <p:nvSpPr>
          <p:cNvPr id="547" name="Google Shape;547;p54"/>
          <p:cNvSpPr/>
          <p:nvPr/>
        </p:nvSpPr>
        <p:spPr>
          <a:xfrm>
            <a:off x="6964396" y="2844525"/>
            <a:ext cx="2219100" cy="1409400"/>
          </a:xfrm>
          <a:prstGeom prst="roundRect">
            <a:avLst>
              <a:gd fmla="val 9643"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400"/>
              </a:spcAft>
              <a:buNone/>
            </a:pPr>
            <a:r>
              <a:rPr lang="en" sz="1500">
                <a:solidFill>
                  <a:schemeClr val="accent1"/>
                </a:solidFill>
                <a:latin typeface="DM Sans Medium"/>
                <a:ea typeface="DM Sans Medium"/>
                <a:cs typeface="DM Sans Medium"/>
                <a:sym typeface="DM Sans Medium"/>
              </a:rPr>
              <a:t>S</a:t>
            </a:r>
            <a:r>
              <a:rPr i="0" lang="en" sz="1500" u="none" cap="none" strike="noStrike">
                <a:solidFill>
                  <a:schemeClr val="accent1"/>
                </a:solidFill>
                <a:latin typeface="DM Sans Medium"/>
                <a:ea typeface="DM Sans Medium"/>
                <a:cs typeface="DM Sans Medium"/>
                <a:sym typeface="DM Sans Medium"/>
              </a:rPr>
              <a:t>erve </a:t>
            </a:r>
            <a:r>
              <a:rPr lang="en" sz="1500">
                <a:solidFill>
                  <a:schemeClr val="accent1"/>
                </a:solidFill>
                <a:latin typeface="DM Sans Medium"/>
                <a:ea typeface="DM Sans Medium"/>
                <a:cs typeface="DM Sans Medium"/>
                <a:sym typeface="DM Sans Medium"/>
              </a:rPr>
              <a:t>Apps</a:t>
            </a:r>
            <a:endParaRPr sz="1500">
              <a:solidFill>
                <a:schemeClr val="accent1"/>
              </a:solidFill>
              <a:latin typeface="DM Sans Medium"/>
              <a:ea typeface="DM Sans Medium"/>
              <a:cs typeface="DM Sans Medium"/>
              <a:sym typeface="DM Sans Medium"/>
            </a:endParaRPr>
          </a:p>
        </p:txBody>
      </p:sp>
      <p:sp>
        <p:nvSpPr>
          <p:cNvPr id="548" name="Google Shape;548;p54"/>
          <p:cNvSpPr/>
          <p:nvPr/>
        </p:nvSpPr>
        <p:spPr>
          <a:xfrm>
            <a:off x="1144238" y="4335711"/>
            <a:ext cx="8028900" cy="470400"/>
          </a:xfrm>
          <a:prstGeom prst="roundRect">
            <a:avLst>
              <a:gd fmla="val 19749"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400"/>
              </a:spcAft>
              <a:buNone/>
            </a:pPr>
            <a:r>
              <a:t/>
            </a:r>
            <a:endParaRPr sz="1500">
              <a:solidFill>
                <a:schemeClr val="accent1"/>
              </a:solidFill>
              <a:latin typeface="DM Sans Medium"/>
              <a:ea typeface="DM Sans Medium"/>
              <a:cs typeface="DM Sans Medium"/>
              <a:sym typeface="DM Sans Medium"/>
            </a:endParaRPr>
          </a:p>
        </p:txBody>
      </p:sp>
      <p:sp>
        <p:nvSpPr>
          <p:cNvPr id="549" name="Google Shape;549;p54"/>
          <p:cNvSpPr/>
          <p:nvPr/>
        </p:nvSpPr>
        <p:spPr>
          <a:xfrm>
            <a:off x="1144213" y="2280050"/>
            <a:ext cx="8039400" cy="470400"/>
          </a:xfrm>
          <a:prstGeom prst="roundRect">
            <a:avLst>
              <a:gd fmla="val 16667"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400"/>
              </a:spcAft>
              <a:buNone/>
            </a:pPr>
            <a:r>
              <a:t/>
            </a:r>
            <a:endParaRPr i="1" sz="1000">
              <a:solidFill>
                <a:schemeClr val="accent5"/>
              </a:solidFill>
              <a:latin typeface="DM Sans"/>
              <a:ea typeface="DM Sans"/>
              <a:cs typeface="DM Sans"/>
              <a:sym typeface="DM Sans"/>
            </a:endParaRPr>
          </a:p>
        </p:txBody>
      </p:sp>
      <p:sp>
        <p:nvSpPr>
          <p:cNvPr id="550" name="Google Shape;550;p5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Mosaic AI</a:t>
            </a:r>
            <a:endParaRPr/>
          </a:p>
        </p:txBody>
      </p:sp>
      <p:sp>
        <p:nvSpPr>
          <p:cNvPr id="551" name="Google Shape;551;p5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5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 fully integrated into the Data Intelligence Platform</a:t>
            </a:r>
            <a:endParaRPr/>
          </a:p>
        </p:txBody>
      </p:sp>
      <p:sp>
        <p:nvSpPr>
          <p:cNvPr id="553" name="Google Shape;553;p54"/>
          <p:cNvSpPr/>
          <p:nvPr/>
        </p:nvSpPr>
        <p:spPr>
          <a:xfrm>
            <a:off x="5945988" y="3088000"/>
            <a:ext cx="105000" cy="8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554" name="Google Shape;554;p54"/>
          <p:cNvSpPr txBox="1"/>
          <p:nvPr/>
        </p:nvSpPr>
        <p:spPr>
          <a:xfrm>
            <a:off x="2308456" y="3525556"/>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Lakeflow Jobs</a:t>
            </a:r>
            <a:endParaRPr i="0" sz="1100" u="none" cap="none" strike="noStrike">
              <a:solidFill>
                <a:schemeClr val="accent1"/>
              </a:solidFill>
              <a:latin typeface="DM Sans Medium"/>
              <a:ea typeface="DM Sans Medium"/>
              <a:cs typeface="DM Sans Medium"/>
              <a:sym typeface="DM Sans Medium"/>
            </a:endParaRPr>
          </a:p>
        </p:txBody>
      </p:sp>
      <p:sp>
        <p:nvSpPr>
          <p:cNvPr id="555" name="Google Shape;555;p54"/>
          <p:cNvSpPr txBox="1"/>
          <p:nvPr/>
        </p:nvSpPr>
        <p:spPr>
          <a:xfrm>
            <a:off x="1249081" y="3525556"/>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Lakeflow DP</a:t>
            </a:r>
            <a:endParaRPr i="0" sz="1100" u="none" cap="none" strike="noStrike">
              <a:solidFill>
                <a:schemeClr val="accent1"/>
              </a:solidFill>
              <a:latin typeface="DM Sans Medium"/>
              <a:ea typeface="DM Sans Medium"/>
              <a:cs typeface="DM Sans Medium"/>
              <a:sym typeface="DM Sans Medium"/>
            </a:endParaRPr>
          </a:p>
        </p:txBody>
      </p:sp>
      <p:sp>
        <p:nvSpPr>
          <p:cNvPr id="556" name="Google Shape;556;p54"/>
          <p:cNvSpPr txBox="1"/>
          <p:nvPr/>
        </p:nvSpPr>
        <p:spPr>
          <a:xfrm>
            <a:off x="3528075" y="3200425"/>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Notebooks</a:t>
            </a:r>
            <a:endParaRPr sz="1100">
              <a:solidFill>
                <a:schemeClr val="accent1"/>
              </a:solidFill>
              <a:latin typeface="DM Sans Medium"/>
              <a:ea typeface="DM Sans Medium"/>
              <a:cs typeface="DM Sans Medium"/>
              <a:sym typeface="DM Sans Medium"/>
            </a:endParaRPr>
          </a:p>
        </p:txBody>
      </p:sp>
      <p:sp>
        <p:nvSpPr>
          <p:cNvPr id="557" name="Google Shape;557;p54"/>
          <p:cNvSpPr txBox="1"/>
          <p:nvPr/>
        </p:nvSpPr>
        <p:spPr>
          <a:xfrm>
            <a:off x="2308450" y="4964768"/>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Lakehouse Monitoring</a:t>
            </a:r>
            <a:endParaRPr sz="1100">
              <a:solidFill>
                <a:schemeClr val="accent1"/>
              </a:solidFill>
              <a:latin typeface="DM Sans Medium"/>
              <a:ea typeface="DM Sans Medium"/>
              <a:cs typeface="DM Sans Medium"/>
              <a:sym typeface="DM Sans Medium"/>
            </a:endParaRPr>
          </a:p>
        </p:txBody>
      </p:sp>
      <p:sp>
        <p:nvSpPr>
          <p:cNvPr id="558" name="Google Shape;558;p54"/>
          <p:cNvSpPr txBox="1"/>
          <p:nvPr/>
        </p:nvSpPr>
        <p:spPr>
          <a:xfrm>
            <a:off x="1249081" y="3200425"/>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Notebooks</a:t>
            </a:r>
            <a:endParaRPr i="0" sz="1100" u="none" cap="none" strike="noStrike">
              <a:solidFill>
                <a:schemeClr val="accent1"/>
              </a:solidFill>
              <a:latin typeface="DM Sans Medium"/>
              <a:ea typeface="DM Sans Medium"/>
              <a:cs typeface="DM Sans Medium"/>
              <a:sym typeface="DM Sans Medium"/>
            </a:endParaRPr>
          </a:p>
        </p:txBody>
      </p:sp>
      <p:sp>
        <p:nvSpPr>
          <p:cNvPr id="559" name="Google Shape;559;p54"/>
          <p:cNvSpPr txBox="1"/>
          <p:nvPr/>
        </p:nvSpPr>
        <p:spPr>
          <a:xfrm>
            <a:off x="1144223" y="1713150"/>
            <a:ext cx="3368700" cy="336600"/>
          </a:xfrm>
          <a:prstGeom prst="rect">
            <a:avLst/>
          </a:prstGeom>
          <a:solidFill>
            <a:srgbClr val="EFEFE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lang="en" sz="1600">
                <a:solidFill>
                  <a:schemeClr val="accent1"/>
                </a:solidFill>
                <a:latin typeface="DM Sans Medium"/>
                <a:ea typeface="DM Sans Medium"/>
                <a:cs typeface="DM Sans Medium"/>
                <a:sym typeface="DM Sans Medium"/>
              </a:rPr>
              <a:t>Lakehouse common capabilities</a:t>
            </a:r>
            <a:endParaRPr sz="1600">
              <a:solidFill>
                <a:schemeClr val="accent1"/>
              </a:solidFill>
              <a:latin typeface="DM Sans Medium"/>
              <a:ea typeface="DM Sans Medium"/>
              <a:cs typeface="DM Sans Medium"/>
              <a:sym typeface="DM Sans Medium"/>
            </a:endParaRPr>
          </a:p>
        </p:txBody>
      </p:sp>
      <p:sp>
        <p:nvSpPr>
          <p:cNvPr id="560" name="Google Shape;560;p54"/>
          <p:cNvSpPr txBox="1"/>
          <p:nvPr/>
        </p:nvSpPr>
        <p:spPr>
          <a:xfrm>
            <a:off x="1249081" y="4964768"/>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Unity Catalog</a:t>
            </a:r>
            <a:endParaRPr i="0" sz="1100" u="none" cap="none" strike="noStrike">
              <a:solidFill>
                <a:schemeClr val="accent1"/>
              </a:solidFill>
              <a:latin typeface="DM Sans Medium"/>
              <a:ea typeface="DM Sans Medium"/>
              <a:cs typeface="DM Sans Medium"/>
              <a:sym typeface="DM Sans Medium"/>
            </a:endParaRPr>
          </a:p>
        </p:txBody>
      </p:sp>
      <p:sp>
        <p:nvSpPr>
          <p:cNvPr id="561" name="Google Shape;561;p54"/>
          <p:cNvSpPr txBox="1"/>
          <p:nvPr/>
        </p:nvSpPr>
        <p:spPr>
          <a:xfrm>
            <a:off x="1249075" y="2356175"/>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Asset Bundles</a:t>
            </a:r>
            <a:br>
              <a:rPr lang="en" sz="11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(CI/CD support)</a:t>
            </a:r>
            <a:endParaRPr sz="900">
              <a:solidFill>
                <a:schemeClr val="accent1"/>
              </a:solidFill>
              <a:latin typeface="DM Sans Medium"/>
              <a:ea typeface="DM Sans Medium"/>
              <a:cs typeface="DM Sans Medium"/>
              <a:sym typeface="DM Sans Medium"/>
            </a:endParaRPr>
          </a:p>
        </p:txBody>
      </p:sp>
      <p:sp>
        <p:nvSpPr>
          <p:cNvPr id="562" name="Google Shape;562;p54"/>
          <p:cNvSpPr txBox="1"/>
          <p:nvPr/>
        </p:nvSpPr>
        <p:spPr>
          <a:xfrm>
            <a:off x="1249086" y="5906503"/>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Delta</a:t>
            </a:r>
            <a:br>
              <a:rPr lang="en" sz="11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(structured)</a:t>
            </a:r>
            <a:endParaRPr i="0" sz="1000" u="none" cap="none" strike="noStrike">
              <a:solidFill>
                <a:schemeClr val="accent1"/>
              </a:solidFill>
              <a:latin typeface="DM Sans Medium"/>
              <a:ea typeface="DM Sans Medium"/>
              <a:cs typeface="DM Sans Medium"/>
              <a:sym typeface="DM Sans Medium"/>
            </a:endParaRPr>
          </a:p>
        </p:txBody>
      </p:sp>
      <p:sp>
        <p:nvSpPr>
          <p:cNvPr id="563" name="Google Shape;563;p54"/>
          <p:cNvSpPr txBox="1"/>
          <p:nvPr/>
        </p:nvSpPr>
        <p:spPr>
          <a:xfrm>
            <a:off x="4487563" y="4363161"/>
            <a:ext cx="134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400"/>
              </a:spcAft>
              <a:buNone/>
            </a:pPr>
            <a:r>
              <a:rPr lang="en" sz="1500">
                <a:solidFill>
                  <a:schemeClr val="accent1"/>
                </a:solidFill>
                <a:latin typeface="DM Sans Medium"/>
                <a:ea typeface="DM Sans Medium"/>
                <a:cs typeface="DM Sans Medium"/>
                <a:sym typeface="DM Sans Medium"/>
              </a:rPr>
              <a:t>Serve Data</a:t>
            </a:r>
            <a:endParaRPr/>
          </a:p>
        </p:txBody>
      </p:sp>
      <p:sp>
        <p:nvSpPr>
          <p:cNvPr id="564" name="Google Shape;564;p54"/>
          <p:cNvSpPr txBox="1"/>
          <p:nvPr/>
        </p:nvSpPr>
        <p:spPr>
          <a:xfrm>
            <a:off x="4059313" y="5112700"/>
            <a:ext cx="21987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400"/>
              </a:spcAft>
              <a:buNone/>
            </a:pPr>
            <a:r>
              <a:rPr lang="en" sz="1500">
                <a:solidFill>
                  <a:schemeClr val="accent1"/>
                </a:solidFill>
                <a:latin typeface="DM Sans Medium"/>
                <a:ea typeface="DM Sans Medium"/>
                <a:cs typeface="DM Sans Medium"/>
                <a:sym typeface="DM Sans Medium"/>
              </a:rPr>
              <a:t>Data &amp; AI </a:t>
            </a:r>
            <a:r>
              <a:rPr lang="en" sz="1500">
                <a:solidFill>
                  <a:schemeClr val="accent1"/>
                </a:solidFill>
                <a:latin typeface="DM Sans Medium"/>
                <a:ea typeface="DM Sans Medium"/>
                <a:cs typeface="DM Sans Medium"/>
                <a:sym typeface="DM Sans Medium"/>
              </a:rPr>
              <a:t>Governance</a:t>
            </a:r>
            <a:endParaRPr/>
          </a:p>
        </p:txBody>
      </p:sp>
      <p:sp>
        <p:nvSpPr>
          <p:cNvPr id="565" name="Google Shape;565;p54"/>
          <p:cNvSpPr txBox="1"/>
          <p:nvPr/>
        </p:nvSpPr>
        <p:spPr>
          <a:xfrm>
            <a:off x="3658656" y="23075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MLOps + LLMOps</a:t>
            </a:r>
            <a:endParaRPr/>
          </a:p>
        </p:txBody>
      </p:sp>
      <p:sp>
        <p:nvSpPr>
          <p:cNvPr id="566" name="Google Shape;566;p54"/>
          <p:cNvSpPr txBox="1"/>
          <p:nvPr/>
        </p:nvSpPr>
        <p:spPr>
          <a:xfrm>
            <a:off x="9865800" y="1723050"/>
            <a:ext cx="1953000" cy="336600"/>
          </a:xfrm>
          <a:prstGeom prst="rect">
            <a:avLst/>
          </a:prstGeom>
          <a:solidFill>
            <a:srgbClr val="FFFFFF"/>
          </a:solidFill>
          <a:ln cap="flat" cmpd="sng" w="9525">
            <a:solidFill>
              <a:srgbClr val="CCCCCC"/>
            </a:solidFill>
            <a:prstDash val="dash"/>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600">
                <a:solidFill>
                  <a:schemeClr val="accent1"/>
                </a:solidFill>
                <a:latin typeface="DM Sans"/>
                <a:ea typeface="DM Sans"/>
                <a:cs typeface="DM Sans"/>
                <a:sym typeface="DM Sans"/>
              </a:rPr>
              <a:t>External Services</a:t>
            </a:r>
            <a:endParaRPr b="1" i="0" sz="1600" u="none" cap="none" strike="noStrike">
              <a:solidFill>
                <a:schemeClr val="accent1"/>
              </a:solidFill>
              <a:latin typeface="DM Sans"/>
              <a:ea typeface="DM Sans"/>
              <a:cs typeface="DM Sans"/>
              <a:sym typeface="DM Sans"/>
            </a:endParaRPr>
          </a:p>
        </p:txBody>
      </p:sp>
      <p:sp>
        <p:nvSpPr>
          <p:cNvPr id="567" name="Google Shape;567;p54"/>
          <p:cNvSpPr txBox="1"/>
          <p:nvPr/>
        </p:nvSpPr>
        <p:spPr>
          <a:xfrm>
            <a:off x="8021222" y="2401926"/>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MLFlow</a:t>
            </a:r>
            <a:endParaRPr i="0" sz="1100" u="none" cap="none" strike="noStrike">
              <a:solidFill>
                <a:schemeClr val="accent2"/>
              </a:solidFill>
              <a:latin typeface="DM Sans Medium"/>
              <a:ea typeface="DM Sans Medium"/>
              <a:cs typeface="DM Sans Medium"/>
              <a:sym typeface="DM Sans Medium"/>
            </a:endParaRPr>
          </a:p>
        </p:txBody>
      </p:sp>
      <p:sp>
        <p:nvSpPr>
          <p:cNvPr id="568" name="Google Shape;568;p54"/>
          <p:cNvSpPr txBox="1"/>
          <p:nvPr/>
        </p:nvSpPr>
        <p:spPr>
          <a:xfrm>
            <a:off x="8084548" y="4402617"/>
            <a:ext cx="1007100" cy="336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Vector </a:t>
            </a:r>
            <a:br>
              <a:rPr lang="en" sz="1100">
                <a:solidFill>
                  <a:schemeClr val="accent2"/>
                </a:solidFill>
                <a:latin typeface="DM Sans Medium"/>
                <a:ea typeface="DM Sans Medium"/>
                <a:cs typeface="DM Sans Medium"/>
                <a:sym typeface="DM Sans Medium"/>
              </a:rPr>
            </a:br>
            <a:r>
              <a:rPr lang="en" sz="1100">
                <a:solidFill>
                  <a:schemeClr val="accent2"/>
                </a:solidFill>
                <a:latin typeface="DM Sans Medium"/>
                <a:ea typeface="DM Sans Medium"/>
                <a:cs typeface="DM Sans Medium"/>
                <a:sym typeface="DM Sans Medium"/>
              </a:rPr>
              <a:t>Search</a:t>
            </a:r>
            <a:endParaRPr sz="1100">
              <a:solidFill>
                <a:schemeClr val="accent2"/>
              </a:solidFill>
              <a:latin typeface="DM Sans Medium"/>
              <a:ea typeface="DM Sans Medium"/>
              <a:cs typeface="DM Sans Medium"/>
              <a:sym typeface="DM Sans Medium"/>
            </a:endParaRPr>
          </a:p>
        </p:txBody>
      </p:sp>
      <p:sp>
        <p:nvSpPr>
          <p:cNvPr id="569" name="Google Shape;569;p54"/>
          <p:cNvSpPr txBox="1"/>
          <p:nvPr/>
        </p:nvSpPr>
        <p:spPr>
          <a:xfrm>
            <a:off x="6930379" y="4402613"/>
            <a:ext cx="1055400" cy="336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Feature</a:t>
            </a:r>
            <a:br>
              <a:rPr lang="en" sz="1100">
                <a:solidFill>
                  <a:schemeClr val="accent2"/>
                </a:solidFill>
                <a:latin typeface="DM Sans Medium"/>
                <a:ea typeface="DM Sans Medium"/>
                <a:cs typeface="DM Sans Medium"/>
                <a:sym typeface="DM Sans Medium"/>
              </a:rPr>
            </a:br>
            <a:r>
              <a:rPr lang="en" sz="1100">
                <a:solidFill>
                  <a:schemeClr val="accent2"/>
                </a:solidFill>
                <a:latin typeface="DM Sans Medium"/>
                <a:ea typeface="DM Sans Medium"/>
                <a:cs typeface="DM Sans Medium"/>
                <a:sym typeface="DM Sans Medium"/>
              </a:rPr>
              <a:t>Serving</a:t>
            </a:r>
            <a:endParaRPr sz="1100">
              <a:solidFill>
                <a:schemeClr val="accent2"/>
              </a:solidFill>
              <a:latin typeface="DM Sans Medium"/>
              <a:ea typeface="DM Sans Medium"/>
              <a:cs typeface="DM Sans Medium"/>
              <a:sym typeface="DM Sans Medium"/>
            </a:endParaRPr>
          </a:p>
        </p:txBody>
      </p:sp>
      <p:sp>
        <p:nvSpPr>
          <p:cNvPr id="570" name="Google Shape;570;p54"/>
          <p:cNvSpPr txBox="1"/>
          <p:nvPr/>
        </p:nvSpPr>
        <p:spPr>
          <a:xfrm>
            <a:off x="8084560" y="3200425"/>
            <a:ext cx="10071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 Serving</a:t>
            </a:r>
            <a:r>
              <a:rPr lang="en">
                <a:solidFill>
                  <a:schemeClr val="accent2"/>
                </a:solidFill>
                <a:latin typeface="DM Sans Medium"/>
                <a:ea typeface="DM Sans Medium"/>
                <a:cs typeface="DM Sans Medium"/>
                <a:sym typeface="DM Sans Medium"/>
              </a:rPr>
              <a:t> </a:t>
            </a:r>
            <a:endParaRPr sz="800">
              <a:solidFill>
                <a:schemeClr val="accent2"/>
              </a:solidFill>
              <a:latin typeface="DM Sans Medium"/>
              <a:ea typeface="DM Sans Medium"/>
              <a:cs typeface="DM Sans Medium"/>
              <a:sym typeface="DM Sans Medium"/>
            </a:endParaRPr>
          </a:p>
        </p:txBody>
      </p:sp>
      <p:sp>
        <p:nvSpPr>
          <p:cNvPr id="571" name="Google Shape;571;p54"/>
          <p:cNvSpPr txBox="1"/>
          <p:nvPr/>
        </p:nvSpPr>
        <p:spPr>
          <a:xfrm>
            <a:off x="6930379" y="4964768"/>
            <a:ext cx="10554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 Registry </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UC</a:t>
            </a:r>
            <a:endParaRPr i="0" sz="900" u="none" cap="none" strike="noStrike">
              <a:solidFill>
                <a:schemeClr val="accent2"/>
              </a:solidFill>
              <a:latin typeface="DM Sans Medium"/>
              <a:ea typeface="DM Sans Medium"/>
              <a:cs typeface="DM Sans Medium"/>
              <a:sym typeface="DM Sans Medium"/>
            </a:endParaRPr>
          </a:p>
        </p:txBody>
      </p:sp>
      <p:sp>
        <p:nvSpPr>
          <p:cNvPr id="572" name="Google Shape;572;p54"/>
          <p:cNvSpPr txBox="1"/>
          <p:nvPr/>
        </p:nvSpPr>
        <p:spPr>
          <a:xfrm>
            <a:off x="8084560" y="3525562"/>
            <a:ext cx="10071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AI  Functions</a:t>
            </a:r>
            <a:r>
              <a:rPr baseline="30000" lang="en" sz="1100">
                <a:solidFill>
                  <a:schemeClr val="accent2"/>
                </a:solidFill>
                <a:latin typeface="DM Sans Medium"/>
                <a:ea typeface="DM Sans Medium"/>
                <a:cs typeface="DM Sans Medium"/>
                <a:sym typeface="DM Sans Medium"/>
              </a:rPr>
              <a:t>#</a:t>
            </a:r>
            <a:endParaRPr baseline="30000" i="0" sz="1100" u="none" cap="none" strike="noStrike">
              <a:solidFill>
                <a:schemeClr val="accent2"/>
              </a:solidFill>
              <a:latin typeface="DM Sans Medium"/>
              <a:ea typeface="DM Sans Medium"/>
              <a:cs typeface="DM Sans Medium"/>
              <a:sym typeface="DM Sans Medium"/>
            </a:endParaRPr>
          </a:p>
        </p:txBody>
      </p:sp>
      <p:sp>
        <p:nvSpPr>
          <p:cNvPr id="573" name="Google Shape;573;p54"/>
          <p:cNvSpPr txBox="1"/>
          <p:nvPr/>
        </p:nvSpPr>
        <p:spPr>
          <a:xfrm>
            <a:off x="4600056" y="3200425"/>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AutoML</a:t>
            </a:r>
            <a:endParaRPr i="0" sz="1100" u="none" cap="none" strike="noStrike">
              <a:solidFill>
                <a:schemeClr val="accent2"/>
              </a:solidFill>
              <a:latin typeface="DM Sans Medium"/>
              <a:ea typeface="DM Sans Medium"/>
              <a:cs typeface="DM Sans Medium"/>
              <a:sym typeface="DM Sans Medium"/>
            </a:endParaRPr>
          </a:p>
        </p:txBody>
      </p:sp>
      <p:sp>
        <p:nvSpPr>
          <p:cNvPr id="574" name="Google Shape;574;p54"/>
          <p:cNvSpPr txBox="1"/>
          <p:nvPr/>
        </p:nvSpPr>
        <p:spPr>
          <a:xfrm>
            <a:off x="4600048" y="1723050"/>
            <a:ext cx="4593000" cy="336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600">
                <a:solidFill>
                  <a:schemeClr val="accent1"/>
                </a:solidFill>
                <a:latin typeface="DM Sans"/>
                <a:ea typeface="DM Sans"/>
                <a:cs typeface="DM Sans"/>
                <a:sym typeface="DM Sans"/>
              </a:rPr>
              <a:t>Mosaic AI specific capabilities</a:t>
            </a:r>
            <a:endParaRPr b="1" i="0" sz="1600" u="none" cap="none" strike="noStrike">
              <a:solidFill>
                <a:schemeClr val="accent1"/>
              </a:solidFill>
              <a:latin typeface="DM Sans"/>
              <a:ea typeface="DM Sans"/>
              <a:cs typeface="DM Sans"/>
              <a:sym typeface="DM Sans"/>
            </a:endParaRPr>
          </a:p>
        </p:txBody>
      </p:sp>
      <p:sp>
        <p:nvSpPr>
          <p:cNvPr id="575" name="Google Shape;575;p54"/>
          <p:cNvSpPr txBox="1"/>
          <p:nvPr/>
        </p:nvSpPr>
        <p:spPr>
          <a:xfrm>
            <a:off x="4600056" y="3525556"/>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MLflow</a:t>
            </a:r>
            <a:endParaRPr i="0" sz="1100" u="none" cap="none" strike="noStrike">
              <a:solidFill>
                <a:schemeClr val="accent2"/>
              </a:solidFill>
              <a:latin typeface="DM Sans Medium"/>
              <a:ea typeface="DM Sans Medium"/>
              <a:cs typeface="DM Sans Medium"/>
              <a:sym typeface="DM Sans Medium"/>
            </a:endParaRPr>
          </a:p>
        </p:txBody>
      </p:sp>
      <p:sp>
        <p:nvSpPr>
          <p:cNvPr id="576" name="Google Shape;576;p54"/>
          <p:cNvSpPr txBox="1"/>
          <p:nvPr/>
        </p:nvSpPr>
        <p:spPr>
          <a:xfrm>
            <a:off x="8084548" y="4964774"/>
            <a:ext cx="10071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Feature Store</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UC</a:t>
            </a:r>
            <a:endParaRPr i="0" sz="900" u="none" cap="none" strike="noStrike">
              <a:solidFill>
                <a:schemeClr val="accent2"/>
              </a:solidFill>
              <a:latin typeface="DM Sans Medium"/>
              <a:ea typeface="DM Sans Medium"/>
              <a:cs typeface="DM Sans Medium"/>
              <a:sym typeface="DM Sans Medium"/>
            </a:endParaRPr>
          </a:p>
        </p:txBody>
      </p:sp>
      <p:sp>
        <p:nvSpPr>
          <p:cNvPr id="577" name="Google Shape;577;p54"/>
          <p:cNvSpPr txBox="1"/>
          <p:nvPr/>
        </p:nvSpPr>
        <p:spPr>
          <a:xfrm>
            <a:off x="4600056" y="3838635"/>
            <a:ext cx="10554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Agent Framework</a:t>
            </a:r>
            <a:endParaRPr sz="1100">
              <a:solidFill>
                <a:schemeClr val="accent2"/>
              </a:solidFill>
              <a:latin typeface="DM Sans Medium"/>
              <a:ea typeface="DM Sans Medium"/>
              <a:cs typeface="DM Sans Medium"/>
              <a:sym typeface="DM Sans Medium"/>
            </a:endParaRPr>
          </a:p>
        </p:txBody>
      </p:sp>
      <p:sp>
        <p:nvSpPr>
          <p:cNvPr id="578" name="Google Shape;578;p54"/>
          <p:cNvSpPr txBox="1"/>
          <p:nvPr/>
        </p:nvSpPr>
        <p:spPr>
          <a:xfrm>
            <a:off x="5749388" y="3525556"/>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 Training</a:t>
            </a:r>
            <a:endParaRPr i="0" sz="1100" u="none" cap="none" strike="noStrike">
              <a:solidFill>
                <a:schemeClr val="accent2"/>
              </a:solidFill>
              <a:latin typeface="DM Sans Medium"/>
              <a:ea typeface="DM Sans Medium"/>
              <a:cs typeface="DM Sans Medium"/>
              <a:sym typeface="DM Sans Medium"/>
            </a:endParaRPr>
          </a:p>
        </p:txBody>
      </p:sp>
      <p:pic>
        <p:nvPicPr>
          <p:cNvPr id="579" name="Google Shape;579;p54"/>
          <p:cNvPicPr preferRelativeResize="0"/>
          <p:nvPr/>
        </p:nvPicPr>
        <p:blipFill>
          <a:blip r:embed="rId3">
            <a:alphaModFix/>
          </a:blip>
          <a:stretch>
            <a:fillRect/>
          </a:stretch>
        </p:blipFill>
        <p:spPr>
          <a:xfrm>
            <a:off x="10618582" y="3299689"/>
            <a:ext cx="375788" cy="381000"/>
          </a:xfrm>
          <a:prstGeom prst="rect">
            <a:avLst/>
          </a:prstGeom>
          <a:noFill/>
          <a:ln>
            <a:noFill/>
          </a:ln>
        </p:spPr>
      </p:pic>
      <p:sp>
        <p:nvSpPr>
          <p:cNvPr id="580" name="Google Shape;580;p54"/>
          <p:cNvSpPr txBox="1"/>
          <p:nvPr/>
        </p:nvSpPr>
        <p:spPr>
          <a:xfrm>
            <a:off x="10405366" y="3698839"/>
            <a:ext cx="802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OpenAI</a:t>
            </a:r>
            <a:endParaRPr sz="1000">
              <a:solidFill>
                <a:srgbClr val="1B5162"/>
              </a:solidFill>
              <a:latin typeface="DM Sans Medium"/>
              <a:ea typeface="DM Sans Medium"/>
              <a:cs typeface="DM Sans Medium"/>
              <a:sym typeface="DM Sans Medium"/>
            </a:endParaRPr>
          </a:p>
        </p:txBody>
      </p:sp>
      <p:sp>
        <p:nvSpPr>
          <p:cNvPr id="581" name="Google Shape;581;p54"/>
          <p:cNvSpPr txBox="1"/>
          <p:nvPr/>
        </p:nvSpPr>
        <p:spPr>
          <a:xfrm>
            <a:off x="10628757" y="3846735"/>
            <a:ext cx="460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1B5162"/>
                </a:solidFill>
                <a:latin typeface="DM Sans Medium"/>
                <a:ea typeface="DM Sans Medium"/>
                <a:cs typeface="DM Sans Medium"/>
                <a:sym typeface="DM Sans Medium"/>
              </a:rPr>
              <a:t>…</a:t>
            </a:r>
            <a:endParaRPr sz="1600">
              <a:solidFill>
                <a:srgbClr val="1B5162"/>
              </a:solidFill>
              <a:latin typeface="DM Sans Medium"/>
              <a:ea typeface="DM Sans Medium"/>
              <a:cs typeface="DM Sans Medium"/>
              <a:sym typeface="DM Sans Medium"/>
            </a:endParaRPr>
          </a:p>
        </p:txBody>
      </p:sp>
      <p:sp>
        <p:nvSpPr>
          <p:cNvPr id="582" name="Google Shape;582;p54"/>
          <p:cNvSpPr txBox="1"/>
          <p:nvPr/>
        </p:nvSpPr>
        <p:spPr>
          <a:xfrm>
            <a:off x="9813252" y="3696437"/>
            <a:ext cx="8022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Hugging</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Face</a:t>
            </a:r>
            <a:endParaRPr sz="1000">
              <a:solidFill>
                <a:srgbClr val="1B5162"/>
              </a:solidFill>
              <a:latin typeface="DM Sans Medium"/>
              <a:ea typeface="DM Sans Medium"/>
              <a:cs typeface="DM Sans Medium"/>
              <a:sym typeface="DM Sans Medium"/>
            </a:endParaRPr>
          </a:p>
        </p:txBody>
      </p:sp>
      <p:pic>
        <p:nvPicPr>
          <p:cNvPr id="583" name="Google Shape;583;p54"/>
          <p:cNvPicPr preferRelativeResize="0"/>
          <p:nvPr/>
        </p:nvPicPr>
        <p:blipFill>
          <a:blip r:embed="rId4">
            <a:alphaModFix/>
          </a:blip>
          <a:stretch>
            <a:fillRect/>
          </a:stretch>
        </p:blipFill>
        <p:spPr>
          <a:xfrm>
            <a:off x="10010721" y="3299710"/>
            <a:ext cx="407254" cy="381000"/>
          </a:xfrm>
          <a:prstGeom prst="rect">
            <a:avLst/>
          </a:prstGeom>
          <a:noFill/>
          <a:ln>
            <a:noFill/>
          </a:ln>
        </p:spPr>
      </p:pic>
      <p:sp>
        <p:nvSpPr>
          <p:cNvPr id="584" name="Google Shape;584;p54"/>
          <p:cNvSpPr txBox="1"/>
          <p:nvPr/>
        </p:nvSpPr>
        <p:spPr>
          <a:xfrm>
            <a:off x="8084561" y="3838635"/>
            <a:ext cx="10071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Databricks Apps</a:t>
            </a:r>
            <a:endParaRPr i="0" sz="1100" u="none" cap="none" strike="noStrike">
              <a:solidFill>
                <a:schemeClr val="accent2"/>
              </a:solidFill>
              <a:latin typeface="DM Sans Medium"/>
              <a:ea typeface="DM Sans Medium"/>
              <a:cs typeface="DM Sans Medium"/>
              <a:sym typeface="DM Sans Medium"/>
            </a:endParaRPr>
          </a:p>
        </p:txBody>
      </p:sp>
      <p:sp>
        <p:nvSpPr>
          <p:cNvPr id="585" name="Google Shape;585;p54"/>
          <p:cNvSpPr txBox="1"/>
          <p:nvPr/>
        </p:nvSpPr>
        <p:spPr>
          <a:xfrm>
            <a:off x="5742538" y="3200425"/>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AI Playground</a:t>
            </a:r>
            <a:endParaRPr i="0" sz="1100" u="none" cap="none" strike="noStrike">
              <a:solidFill>
                <a:schemeClr val="accent2"/>
              </a:solidFill>
              <a:latin typeface="DM Sans Medium"/>
              <a:ea typeface="DM Sans Medium"/>
              <a:cs typeface="DM Sans Medium"/>
              <a:sym typeface="DM Sans Medium"/>
            </a:endParaRPr>
          </a:p>
        </p:txBody>
      </p:sp>
      <p:sp>
        <p:nvSpPr>
          <p:cNvPr id="586" name="Google Shape;586;p54"/>
          <p:cNvSpPr txBox="1"/>
          <p:nvPr/>
        </p:nvSpPr>
        <p:spPr>
          <a:xfrm>
            <a:off x="6930379" y="5341842"/>
            <a:ext cx="10554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Tools Catalog </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UC</a:t>
            </a:r>
            <a:endParaRPr i="0" sz="900" u="none" cap="none" strike="noStrike">
              <a:solidFill>
                <a:schemeClr val="accent2"/>
              </a:solidFill>
              <a:latin typeface="DM Sans Medium"/>
              <a:ea typeface="DM Sans Medium"/>
              <a:cs typeface="DM Sans Medium"/>
              <a:sym typeface="DM Sans Medium"/>
            </a:endParaRPr>
          </a:p>
        </p:txBody>
      </p:sp>
      <p:sp>
        <p:nvSpPr>
          <p:cNvPr id="587" name="Google Shape;587;p54"/>
          <p:cNvSpPr txBox="1"/>
          <p:nvPr/>
        </p:nvSpPr>
        <p:spPr>
          <a:xfrm>
            <a:off x="5749383" y="4402613"/>
            <a:ext cx="10554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Function Serving</a:t>
            </a:r>
            <a:endParaRPr sz="1100">
              <a:solidFill>
                <a:schemeClr val="accent2"/>
              </a:solidFill>
              <a:latin typeface="DM Sans Medium"/>
              <a:ea typeface="DM Sans Medium"/>
              <a:cs typeface="DM Sans Medium"/>
              <a:sym typeface="DM Sans Medium"/>
            </a:endParaRPr>
          </a:p>
        </p:txBody>
      </p:sp>
      <p:sp>
        <p:nvSpPr>
          <p:cNvPr id="588" name="Google Shape;588;p54"/>
          <p:cNvSpPr txBox="1"/>
          <p:nvPr/>
        </p:nvSpPr>
        <p:spPr>
          <a:xfrm>
            <a:off x="2308450" y="5906503"/>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Files/Volumes </a:t>
            </a:r>
            <a:r>
              <a:rPr lang="en" sz="1000">
                <a:solidFill>
                  <a:schemeClr val="accent1"/>
                </a:solidFill>
                <a:latin typeface="DM Sans Medium"/>
                <a:ea typeface="DM Sans Medium"/>
                <a:cs typeface="DM Sans Medium"/>
                <a:sym typeface="DM Sans Medium"/>
              </a:rPr>
              <a:t>(unstructured)</a:t>
            </a:r>
            <a:endParaRPr i="0" sz="1000" u="none" cap="none" strike="noStrike">
              <a:solidFill>
                <a:schemeClr val="accent1"/>
              </a:solidFill>
              <a:latin typeface="DM Sans Medium"/>
              <a:ea typeface="DM Sans Medium"/>
              <a:cs typeface="DM Sans Medium"/>
              <a:sym typeface="DM Sans Medium"/>
            </a:endParaRPr>
          </a:p>
        </p:txBody>
      </p:sp>
      <p:sp>
        <p:nvSpPr>
          <p:cNvPr id="589" name="Google Shape;589;p54"/>
          <p:cNvSpPr txBox="1"/>
          <p:nvPr/>
        </p:nvSpPr>
        <p:spPr>
          <a:xfrm>
            <a:off x="1249081" y="5341842"/>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Delta Sharing</a:t>
            </a:r>
            <a:endParaRPr i="0" sz="1100" u="none" cap="none" strike="noStrike">
              <a:solidFill>
                <a:schemeClr val="accent1"/>
              </a:solidFill>
              <a:latin typeface="DM Sans Medium"/>
              <a:ea typeface="DM Sans Medium"/>
              <a:cs typeface="DM Sans Medium"/>
              <a:sym typeface="DM Sans Medium"/>
            </a:endParaRPr>
          </a:p>
        </p:txBody>
      </p:sp>
      <p:sp>
        <p:nvSpPr>
          <p:cNvPr id="590" name="Google Shape;590;p54"/>
          <p:cNvSpPr txBox="1"/>
          <p:nvPr/>
        </p:nvSpPr>
        <p:spPr>
          <a:xfrm>
            <a:off x="8084548" y="5341849"/>
            <a:ext cx="10071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Models </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Marketplace</a:t>
            </a:r>
            <a:endParaRPr sz="900">
              <a:solidFill>
                <a:schemeClr val="accent2"/>
              </a:solidFill>
              <a:latin typeface="DM Sans Medium"/>
              <a:ea typeface="DM Sans Medium"/>
              <a:cs typeface="DM Sans Medium"/>
              <a:sym typeface="DM Sans Medium"/>
            </a:endParaRPr>
          </a:p>
        </p:txBody>
      </p:sp>
      <p:sp>
        <p:nvSpPr>
          <p:cNvPr id="591" name="Google Shape;591;p54"/>
          <p:cNvSpPr txBox="1"/>
          <p:nvPr/>
        </p:nvSpPr>
        <p:spPr>
          <a:xfrm>
            <a:off x="7922125" y="6454150"/>
            <a:ext cx="19101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aseline="30000" lang="en" sz="1000">
                <a:solidFill>
                  <a:schemeClr val="accent1"/>
                </a:solidFill>
                <a:latin typeface="DM Sans"/>
                <a:ea typeface="DM Sans"/>
                <a:cs typeface="DM Sans"/>
                <a:sym typeface="DM Sans"/>
              </a:rPr>
              <a:t>#</a:t>
            </a:r>
            <a:r>
              <a:rPr lang="en" sz="1000">
                <a:solidFill>
                  <a:schemeClr val="accent1"/>
                </a:solidFill>
                <a:latin typeface="DM Sans"/>
                <a:ea typeface="DM Sans"/>
                <a:cs typeface="DM Sans"/>
                <a:sym typeface="DM Sans"/>
              </a:rPr>
              <a:t> Calling models from SQL</a:t>
            </a:r>
            <a:endParaRPr sz="1000">
              <a:solidFill>
                <a:schemeClr val="accent1"/>
              </a:solidFill>
              <a:latin typeface="DM Sans"/>
              <a:ea typeface="DM Sans"/>
              <a:cs typeface="DM Sans"/>
              <a:sym typeface="DM Sans"/>
            </a:endParaRPr>
          </a:p>
        </p:txBody>
      </p:sp>
      <p:sp>
        <p:nvSpPr>
          <p:cNvPr id="592" name="Google Shape;592;p54"/>
          <p:cNvSpPr txBox="1"/>
          <p:nvPr/>
        </p:nvSpPr>
        <p:spPr>
          <a:xfrm>
            <a:off x="2308450" y="3200425"/>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SQL</a:t>
            </a:r>
            <a:endParaRPr i="0" sz="1100" u="none" cap="none" strike="noStrike">
              <a:solidFill>
                <a:schemeClr val="accent1"/>
              </a:solidFill>
              <a:latin typeface="DM Sans Medium"/>
              <a:ea typeface="DM Sans Medium"/>
              <a:cs typeface="DM Sans Medium"/>
              <a:sym typeface="DM Sans Medium"/>
            </a:endParaRPr>
          </a:p>
        </p:txBody>
      </p:sp>
      <p:sp>
        <p:nvSpPr>
          <p:cNvPr id="593" name="Google Shape;593;p54"/>
          <p:cNvSpPr txBox="1"/>
          <p:nvPr/>
        </p:nvSpPr>
        <p:spPr>
          <a:xfrm>
            <a:off x="5749383" y="3838635"/>
            <a:ext cx="10554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Agent Evaluation</a:t>
            </a:r>
            <a:endParaRPr sz="1100">
              <a:solidFill>
                <a:schemeClr val="accent2"/>
              </a:solidFill>
              <a:latin typeface="DM Sans Medium"/>
              <a:ea typeface="DM Sans Medium"/>
              <a:cs typeface="DM Sans Medium"/>
              <a:sym typeface="DM Sans Medium"/>
            </a:endParaRPr>
          </a:p>
        </p:txBody>
      </p:sp>
      <p:sp>
        <p:nvSpPr>
          <p:cNvPr id="594" name="Google Shape;594;p54"/>
          <p:cNvSpPr txBox="1"/>
          <p:nvPr/>
        </p:nvSpPr>
        <p:spPr>
          <a:xfrm>
            <a:off x="7040179" y="3200425"/>
            <a:ext cx="9456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AI  Gateway</a:t>
            </a:r>
            <a:r>
              <a:rPr lang="en">
                <a:solidFill>
                  <a:schemeClr val="accent2"/>
                </a:solidFill>
                <a:latin typeface="DM Sans Medium"/>
                <a:ea typeface="DM Sans Medium"/>
                <a:cs typeface="DM Sans Medium"/>
                <a:sym typeface="DM Sans Medium"/>
              </a:rPr>
              <a:t> </a:t>
            </a:r>
            <a:endParaRPr sz="800">
              <a:solidFill>
                <a:schemeClr val="accent2"/>
              </a:solidFill>
              <a:latin typeface="DM Sans Medium"/>
              <a:ea typeface="DM Sans Medium"/>
              <a:cs typeface="DM Sans Medium"/>
              <a:sym typeface="DM Sans Medium"/>
            </a:endParaRPr>
          </a:p>
        </p:txBody>
      </p:sp>
      <p:sp>
        <p:nvSpPr>
          <p:cNvPr id="595" name="Google Shape;595;p54"/>
          <p:cNvSpPr txBox="1"/>
          <p:nvPr/>
        </p:nvSpPr>
        <p:spPr>
          <a:xfrm>
            <a:off x="7040179" y="3525549"/>
            <a:ext cx="9456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Lakeflow Jobs</a:t>
            </a:r>
            <a:endParaRPr i="0" sz="1100" u="none" cap="none" strike="noStrike">
              <a:solidFill>
                <a:schemeClr val="accent2"/>
              </a:solidFill>
              <a:latin typeface="DM Sans Medium"/>
              <a:ea typeface="DM Sans Medium"/>
              <a:cs typeface="DM Sans Medium"/>
              <a:sym typeface="DM Sans Medium"/>
            </a:endParaRPr>
          </a:p>
        </p:txBody>
      </p:sp>
      <p:pic>
        <p:nvPicPr>
          <p:cNvPr id="596" name="Google Shape;596;p54"/>
          <p:cNvPicPr preferRelativeResize="0"/>
          <p:nvPr/>
        </p:nvPicPr>
        <p:blipFill>
          <a:blip r:embed="rId5">
            <a:alphaModFix/>
          </a:blip>
          <a:stretch>
            <a:fillRect/>
          </a:stretch>
        </p:blipFill>
        <p:spPr>
          <a:xfrm>
            <a:off x="11239985" y="3363463"/>
            <a:ext cx="390375" cy="253464"/>
          </a:xfrm>
          <a:prstGeom prst="rect">
            <a:avLst/>
          </a:prstGeom>
          <a:noFill/>
          <a:ln>
            <a:noFill/>
          </a:ln>
        </p:spPr>
      </p:pic>
      <p:sp>
        <p:nvSpPr>
          <p:cNvPr id="597" name="Google Shape;597;p54"/>
          <p:cNvSpPr txBox="1"/>
          <p:nvPr/>
        </p:nvSpPr>
        <p:spPr>
          <a:xfrm>
            <a:off x="11037482" y="3698839"/>
            <a:ext cx="802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LangChain</a:t>
            </a:r>
            <a:endParaRPr sz="1000">
              <a:solidFill>
                <a:srgbClr val="1B5162"/>
              </a:solidFill>
              <a:latin typeface="DM Sans Medium"/>
              <a:ea typeface="DM Sans Medium"/>
              <a:cs typeface="DM Sans Medium"/>
              <a:sym typeface="DM Sans Medium"/>
            </a:endParaRPr>
          </a:p>
        </p:txBody>
      </p:sp>
      <p:sp>
        <p:nvSpPr>
          <p:cNvPr id="598" name="Google Shape;598;p54"/>
          <p:cNvSpPr txBox="1"/>
          <p:nvPr/>
        </p:nvSpPr>
        <p:spPr>
          <a:xfrm>
            <a:off x="1249075" y="3830348"/>
            <a:ext cx="984900" cy="320100"/>
          </a:xfrm>
          <a:prstGeom prst="rect">
            <a:avLst/>
          </a:prstGeom>
          <a:solidFill>
            <a:srgbClr val="EFEFEF"/>
          </a:solidFill>
          <a:ln cap="flat" cmpd="sng" w="9525">
            <a:solidFill>
              <a:srgbClr val="1B516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rgbClr val="1B5162"/>
                </a:solidFill>
                <a:latin typeface="DM Sans Medium"/>
                <a:ea typeface="DM Sans Medium"/>
                <a:cs typeface="DM Sans Medium"/>
                <a:sym typeface="DM Sans Medium"/>
              </a:rPr>
              <a:t>Lakeflow Connect</a:t>
            </a:r>
            <a:endParaRPr i="0" sz="1100" u="none" cap="none" strike="noStrike">
              <a:solidFill>
                <a:srgbClr val="1B5162"/>
              </a:solidFill>
              <a:latin typeface="DM Sans Medium"/>
              <a:ea typeface="DM Sans Medium"/>
              <a:cs typeface="DM Sans Medium"/>
              <a:sym typeface="DM Sans Medium"/>
            </a:endParaRPr>
          </a:p>
        </p:txBody>
      </p:sp>
      <p:sp>
        <p:nvSpPr>
          <p:cNvPr id="599" name="Google Shape;599;p54"/>
          <p:cNvSpPr txBox="1"/>
          <p:nvPr/>
        </p:nvSpPr>
        <p:spPr>
          <a:xfrm>
            <a:off x="7045350" y="3838625"/>
            <a:ext cx="9456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Batch Inference</a:t>
            </a:r>
            <a:endParaRPr i="0" sz="1100" u="none" cap="none" strike="noStrike">
              <a:solidFill>
                <a:schemeClr val="accent2"/>
              </a:solidFill>
              <a:latin typeface="DM Sans Medium"/>
              <a:ea typeface="DM Sans Medium"/>
              <a:cs typeface="DM Sans Medium"/>
              <a:sym typeface="DM Sans Medium"/>
            </a:endParaRPr>
          </a:p>
        </p:txBody>
      </p:sp>
      <p:sp>
        <p:nvSpPr>
          <p:cNvPr id="600" name="Google Shape;600;p54"/>
          <p:cNvSpPr txBox="1"/>
          <p:nvPr/>
        </p:nvSpPr>
        <p:spPr>
          <a:xfrm>
            <a:off x="3528075" y="3838625"/>
            <a:ext cx="9849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Agent </a:t>
            </a:r>
            <a:br>
              <a:rPr lang="en" sz="1100">
                <a:solidFill>
                  <a:schemeClr val="accent2"/>
                </a:solidFill>
                <a:latin typeface="DM Sans Medium"/>
                <a:ea typeface="DM Sans Medium"/>
                <a:cs typeface="DM Sans Medium"/>
                <a:sym typeface="DM Sans Medium"/>
              </a:rPr>
            </a:br>
            <a:r>
              <a:rPr lang="en" sz="1100">
                <a:solidFill>
                  <a:schemeClr val="accent2"/>
                </a:solidFill>
                <a:latin typeface="DM Sans Medium"/>
                <a:ea typeface="DM Sans Medium"/>
                <a:cs typeface="DM Sans Medium"/>
                <a:sym typeface="DM Sans Medium"/>
              </a:rPr>
              <a:t>Bricks</a:t>
            </a:r>
            <a:endParaRPr sz="1100">
              <a:solidFill>
                <a:schemeClr val="accent2"/>
              </a:solidFill>
              <a:latin typeface="DM Sans Medium"/>
              <a:ea typeface="DM Sans Medium"/>
              <a:cs typeface="DM Sans Medium"/>
              <a:sym typeface="DM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4" name="Shape 604"/>
        <p:cNvGrpSpPr/>
        <p:nvPr/>
      </p:nvGrpSpPr>
      <p:grpSpPr>
        <a:xfrm>
          <a:off x="0" y="0"/>
          <a:ext cx="0" cy="0"/>
          <a:chOff x="0" y="0"/>
          <a:chExt cx="0" cy="0"/>
        </a:xfrm>
      </p:grpSpPr>
      <p:sp>
        <p:nvSpPr>
          <p:cNvPr id="605" name="Google Shape;605;p55"/>
          <p:cNvSpPr txBox="1"/>
          <p:nvPr>
            <p:ph type="title"/>
          </p:nvPr>
        </p:nvSpPr>
        <p:spPr>
          <a:xfrm>
            <a:off x="749250" y="535625"/>
            <a:ext cx="9321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The Lakehouse and the Data Intelligence Platform</a:t>
            </a:r>
            <a:endParaRPr/>
          </a:p>
        </p:txBody>
      </p:sp>
      <p:sp>
        <p:nvSpPr>
          <p:cNvPr id="606" name="Google Shape;606;p5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6"/>
          <p:cNvSpPr/>
          <p:nvPr/>
        </p:nvSpPr>
        <p:spPr>
          <a:xfrm>
            <a:off x="761800" y="3390100"/>
            <a:ext cx="4664400" cy="6255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b" bIns="91400" lIns="91400" spcFirstLastPara="1" rIns="9140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Unified security, governance, and cataloging</a:t>
            </a:r>
            <a:endParaRPr sz="1200">
              <a:solidFill>
                <a:srgbClr val="999999"/>
              </a:solidFill>
            </a:endParaRPr>
          </a:p>
        </p:txBody>
      </p:sp>
      <p:sp>
        <p:nvSpPr>
          <p:cNvPr id="612" name="Google Shape;612;p56"/>
          <p:cNvSpPr/>
          <p:nvPr/>
        </p:nvSpPr>
        <p:spPr>
          <a:xfrm>
            <a:off x="761800" y="4098150"/>
            <a:ext cx="4664400" cy="625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b" bIns="91400" lIns="91400" spcFirstLastPara="1" rIns="9140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Unified data storage for reliability and sharing</a:t>
            </a:r>
            <a:endParaRPr sz="1200">
              <a:solidFill>
                <a:srgbClr val="999999"/>
              </a:solidFill>
            </a:endParaRPr>
          </a:p>
        </p:txBody>
      </p:sp>
      <p:sp>
        <p:nvSpPr>
          <p:cNvPr id="613" name="Google Shape;613;p56"/>
          <p:cNvSpPr txBox="1"/>
          <p:nvPr/>
        </p:nvSpPr>
        <p:spPr>
          <a:xfrm>
            <a:off x="762400" y="3435820"/>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rgbClr val="F5A300"/>
                </a:solidFill>
                <a:latin typeface="DM Sans Medium"/>
                <a:ea typeface="DM Sans Medium"/>
                <a:cs typeface="DM Sans Medium"/>
                <a:sym typeface="DM Sans Medium"/>
              </a:rPr>
              <a:t>Unity Catalog</a:t>
            </a:r>
            <a:endParaRPr>
              <a:solidFill>
                <a:srgbClr val="F5A300"/>
              </a:solidFill>
              <a:latin typeface="DM Sans Medium"/>
              <a:ea typeface="DM Sans Medium"/>
              <a:cs typeface="DM Sans Medium"/>
              <a:sym typeface="DM Sans Medium"/>
            </a:endParaRPr>
          </a:p>
        </p:txBody>
      </p:sp>
      <p:sp>
        <p:nvSpPr>
          <p:cNvPr id="614" name="Google Shape;614;p56"/>
          <p:cNvSpPr txBox="1"/>
          <p:nvPr/>
        </p:nvSpPr>
        <p:spPr>
          <a:xfrm>
            <a:off x="762400" y="4135107"/>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Delta Lake</a:t>
            </a:r>
            <a:endParaRPr>
              <a:solidFill>
                <a:schemeClr val="accent1"/>
              </a:solidFill>
              <a:latin typeface="DM Sans Medium"/>
              <a:ea typeface="DM Sans Medium"/>
              <a:cs typeface="DM Sans Medium"/>
              <a:sym typeface="DM Sans Medium"/>
            </a:endParaRPr>
          </a:p>
        </p:txBody>
      </p:sp>
      <p:sp>
        <p:nvSpPr>
          <p:cNvPr id="615" name="Google Shape;615;p56"/>
          <p:cNvSpPr txBox="1"/>
          <p:nvPr>
            <p:ph type="title"/>
          </p:nvPr>
        </p:nvSpPr>
        <p:spPr>
          <a:xfrm>
            <a:off x="749250" y="535600"/>
            <a:ext cx="10830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From Lakehouse to Data Intelligence Platform</a:t>
            </a:r>
            <a:endParaRPr/>
          </a:p>
        </p:txBody>
      </p:sp>
      <p:sp>
        <p:nvSpPr>
          <p:cNvPr id="616" name="Google Shape;616;p5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617" name="Google Shape;617;p56"/>
          <p:cNvSpPr/>
          <p:nvPr/>
        </p:nvSpPr>
        <p:spPr>
          <a:xfrm>
            <a:off x="645400" y="1331675"/>
            <a:ext cx="4897800" cy="3681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accent1"/>
                </a:solidFill>
                <a:latin typeface="DM Sans Medium"/>
                <a:ea typeface="DM Sans Medium"/>
                <a:cs typeface="DM Sans Medium"/>
                <a:sym typeface="DM Sans Medium"/>
              </a:rPr>
              <a:t>Lakehouse</a:t>
            </a:r>
            <a:endParaRPr sz="2000">
              <a:solidFill>
                <a:schemeClr val="accent1"/>
              </a:solidFill>
              <a:latin typeface="DM Sans Medium"/>
              <a:ea typeface="DM Sans Medium"/>
              <a:cs typeface="DM Sans Medium"/>
              <a:sym typeface="DM Sans Medium"/>
            </a:endParaRPr>
          </a:p>
        </p:txBody>
      </p:sp>
      <p:grpSp>
        <p:nvGrpSpPr>
          <p:cNvPr id="618" name="Google Shape;618;p56"/>
          <p:cNvGrpSpPr/>
          <p:nvPr/>
        </p:nvGrpSpPr>
        <p:grpSpPr>
          <a:xfrm>
            <a:off x="6743775" y="2137575"/>
            <a:ext cx="4665000" cy="4675725"/>
            <a:chOff x="6743775" y="2137575"/>
            <a:chExt cx="4665000" cy="4675725"/>
          </a:xfrm>
        </p:grpSpPr>
        <p:cxnSp>
          <p:nvCxnSpPr>
            <p:cNvPr id="619" name="Google Shape;619;p56"/>
            <p:cNvCxnSpPr>
              <a:stCxn id="620" idx="1"/>
              <a:endCxn id="621" idx="1"/>
            </p:cNvCxnSpPr>
            <p:nvPr/>
          </p:nvCxnSpPr>
          <p:spPr>
            <a:xfrm flipH="1" rot="10800000">
              <a:off x="6743775" y="2137575"/>
              <a:ext cx="600" cy="1644900"/>
            </a:xfrm>
            <a:prstGeom prst="bentConnector3">
              <a:avLst>
                <a:gd fmla="val -39687500" name="adj1"/>
              </a:avLst>
            </a:prstGeom>
            <a:noFill/>
            <a:ln cap="flat" cmpd="sng" w="19050">
              <a:solidFill>
                <a:schemeClr val="accent3"/>
              </a:solidFill>
              <a:prstDash val="solid"/>
              <a:round/>
              <a:headEnd len="sm" w="sm" type="none"/>
              <a:tailEnd len="sm" w="sm" type="triangle"/>
            </a:ln>
          </p:spPr>
        </p:cxnSp>
        <p:cxnSp>
          <p:nvCxnSpPr>
            <p:cNvPr id="622" name="Google Shape;622;p56"/>
            <p:cNvCxnSpPr>
              <a:stCxn id="620" idx="3"/>
              <a:endCxn id="623" idx="3"/>
            </p:cNvCxnSpPr>
            <p:nvPr/>
          </p:nvCxnSpPr>
          <p:spPr>
            <a:xfrm>
              <a:off x="11408175" y="3782475"/>
              <a:ext cx="600" cy="1568400"/>
            </a:xfrm>
            <a:prstGeom prst="bentConnector3">
              <a:avLst>
                <a:gd fmla="val 39687500" name="adj1"/>
              </a:avLst>
            </a:prstGeom>
            <a:noFill/>
            <a:ln cap="flat" cmpd="sng" w="19050">
              <a:solidFill>
                <a:schemeClr val="accent3"/>
              </a:solidFill>
              <a:prstDash val="solid"/>
              <a:round/>
              <a:headEnd len="sm" w="sm" type="none"/>
              <a:tailEnd len="sm" w="sm" type="triangle"/>
            </a:ln>
          </p:spPr>
        </p:cxnSp>
        <p:cxnSp>
          <p:nvCxnSpPr>
            <p:cNvPr id="624" name="Google Shape;624;p56"/>
            <p:cNvCxnSpPr>
              <a:stCxn id="620" idx="0"/>
              <a:endCxn id="625" idx="2"/>
            </p:cNvCxnSpPr>
            <p:nvPr/>
          </p:nvCxnSpPr>
          <p:spPr>
            <a:xfrm rot="-5400000">
              <a:off x="8995125" y="3388275"/>
              <a:ext cx="162300" cy="600"/>
            </a:xfrm>
            <a:prstGeom prst="curvedConnector3">
              <a:avLst>
                <a:gd fmla="val 49961" name="adj1"/>
              </a:avLst>
            </a:prstGeom>
            <a:noFill/>
            <a:ln cap="flat" cmpd="sng" w="19050">
              <a:solidFill>
                <a:schemeClr val="accent3"/>
              </a:solidFill>
              <a:prstDash val="solid"/>
              <a:round/>
              <a:headEnd len="sm" w="sm" type="none"/>
              <a:tailEnd len="sm" w="sm" type="triangle"/>
            </a:ln>
          </p:spPr>
        </p:cxnSp>
        <p:cxnSp>
          <p:nvCxnSpPr>
            <p:cNvPr id="626" name="Google Shape;626;p56"/>
            <p:cNvCxnSpPr/>
            <p:nvPr/>
          </p:nvCxnSpPr>
          <p:spPr>
            <a:xfrm rot="-5400000">
              <a:off x="10595325" y="3391675"/>
              <a:ext cx="162300" cy="600"/>
            </a:xfrm>
            <a:prstGeom prst="curvedConnector3">
              <a:avLst>
                <a:gd fmla="val 49996" name="adj1"/>
              </a:avLst>
            </a:prstGeom>
            <a:noFill/>
            <a:ln cap="flat" cmpd="sng" w="19050">
              <a:solidFill>
                <a:schemeClr val="accent3"/>
              </a:solidFill>
              <a:prstDash val="solid"/>
              <a:round/>
              <a:headEnd len="sm" w="sm" type="none"/>
              <a:tailEnd len="sm" w="sm" type="triangle"/>
            </a:ln>
          </p:spPr>
        </p:cxnSp>
        <p:cxnSp>
          <p:nvCxnSpPr>
            <p:cNvPr id="627" name="Google Shape;627;p56"/>
            <p:cNvCxnSpPr/>
            <p:nvPr/>
          </p:nvCxnSpPr>
          <p:spPr>
            <a:xfrm rot="-5400000">
              <a:off x="7394925" y="3391675"/>
              <a:ext cx="162300" cy="600"/>
            </a:xfrm>
            <a:prstGeom prst="curvedConnector3">
              <a:avLst>
                <a:gd fmla="val 49996" name="adj1"/>
              </a:avLst>
            </a:prstGeom>
            <a:noFill/>
            <a:ln cap="flat" cmpd="sng" w="19050">
              <a:solidFill>
                <a:schemeClr val="accent3"/>
              </a:solidFill>
              <a:prstDash val="solid"/>
              <a:round/>
              <a:headEnd len="sm" w="sm" type="none"/>
              <a:tailEnd len="sm" w="sm" type="triangle"/>
            </a:ln>
          </p:spPr>
        </p:cxnSp>
        <p:cxnSp>
          <p:nvCxnSpPr>
            <p:cNvPr id="628" name="Google Shape;628;p56"/>
            <p:cNvCxnSpPr/>
            <p:nvPr/>
          </p:nvCxnSpPr>
          <p:spPr>
            <a:xfrm rot="-5400000">
              <a:off x="6807225" y="6505275"/>
              <a:ext cx="232800" cy="600"/>
            </a:xfrm>
            <a:prstGeom prst="curvedConnector3">
              <a:avLst>
                <a:gd fmla="val 50000" name="adj1"/>
              </a:avLst>
            </a:prstGeom>
            <a:noFill/>
            <a:ln cap="flat" cmpd="sng" w="19050">
              <a:solidFill>
                <a:schemeClr val="accent3"/>
              </a:solidFill>
              <a:prstDash val="solid"/>
              <a:round/>
              <a:headEnd len="sm" w="sm" type="none"/>
              <a:tailEnd len="sm" w="sm" type="triangle"/>
            </a:ln>
          </p:spPr>
        </p:cxnSp>
        <p:sp>
          <p:nvSpPr>
            <p:cNvPr id="629" name="Google Shape;629;p56"/>
            <p:cNvSpPr txBox="1"/>
            <p:nvPr/>
          </p:nvSpPr>
          <p:spPr>
            <a:xfrm>
              <a:off x="7114925" y="6259200"/>
              <a:ext cx="34653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The Intelligence Engine simplifies the platform experience on every layer</a:t>
              </a:r>
              <a:endParaRPr sz="1200">
                <a:solidFill>
                  <a:schemeClr val="dk1"/>
                </a:solidFill>
                <a:latin typeface="DM Sans"/>
                <a:ea typeface="DM Sans"/>
                <a:cs typeface="DM Sans"/>
                <a:sym typeface="DM Sans"/>
              </a:endParaRPr>
            </a:p>
          </p:txBody>
        </p:sp>
      </p:grpSp>
      <p:sp>
        <p:nvSpPr>
          <p:cNvPr id="630" name="Google Shape;630;p56"/>
          <p:cNvSpPr/>
          <p:nvPr/>
        </p:nvSpPr>
        <p:spPr>
          <a:xfrm>
            <a:off x="761875" y="2532953"/>
            <a:ext cx="1486800" cy="7746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b" bIns="91400" lIns="0" spcFirstLastPara="1" rIns="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ETL &amp; </a:t>
            </a:r>
            <a:br>
              <a:rPr lang="en" sz="1200">
                <a:solidFill>
                  <a:srgbClr val="999999"/>
                </a:solidFill>
                <a:latin typeface="DM Sans"/>
                <a:ea typeface="DM Sans"/>
                <a:cs typeface="DM Sans"/>
                <a:sym typeface="DM Sans"/>
              </a:rPr>
            </a:br>
            <a:r>
              <a:rPr lang="en" sz="1200">
                <a:solidFill>
                  <a:srgbClr val="999999"/>
                </a:solidFill>
                <a:latin typeface="DM Sans"/>
                <a:ea typeface="DM Sans"/>
                <a:cs typeface="DM Sans"/>
                <a:sym typeface="DM Sans"/>
              </a:rPr>
              <a:t>Real-time Analytics</a:t>
            </a:r>
            <a:endParaRPr sz="1200">
              <a:solidFill>
                <a:srgbClr val="999999"/>
              </a:solidFill>
            </a:endParaRPr>
          </a:p>
        </p:txBody>
      </p:sp>
      <p:sp>
        <p:nvSpPr>
          <p:cNvPr id="631" name="Google Shape;631;p56"/>
          <p:cNvSpPr/>
          <p:nvPr/>
        </p:nvSpPr>
        <p:spPr>
          <a:xfrm>
            <a:off x="2350677" y="2532953"/>
            <a:ext cx="1486800" cy="7746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b" bIns="91400" lIns="0" spcFirstLastPara="1" rIns="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Data Science </a:t>
            </a:r>
            <a:br>
              <a:rPr lang="en" sz="1200">
                <a:solidFill>
                  <a:srgbClr val="999999"/>
                </a:solidFill>
                <a:latin typeface="DM Sans"/>
                <a:ea typeface="DM Sans"/>
                <a:cs typeface="DM Sans"/>
                <a:sym typeface="DM Sans"/>
              </a:rPr>
            </a:br>
            <a:r>
              <a:rPr lang="en" sz="1200">
                <a:solidFill>
                  <a:srgbClr val="999999"/>
                </a:solidFill>
                <a:latin typeface="DM Sans"/>
                <a:ea typeface="DM Sans"/>
                <a:cs typeface="DM Sans"/>
                <a:sym typeface="DM Sans"/>
              </a:rPr>
              <a:t>&amp; AI</a:t>
            </a:r>
            <a:endParaRPr sz="1200">
              <a:solidFill>
                <a:srgbClr val="999999"/>
              </a:solidFill>
            </a:endParaRPr>
          </a:p>
        </p:txBody>
      </p:sp>
      <p:sp>
        <p:nvSpPr>
          <p:cNvPr id="632" name="Google Shape;632;p56"/>
          <p:cNvSpPr/>
          <p:nvPr/>
        </p:nvSpPr>
        <p:spPr>
          <a:xfrm>
            <a:off x="761883" y="1824900"/>
            <a:ext cx="4664700" cy="625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b" bIns="91400" lIns="0" spcFirstLastPara="1" rIns="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Orchestration</a:t>
            </a:r>
            <a:endParaRPr sz="1200">
              <a:solidFill>
                <a:srgbClr val="999999"/>
              </a:solidFill>
            </a:endParaRPr>
          </a:p>
        </p:txBody>
      </p:sp>
      <p:sp>
        <p:nvSpPr>
          <p:cNvPr id="633" name="Google Shape;633;p56"/>
          <p:cNvSpPr/>
          <p:nvPr/>
        </p:nvSpPr>
        <p:spPr>
          <a:xfrm>
            <a:off x="3939503" y="2532953"/>
            <a:ext cx="1486800" cy="7746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b" bIns="91400" lIns="0" spcFirstLastPara="1" rIns="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Data </a:t>
            </a:r>
            <a:br>
              <a:rPr lang="en" sz="1200">
                <a:solidFill>
                  <a:srgbClr val="999999"/>
                </a:solidFill>
                <a:latin typeface="DM Sans"/>
                <a:ea typeface="DM Sans"/>
                <a:cs typeface="DM Sans"/>
                <a:sym typeface="DM Sans"/>
              </a:rPr>
            </a:br>
            <a:r>
              <a:rPr lang="en" sz="1200">
                <a:solidFill>
                  <a:srgbClr val="999999"/>
                </a:solidFill>
                <a:latin typeface="DM Sans"/>
                <a:ea typeface="DM Sans"/>
                <a:cs typeface="DM Sans"/>
                <a:sym typeface="DM Sans"/>
              </a:rPr>
              <a:t>Warehousing</a:t>
            </a:r>
            <a:endParaRPr sz="1200">
              <a:solidFill>
                <a:srgbClr val="999999"/>
              </a:solidFill>
            </a:endParaRPr>
          </a:p>
        </p:txBody>
      </p:sp>
      <p:sp>
        <p:nvSpPr>
          <p:cNvPr id="634" name="Google Shape;634;p56"/>
          <p:cNvSpPr txBox="1"/>
          <p:nvPr/>
        </p:nvSpPr>
        <p:spPr>
          <a:xfrm>
            <a:off x="762400" y="1881400"/>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Lakeflow Jobs</a:t>
            </a:r>
            <a:endParaRPr>
              <a:solidFill>
                <a:schemeClr val="accent1"/>
              </a:solidFill>
              <a:latin typeface="DM Sans Medium"/>
              <a:ea typeface="DM Sans Medium"/>
              <a:cs typeface="DM Sans Medium"/>
              <a:sym typeface="DM Sans Medium"/>
            </a:endParaRPr>
          </a:p>
        </p:txBody>
      </p:sp>
      <p:sp>
        <p:nvSpPr>
          <p:cNvPr id="635" name="Google Shape;635;p56"/>
          <p:cNvSpPr txBox="1"/>
          <p:nvPr/>
        </p:nvSpPr>
        <p:spPr>
          <a:xfrm>
            <a:off x="2350675" y="2567200"/>
            <a:ext cx="14868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Databricks AI</a:t>
            </a:r>
            <a:endParaRPr>
              <a:solidFill>
                <a:schemeClr val="accent1"/>
              </a:solidFill>
              <a:latin typeface="DM Sans Medium"/>
              <a:ea typeface="DM Sans Medium"/>
              <a:cs typeface="DM Sans Medium"/>
              <a:sym typeface="DM Sans Medium"/>
            </a:endParaRPr>
          </a:p>
        </p:txBody>
      </p:sp>
      <p:sp>
        <p:nvSpPr>
          <p:cNvPr id="636" name="Google Shape;636;p56"/>
          <p:cNvSpPr txBox="1"/>
          <p:nvPr/>
        </p:nvSpPr>
        <p:spPr>
          <a:xfrm>
            <a:off x="3939500" y="2567200"/>
            <a:ext cx="14868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Databricks SQL</a:t>
            </a:r>
            <a:endParaRPr>
              <a:solidFill>
                <a:schemeClr val="accent1"/>
              </a:solidFill>
              <a:latin typeface="DM Sans Medium"/>
              <a:ea typeface="DM Sans Medium"/>
              <a:cs typeface="DM Sans Medium"/>
              <a:sym typeface="DM Sans Medium"/>
            </a:endParaRPr>
          </a:p>
        </p:txBody>
      </p:sp>
      <p:grpSp>
        <p:nvGrpSpPr>
          <p:cNvPr id="637" name="Google Shape;637;p56"/>
          <p:cNvGrpSpPr/>
          <p:nvPr/>
        </p:nvGrpSpPr>
        <p:grpSpPr>
          <a:xfrm>
            <a:off x="573175" y="3351450"/>
            <a:ext cx="4970100" cy="2394000"/>
            <a:chOff x="573175" y="3351450"/>
            <a:chExt cx="4970100" cy="2394000"/>
          </a:xfrm>
        </p:grpSpPr>
        <p:sp>
          <p:nvSpPr>
            <p:cNvPr id="638" name="Google Shape;638;p56"/>
            <p:cNvSpPr/>
            <p:nvPr/>
          </p:nvSpPr>
          <p:spPr>
            <a:xfrm>
              <a:off x="573175" y="3351450"/>
              <a:ext cx="4970100" cy="239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39" name="Google Shape;639;p56"/>
            <p:cNvSpPr/>
            <p:nvPr/>
          </p:nvSpPr>
          <p:spPr>
            <a:xfrm>
              <a:off x="761800" y="4330050"/>
              <a:ext cx="4664400" cy="6255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b" bIns="91400" lIns="91400" spcFirstLastPara="1" rIns="9140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Unified security, governance, and cataloging</a:t>
              </a:r>
              <a:endParaRPr sz="1200">
                <a:solidFill>
                  <a:srgbClr val="999999"/>
                </a:solidFill>
              </a:endParaRPr>
            </a:p>
          </p:txBody>
        </p:sp>
        <p:sp>
          <p:nvSpPr>
            <p:cNvPr id="640" name="Google Shape;640;p56"/>
            <p:cNvSpPr/>
            <p:nvPr/>
          </p:nvSpPr>
          <p:spPr>
            <a:xfrm>
              <a:off x="761800" y="5038100"/>
              <a:ext cx="4664400" cy="625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b" bIns="91400" lIns="91400" spcFirstLastPara="1" rIns="9140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Unified data storage for reliability and sharing</a:t>
              </a:r>
              <a:endParaRPr sz="1200">
                <a:solidFill>
                  <a:srgbClr val="999999"/>
                </a:solidFill>
              </a:endParaRPr>
            </a:p>
          </p:txBody>
        </p:sp>
        <p:sp>
          <p:nvSpPr>
            <p:cNvPr id="641" name="Google Shape;641;p56"/>
            <p:cNvSpPr txBox="1"/>
            <p:nvPr/>
          </p:nvSpPr>
          <p:spPr>
            <a:xfrm>
              <a:off x="762400" y="4375770"/>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rgbClr val="F5A300"/>
                  </a:solidFill>
                  <a:latin typeface="DM Sans Medium"/>
                  <a:ea typeface="DM Sans Medium"/>
                  <a:cs typeface="DM Sans Medium"/>
                  <a:sym typeface="DM Sans Medium"/>
                </a:rPr>
                <a:t>Unity Catalog</a:t>
              </a:r>
              <a:endParaRPr>
                <a:solidFill>
                  <a:srgbClr val="F5A300"/>
                </a:solidFill>
                <a:latin typeface="DM Sans Medium"/>
                <a:ea typeface="DM Sans Medium"/>
                <a:cs typeface="DM Sans Medium"/>
                <a:sym typeface="DM Sans Medium"/>
              </a:endParaRPr>
            </a:p>
          </p:txBody>
        </p:sp>
        <p:sp>
          <p:nvSpPr>
            <p:cNvPr id="642" name="Google Shape;642;p56"/>
            <p:cNvSpPr txBox="1"/>
            <p:nvPr/>
          </p:nvSpPr>
          <p:spPr>
            <a:xfrm>
              <a:off x="762400" y="5075057"/>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Delta Lake</a:t>
              </a:r>
              <a:endParaRPr>
                <a:solidFill>
                  <a:schemeClr val="accent1"/>
                </a:solidFill>
                <a:latin typeface="DM Sans Medium"/>
                <a:ea typeface="DM Sans Medium"/>
                <a:cs typeface="DM Sans Medium"/>
                <a:sym typeface="DM Sans Medium"/>
              </a:endParaRPr>
            </a:p>
          </p:txBody>
        </p:sp>
      </p:grpSp>
      <p:pic>
        <p:nvPicPr>
          <p:cNvPr id="643" name="Google Shape;643;p56"/>
          <p:cNvPicPr preferRelativeResize="0"/>
          <p:nvPr/>
        </p:nvPicPr>
        <p:blipFill>
          <a:blip r:embed="rId3">
            <a:alphaModFix/>
          </a:blip>
          <a:stretch>
            <a:fillRect/>
          </a:stretch>
        </p:blipFill>
        <p:spPr>
          <a:xfrm>
            <a:off x="2125285" y="1383800"/>
            <a:ext cx="265850" cy="265850"/>
          </a:xfrm>
          <a:prstGeom prst="rect">
            <a:avLst/>
          </a:prstGeom>
          <a:noFill/>
          <a:ln>
            <a:noFill/>
          </a:ln>
        </p:spPr>
      </p:pic>
      <p:grpSp>
        <p:nvGrpSpPr>
          <p:cNvPr id="644" name="Google Shape;644;p56"/>
          <p:cNvGrpSpPr/>
          <p:nvPr/>
        </p:nvGrpSpPr>
        <p:grpSpPr>
          <a:xfrm>
            <a:off x="6627300" y="1331675"/>
            <a:ext cx="4897800" cy="4331925"/>
            <a:chOff x="6627300" y="1331675"/>
            <a:chExt cx="4897800" cy="4331925"/>
          </a:xfrm>
        </p:grpSpPr>
        <p:grpSp>
          <p:nvGrpSpPr>
            <p:cNvPr id="645" name="Google Shape;645;p56"/>
            <p:cNvGrpSpPr/>
            <p:nvPr/>
          </p:nvGrpSpPr>
          <p:grpSpPr>
            <a:xfrm>
              <a:off x="6743775" y="3469725"/>
              <a:ext cx="4665000" cy="625500"/>
              <a:chOff x="6743775" y="3469725"/>
              <a:chExt cx="4665000" cy="625500"/>
            </a:xfrm>
          </p:grpSpPr>
          <p:sp>
            <p:nvSpPr>
              <p:cNvPr id="620" name="Google Shape;620;p56"/>
              <p:cNvSpPr/>
              <p:nvPr/>
            </p:nvSpPr>
            <p:spPr>
              <a:xfrm>
                <a:off x="6743775" y="3469725"/>
                <a:ext cx="4664400" cy="625500"/>
              </a:xfrm>
              <a:prstGeom prst="roundRect">
                <a:avLst>
                  <a:gd fmla="val 16667" name="adj"/>
                </a:avLst>
              </a:prstGeom>
              <a:solidFill>
                <a:srgbClr val="FFFFFF"/>
              </a:solidFill>
              <a:ln cap="flat" cmpd="sng" w="19050">
                <a:solidFill>
                  <a:schemeClr val="accent3"/>
                </a:solidFill>
                <a:prstDash val="solid"/>
                <a:round/>
                <a:headEnd len="sm" w="sm" type="none"/>
                <a:tailEnd len="sm" w="sm" type="none"/>
              </a:ln>
            </p:spPr>
            <p:txBody>
              <a:bodyPr anchorCtr="0" anchor="b" bIns="91400" lIns="91400" spcFirstLastPara="1" rIns="91400" wrap="square" tIns="91400">
                <a:noAutofit/>
              </a:bodyPr>
              <a:lstStyle/>
              <a:p>
                <a:pPr indent="0" lvl="0" marL="0" marR="0" rtl="0" algn="ctr">
                  <a:lnSpc>
                    <a:spcPct val="100000"/>
                  </a:lnSpc>
                  <a:spcBef>
                    <a:spcPts val="0"/>
                  </a:spcBef>
                  <a:spcAft>
                    <a:spcPts val="0"/>
                  </a:spcAft>
                  <a:buClr>
                    <a:srgbClr val="000000"/>
                  </a:buClr>
                  <a:buFont typeface="Arial"/>
                  <a:buNone/>
                </a:pPr>
                <a:r>
                  <a:rPr lang="en" sz="1200">
                    <a:solidFill>
                      <a:srgbClr val="999999"/>
                    </a:solidFill>
                    <a:latin typeface="DM Sans Medium"/>
                    <a:ea typeface="DM Sans Medium"/>
                    <a:cs typeface="DM Sans Medium"/>
                    <a:sym typeface="DM Sans Medium"/>
                  </a:rPr>
                  <a:t>Generative AI to understand the semantics of your data</a:t>
                </a:r>
                <a:endParaRPr sz="1200">
                  <a:solidFill>
                    <a:srgbClr val="999999"/>
                  </a:solidFill>
                  <a:latin typeface="DM Sans Medium"/>
                  <a:ea typeface="DM Sans Medium"/>
                  <a:cs typeface="DM Sans Medium"/>
                  <a:sym typeface="DM Sans Medium"/>
                </a:endParaRPr>
              </a:p>
            </p:txBody>
          </p:sp>
          <p:sp>
            <p:nvSpPr>
              <p:cNvPr id="646" name="Google Shape;646;p56"/>
              <p:cNvSpPr txBox="1"/>
              <p:nvPr/>
            </p:nvSpPr>
            <p:spPr>
              <a:xfrm>
                <a:off x="6744375" y="3530827"/>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3"/>
                    </a:solidFill>
                    <a:latin typeface="DM Sans Medium"/>
                    <a:ea typeface="DM Sans Medium"/>
                    <a:cs typeface="DM Sans Medium"/>
                    <a:sym typeface="DM Sans Medium"/>
                  </a:rPr>
                  <a:t>Intelligence Engine</a:t>
                </a:r>
                <a:endParaRPr>
                  <a:solidFill>
                    <a:schemeClr val="accent3"/>
                  </a:solidFill>
                  <a:latin typeface="DM Sans Medium"/>
                  <a:ea typeface="DM Sans Medium"/>
                  <a:cs typeface="DM Sans Medium"/>
                  <a:sym typeface="DM Sans Medium"/>
                </a:endParaRPr>
              </a:p>
            </p:txBody>
          </p:sp>
        </p:grpSp>
        <p:sp>
          <p:nvSpPr>
            <p:cNvPr id="647" name="Google Shape;647;p56"/>
            <p:cNvSpPr/>
            <p:nvPr/>
          </p:nvSpPr>
          <p:spPr>
            <a:xfrm>
              <a:off x="6743850" y="2532953"/>
              <a:ext cx="1486800" cy="7746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b" bIns="91400" lIns="0" spcFirstLastPara="1" rIns="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ETL &amp; </a:t>
              </a:r>
              <a:br>
                <a:rPr lang="en" sz="1200">
                  <a:solidFill>
                    <a:srgbClr val="999999"/>
                  </a:solidFill>
                  <a:latin typeface="DM Sans"/>
                  <a:ea typeface="DM Sans"/>
                  <a:cs typeface="DM Sans"/>
                  <a:sym typeface="DM Sans"/>
                </a:rPr>
              </a:br>
              <a:r>
                <a:rPr lang="en" sz="1200">
                  <a:solidFill>
                    <a:srgbClr val="999999"/>
                  </a:solidFill>
                  <a:latin typeface="DM Sans"/>
                  <a:ea typeface="DM Sans"/>
                  <a:cs typeface="DM Sans"/>
                  <a:sym typeface="DM Sans"/>
                </a:rPr>
                <a:t>Real-time Analytics</a:t>
              </a:r>
              <a:endParaRPr sz="1200">
                <a:solidFill>
                  <a:srgbClr val="999999"/>
                </a:solidFill>
              </a:endParaRPr>
            </a:p>
          </p:txBody>
        </p:sp>
        <p:sp>
          <p:nvSpPr>
            <p:cNvPr id="625" name="Google Shape;625;p56"/>
            <p:cNvSpPr/>
            <p:nvPr/>
          </p:nvSpPr>
          <p:spPr>
            <a:xfrm>
              <a:off x="8332652" y="2532953"/>
              <a:ext cx="1486800" cy="7746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b" bIns="91400" lIns="0" spcFirstLastPara="1" rIns="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Data Science </a:t>
              </a:r>
              <a:br>
                <a:rPr lang="en" sz="1200">
                  <a:solidFill>
                    <a:srgbClr val="999999"/>
                  </a:solidFill>
                  <a:latin typeface="DM Sans"/>
                  <a:ea typeface="DM Sans"/>
                  <a:cs typeface="DM Sans"/>
                  <a:sym typeface="DM Sans"/>
                </a:rPr>
              </a:br>
              <a:r>
                <a:rPr lang="en" sz="1200">
                  <a:solidFill>
                    <a:srgbClr val="999999"/>
                  </a:solidFill>
                  <a:latin typeface="DM Sans"/>
                  <a:ea typeface="DM Sans"/>
                  <a:cs typeface="DM Sans"/>
                  <a:sym typeface="DM Sans"/>
                </a:rPr>
                <a:t>&amp; AI</a:t>
              </a:r>
              <a:endParaRPr sz="1200">
                <a:solidFill>
                  <a:srgbClr val="999999"/>
                </a:solidFill>
              </a:endParaRPr>
            </a:p>
          </p:txBody>
        </p:sp>
        <p:sp>
          <p:nvSpPr>
            <p:cNvPr id="621" name="Google Shape;621;p56"/>
            <p:cNvSpPr/>
            <p:nvPr/>
          </p:nvSpPr>
          <p:spPr>
            <a:xfrm>
              <a:off x="6743859" y="1824900"/>
              <a:ext cx="4664700" cy="625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b" bIns="91400" lIns="0" spcFirstLastPara="1" rIns="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Orchestration</a:t>
              </a:r>
              <a:endParaRPr sz="1200">
                <a:solidFill>
                  <a:srgbClr val="999999"/>
                </a:solidFill>
              </a:endParaRPr>
            </a:p>
          </p:txBody>
        </p:sp>
        <p:sp>
          <p:nvSpPr>
            <p:cNvPr id="648" name="Google Shape;648;p56"/>
            <p:cNvSpPr/>
            <p:nvPr/>
          </p:nvSpPr>
          <p:spPr>
            <a:xfrm>
              <a:off x="9921477" y="2532953"/>
              <a:ext cx="1486800" cy="7746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b" bIns="91400" lIns="0" spcFirstLastPara="1" rIns="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Data </a:t>
              </a:r>
              <a:br>
                <a:rPr lang="en" sz="1200">
                  <a:solidFill>
                    <a:srgbClr val="999999"/>
                  </a:solidFill>
                  <a:latin typeface="DM Sans"/>
                  <a:ea typeface="DM Sans"/>
                  <a:cs typeface="DM Sans"/>
                  <a:sym typeface="DM Sans"/>
                </a:rPr>
              </a:br>
              <a:r>
                <a:rPr lang="en" sz="1200">
                  <a:solidFill>
                    <a:srgbClr val="999999"/>
                  </a:solidFill>
                  <a:latin typeface="DM Sans"/>
                  <a:ea typeface="DM Sans"/>
                  <a:cs typeface="DM Sans"/>
                  <a:sym typeface="DM Sans"/>
                </a:rPr>
                <a:t>Warehousing</a:t>
              </a:r>
              <a:endParaRPr sz="1200">
                <a:solidFill>
                  <a:srgbClr val="999999"/>
                </a:solidFill>
              </a:endParaRPr>
            </a:p>
          </p:txBody>
        </p:sp>
        <p:sp>
          <p:nvSpPr>
            <p:cNvPr id="649" name="Google Shape;649;p56"/>
            <p:cNvSpPr/>
            <p:nvPr/>
          </p:nvSpPr>
          <p:spPr>
            <a:xfrm>
              <a:off x="6743775" y="4330050"/>
              <a:ext cx="4664400" cy="6255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b" bIns="91400" lIns="91400" spcFirstLastPara="1" rIns="91400" wrap="square" tIns="91400">
              <a:noAutofit/>
            </a:bodyPr>
            <a:lstStyle/>
            <a:p>
              <a:pPr indent="0" lvl="0" marL="0" rtl="0" algn="ctr">
                <a:spcBef>
                  <a:spcPts val="0"/>
                </a:spcBef>
                <a:spcAft>
                  <a:spcPts val="0"/>
                </a:spcAft>
                <a:buNone/>
              </a:pPr>
              <a:r>
                <a:rPr lang="en" sz="1200">
                  <a:solidFill>
                    <a:srgbClr val="999999"/>
                  </a:solidFill>
                  <a:latin typeface="DM Sans"/>
                  <a:ea typeface="DM Sans"/>
                  <a:cs typeface="DM Sans"/>
                  <a:sym typeface="DM Sans"/>
                </a:rPr>
                <a:t>Unified security, governance, and cataloging</a:t>
              </a:r>
              <a:endParaRPr sz="1200">
                <a:solidFill>
                  <a:srgbClr val="999999"/>
                </a:solidFill>
              </a:endParaRPr>
            </a:p>
          </p:txBody>
        </p:sp>
        <p:sp>
          <p:nvSpPr>
            <p:cNvPr id="623" name="Google Shape;623;p56"/>
            <p:cNvSpPr/>
            <p:nvPr/>
          </p:nvSpPr>
          <p:spPr>
            <a:xfrm>
              <a:off x="6743775" y="5038100"/>
              <a:ext cx="4664400" cy="6255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b" bIns="91400" lIns="91400" spcFirstLastPara="1" rIns="91400" wrap="square" tIns="91400">
              <a:noAutofit/>
            </a:bodyPr>
            <a:lstStyle/>
            <a:p>
              <a:pPr indent="0" lvl="0" marL="0" marR="0" rtl="0" algn="ctr">
                <a:spcBef>
                  <a:spcPts val="0"/>
                </a:spcBef>
                <a:spcAft>
                  <a:spcPts val="0"/>
                </a:spcAft>
                <a:buNone/>
              </a:pPr>
              <a:r>
                <a:rPr lang="en" sz="1200">
                  <a:solidFill>
                    <a:srgbClr val="999999"/>
                  </a:solidFill>
                  <a:latin typeface="DM Sans"/>
                  <a:ea typeface="DM Sans"/>
                  <a:cs typeface="DM Sans"/>
                  <a:sym typeface="DM Sans"/>
                </a:rPr>
                <a:t>Unified data storage for reliability and sharing</a:t>
              </a:r>
              <a:endParaRPr sz="1200">
                <a:solidFill>
                  <a:srgbClr val="999999"/>
                </a:solidFill>
              </a:endParaRPr>
            </a:p>
          </p:txBody>
        </p:sp>
        <p:sp>
          <p:nvSpPr>
            <p:cNvPr id="650" name="Google Shape;650;p56"/>
            <p:cNvSpPr/>
            <p:nvPr/>
          </p:nvSpPr>
          <p:spPr>
            <a:xfrm>
              <a:off x="6627300" y="1331675"/>
              <a:ext cx="48978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Data Intelligence Platform</a:t>
              </a:r>
              <a:endParaRPr sz="2000">
                <a:solidFill>
                  <a:schemeClr val="accent1"/>
                </a:solidFill>
                <a:latin typeface="DM Sans"/>
                <a:ea typeface="DM Sans"/>
                <a:cs typeface="DM Sans"/>
                <a:sym typeface="DM Sans"/>
              </a:endParaRPr>
            </a:p>
          </p:txBody>
        </p:sp>
        <p:sp>
          <p:nvSpPr>
            <p:cNvPr id="651" name="Google Shape;651;p56"/>
            <p:cNvSpPr txBox="1"/>
            <p:nvPr/>
          </p:nvSpPr>
          <p:spPr>
            <a:xfrm>
              <a:off x="6744375" y="1881400"/>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Lakeflow Jobs</a:t>
              </a:r>
              <a:endParaRPr>
                <a:solidFill>
                  <a:schemeClr val="accent1"/>
                </a:solidFill>
                <a:latin typeface="DM Sans Medium"/>
                <a:ea typeface="DM Sans Medium"/>
                <a:cs typeface="DM Sans Medium"/>
                <a:sym typeface="DM Sans Medium"/>
              </a:endParaRPr>
            </a:p>
          </p:txBody>
        </p:sp>
        <p:sp>
          <p:nvSpPr>
            <p:cNvPr id="652" name="Google Shape;652;p56"/>
            <p:cNvSpPr txBox="1"/>
            <p:nvPr/>
          </p:nvSpPr>
          <p:spPr>
            <a:xfrm>
              <a:off x="6743850" y="2567200"/>
              <a:ext cx="14868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LDP</a:t>
              </a:r>
              <a:endParaRPr>
                <a:solidFill>
                  <a:schemeClr val="accent1"/>
                </a:solidFill>
                <a:latin typeface="DM Sans Medium"/>
                <a:ea typeface="DM Sans Medium"/>
                <a:cs typeface="DM Sans Medium"/>
                <a:sym typeface="DM Sans Medium"/>
              </a:endParaRPr>
            </a:p>
          </p:txBody>
        </p:sp>
        <p:sp>
          <p:nvSpPr>
            <p:cNvPr id="653" name="Google Shape;653;p56"/>
            <p:cNvSpPr txBox="1"/>
            <p:nvPr/>
          </p:nvSpPr>
          <p:spPr>
            <a:xfrm>
              <a:off x="8332650" y="2567200"/>
              <a:ext cx="14868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Databricks AI</a:t>
              </a:r>
              <a:endParaRPr>
                <a:solidFill>
                  <a:schemeClr val="accent1"/>
                </a:solidFill>
                <a:latin typeface="DM Sans Medium"/>
                <a:ea typeface="DM Sans Medium"/>
                <a:cs typeface="DM Sans Medium"/>
                <a:sym typeface="DM Sans Medium"/>
              </a:endParaRPr>
            </a:p>
          </p:txBody>
        </p:sp>
        <p:sp>
          <p:nvSpPr>
            <p:cNvPr id="654" name="Google Shape;654;p56"/>
            <p:cNvSpPr txBox="1"/>
            <p:nvPr/>
          </p:nvSpPr>
          <p:spPr>
            <a:xfrm>
              <a:off x="9921475" y="2567200"/>
              <a:ext cx="14868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Databricks SQL</a:t>
              </a:r>
              <a:endParaRPr>
                <a:solidFill>
                  <a:schemeClr val="accent1"/>
                </a:solidFill>
                <a:latin typeface="DM Sans Medium"/>
                <a:ea typeface="DM Sans Medium"/>
                <a:cs typeface="DM Sans Medium"/>
                <a:sym typeface="DM Sans Medium"/>
              </a:endParaRPr>
            </a:p>
          </p:txBody>
        </p:sp>
        <p:sp>
          <p:nvSpPr>
            <p:cNvPr id="655" name="Google Shape;655;p56"/>
            <p:cNvSpPr txBox="1"/>
            <p:nvPr/>
          </p:nvSpPr>
          <p:spPr>
            <a:xfrm>
              <a:off x="6744375" y="4375770"/>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rgbClr val="F5A300"/>
                  </a:solidFill>
                  <a:latin typeface="DM Sans Medium"/>
                  <a:ea typeface="DM Sans Medium"/>
                  <a:cs typeface="DM Sans Medium"/>
                  <a:sym typeface="DM Sans Medium"/>
                </a:rPr>
                <a:t>Unity Catalog</a:t>
              </a:r>
              <a:endParaRPr>
                <a:solidFill>
                  <a:srgbClr val="F5A300"/>
                </a:solidFill>
                <a:latin typeface="DM Sans Medium"/>
                <a:ea typeface="DM Sans Medium"/>
                <a:cs typeface="DM Sans Medium"/>
                <a:sym typeface="DM Sans Medium"/>
              </a:endParaRPr>
            </a:p>
          </p:txBody>
        </p:sp>
        <p:sp>
          <p:nvSpPr>
            <p:cNvPr id="656" name="Google Shape;656;p56"/>
            <p:cNvSpPr txBox="1"/>
            <p:nvPr/>
          </p:nvSpPr>
          <p:spPr>
            <a:xfrm>
              <a:off x="6744375" y="5075057"/>
              <a:ext cx="46644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Delta Lake</a:t>
              </a:r>
              <a:endParaRPr>
                <a:solidFill>
                  <a:schemeClr val="accent1"/>
                </a:solidFill>
                <a:latin typeface="DM Sans Medium"/>
                <a:ea typeface="DM Sans Medium"/>
                <a:cs typeface="DM Sans Medium"/>
                <a:sym typeface="DM Sans Medium"/>
              </a:endParaRPr>
            </a:p>
          </p:txBody>
        </p:sp>
        <p:pic>
          <p:nvPicPr>
            <p:cNvPr id="657" name="Google Shape;657;p56"/>
            <p:cNvPicPr preferRelativeResize="0"/>
            <p:nvPr/>
          </p:nvPicPr>
          <p:blipFill>
            <a:blip r:embed="rId3">
              <a:alphaModFix/>
            </a:blip>
            <a:stretch>
              <a:fillRect/>
            </a:stretch>
          </p:blipFill>
          <p:spPr>
            <a:xfrm>
              <a:off x="7230685" y="1383800"/>
              <a:ext cx="265850" cy="265850"/>
            </a:xfrm>
            <a:prstGeom prst="rect">
              <a:avLst/>
            </a:prstGeom>
            <a:noFill/>
            <a:ln>
              <a:noFill/>
            </a:ln>
          </p:spPr>
        </p:pic>
      </p:grpSp>
      <p:grpSp>
        <p:nvGrpSpPr>
          <p:cNvPr id="658" name="Google Shape;658;p56"/>
          <p:cNvGrpSpPr/>
          <p:nvPr/>
        </p:nvGrpSpPr>
        <p:grpSpPr>
          <a:xfrm>
            <a:off x="6803363" y="4005058"/>
            <a:ext cx="4623763" cy="2318642"/>
            <a:chOff x="6803363" y="4005058"/>
            <a:chExt cx="4623763" cy="2318642"/>
          </a:xfrm>
        </p:grpSpPr>
        <p:sp>
          <p:nvSpPr>
            <p:cNvPr id="659" name="Google Shape;659;p56"/>
            <p:cNvSpPr/>
            <p:nvPr/>
          </p:nvSpPr>
          <p:spPr>
            <a:xfrm>
              <a:off x="6803363" y="6051650"/>
              <a:ext cx="238200" cy="175800"/>
            </a:xfrm>
            <a:prstGeom prst="upArrow">
              <a:avLst>
                <a:gd fmla="val 50000" name="adj1"/>
                <a:gd fmla="val 50000" name="adj2"/>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60" name="Google Shape;660;p56"/>
            <p:cNvSpPr txBox="1"/>
            <p:nvPr/>
          </p:nvSpPr>
          <p:spPr>
            <a:xfrm>
              <a:off x="7114925" y="5954400"/>
              <a:ext cx="43122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Unity Catalog is the foundation of the Intelligence Engine</a:t>
              </a:r>
              <a:endParaRPr sz="1200">
                <a:solidFill>
                  <a:schemeClr val="dk1"/>
                </a:solidFill>
                <a:latin typeface="DM Sans"/>
                <a:ea typeface="DM Sans"/>
                <a:cs typeface="DM Sans"/>
                <a:sym typeface="DM Sans"/>
              </a:endParaRPr>
            </a:p>
          </p:txBody>
        </p:sp>
        <p:sp>
          <p:nvSpPr>
            <p:cNvPr id="661" name="Google Shape;661;p56"/>
            <p:cNvSpPr/>
            <p:nvPr/>
          </p:nvSpPr>
          <p:spPr>
            <a:xfrm>
              <a:off x="8826822" y="4005058"/>
              <a:ext cx="498900" cy="368100"/>
            </a:xfrm>
            <a:prstGeom prst="upArrow">
              <a:avLst>
                <a:gd fmla="val 50000" name="adj1"/>
                <a:gd fmla="val 50000" name="adj2"/>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cxnSp>
        <p:nvCxnSpPr>
          <p:cNvPr id="662" name="Google Shape;662;p56"/>
          <p:cNvCxnSpPr>
            <a:stCxn id="620" idx="3"/>
            <a:endCxn id="649" idx="3"/>
          </p:cNvCxnSpPr>
          <p:nvPr/>
        </p:nvCxnSpPr>
        <p:spPr>
          <a:xfrm>
            <a:off x="11408175" y="3782475"/>
            <a:ext cx="600" cy="860400"/>
          </a:xfrm>
          <a:prstGeom prst="bentConnector3">
            <a:avLst>
              <a:gd fmla="val 39687500" name="adj1"/>
            </a:avLst>
          </a:prstGeom>
          <a:noFill/>
          <a:ln cap="flat" cmpd="sng" w="19050">
            <a:solidFill>
              <a:schemeClr val="accent3"/>
            </a:solidFill>
            <a:prstDash val="solid"/>
            <a:round/>
            <a:headEnd len="sm" w="sm" type="none"/>
            <a:tailEnd len="sm" w="sm" type="triangle"/>
          </a:ln>
        </p:spPr>
      </p:cxnSp>
      <p:sp>
        <p:nvSpPr>
          <p:cNvPr id="663" name="Google Shape;663;p56"/>
          <p:cNvSpPr txBox="1"/>
          <p:nvPr/>
        </p:nvSpPr>
        <p:spPr>
          <a:xfrm>
            <a:off x="761875" y="2567200"/>
            <a:ext cx="14868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LDP</a:t>
            </a:r>
            <a:endParaRPr>
              <a:solidFill>
                <a:schemeClr val="accent1"/>
              </a:solidFill>
              <a:latin typeface="DM Sans Medium"/>
              <a:ea typeface="DM Sans Medium"/>
              <a:cs typeface="DM Sans Medium"/>
              <a:sym typeface="DM Sans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7"/>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High Level Architecture</a:t>
            </a:r>
            <a:endParaRPr/>
          </a:p>
          <a:p>
            <a:pPr indent="0" lvl="0" marL="0" rtl="0" algn="l">
              <a:spcBef>
                <a:spcPts val="0"/>
              </a:spcBef>
              <a:spcAft>
                <a:spcPts val="0"/>
              </a:spcAft>
              <a:buNone/>
            </a:pPr>
            <a:r>
              <a:t/>
            </a:r>
            <a:endParaRPr/>
          </a:p>
        </p:txBody>
      </p:sp>
      <p:sp>
        <p:nvSpPr>
          <p:cNvPr id="669" name="Google Shape;669;p5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58"/>
          <p:cNvSpPr/>
          <p:nvPr/>
        </p:nvSpPr>
        <p:spPr>
          <a:xfrm>
            <a:off x="8231900" y="3715050"/>
            <a:ext cx="3003900" cy="17640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Classic Compute Plane</a:t>
            </a:r>
            <a:endParaRPr sz="1500">
              <a:solidFill>
                <a:schemeClr val="accent1"/>
              </a:solidFill>
              <a:latin typeface="DM Sans Medium"/>
              <a:ea typeface="DM Sans Medium"/>
              <a:cs typeface="DM Sans Medium"/>
              <a:sym typeface="DM Sans Medium"/>
            </a:endParaRPr>
          </a:p>
        </p:txBody>
      </p:sp>
      <p:sp>
        <p:nvSpPr>
          <p:cNvPr id="675" name="Google Shape;675;p58"/>
          <p:cNvSpPr/>
          <p:nvPr/>
        </p:nvSpPr>
        <p:spPr>
          <a:xfrm>
            <a:off x="2906900" y="3715050"/>
            <a:ext cx="4794300" cy="1771200"/>
          </a:xfrm>
          <a:prstGeom prst="roundRect">
            <a:avLst>
              <a:gd fmla="val 4853"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600"/>
              </a:spcAft>
              <a:buNone/>
            </a:pPr>
            <a:r>
              <a:rPr lang="en" sz="1500">
                <a:solidFill>
                  <a:schemeClr val="accent1"/>
                </a:solidFill>
                <a:latin typeface="DM Sans Medium"/>
                <a:ea typeface="DM Sans Medium"/>
                <a:cs typeface="DM Sans Medium"/>
                <a:sym typeface="DM Sans Medium"/>
              </a:rPr>
              <a:t>     </a:t>
            </a:r>
            <a:r>
              <a:rPr lang="en" sz="1500">
                <a:solidFill>
                  <a:schemeClr val="accent1"/>
                </a:solidFill>
                <a:latin typeface="DM Sans Medium"/>
                <a:ea typeface="DM Sans Medium"/>
                <a:cs typeface="DM Sans Medium"/>
                <a:sym typeface="DM Sans Medium"/>
              </a:rPr>
              <a:t>Serverless Compute</a:t>
            </a:r>
            <a:r>
              <a:rPr lang="en" sz="1500">
                <a:solidFill>
                  <a:schemeClr val="accent1"/>
                </a:solidFill>
                <a:latin typeface="DM Sans Medium"/>
                <a:ea typeface="DM Sans Medium"/>
                <a:cs typeface="DM Sans Medium"/>
                <a:sym typeface="DM Sans Medium"/>
              </a:rPr>
              <a:t> Plane</a:t>
            </a:r>
            <a:endParaRPr sz="1500">
              <a:solidFill>
                <a:schemeClr val="accent1"/>
              </a:solidFill>
              <a:latin typeface="DM Sans Medium"/>
              <a:ea typeface="DM Sans Medium"/>
              <a:cs typeface="DM Sans Medium"/>
              <a:sym typeface="DM Sans Medium"/>
            </a:endParaRPr>
          </a:p>
        </p:txBody>
      </p:sp>
      <p:sp>
        <p:nvSpPr>
          <p:cNvPr id="676" name="Google Shape;676;p58"/>
          <p:cNvSpPr/>
          <p:nvPr/>
        </p:nvSpPr>
        <p:spPr>
          <a:xfrm>
            <a:off x="62603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8"/>
          <p:cNvSpPr/>
          <p:nvPr/>
        </p:nvSpPr>
        <p:spPr>
          <a:xfrm>
            <a:off x="2906975" y="1917875"/>
            <a:ext cx="4794300" cy="1511100"/>
          </a:xfrm>
          <a:prstGeom prst="roundRect">
            <a:avLst>
              <a:gd fmla="val 6285" name="adj"/>
            </a:avLst>
          </a:prstGeom>
          <a:solidFill>
            <a:srgbClr val="FFFFFF"/>
          </a:solidFill>
          <a:ln cap="flat" cmpd="sng" w="9525">
            <a:solidFill>
              <a:srgbClr val="FF362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Control Plane</a:t>
            </a:r>
            <a:endParaRPr sz="1500">
              <a:solidFill>
                <a:schemeClr val="accent1"/>
              </a:solidFill>
              <a:latin typeface="DM Sans Medium"/>
              <a:ea typeface="DM Sans Medium"/>
              <a:cs typeface="DM Sans Medium"/>
              <a:sym typeface="DM Sans Medium"/>
            </a:endParaRPr>
          </a:p>
        </p:txBody>
      </p:sp>
      <p:sp>
        <p:nvSpPr>
          <p:cNvPr id="678" name="Google Shape;678;p58"/>
          <p:cNvSpPr/>
          <p:nvPr/>
        </p:nvSpPr>
        <p:spPr>
          <a:xfrm>
            <a:off x="7653850" y="2675525"/>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680" name="Google Shape;680;p58"/>
          <p:cNvSpPr/>
          <p:nvPr/>
        </p:nvSpPr>
        <p:spPr>
          <a:xfrm>
            <a:off x="2833725" y="1331675"/>
            <a:ext cx="49167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8"/>
          <p:cNvSpPr/>
          <p:nvPr/>
        </p:nvSpPr>
        <p:spPr>
          <a:xfrm>
            <a:off x="9685550" y="3666662"/>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8"/>
          <p:cNvSpPr/>
          <p:nvPr/>
        </p:nvSpPr>
        <p:spPr>
          <a:xfrm>
            <a:off x="9685550" y="5430321"/>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8"/>
          <p:cNvSpPr/>
          <p:nvPr/>
        </p:nvSpPr>
        <p:spPr>
          <a:xfrm>
            <a:off x="8070950" y="1331675"/>
            <a:ext cx="32778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pic>
        <p:nvPicPr>
          <p:cNvPr id="684" name="Google Shape;684;p58"/>
          <p:cNvPicPr preferRelativeResize="0"/>
          <p:nvPr/>
        </p:nvPicPr>
        <p:blipFill rotWithShape="1">
          <a:blip r:embed="rId4">
            <a:alphaModFix/>
          </a:blip>
          <a:srcRect b="0" l="0" r="0" t="0"/>
          <a:stretch/>
        </p:blipFill>
        <p:spPr>
          <a:xfrm>
            <a:off x="4535392" y="1364149"/>
            <a:ext cx="1886819" cy="296800"/>
          </a:xfrm>
          <a:prstGeom prst="rect">
            <a:avLst/>
          </a:prstGeom>
          <a:noFill/>
          <a:ln>
            <a:noFill/>
          </a:ln>
        </p:spPr>
      </p:pic>
      <p:sp>
        <p:nvSpPr>
          <p:cNvPr id="685" name="Google Shape;685;p58"/>
          <p:cNvSpPr/>
          <p:nvPr/>
        </p:nvSpPr>
        <p:spPr>
          <a:xfrm>
            <a:off x="8374100"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Workspace</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clusters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(ETL and AI)</a:t>
            </a:r>
            <a:endParaRPr i="1" sz="1000">
              <a:solidFill>
                <a:schemeClr val="accent1"/>
              </a:solidFill>
              <a:latin typeface="DM Sans"/>
              <a:ea typeface="DM Sans"/>
              <a:cs typeface="DM Sans"/>
              <a:sym typeface="DM Sans"/>
            </a:endParaRPr>
          </a:p>
        </p:txBody>
      </p:sp>
      <p:sp>
        <p:nvSpPr>
          <p:cNvPr id="686" name="Google Shape;686;p58"/>
          <p:cNvSpPr/>
          <p:nvPr/>
        </p:nvSpPr>
        <p:spPr>
          <a:xfrm>
            <a:off x="9808926"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SQL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Warehouses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(DWH and BI)</a:t>
            </a:r>
            <a:endParaRPr i="1" sz="1000">
              <a:solidFill>
                <a:schemeClr val="accent1"/>
              </a:solidFill>
              <a:latin typeface="DM Sans"/>
              <a:ea typeface="DM Sans"/>
              <a:cs typeface="DM Sans"/>
              <a:sym typeface="DM Sans"/>
            </a:endParaRPr>
          </a:p>
        </p:txBody>
      </p:sp>
      <p:cxnSp>
        <p:nvCxnSpPr>
          <p:cNvPr id="687" name="Google Shape;687;p58"/>
          <p:cNvCxnSpPr>
            <a:stCxn id="688" idx="2"/>
            <a:endCxn id="689" idx="0"/>
          </p:cNvCxnSpPr>
          <p:nvPr/>
        </p:nvCxnSpPr>
        <p:spPr>
          <a:xfrm>
            <a:off x="6160913" y="3480014"/>
            <a:ext cx="0" cy="189000"/>
          </a:xfrm>
          <a:prstGeom prst="straightConnector1">
            <a:avLst/>
          </a:prstGeom>
          <a:noFill/>
          <a:ln cap="flat" cmpd="sng" w="19050">
            <a:solidFill>
              <a:schemeClr val="accent1"/>
            </a:solidFill>
            <a:prstDash val="solid"/>
            <a:round/>
            <a:headEnd len="sm" w="sm" type="none"/>
            <a:tailEnd len="sm" w="sm" type="triangle"/>
          </a:ln>
        </p:spPr>
      </p:cxnSp>
      <p:cxnSp>
        <p:nvCxnSpPr>
          <p:cNvPr id="690" name="Google Shape;690;p58"/>
          <p:cNvCxnSpPr>
            <a:stCxn id="678" idx="3"/>
            <a:endCxn id="681" idx="0"/>
          </p:cNvCxnSpPr>
          <p:nvPr/>
        </p:nvCxnSpPr>
        <p:spPr>
          <a:xfrm>
            <a:off x="7750450" y="2723825"/>
            <a:ext cx="1983300" cy="942900"/>
          </a:xfrm>
          <a:prstGeom prst="bentConnector2">
            <a:avLst/>
          </a:prstGeom>
          <a:noFill/>
          <a:ln cap="flat" cmpd="sng" w="19050">
            <a:solidFill>
              <a:schemeClr val="accent1"/>
            </a:solidFill>
            <a:prstDash val="solid"/>
            <a:round/>
            <a:headEnd len="sm" w="sm" type="none"/>
            <a:tailEnd len="sm" w="sm" type="triangle"/>
          </a:ln>
        </p:spPr>
      </p:cxnSp>
      <p:cxnSp>
        <p:nvCxnSpPr>
          <p:cNvPr id="691" name="Google Shape;691;p58"/>
          <p:cNvCxnSpPr>
            <a:stCxn id="682" idx="2"/>
            <a:endCxn id="692" idx="0"/>
          </p:cNvCxnSpPr>
          <p:nvPr/>
        </p:nvCxnSpPr>
        <p:spPr>
          <a:xfrm>
            <a:off x="9733850" y="5526921"/>
            <a:ext cx="0" cy="348000"/>
          </a:xfrm>
          <a:prstGeom prst="straightConnector1">
            <a:avLst/>
          </a:prstGeom>
          <a:noFill/>
          <a:ln cap="flat" cmpd="sng" w="19050">
            <a:solidFill>
              <a:schemeClr val="accent1"/>
            </a:solidFill>
            <a:prstDash val="solid"/>
            <a:round/>
            <a:headEnd len="sm" w="sm" type="none"/>
            <a:tailEnd len="sm" w="sm" type="triangle"/>
          </a:ln>
        </p:spPr>
      </p:cxnSp>
      <p:cxnSp>
        <p:nvCxnSpPr>
          <p:cNvPr id="693" name="Google Shape;693;p58"/>
          <p:cNvCxnSpPr>
            <a:stCxn id="676" idx="2"/>
            <a:endCxn id="694" idx="0"/>
          </p:cNvCxnSpPr>
          <p:nvPr/>
        </p:nvCxnSpPr>
        <p:spPr>
          <a:xfrm flipH="1" rot="-5400000">
            <a:off x="7696266" y="4142398"/>
            <a:ext cx="345000" cy="31203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695" name="Google Shape;695;p5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Intelligence Platform</a:t>
            </a:r>
            <a:r>
              <a:rPr lang="en"/>
              <a:t> Overview</a:t>
            </a:r>
            <a:endParaRPr/>
          </a:p>
        </p:txBody>
      </p:sp>
      <p:sp>
        <p:nvSpPr>
          <p:cNvPr id="696" name="Google Shape;696;p58"/>
          <p:cNvSpPr/>
          <p:nvPr/>
        </p:nvSpPr>
        <p:spPr>
          <a:xfrm>
            <a:off x="4237394" y="2323747"/>
            <a:ext cx="2086500" cy="1013400"/>
          </a:xfrm>
          <a:prstGeom prst="roundRect">
            <a:avLst>
              <a:gd fmla="val 4653" name="adj"/>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1200">
                <a:solidFill>
                  <a:srgbClr val="F5A300"/>
                </a:solidFill>
                <a:latin typeface="DM Sans Medium"/>
                <a:ea typeface="DM Sans Medium"/>
                <a:cs typeface="DM Sans Medium"/>
                <a:sym typeface="DM Sans Medium"/>
              </a:rPr>
              <a:t>Unity Catalog</a:t>
            </a:r>
            <a:endParaRPr sz="1200">
              <a:solidFill>
                <a:srgbClr val="F5A300"/>
              </a:solidFill>
              <a:latin typeface="DM Sans Medium"/>
              <a:ea typeface="DM Sans Medium"/>
              <a:cs typeface="DM Sans Medium"/>
              <a:sym typeface="DM Sans Medium"/>
            </a:endParaRPr>
          </a:p>
          <a:p>
            <a:pPr indent="0" lvl="0" marL="0" rtl="0" algn="ctr">
              <a:lnSpc>
                <a:spcPct val="115000"/>
              </a:lnSpc>
              <a:spcBef>
                <a:spcPts val="400"/>
              </a:spcBef>
              <a:spcAft>
                <a:spcPts val="0"/>
              </a:spcAft>
              <a:buNone/>
            </a:pPr>
            <a:r>
              <a:rPr lang="en" sz="1200">
                <a:solidFill>
                  <a:schemeClr val="accent3"/>
                </a:solidFill>
                <a:latin typeface="DM Sans Medium"/>
                <a:ea typeface="DM Sans Medium"/>
                <a:cs typeface="DM Sans Medium"/>
                <a:sym typeface="DM Sans Medium"/>
              </a:rPr>
              <a:t>Intelligence Engine</a:t>
            </a:r>
            <a:endParaRPr sz="1200">
              <a:solidFill>
                <a:schemeClr val="accent3"/>
              </a:solidFill>
              <a:latin typeface="DM Sans Medium"/>
              <a:ea typeface="DM Sans Medium"/>
              <a:cs typeface="DM Sans Medium"/>
              <a:sym typeface="DM Sans Medium"/>
            </a:endParaRPr>
          </a:p>
          <a:p>
            <a:pPr indent="0" lvl="0" marL="0" rtl="0" algn="ctr">
              <a:lnSpc>
                <a:spcPct val="115000"/>
              </a:lnSpc>
              <a:spcBef>
                <a:spcPts val="400"/>
              </a:spcBef>
              <a:spcAft>
                <a:spcPts val="400"/>
              </a:spcAft>
              <a:buNone/>
            </a:pPr>
            <a:r>
              <a:rPr lang="en" sz="1200">
                <a:solidFill>
                  <a:schemeClr val="accent1"/>
                </a:solidFill>
                <a:latin typeface="DM Sans Medium"/>
                <a:ea typeface="DM Sans Medium"/>
                <a:cs typeface="DM Sans Medium"/>
                <a:sym typeface="DM Sans Medium"/>
              </a:rPr>
              <a:t>Platform Services</a:t>
            </a:r>
            <a:endParaRPr sz="1200">
              <a:solidFill>
                <a:schemeClr val="accent1"/>
              </a:solidFill>
              <a:latin typeface="DM Sans Medium"/>
              <a:ea typeface="DM Sans Medium"/>
              <a:cs typeface="DM Sans Medium"/>
              <a:sym typeface="DM Sans Medium"/>
            </a:endParaRPr>
          </a:p>
        </p:txBody>
      </p:sp>
      <p:sp>
        <p:nvSpPr>
          <p:cNvPr id="697" name="Google Shape;697;p58"/>
          <p:cNvSpPr txBox="1"/>
          <p:nvPr/>
        </p:nvSpPr>
        <p:spPr>
          <a:xfrm>
            <a:off x="948300" y="25054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pic>
        <p:nvPicPr>
          <p:cNvPr id="698" name="Google Shape;698;p58"/>
          <p:cNvPicPr preferRelativeResize="0"/>
          <p:nvPr/>
        </p:nvPicPr>
        <p:blipFill>
          <a:blip r:embed="rId5">
            <a:alphaModFix/>
          </a:blip>
          <a:stretch>
            <a:fillRect/>
          </a:stretch>
        </p:blipFill>
        <p:spPr>
          <a:xfrm>
            <a:off x="1855075" y="2420206"/>
            <a:ext cx="516325" cy="516335"/>
          </a:xfrm>
          <a:prstGeom prst="rect">
            <a:avLst/>
          </a:prstGeom>
          <a:noFill/>
          <a:ln>
            <a:noFill/>
          </a:ln>
        </p:spPr>
      </p:pic>
      <p:sp>
        <p:nvSpPr>
          <p:cNvPr id="699" name="Google Shape;699;p58"/>
          <p:cNvSpPr txBox="1"/>
          <p:nvPr/>
        </p:nvSpPr>
        <p:spPr>
          <a:xfrm>
            <a:off x="725175" y="4467925"/>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Compute</a:t>
            </a:r>
            <a:endParaRPr sz="1600">
              <a:solidFill>
                <a:schemeClr val="accent1"/>
              </a:solidFill>
              <a:latin typeface="DM Sans Medium"/>
              <a:ea typeface="DM Sans Medium"/>
              <a:cs typeface="DM Sans Medium"/>
              <a:sym typeface="DM Sans Medium"/>
            </a:endParaRPr>
          </a:p>
        </p:txBody>
      </p:sp>
      <p:sp>
        <p:nvSpPr>
          <p:cNvPr id="700" name="Google Shape;700;p58"/>
          <p:cNvSpPr txBox="1"/>
          <p:nvPr/>
        </p:nvSpPr>
        <p:spPr>
          <a:xfrm>
            <a:off x="725175" y="5902824"/>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Storage</a:t>
            </a:r>
            <a:endParaRPr sz="1600">
              <a:solidFill>
                <a:schemeClr val="accent1"/>
              </a:solidFill>
              <a:latin typeface="DM Sans Medium"/>
              <a:ea typeface="DM Sans Medium"/>
              <a:cs typeface="DM Sans Medium"/>
              <a:sym typeface="DM Sans Medium"/>
            </a:endParaRPr>
          </a:p>
        </p:txBody>
      </p:sp>
      <p:pic>
        <p:nvPicPr>
          <p:cNvPr id="701" name="Google Shape;701;p58"/>
          <p:cNvPicPr preferRelativeResize="0"/>
          <p:nvPr/>
        </p:nvPicPr>
        <p:blipFill>
          <a:blip r:embed="rId6">
            <a:alphaModFix/>
          </a:blip>
          <a:stretch>
            <a:fillRect/>
          </a:stretch>
        </p:blipFill>
        <p:spPr>
          <a:xfrm>
            <a:off x="1855075" y="4437989"/>
            <a:ext cx="516325" cy="516335"/>
          </a:xfrm>
          <a:prstGeom prst="rect">
            <a:avLst/>
          </a:prstGeom>
          <a:noFill/>
          <a:ln>
            <a:noFill/>
          </a:ln>
        </p:spPr>
      </p:pic>
      <p:pic>
        <p:nvPicPr>
          <p:cNvPr id="702" name="Google Shape;702;p58"/>
          <p:cNvPicPr preferRelativeResize="0"/>
          <p:nvPr/>
        </p:nvPicPr>
        <p:blipFill>
          <a:blip r:embed="rId7">
            <a:alphaModFix/>
          </a:blip>
          <a:stretch>
            <a:fillRect/>
          </a:stretch>
        </p:blipFill>
        <p:spPr>
          <a:xfrm>
            <a:off x="1855075" y="5882078"/>
            <a:ext cx="516325" cy="516335"/>
          </a:xfrm>
          <a:prstGeom prst="rect">
            <a:avLst/>
          </a:prstGeom>
          <a:noFill/>
          <a:ln>
            <a:noFill/>
          </a:ln>
        </p:spPr>
      </p:pic>
      <p:sp>
        <p:nvSpPr>
          <p:cNvPr id="703" name="Google Shape;703;p58"/>
          <p:cNvSpPr/>
          <p:nvPr/>
        </p:nvSpPr>
        <p:spPr>
          <a:xfrm>
            <a:off x="8231900" y="5905800"/>
            <a:ext cx="3003900" cy="468900"/>
          </a:xfrm>
          <a:prstGeom prst="roundRect">
            <a:avLst>
              <a:gd fmla="val 20148"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692" name="Google Shape;692;p58"/>
          <p:cNvSpPr/>
          <p:nvPr/>
        </p:nvSpPr>
        <p:spPr>
          <a:xfrm>
            <a:off x="96855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8"/>
          <p:cNvSpPr/>
          <p:nvPr/>
        </p:nvSpPr>
        <p:spPr>
          <a:xfrm>
            <a:off x="2869081"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5" name="Google Shape;705;p58"/>
          <p:cNvCxnSpPr>
            <a:stCxn id="706" idx="3"/>
            <a:endCxn id="704" idx="1"/>
          </p:cNvCxnSpPr>
          <p:nvPr/>
        </p:nvCxnSpPr>
        <p:spPr>
          <a:xfrm>
            <a:off x="2400807" y="2678373"/>
            <a:ext cx="468300" cy="0"/>
          </a:xfrm>
          <a:prstGeom prst="straightConnector1">
            <a:avLst/>
          </a:prstGeom>
          <a:noFill/>
          <a:ln cap="flat" cmpd="sng" w="19050">
            <a:solidFill>
              <a:schemeClr val="accent1"/>
            </a:solidFill>
            <a:prstDash val="solid"/>
            <a:round/>
            <a:headEnd len="sm" w="sm" type="none"/>
            <a:tailEnd len="sm" w="sm" type="triangle"/>
          </a:ln>
        </p:spPr>
      </p:cxnSp>
      <p:sp>
        <p:nvSpPr>
          <p:cNvPr id="706" name="Google Shape;706;p58"/>
          <p:cNvSpPr/>
          <p:nvPr/>
        </p:nvSpPr>
        <p:spPr>
          <a:xfrm>
            <a:off x="2304207"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7" name="Google Shape;707;p58"/>
          <p:cNvPicPr preferRelativeResize="0"/>
          <p:nvPr/>
        </p:nvPicPr>
        <p:blipFill>
          <a:blip r:embed="rId8">
            <a:alphaModFix/>
          </a:blip>
          <a:stretch>
            <a:fillRect/>
          </a:stretch>
        </p:blipFill>
        <p:spPr>
          <a:xfrm>
            <a:off x="2995775" y="1967975"/>
            <a:ext cx="324300" cy="324300"/>
          </a:xfrm>
          <a:prstGeom prst="rect">
            <a:avLst/>
          </a:prstGeom>
          <a:noFill/>
          <a:ln>
            <a:noFill/>
          </a:ln>
        </p:spPr>
      </p:pic>
      <p:pic>
        <p:nvPicPr>
          <p:cNvPr id="708" name="Google Shape;708;p58"/>
          <p:cNvPicPr preferRelativeResize="0"/>
          <p:nvPr/>
        </p:nvPicPr>
        <p:blipFill>
          <a:blip r:embed="rId8">
            <a:alphaModFix/>
          </a:blip>
          <a:stretch>
            <a:fillRect/>
          </a:stretch>
        </p:blipFill>
        <p:spPr>
          <a:xfrm>
            <a:off x="8306872" y="3784350"/>
            <a:ext cx="324300" cy="324300"/>
          </a:xfrm>
          <a:prstGeom prst="rect">
            <a:avLst/>
          </a:prstGeom>
          <a:noFill/>
          <a:ln>
            <a:noFill/>
          </a:ln>
        </p:spPr>
      </p:pic>
      <p:pic>
        <p:nvPicPr>
          <p:cNvPr id="709" name="Google Shape;709;p58"/>
          <p:cNvPicPr preferRelativeResize="0"/>
          <p:nvPr/>
        </p:nvPicPr>
        <p:blipFill>
          <a:blip r:embed="rId8">
            <a:alphaModFix/>
          </a:blip>
          <a:stretch>
            <a:fillRect/>
          </a:stretch>
        </p:blipFill>
        <p:spPr>
          <a:xfrm>
            <a:off x="2995764" y="3784350"/>
            <a:ext cx="324300" cy="324300"/>
          </a:xfrm>
          <a:prstGeom prst="rect">
            <a:avLst/>
          </a:prstGeom>
          <a:noFill/>
          <a:ln>
            <a:noFill/>
          </a:ln>
        </p:spPr>
      </p:pic>
      <p:sp>
        <p:nvSpPr>
          <p:cNvPr id="710" name="Google Shape;710;p58"/>
          <p:cNvSpPr/>
          <p:nvPr/>
        </p:nvSpPr>
        <p:spPr>
          <a:xfrm>
            <a:off x="2906900" y="5905800"/>
            <a:ext cx="1758300" cy="468900"/>
          </a:xfrm>
          <a:prstGeom prst="roundRect">
            <a:avLst>
              <a:gd fmla="val 15264"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(long term storage)</a:t>
            </a:r>
            <a:endParaRPr sz="1000">
              <a:solidFill>
                <a:schemeClr val="accent1"/>
              </a:solidFill>
              <a:latin typeface="DM Sans Medium"/>
              <a:ea typeface="DM Sans Medium"/>
              <a:cs typeface="DM Sans Medium"/>
              <a:sym typeface="DM Sans Medium"/>
            </a:endParaRPr>
          </a:p>
        </p:txBody>
      </p:sp>
      <p:sp>
        <p:nvSpPr>
          <p:cNvPr id="711" name="Google Shape;711;p58"/>
          <p:cNvSpPr/>
          <p:nvPr/>
        </p:nvSpPr>
        <p:spPr>
          <a:xfrm>
            <a:off x="3741787" y="4671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8"/>
          <p:cNvSpPr/>
          <p:nvPr/>
        </p:nvSpPr>
        <p:spPr>
          <a:xfrm>
            <a:off x="3741787"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3" name="Google Shape;713;p58"/>
          <p:cNvCxnSpPr>
            <a:stCxn id="711" idx="2"/>
            <a:endCxn id="712" idx="0"/>
          </p:cNvCxnSpPr>
          <p:nvPr/>
        </p:nvCxnSpPr>
        <p:spPr>
          <a:xfrm flipH="1" rot="-5400000">
            <a:off x="3236887" y="5321248"/>
            <a:ext cx="1107000" cy="600"/>
          </a:xfrm>
          <a:prstGeom prst="bentConnector3">
            <a:avLst>
              <a:gd fmla="val 49995" name="adj1"/>
            </a:avLst>
          </a:prstGeom>
          <a:noFill/>
          <a:ln cap="flat" cmpd="sng" w="19050">
            <a:solidFill>
              <a:schemeClr val="accent1"/>
            </a:solidFill>
            <a:prstDash val="solid"/>
            <a:round/>
            <a:headEnd len="sm" w="sm" type="none"/>
            <a:tailEnd len="sm" w="sm" type="triangle"/>
          </a:ln>
        </p:spPr>
      </p:cxnSp>
      <p:sp>
        <p:nvSpPr>
          <p:cNvPr id="714" name="Google Shape;714;p58"/>
          <p:cNvSpPr/>
          <p:nvPr/>
        </p:nvSpPr>
        <p:spPr>
          <a:xfrm>
            <a:off x="4837075" y="5905800"/>
            <a:ext cx="2864100" cy="468900"/>
          </a:xfrm>
          <a:prstGeom prst="roundRect">
            <a:avLst>
              <a:gd fmla="val 1929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(AWS only)</a:t>
            </a:r>
            <a:endParaRPr sz="1000">
              <a:solidFill>
                <a:schemeClr val="accent1"/>
              </a:solidFill>
              <a:latin typeface="DM Sans Medium"/>
              <a:ea typeface="DM Sans Medium"/>
              <a:cs typeface="DM Sans Medium"/>
              <a:sym typeface="DM Sans Medium"/>
            </a:endParaRPr>
          </a:p>
        </p:txBody>
      </p:sp>
      <p:sp>
        <p:nvSpPr>
          <p:cNvPr id="715" name="Google Shape;715;p58"/>
          <p:cNvSpPr/>
          <p:nvPr/>
        </p:nvSpPr>
        <p:spPr>
          <a:xfrm>
            <a:off x="61079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8"/>
          <p:cNvSpPr/>
          <p:nvPr/>
        </p:nvSpPr>
        <p:spPr>
          <a:xfrm>
            <a:off x="6107916"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7" name="Google Shape;717;p58"/>
          <p:cNvCxnSpPr>
            <a:stCxn id="715" idx="2"/>
            <a:endCxn id="716" idx="0"/>
          </p:cNvCxnSpPr>
          <p:nvPr/>
        </p:nvCxnSpPr>
        <p:spPr>
          <a:xfrm flipH="1" rot="-5400000">
            <a:off x="5984016" y="5702248"/>
            <a:ext cx="345000" cy="6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694" name="Google Shape;694;p58"/>
          <p:cNvSpPr/>
          <p:nvPr/>
        </p:nvSpPr>
        <p:spPr>
          <a:xfrm>
            <a:off x="93807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8" name="Google Shape;718;p58"/>
          <p:cNvCxnSpPr>
            <a:stCxn id="719" idx="3"/>
            <a:endCxn id="720" idx="1"/>
          </p:cNvCxnSpPr>
          <p:nvPr/>
        </p:nvCxnSpPr>
        <p:spPr>
          <a:xfrm>
            <a:off x="2367743" y="3521357"/>
            <a:ext cx="1034700" cy="1005900"/>
          </a:xfrm>
          <a:prstGeom prst="bentConnector3">
            <a:avLst>
              <a:gd fmla="val 26893" name="adj1"/>
            </a:avLst>
          </a:prstGeom>
          <a:noFill/>
          <a:ln cap="flat" cmpd="sng" w="19050">
            <a:solidFill>
              <a:schemeClr val="accent1"/>
            </a:solidFill>
            <a:prstDash val="solid"/>
            <a:round/>
            <a:headEnd len="sm" w="sm" type="none"/>
            <a:tailEnd len="sm" w="sm" type="triangle"/>
          </a:ln>
        </p:spPr>
      </p:cxnSp>
      <p:sp>
        <p:nvSpPr>
          <p:cNvPr id="721" name="Google Shape;721;p58"/>
          <p:cNvSpPr txBox="1"/>
          <p:nvPr/>
        </p:nvSpPr>
        <p:spPr>
          <a:xfrm>
            <a:off x="948300" y="31912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Apps</a:t>
            </a:r>
            <a:endParaRPr sz="1600">
              <a:solidFill>
                <a:schemeClr val="accent1"/>
              </a:solidFill>
              <a:latin typeface="DM Sans Medium"/>
              <a:ea typeface="DM Sans Medium"/>
              <a:cs typeface="DM Sans Medium"/>
              <a:sym typeface="DM Sans Medium"/>
            </a:endParaRPr>
          </a:p>
        </p:txBody>
      </p:sp>
      <p:pic>
        <p:nvPicPr>
          <p:cNvPr id="722" name="Google Shape;722;p58"/>
          <p:cNvPicPr preferRelativeResize="0"/>
          <p:nvPr/>
        </p:nvPicPr>
        <p:blipFill>
          <a:blip r:embed="rId9">
            <a:alphaModFix/>
          </a:blip>
          <a:stretch>
            <a:fillRect/>
          </a:stretch>
        </p:blipFill>
        <p:spPr>
          <a:xfrm>
            <a:off x="1855102" y="3181925"/>
            <a:ext cx="516300" cy="516300"/>
          </a:xfrm>
          <a:prstGeom prst="rect">
            <a:avLst/>
          </a:prstGeom>
          <a:noFill/>
          <a:ln>
            <a:noFill/>
          </a:ln>
        </p:spPr>
      </p:pic>
      <p:sp>
        <p:nvSpPr>
          <p:cNvPr id="723" name="Google Shape;723;p58"/>
          <p:cNvSpPr/>
          <p:nvPr/>
        </p:nvSpPr>
        <p:spPr>
          <a:xfrm>
            <a:off x="4511600" y="4291625"/>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SQL</a:t>
            </a:r>
            <a:endParaRPr sz="1200">
              <a:solidFill>
                <a:schemeClr val="accent1"/>
              </a:solidFill>
              <a:latin typeface="DM Sans Medium"/>
              <a:ea typeface="DM Sans Medium"/>
              <a:cs typeface="DM Sans Medium"/>
              <a:sym typeface="DM Sans Medium"/>
            </a:endParaRPr>
          </a:p>
        </p:txBody>
      </p:sp>
      <p:sp>
        <p:nvSpPr>
          <p:cNvPr id="724" name="Google Shape;724;p58"/>
          <p:cNvSpPr/>
          <p:nvPr/>
        </p:nvSpPr>
        <p:spPr>
          <a:xfrm>
            <a:off x="4511600" y="4606493"/>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notebooks</a:t>
            </a:r>
            <a:endParaRPr sz="1200">
              <a:solidFill>
                <a:schemeClr val="accent1"/>
              </a:solidFill>
              <a:latin typeface="DM Sans Medium"/>
              <a:ea typeface="DM Sans Medium"/>
              <a:cs typeface="DM Sans Medium"/>
              <a:sym typeface="DM Sans Medium"/>
            </a:endParaRPr>
          </a:p>
        </p:txBody>
      </p:sp>
      <p:sp>
        <p:nvSpPr>
          <p:cNvPr id="725" name="Google Shape;725;p58"/>
          <p:cNvSpPr/>
          <p:nvPr/>
        </p:nvSpPr>
        <p:spPr>
          <a:xfrm>
            <a:off x="4511600" y="4921349"/>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jobs</a:t>
            </a:r>
            <a:endParaRPr sz="1200">
              <a:solidFill>
                <a:schemeClr val="accent1"/>
              </a:solidFill>
              <a:latin typeface="DM Sans Medium"/>
              <a:ea typeface="DM Sans Medium"/>
              <a:cs typeface="DM Sans Medium"/>
              <a:sym typeface="DM Sans Medium"/>
            </a:endParaRPr>
          </a:p>
        </p:txBody>
      </p:sp>
      <p:sp>
        <p:nvSpPr>
          <p:cNvPr id="726" name="Google Shape;726;p58"/>
          <p:cNvSpPr/>
          <p:nvPr/>
        </p:nvSpPr>
        <p:spPr>
          <a:xfrm>
            <a:off x="6252275" y="4291625"/>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Model Serving</a:t>
            </a:r>
            <a:endParaRPr sz="1200">
              <a:solidFill>
                <a:schemeClr val="accent1"/>
              </a:solidFill>
              <a:latin typeface="DM Sans Medium"/>
              <a:ea typeface="DM Sans Medium"/>
              <a:cs typeface="DM Sans Medium"/>
              <a:sym typeface="DM Sans Medium"/>
            </a:endParaRPr>
          </a:p>
        </p:txBody>
      </p:sp>
      <p:sp>
        <p:nvSpPr>
          <p:cNvPr id="727" name="Google Shape;727;p58"/>
          <p:cNvSpPr/>
          <p:nvPr/>
        </p:nvSpPr>
        <p:spPr>
          <a:xfrm>
            <a:off x="6252275" y="4606496"/>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Vector Search</a:t>
            </a:r>
            <a:endParaRPr sz="1200">
              <a:solidFill>
                <a:schemeClr val="accent1"/>
              </a:solidFill>
              <a:latin typeface="DM Sans Medium"/>
              <a:ea typeface="DM Sans Medium"/>
              <a:cs typeface="DM Sans Medium"/>
              <a:sym typeface="DM Sans Medium"/>
            </a:endParaRPr>
          </a:p>
        </p:txBody>
      </p:sp>
      <p:cxnSp>
        <p:nvCxnSpPr>
          <p:cNvPr id="728" name="Google Shape;728;p58"/>
          <p:cNvCxnSpPr>
            <a:stCxn id="729" idx="2"/>
            <a:endCxn id="730" idx="0"/>
          </p:cNvCxnSpPr>
          <p:nvPr/>
        </p:nvCxnSpPr>
        <p:spPr>
          <a:xfrm>
            <a:off x="3790087" y="3480014"/>
            <a:ext cx="0" cy="840900"/>
          </a:xfrm>
          <a:prstGeom prst="straightConnector1">
            <a:avLst/>
          </a:prstGeom>
          <a:noFill/>
          <a:ln cap="flat" cmpd="sng" w="19050">
            <a:solidFill>
              <a:schemeClr val="accent1"/>
            </a:solidFill>
            <a:prstDash val="solid"/>
            <a:round/>
            <a:headEnd len="sm" w="sm" type="none"/>
            <a:tailEnd len="sm" w="sm" type="triangle"/>
          </a:ln>
        </p:spPr>
      </p:cxnSp>
      <p:sp>
        <p:nvSpPr>
          <p:cNvPr id="730" name="Google Shape;730;p58"/>
          <p:cNvSpPr/>
          <p:nvPr/>
        </p:nvSpPr>
        <p:spPr>
          <a:xfrm>
            <a:off x="3741787" y="4320816"/>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8"/>
          <p:cNvSpPr/>
          <p:nvPr/>
        </p:nvSpPr>
        <p:spPr>
          <a:xfrm>
            <a:off x="2271143"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8"/>
          <p:cNvSpPr/>
          <p:nvPr/>
        </p:nvSpPr>
        <p:spPr>
          <a:xfrm>
            <a:off x="2271143" y="34730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8"/>
          <p:cNvSpPr/>
          <p:nvPr/>
        </p:nvSpPr>
        <p:spPr>
          <a:xfrm>
            <a:off x="3741787"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58"/>
          <p:cNvSpPr/>
          <p:nvPr/>
        </p:nvSpPr>
        <p:spPr>
          <a:xfrm>
            <a:off x="6112613"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58"/>
          <p:cNvSpPr/>
          <p:nvPr/>
        </p:nvSpPr>
        <p:spPr>
          <a:xfrm>
            <a:off x="6112613" y="366909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8"/>
          <p:cNvSpPr/>
          <p:nvPr/>
        </p:nvSpPr>
        <p:spPr>
          <a:xfrm>
            <a:off x="2869081"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3" name="Google Shape;733;p58"/>
          <p:cNvCxnSpPr>
            <a:stCxn id="731" idx="3"/>
            <a:endCxn id="732" idx="1"/>
          </p:cNvCxnSpPr>
          <p:nvPr/>
        </p:nvCxnSpPr>
        <p:spPr>
          <a:xfrm>
            <a:off x="2367743" y="3292757"/>
            <a:ext cx="501300" cy="0"/>
          </a:xfrm>
          <a:prstGeom prst="straightConnector1">
            <a:avLst/>
          </a:prstGeom>
          <a:noFill/>
          <a:ln cap="flat" cmpd="sng" w="19050">
            <a:solidFill>
              <a:schemeClr val="accent1"/>
            </a:solidFill>
            <a:prstDash val="solid"/>
            <a:round/>
            <a:headEnd len="sm" w="sm" type="none"/>
            <a:tailEnd len="sm" w="sm" type="triangle"/>
          </a:ln>
        </p:spPr>
      </p:cxnSp>
      <p:sp>
        <p:nvSpPr>
          <p:cNvPr id="720" name="Google Shape;720;p58"/>
          <p:cNvSpPr/>
          <p:nvPr/>
        </p:nvSpPr>
        <p:spPr>
          <a:xfrm>
            <a:off x="3402481" y="4478969"/>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8"/>
          <p:cNvSpPr/>
          <p:nvPr/>
        </p:nvSpPr>
        <p:spPr>
          <a:xfrm>
            <a:off x="3423775" y="4359200"/>
            <a:ext cx="7332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Lakebase</a:t>
            </a:r>
            <a:br>
              <a:rPr lang="en" sz="12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(OLTP DB)</a:t>
            </a:r>
            <a:endParaRPr sz="1000">
              <a:solidFill>
                <a:schemeClr val="accent1"/>
              </a:solidFill>
              <a:latin typeface="DM Sans Medium"/>
              <a:ea typeface="DM Sans Medium"/>
              <a:cs typeface="DM Sans Medium"/>
              <a:sym typeface="DM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59"/>
          <p:cNvSpPr/>
          <p:nvPr/>
        </p:nvSpPr>
        <p:spPr>
          <a:xfrm>
            <a:off x="2880250" y="1331675"/>
            <a:ext cx="48702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p:nvPr/>
        </p:nvSpPr>
        <p:spPr>
          <a:xfrm>
            <a:off x="8070950" y="1331675"/>
            <a:ext cx="32778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pic>
        <p:nvPicPr>
          <p:cNvPr id="741" name="Google Shape;741;p59"/>
          <p:cNvPicPr preferRelativeResize="0"/>
          <p:nvPr/>
        </p:nvPicPr>
        <p:blipFill rotWithShape="1">
          <a:blip r:embed="rId3">
            <a:alphaModFix/>
          </a:blip>
          <a:srcRect b="0" l="0" r="0" t="0"/>
          <a:stretch/>
        </p:blipFill>
        <p:spPr>
          <a:xfrm>
            <a:off x="4535392" y="1364149"/>
            <a:ext cx="1886819" cy="296800"/>
          </a:xfrm>
          <a:prstGeom prst="rect">
            <a:avLst/>
          </a:prstGeom>
          <a:noFill/>
          <a:ln>
            <a:noFill/>
          </a:ln>
        </p:spPr>
      </p:pic>
      <p:sp>
        <p:nvSpPr>
          <p:cNvPr id="742" name="Google Shape;742;p59"/>
          <p:cNvSpPr txBox="1"/>
          <p:nvPr>
            <p:ph type="title"/>
          </p:nvPr>
        </p:nvSpPr>
        <p:spPr>
          <a:xfrm>
            <a:off x="749245" y="154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Intelligence Platform</a:t>
            </a:r>
            <a:r>
              <a:rPr lang="en"/>
              <a:t> </a:t>
            </a:r>
            <a:r>
              <a:rPr lang="en"/>
              <a:t>Classic</a:t>
            </a:r>
            <a:endParaRPr/>
          </a:p>
        </p:txBody>
      </p:sp>
      <p:sp>
        <p:nvSpPr>
          <p:cNvPr id="743" name="Google Shape;743;p59"/>
          <p:cNvSpPr txBox="1"/>
          <p:nvPr>
            <p:ph idx="1" type="subTitle"/>
          </p:nvPr>
        </p:nvSpPr>
        <p:spPr>
          <a:xfrm>
            <a:off x="764809" y="793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Storage and compute in customer subscription</a:t>
            </a:r>
            <a:endParaRPr/>
          </a:p>
        </p:txBody>
      </p:sp>
      <p:sp>
        <p:nvSpPr>
          <p:cNvPr id="744" name="Google Shape;744;p59"/>
          <p:cNvSpPr/>
          <p:nvPr/>
        </p:nvSpPr>
        <p:spPr>
          <a:xfrm>
            <a:off x="2906900" y="3715050"/>
            <a:ext cx="4794300" cy="1771200"/>
          </a:xfrm>
          <a:prstGeom prst="roundRect">
            <a:avLst>
              <a:gd fmla="val 4853"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600"/>
              </a:spcAft>
              <a:buNone/>
            </a:pPr>
            <a:r>
              <a:rPr lang="en" sz="1500">
                <a:solidFill>
                  <a:schemeClr val="accent1"/>
                </a:solidFill>
                <a:latin typeface="DM Sans Medium"/>
                <a:ea typeface="DM Sans Medium"/>
                <a:cs typeface="DM Sans Medium"/>
                <a:sym typeface="DM Sans Medium"/>
              </a:rPr>
              <a:t>     </a:t>
            </a:r>
            <a:r>
              <a:rPr lang="en" sz="1500">
                <a:solidFill>
                  <a:schemeClr val="accent1"/>
                </a:solidFill>
                <a:latin typeface="DM Sans Medium"/>
                <a:ea typeface="DM Sans Medium"/>
                <a:cs typeface="DM Sans Medium"/>
                <a:sym typeface="DM Sans Medium"/>
              </a:rPr>
              <a:t>Serverless Compute</a:t>
            </a:r>
            <a:r>
              <a:rPr lang="en" sz="1500">
                <a:solidFill>
                  <a:schemeClr val="accent1"/>
                </a:solidFill>
                <a:latin typeface="DM Sans Medium"/>
                <a:ea typeface="DM Sans Medium"/>
                <a:cs typeface="DM Sans Medium"/>
                <a:sym typeface="DM Sans Medium"/>
              </a:rPr>
              <a:t> Plane</a:t>
            </a:r>
            <a:endParaRPr sz="1500">
              <a:solidFill>
                <a:schemeClr val="accent1"/>
              </a:solidFill>
              <a:latin typeface="DM Sans Medium"/>
              <a:ea typeface="DM Sans Medium"/>
              <a:cs typeface="DM Sans Medium"/>
              <a:sym typeface="DM Sans Medium"/>
            </a:endParaRPr>
          </a:p>
        </p:txBody>
      </p:sp>
      <p:sp>
        <p:nvSpPr>
          <p:cNvPr id="745" name="Google Shape;745;p59"/>
          <p:cNvSpPr/>
          <p:nvPr/>
        </p:nvSpPr>
        <p:spPr>
          <a:xfrm>
            <a:off x="62603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9"/>
          <p:cNvSpPr/>
          <p:nvPr/>
        </p:nvSpPr>
        <p:spPr>
          <a:xfrm>
            <a:off x="7653850" y="2675525"/>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7" name="Google Shape;747;p59"/>
          <p:cNvCxnSpPr>
            <a:stCxn id="748" idx="2"/>
            <a:endCxn id="749" idx="0"/>
          </p:cNvCxnSpPr>
          <p:nvPr/>
        </p:nvCxnSpPr>
        <p:spPr>
          <a:xfrm>
            <a:off x="6160913" y="3480014"/>
            <a:ext cx="0" cy="189000"/>
          </a:xfrm>
          <a:prstGeom prst="straightConnector1">
            <a:avLst/>
          </a:prstGeom>
          <a:noFill/>
          <a:ln cap="flat" cmpd="sng" w="19050">
            <a:solidFill>
              <a:schemeClr val="accent1"/>
            </a:solidFill>
            <a:prstDash val="solid"/>
            <a:round/>
            <a:headEnd len="sm" w="sm" type="none"/>
            <a:tailEnd len="sm" w="sm" type="triangle"/>
          </a:ln>
        </p:spPr>
      </p:cxnSp>
      <p:cxnSp>
        <p:nvCxnSpPr>
          <p:cNvPr id="750" name="Google Shape;750;p59"/>
          <p:cNvCxnSpPr>
            <a:stCxn id="745" idx="2"/>
            <a:endCxn id="751" idx="0"/>
          </p:cNvCxnSpPr>
          <p:nvPr/>
        </p:nvCxnSpPr>
        <p:spPr>
          <a:xfrm flipH="1" rot="-5400000">
            <a:off x="7696266" y="4142398"/>
            <a:ext cx="345000" cy="31203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752" name="Google Shape;752;p59"/>
          <p:cNvSpPr txBox="1"/>
          <p:nvPr/>
        </p:nvSpPr>
        <p:spPr>
          <a:xfrm>
            <a:off x="948300" y="25054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pic>
        <p:nvPicPr>
          <p:cNvPr id="753" name="Google Shape;753;p59"/>
          <p:cNvPicPr preferRelativeResize="0"/>
          <p:nvPr/>
        </p:nvPicPr>
        <p:blipFill>
          <a:blip r:embed="rId4">
            <a:alphaModFix/>
          </a:blip>
          <a:stretch>
            <a:fillRect/>
          </a:stretch>
        </p:blipFill>
        <p:spPr>
          <a:xfrm>
            <a:off x="1855075" y="2420206"/>
            <a:ext cx="516325" cy="516335"/>
          </a:xfrm>
          <a:prstGeom prst="rect">
            <a:avLst/>
          </a:prstGeom>
          <a:noFill/>
          <a:ln>
            <a:noFill/>
          </a:ln>
        </p:spPr>
      </p:pic>
      <p:sp>
        <p:nvSpPr>
          <p:cNvPr id="754" name="Google Shape;754;p59"/>
          <p:cNvSpPr txBox="1"/>
          <p:nvPr/>
        </p:nvSpPr>
        <p:spPr>
          <a:xfrm>
            <a:off x="725175" y="4467925"/>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Compute</a:t>
            </a:r>
            <a:endParaRPr sz="1600">
              <a:solidFill>
                <a:schemeClr val="accent1"/>
              </a:solidFill>
              <a:latin typeface="DM Sans Medium"/>
              <a:ea typeface="DM Sans Medium"/>
              <a:cs typeface="DM Sans Medium"/>
              <a:sym typeface="DM Sans Medium"/>
            </a:endParaRPr>
          </a:p>
        </p:txBody>
      </p:sp>
      <p:sp>
        <p:nvSpPr>
          <p:cNvPr id="755" name="Google Shape;755;p59"/>
          <p:cNvSpPr txBox="1"/>
          <p:nvPr/>
        </p:nvSpPr>
        <p:spPr>
          <a:xfrm>
            <a:off x="725175" y="5902824"/>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Storage</a:t>
            </a:r>
            <a:endParaRPr sz="1600">
              <a:solidFill>
                <a:schemeClr val="accent1"/>
              </a:solidFill>
              <a:latin typeface="DM Sans Medium"/>
              <a:ea typeface="DM Sans Medium"/>
              <a:cs typeface="DM Sans Medium"/>
              <a:sym typeface="DM Sans Medium"/>
            </a:endParaRPr>
          </a:p>
        </p:txBody>
      </p:sp>
      <p:pic>
        <p:nvPicPr>
          <p:cNvPr id="756" name="Google Shape;756;p59"/>
          <p:cNvPicPr preferRelativeResize="0"/>
          <p:nvPr/>
        </p:nvPicPr>
        <p:blipFill>
          <a:blip r:embed="rId5">
            <a:alphaModFix/>
          </a:blip>
          <a:stretch>
            <a:fillRect/>
          </a:stretch>
        </p:blipFill>
        <p:spPr>
          <a:xfrm>
            <a:off x="1855075" y="4437989"/>
            <a:ext cx="516325" cy="516335"/>
          </a:xfrm>
          <a:prstGeom prst="rect">
            <a:avLst/>
          </a:prstGeom>
          <a:noFill/>
          <a:ln>
            <a:noFill/>
          </a:ln>
        </p:spPr>
      </p:pic>
      <p:pic>
        <p:nvPicPr>
          <p:cNvPr id="757" name="Google Shape;757;p59"/>
          <p:cNvPicPr preferRelativeResize="0"/>
          <p:nvPr/>
        </p:nvPicPr>
        <p:blipFill>
          <a:blip r:embed="rId6">
            <a:alphaModFix/>
          </a:blip>
          <a:stretch>
            <a:fillRect/>
          </a:stretch>
        </p:blipFill>
        <p:spPr>
          <a:xfrm>
            <a:off x="1855075" y="5882078"/>
            <a:ext cx="516325" cy="516335"/>
          </a:xfrm>
          <a:prstGeom prst="rect">
            <a:avLst/>
          </a:prstGeom>
          <a:noFill/>
          <a:ln>
            <a:noFill/>
          </a:ln>
        </p:spPr>
      </p:pic>
      <p:sp>
        <p:nvSpPr>
          <p:cNvPr id="758" name="Google Shape;758;p59"/>
          <p:cNvSpPr/>
          <p:nvPr/>
        </p:nvSpPr>
        <p:spPr>
          <a:xfrm>
            <a:off x="2869081"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9" name="Google Shape;759;p59"/>
          <p:cNvCxnSpPr>
            <a:stCxn id="760" idx="3"/>
            <a:endCxn id="758" idx="1"/>
          </p:cNvCxnSpPr>
          <p:nvPr/>
        </p:nvCxnSpPr>
        <p:spPr>
          <a:xfrm>
            <a:off x="2400807" y="2678373"/>
            <a:ext cx="468300" cy="0"/>
          </a:xfrm>
          <a:prstGeom prst="straightConnector1">
            <a:avLst/>
          </a:prstGeom>
          <a:noFill/>
          <a:ln cap="flat" cmpd="sng" w="19050">
            <a:solidFill>
              <a:schemeClr val="accent1"/>
            </a:solidFill>
            <a:prstDash val="solid"/>
            <a:round/>
            <a:headEnd len="sm" w="sm" type="none"/>
            <a:tailEnd len="sm" w="sm" type="triangle"/>
          </a:ln>
        </p:spPr>
      </p:cxnSp>
      <p:sp>
        <p:nvSpPr>
          <p:cNvPr id="760" name="Google Shape;760;p59"/>
          <p:cNvSpPr/>
          <p:nvPr/>
        </p:nvSpPr>
        <p:spPr>
          <a:xfrm>
            <a:off x="2304207"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1" name="Google Shape;761;p59"/>
          <p:cNvPicPr preferRelativeResize="0"/>
          <p:nvPr/>
        </p:nvPicPr>
        <p:blipFill>
          <a:blip r:embed="rId7">
            <a:alphaModFix/>
          </a:blip>
          <a:stretch>
            <a:fillRect/>
          </a:stretch>
        </p:blipFill>
        <p:spPr>
          <a:xfrm>
            <a:off x="2995764" y="3784350"/>
            <a:ext cx="324300" cy="324300"/>
          </a:xfrm>
          <a:prstGeom prst="rect">
            <a:avLst/>
          </a:prstGeom>
          <a:noFill/>
          <a:ln>
            <a:noFill/>
          </a:ln>
        </p:spPr>
      </p:pic>
      <p:sp>
        <p:nvSpPr>
          <p:cNvPr id="762" name="Google Shape;762;p59"/>
          <p:cNvSpPr/>
          <p:nvPr/>
        </p:nvSpPr>
        <p:spPr>
          <a:xfrm>
            <a:off x="2906900" y="5905800"/>
            <a:ext cx="1758300" cy="468900"/>
          </a:xfrm>
          <a:prstGeom prst="roundRect">
            <a:avLst>
              <a:gd fmla="val 15264"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(long term storage)</a:t>
            </a:r>
            <a:endParaRPr sz="1000">
              <a:solidFill>
                <a:schemeClr val="accent1"/>
              </a:solidFill>
              <a:latin typeface="DM Sans Medium"/>
              <a:ea typeface="DM Sans Medium"/>
              <a:cs typeface="DM Sans Medium"/>
              <a:sym typeface="DM Sans Medium"/>
            </a:endParaRPr>
          </a:p>
        </p:txBody>
      </p:sp>
      <p:sp>
        <p:nvSpPr>
          <p:cNvPr id="763" name="Google Shape;763;p59"/>
          <p:cNvSpPr/>
          <p:nvPr/>
        </p:nvSpPr>
        <p:spPr>
          <a:xfrm>
            <a:off x="3741787" y="4671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9"/>
          <p:cNvSpPr/>
          <p:nvPr/>
        </p:nvSpPr>
        <p:spPr>
          <a:xfrm>
            <a:off x="3741787"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5" name="Google Shape;765;p59"/>
          <p:cNvCxnSpPr>
            <a:stCxn id="763" idx="2"/>
            <a:endCxn id="764" idx="0"/>
          </p:cNvCxnSpPr>
          <p:nvPr/>
        </p:nvCxnSpPr>
        <p:spPr>
          <a:xfrm flipH="1" rot="-5400000">
            <a:off x="3236887" y="5321248"/>
            <a:ext cx="1107000" cy="600"/>
          </a:xfrm>
          <a:prstGeom prst="bentConnector3">
            <a:avLst>
              <a:gd fmla="val 49995" name="adj1"/>
            </a:avLst>
          </a:prstGeom>
          <a:noFill/>
          <a:ln cap="flat" cmpd="sng" w="19050">
            <a:solidFill>
              <a:schemeClr val="accent1"/>
            </a:solidFill>
            <a:prstDash val="solid"/>
            <a:round/>
            <a:headEnd len="sm" w="sm" type="none"/>
            <a:tailEnd len="sm" w="sm" type="triangle"/>
          </a:ln>
        </p:spPr>
      </p:cxnSp>
      <p:sp>
        <p:nvSpPr>
          <p:cNvPr id="766" name="Google Shape;766;p59"/>
          <p:cNvSpPr/>
          <p:nvPr/>
        </p:nvSpPr>
        <p:spPr>
          <a:xfrm>
            <a:off x="4837075" y="5905800"/>
            <a:ext cx="2864100" cy="468900"/>
          </a:xfrm>
          <a:prstGeom prst="roundRect">
            <a:avLst>
              <a:gd fmla="val 1929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(AWS only)</a:t>
            </a:r>
            <a:endParaRPr sz="1000">
              <a:solidFill>
                <a:schemeClr val="accent1"/>
              </a:solidFill>
              <a:latin typeface="DM Sans Medium"/>
              <a:ea typeface="DM Sans Medium"/>
              <a:cs typeface="DM Sans Medium"/>
              <a:sym typeface="DM Sans Medium"/>
            </a:endParaRPr>
          </a:p>
        </p:txBody>
      </p:sp>
      <p:sp>
        <p:nvSpPr>
          <p:cNvPr id="767" name="Google Shape;767;p59"/>
          <p:cNvSpPr/>
          <p:nvPr/>
        </p:nvSpPr>
        <p:spPr>
          <a:xfrm>
            <a:off x="61079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9"/>
          <p:cNvSpPr/>
          <p:nvPr/>
        </p:nvSpPr>
        <p:spPr>
          <a:xfrm>
            <a:off x="6107916"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9" name="Google Shape;769;p59"/>
          <p:cNvCxnSpPr>
            <a:stCxn id="767" idx="2"/>
            <a:endCxn id="768" idx="0"/>
          </p:cNvCxnSpPr>
          <p:nvPr/>
        </p:nvCxnSpPr>
        <p:spPr>
          <a:xfrm flipH="1" rot="-5400000">
            <a:off x="5984016" y="5702248"/>
            <a:ext cx="345000" cy="6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751" name="Google Shape;751;p59"/>
          <p:cNvSpPr/>
          <p:nvPr/>
        </p:nvSpPr>
        <p:spPr>
          <a:xfrm>
            <a:off x="93807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0" name="Google Shape;770;p59"/>
          <p:cNvCxnSpPr>
            <a:stCxn id="771" idx="3"/>
            <a:endCxn id="772" idx="1"/>
          </p:cNvCxnSpPr>
          <p:nvPr/>
        </p:nvCxnSpPr>
        <p:spPr>
          <a:xfrm>
            <a:off x="2367743" y="3521357"/>
            <a:ext cx="1034700" cy="1005900"/>
          </a:xfrm>
          <a:prstGeom prst="bentConnector3">
            <a:avLst>
              <a:gd fmla="val 20521" name="adj1"/>
            </a:avLst>
          </a:prstGeom>
          <a:noFill/>
          <a:ln cap="flat" cmpd="sng" w="19050">
            <a:solidFill>
              <a:schemeClr val="accent1"/>
            </a:solidFill>
            <a:prstDash val="solid"/>
            <a:round/>
            <a:headEnd len="sm" w="sm" type="none"/>
            <a:tailEnd len="sm" w="sm" type="triangle"/>
          </a:ln>
        </p:spPr>
      </p:cxnSp>
      <p:sp>
        <p:nvSpPr>
          <p:cNvPr id="773" name="Google Shape;773;p59"/>
          <p:cNvSpPr txBox="1"/>
          <p:nvPr/>
        </p:nvSpPr>
        <p:spPr>
          <a:xfrm>
            <a:off x="948300" y="31912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Apps</a:t>
            </a:r>
            <a:endParaRPr sz="1600">
              <a:solidFill>
                <a:schemeClr val="accent1"/>
              </a:solidFill>
              <a:latin typeface="DM Sans Medium"/>
              <a:ea typeface="DM Sans Medium"/>
              <a:cs typeface="DM Sans Medium"/>
              <a:sym typeface="DM Sans Medium"/>
            </a:endParaRPr>
          </a:p>
        </p:txBody>
      </p:sp>
      <p:pic>
        <p:nvPicPr>
          <p:cNvPr id="774" name="Google Shape;774;p59"/>
          <p:cNvPicPr preferRelativeResize="0"/>
          <p:nvPr/>
        </p:nvPicPr>
        <p:blipFill>
          <a:blip r:embed="rId8">
            <a:alphaModFix/>
          </a:blip>
          <a:stretch>
            <a:fillRect/>
          </a:stretch>
        </p:blipFill>
        <p:spPr>
          <a:xfrm>
            <a:off x="1855102" y="3181925"/>
            <a:ext cx="516300" cy="516300"/>
          </a:xfrm>
          <a:prstGeom prst="rect">
            <a:avLst/>
          </a:prstGeom>
          <a:noFill/>
          <a:ln>
            <a:noFill/>
          </a:ln>
        </p:spPr>
      </p:pic>
      <p:sp>
        <p:nvSpPr>
          <p:cNvPr id="775" name="Google Shape;775;p59"/>
          <p:cNvSpPr/>
          <p:nvPr/>
        </p:nvSpPr>
        <p:spPr>
          <a:xfrm>
            <a:off x="4511600" y="4291625"/>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SQL</a:t>
            </a:r>
            <a:endParaRPr sz="1200">
              <a:solidFill>
                <a:schemeClr val="accent1"/>
              </a:solidFill>
              <a:latin typeface="DM Sans Medium"/>
              <a:ea typeface="DM Sans Medium"/>
              <a:cs typeface="DM Sans Medium"/>
              <a:sym typeface="DM Sans Medium"/>
            </a:endParaRPr>
          </a:p>
        </p:txBody>
      </p:sp>
      <p:sp>
        <p:nvSpPr>
          <p:cNvPr id="776" name="Google Shape;776;p59"/>
          <p:cNvSpPr/>
          <p:nvPr/>
        </p:nvSpPr>
        <p:spPr>
          <a:xfrm>
            <a:off x="4511600" y="4606493"/>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notebooks</a:t>
            </a:r>
            <a:endParaRPr sz="1200">
              <a:solidFill>
                <a:schemeClr val="accent1"/>
              </a:solidFill>
              <a:latin typeface="DM Sans Medium"/>
              <a:ea typeface="DM Sans Medium"/>
              <a:cs typeface="DM Sans Medium"/>
              <a:sym typeface="DM Sans Medium"/>
            </a:endParaRPr>
          </a:p>
        </p:txBody>
      </p:sp>
      <p:sp>
        <p:nvSpPr>
          <p:cNvPr id="777" name="Google Shape;777;p59"/>
          <p:cNvSpPr/>
          <p:nvPr/>
        </p:nvSpPr>
        <p:spPr>
          <a:xfrm>
            <a:off x="4511600" y="4921349"/>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jobs</a:t>
            </a:r>
            <a:endParaRPr sz="1200">
              <a:solidFill>
                <a:schemeClr val="accent1"/>
              </a:solidFill>
              <a:latin typeface="DM Sans Medium"/>
              <a:ea typeface="DM Sans Medium"/>
              <a:cs typeface="DM Sans Medium"/>
              <a:sym typeface="DM Sans Medium"/>
            </a:endParaRPr>
          </a:p>
        </p:txBody>
      </p:sp>
      <p:sp>
        <p:nvSpPr>
          <p:cNvPr id="778" name="Google Shape;778;p59"/>
          <p:cNvSpPr/>
          <p:nvPr/>
        </p:nvSpPr>
        <p:spPr>
          <a:xfrm>
            <a:off x="6252275" y="4291625"/>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Model Serving</a:t>
            </a:r>
            <a:endParaRPr sz="1200">
              <a:solidFill>
                <a:schemeClr val="accent1"/>
              </a:solidFill>
              <a:latin typeface="DM Sans Medium"/>
              <a:ea typeface="DM Sans Medium"/>
              <a:cs typeface="DM Sans Medium"/>
              <a:sym typeface="DM Sans Medium"/>
            </a:endParaRPr>
          </a:p>
        </p:txBody>
      </p:sp>
      <p:sp>
        <p:nvSpPr>
          <p:cNvPr id="779" name="Google Shape;779;p59"/>
          <p:cNvSpPr/>
          <p:nvPr/>
        </p:nvSpPr>
        <p:spPr>
          <a:xfrm>
            <a:off x="6252275" y="4606496"/>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Vector Search</a:t>
            </a:r>
            <a:endParaRPr sz="1200">
              <a:solidFill>
                <a:schemeClr val="accent1"/>
              </a:solidFill>
              <a:latin typeface="DM Sans Medium"/>
              <a:ea typeface="DM Sans Medium"/>
              <a:cs typeface="DM Sans Medium"/>
              <a:sym typeface="DM Sans Medium"/>
            </a:endParaRPr>
          </a:p>
        </p:txBody>
      </p:sp>
      <p:cxnSp>
        <p:nvCxnSpPr>
          <p:cNvPr id="780" name="Google Shape;780;p59"/>
          <p:cNvCxnSpPr>
            <a:stCxn id="781" idx="2"/>
            <a:endCxn id="782" idx="0"/>
          </p:cNvCxnSpPr>
          <p:nvPr/>
        </p:nvCxnSpPr>
        <p:spPr>
          <a:xfrm>
            <a:off x="3790087" y="3480014"/>
            <a:ext cx="0" cy="840900"/>
          </a:xfrm>
          <a:prstGeom prst="straightConnector1">
            <a:avLst/>
          </a:prstGeom>
          <a:noFill/>
          <a:ln cap="flat" cmpd="sng" w="19050">
            <a:solidFill>
              <a:schemeClr val="accent1"/>
            </a:solidFill>
            <a:prstDash val="solid"/>
            <a:round/>
            <a:headEnd len="sm" w="sm" type="none"/>
            <a:tailEnd len="sm" w="sm" type="triangle"/>
          </a:ln>
        </p:spPr>
      </p:cxnSp>
      <p:sp>
        <p:nvSpPr>
          <p:cNvPr id="782" name="Google Shape;782;p59"/>
          <p:cNvSpPr/>
          <p:nvPr/>
        </p:nvSpPr>
        <p:spPr>
          <a:xfrm>
            <a:off x="3741787" y="4320816"/>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9"/>
          <p:cNvSpPr/>
          <p:nvPr/>
        </p:nvSpPr>
        <p:spPr>
          <a:xfrm>
            <a:off x="2271143"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9"/>
          <p:cNvSpPr/>
          <p:nvPr/>
        </p:nvSpPr>
        <p:spPr>
          <a:xfrm>
            <a:off x="2271143" y="34730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9"/>
          <p:cNvSpPr/>
          <p:nvPr/>
        </p:nvSpPr>
        <p:spPr>
          <a:xfrm>
            <a:off x="3741787"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9"/>
          <p:cNvSpPr/>
          <p:nvPr/>
        </p:nvSpPr>
        <p:spPr>
          <a:xfrm>
            <a:off x="6112613"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9"/>
          <p:cNvSpPr/>
          <p:nvPr/>
        </p:nvSpPr>
        <p:spPr>
          <a:xfrm>
            <a:off x="6112613" y="366909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9"/>
          <p:cNvSpPr/>
          <p:nvPr/>
        </p:nvSpPr>
        <p:spPr>
          <a:xfrm>
            <a:off x="2869081"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5" name="Google Shape;785;p59"/>
          <p:cNvCxnSpPr>
            <a:stCxn id="783" idx="3"/>
            <a:endCxn id="784" idx="1"/>
          </p:cNvCxnSpPr>
          <p:nvPr/>
        </p:nvCxnSpPr>
        <p:spPr>
          <a:xfrm>
            <a:off x="2367743" y="3292757"/>
            <a:ext cx="501300" cy="0"/>
          </a:xfrm>
          <a:prstGeom prst="straightConnector1">
            <a:avLst/>
          </a:prstGeom>
          <a:noFill/>
          <a:ln cap="flat" cmpd="sng" w="19050">
            <a:solidFill>
              <a:schemeClr val="accent1"/>
            </a:solidFill>
            <a:prstDash val="solid"/>
            <a:round/>
            <a:headEnd len="sm" w="sm" type="none"/>
            <a:tailEnd len="sm" w="sm" type="triangle"/>
          </a:ln>
        </p:spPr>
      </p:cxnSp>
      <p:sp>
        <p:nvSpPr>
          <p:cNvPr id="772" name="Google Shape;772;p59"/>
          <p:cNvSpPr/>
          <p:nvPr/>
        </p:nvSpPr>
        <p:spPr>
          <a:xfrm>
            <a:off x="3402481" y="4478969"/>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9"/>
          <p:cNvSpPr/>
          <p:nvPr/>
        </p:nvSpPr>
        <p:spPr>
          <a:xfrm>
            <a:off x="3423775" y="4359200"/>
            <a:ext cx="7332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Lakebase</a:t>
            </a:r>
            <a:br>
              <a:rPr lang="en" sz="12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(OLTP DB)</a:t>
            </a:r>
            <a:endParaRPr sz="1000">
              <a:solidFill>
                <a:schemeClr val="accent1"/>
              </a:solidFill>
              <a:latin typeface="DM Sans Medium"/>
              <a:ea typeface="DM Sans Medium"/>
              <a:cs typeface="DM Sans Medium"/>
              <a:sym typeface="DM Sans Medium"/>
            </a:endParaRPr>
          </a:p>
        </p:txBody>
      </p:sp>
      <p:sp>
        <p:nvSpPr>
          <p:cNvPr id="787" name="Google Shape;787;p59"/>
          <p:cNvSpPr/>
          <p:nvPr/>
        </p:nvSpPr>
        <p:spPr>
          <a:xfrm>
            <a:off x="2367750" y="3244450"/>
            <a:ext cx="7131900" cy="3155100"/>
          </a:xfrm>
          <a:prstGeom prst="rect">
            <a:avLst/>
          </a:prstGeom>
          <a:solidFill>
            <a:srgbClr val="FFFFFF">
              <a:alpha val="86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9"/>
          <p:cNvSpPr/>
          <p:nvPr/>
        </p:nvSpPr>
        <p:spPr>
          <a:xfrm>
            <a:off x="2906975" y="1917875"/>
            <a:ext cx="4794300" cy="1511100"/>
          </a:xfrm>
          <a:prstGeom prst="roundRect">
            <a:avLst>
              <a:gd fmla="val 6285" name="adj"/>
            </a:avLst>
          </a:prstGeom>
          <a:solidFill>
            <a:srgbClr val="FFFFFF"/>
          </a:solidFill>
          <a:ln cap="flat" cmpd="sng" w="9525">
            <a:solidFill>
              <a:srgbClr val="FF362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Control Plane</a:t>
            </a:r>
            <a:endParaRPr sz="1500">
              <a:solidFill>
                <a:schemeClr val="accent1"/>
              </a:solidFill>
              <a:latin typeface="DM Sans Medium"/>
              <a:ea typeface="DM Sans Medium"/>
              <a:cs typeface="DM Sans Medium"/>
              <a:sym typeface="DM Sans Medium"/>
            </a:endParaRPr>
          </a:p>
        </p:txBody>
      </p:sp>
      <p:sp>
        <p:nvSpPr>
          <p:cNvPr id="789" name="Google Shape;789;p59"/>
          <p:cNvSpPr/>
          <p:nvPr/>
        </p:nvSpPr>
        <p:spPr>
          <a:xfrm>
            <a:off x="4237394" y="2323747"/>
            <a:ext cx="2086500" cy="1013400"/>
          </a:xfrm>
          <a:prstGeom prst="roundRect">
            <a:avLst>
              <a:gd fmla="val 4653" name="adj"/>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1200">
                <a:solidFill>
                  <a:srgbClr val="F5A300"/>
                </a:solidFill>
                <a:latin typeface="DM Sans Medium"/>
                <a:ea typeface="DM Sans Medium"/>
                <a:cs typeface="DM Sans Medium"/>
                <a:sym typeface="DM Sans Medium"/>
              </a:rPr>
              <a:t>Unity Catalog</a:t>
            </a:r>
            <a:endParaRPr sz="1200">
              <a:solidFill>
                <a:srgbClr val="F5A300"/>
              </a:solidFill>
              <a:latin typeface="DM Sans Medium"/>
              <a:ea typeface="DM Sans Medium"/>
              <a:cs typeface="DM Sans Medium"/>
              <a:sym typeface="DM Sans Medium"/>
            </a:endParaRPr>
          </a:p>
          <a:p>
            <a:pPr indent="0" lvl="0" marL="0" rtl="0" algn="ctr">
              <a:lnSpc>
                <a:spcPct val="115000"/>
              </a:lnSpc>
              <a:spcBef>
                <a:spcPts val="400"/>
              </a:spcBef>
              <a:spcAft>
                <a:spcPts val="0"/>
              </a:spcAft>
              <a:buNone/>
            </a:pPr>
            <a:r>
              <a:rPr lang="en" sz="1200">
                <a:solidFill>
                  <a:schemeClr val="accent3"/>
                </a:solidFill>
                <a:latin typeface="DM Sans Medium"/>
                <a:ea typeface="DM Sans Medium"/>
                <a:cs typeface="DM Sans Medium"/>
                <a:sym typeface="DM Sans Medium"/>
              </a:rPr>
              <a:t>Intelligence Engine</a:t>
            </a:r>
            <a:endParaRPr sz="1200">
              <a:solidFill>
                <a:schemeClr val="accent3"/>
              </a:solidFill>
              <a:latin typeface="DM Sans Medium"/>
              <a:ea typeface="DM Sans Medium"/>
              <a:cs typeface="DM Sans Medium"/>
              <a:sym typeface="DM Sans Medium"/>
            </a:endParaRPr>
          </a:p>
          <a:p>
            <a:pPr indent="0" lvl="0" marL="0" rtl="0" algn="ctr">
              <a:lnSpc>
                <a:spcPct val="115000"/>
              </a:lnSpc>
              <a:spcBef>
                <a:spcPts val="400"/>
              </a:spcBef>
              <a:spcAft>
                <a:spcPts val="400"/>
              </a:spcAft>
              <a:buNone/>
            </a:pPr>
            <a:r>
              <a:rPr lang="en" sz="1200">
                <a:solidFill>
                  <a:schemeClr val="accent1"/>
                </a:solidFill>
                <a:latin typeface="DM Sans Medium"/>
                <a:ea typeface="DM Sans Medium"/>
                <a:cs typeface="DM Sans Medium"/>
                <a:sym typeface="DM Sans Medium"/>
              </a:rPr>
              <a:t>Platform Services</a:t>
            </a:r>
            <a:endParaRPr sz="1200">
              <a:solidFill>
                <a:schemeClr val="accent1"/>
              </a:solidFill>
              <a:latin typeface="DM Sans Medium"/>
              <a:ea typeface="DM Sans Medium"/>
              <a:cs typeface="DM Sans Medium"/>
              <a:sym typeface="DM Sans Medium"/>
            </a:endParaRPr>
          </a:p>
        </p:txBody>
      </p:sp>
      <p:pic>
        <p:nvPicPr>
          <p:cNvPr id="790" name="Google Shape;790;p59"/>
          <p:cNvPicPr preferRelativeResize="0"/>
          <p:nvPr/>
        </p:nvPicPr>
        <p:blipFill>
          <a:blip r:embed="rId7">
            <a:alphaModFix/>
          </a:blip>
          <a:stretch>
            <a:fillRect/>
          </a:stretch>
        </p:blipFill>
        <p:spPr>
          <a:xfrm>
            <a:off x="2995775" y="1967975"/>
            <a:ext cx="324300" cy="324300"/>
          </a:xfrm>
          <a:prstGeom prst="rect">
            <a:avLst/>
          </a:prstGeom>
          <a:noFill/>
          <a:ln>
            <a:noFill/>
          </a:ln>
        </p:spPr>
      </p:pic>
      <p:sp>
        <p:nvSpPr>
          <p:cNvPr id="791" name="Google Shape;791;p5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792" name="Google Shape;792;p59"/>
          <p:cNvSpPr/>
          <p:nvPr/>
        </p:nvSpPr>
        <p:spPr>
          <a:xfrm>
            <a:off x="8231900" y="3715050"/>
            <a:ext cx="3003900" cy="17640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Classic Compute Plane</a:t>
            </a:r>
            <a:endParaRPr sz="1500">
              <a:solidFill>
                <a:schemeClr val="accent1"/>
              </a:solidFill>
              <a:latin typeface="DM Sans Medium"/>
              <a:ea typeface="DM Sans Medium"/>
              <a:cs typeface="DM Sans Medium"/>
              <a:sym typeface="DM Sans Medium"/>
            </a:endParaRPr>
          </a:p>
        </p:txBody>
      </p:sp>
      <p:sp>
        <p:nvSpPr>
          <p:cNvPr id="793" name="Google Shape;793;p59"/>
          <p:cNvSpPr/>
          <p:nvPr/>
        </p:nvSpPr>
        <p:spPr>
          <a:xfrm>
            <a:off x="9685550" y="3666662"/>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9"/>
          <p:cNvSpPr/>
          <p:nvPr/>
        </p:nvSpPr>
        <p:spPr>
          <a:xfrm>
            <a:off x="9685550" y="5430321"/>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9"/>
          <p:cNvSpPr/>
          <p:nvPr/>
        </p:nvSpPr>
        <p:spPr>
          <a:xfrm>
            <a:off x="8374100"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Workspace</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clusters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(ETL and AI)</a:t>
            </a:r>
            <a:endParaRPr i="1" sz="1000">
              <a:solidFill>
                <a:schemeClr val="accent1"/>
              </a:solidFill>
              <a:latin typeface="DM Sans"/>
              <a:ea typeface="DM Sans"/>
              <a:cs typeface="DM Sans"/>
              <a:sym typeface="DM Sans"/>
            </a:endParaRPr>
          </a:p>
        </p:txBody>
      </p:sp>
      <p:sp>
        <p:nvSpPr>
          <p:cNvPr id="796" name="Google Shape;796;p59"/>
          <p:cNvSpPr/>
          <p:nvPr/>
        </p:nvSpPr>
        <p:spPr>
          <a:xfrm>
            <a:off x="9808926"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SQL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Warehouses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(DWH and BI)</a:t>
            </a:r>
            <a:endParaRPr i="1" sz="1000">
              <a:solidFill>
                <a:schemeClr val="accent1"/>
              </a:solidFill>
              <a:latin typeface="DM Sans"/>
              <a:ea typeface="DM Sans"/>
              <a:cs typeface="DM Sans"/>
              <a:sym typeface="DM Sans"/>
            </a:endParaRPr>
          </a:p>
        </p:txBody>
      </p:sp>
      <p:cxnSp>
        <p:nvCxnSpPr>
          <p:cNvPr id="797" name="Google Shape;797;p59"/>
          <p:cNvCxnSpPr>
            <a:stCxn id="746" idx="3"/>
            <a:endCxn id="793" idx="0"/>
          </p:cNvCxnSpPr>
          <p:nvPr/>
        </p:nvCxnSpPr>
        <p:spPr>
          <a:xfrm>
            <a:off x="7750450" y="2723825"/>
            <a:ext cx="1983300" cy="942900"/>
          </a:xfrm>
          <a:prstGeom prst="bentConnector2">
            <a:avLst/>
          </a:prstGeom>
          <a:noFill/>
          <a:ln cap="flat" cmpd="sng" w="19050">
            <a:solidFill>
              <a:schemeClr val="accent1"/>
            </a:solidFill>
            <a:prstDash val="solid"/>
            <a:round/>
            <a:headEnd len="sm" w="sm" type="none"/>
            <a:tailEnd len="sm" w="sm" type="triangle"/>
          </a:ln>
        </p:spPr>
      </p:cxnSp>
      <p:cxnSp>
        <p:nvCxnSpPr>
          <p:cNvPr id="798" name="Google Shape;798;p59"/>
          <p:cNvCxnSpPr>
            <a:stCxn id="794" idx="2"/>
            <a:endCxn id="799" idx="0"/>
          </p:cNvCxnSpPr>
          <p:nvPr/>
        </p:nvCxnSpPr>
        <p:spPr>
          <a:xfrm>
            <a:off x="9733850" y="5526921"/>
            <a:ext cx="0" cy="348000"/>
          </a:xfrm>
          <a:prstGeom prst="straightConnector1">
            <a:avLst/>
          </a:prstGeom>
          <a:noFill/>
          <a:ln cap="flat" cmpd="sng" w="19050">
            <a:solidFill>
              <a:schemeClr val="accent1"/>
            </a:solidFill>
            <a:prstDash val="solid"/>
            <a:round/>
            <a:headEnd len="sm" w="sm" type="none"/>
            <a:tailEnd len="sm" w="sm" type="triangle"/>
          </a:ln>
        </p:spPr>
      </p:cxnSp>
      <p:sp>
        <p:nvSpPr>
          <p:cNvPr id="800" name="Google Shape;800;p59"/>
          <p:cNvSpPr/>
          <p:nvPr/>
        </p:nvSpPr>
        <p:spPr>
          <a:xfrm>
            <a:off x="8231900" y="5905800"/>
            <a:ext cx="3003900" cy="468900"/>
          </a:xfrm>
          <a:prstGeom prst="roundRect">
            <a:avLst>
              <a:gd fmla="val 20148"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799" name="Google Shape;799;p59"/>
          <p:cNvSpPr/>
          <p:nvPr/>
        </p:nvSpPr>
        <p:spPr>
          <a:xfrm>
            <a:off x="96855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1" name="Google Shape;801;p59"/>
          <p:cNvPicPr preferRelativeResize="0"/>
          <p:nvPr/>
        </p:nvPicPr>
        <p:blipFill>
          <a:blip r:embed="rId7">
            <a:alphaModFix/>
          </a:blip>
          <a:stretch>
            <a:fillRect/>
          </a:stretch>
        </p:blipFill>
        <p:spPr>
          <a:xfrm>
            <a:off x="8306872" y="3784350"/>
            <a:ext cx="324300" cy="324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6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807" name="Google Shape;807;p60"/>
          <p:cNvSpPr/>
          <p:nvPr/>
        </p:nvSpPr>
        <p:spPr>
          <a:xfrm>
            <a:off x="2880250" y="1331675"/>
            <a:ext cx="48702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0"/>
          <p:cNvSpPr/>
          <p:nvPr/>
        </p:nvSpPr>
        <p:spPr>
          <a:xfrm>
            <a:off x="8070950" y="1331675"/>
            <a:ext cx="32778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pic>
        <p:nvPicPr>
          <p:cNvPr id="809" name="Google Shape;809;p60"/>
          <p:cNvPicPr preferRelativeResize="0"/>
          <p:nvPr/>
        </p:nvPicPr>
        <p:blipFill rotWithShape="1">
          <a:blip r:embed="rId3">
            <a:alphaModFix/>
          </a:blip>
          <a:srcRect b="0" l="0" r="0" t="0"/>
          <a:stretch/>
        </p:blipFill>
        <p:spPr>
          <a:xfrm>
            <a:off x="4535392" y="1364149"/>
            <a:ext cx="1886819" cy="296800"/>
          </a:xfrm>
          <a:prstGeom prst="rect">
            <a:avLst/>
          </a:prstGeom>
          <a:noFill/>
          <a:ln>
            <a:noFill/>
          </a:ln>
        </p:spPr>
      </p:pic>
      <p:sp>
        <p:nvSpPr>
          <p:cNvPr id="810" name="Google Shape;810;p60"/>
          <p:cNvSpPr txBox="1"/>
          <p:nvPr>
            <p:ph type="title"/>
          </p:nvPr>
        </p:nvSpPr>
        <p:spPr>
          <a:xfrm>
            <a:off x="749245" y="154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Intelligence Platform</a:t>
            </a:r>
            <a:r>
              <a:rPr lang="en"/>
              <a:t> </a:t>
            </a:r>
            <a:r>
              <a:rPr lang="en"/>
              <a:t>Serverless</a:t>
            </a:r>
            <a:endParaRPr/>
          </a:p>
        </p:txBody>
      </p:sp>
      <p:sp>
        <p:nvSpPr>
          <p:cNvPr id="811" name="Google Shape;811;p60"/>
          <p:cNvSpPr txBox="1"/>
          <p:nvPr>
            <p:ph idx="1" type="subTitle"/>
          </p:nvPr>
        </p:nvSpPr>
        <p:spPr>
          <a:xfrm>
            <a:off x="764809" y="793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Storage in customer subscription, compute in Databricks subscription</a:t>
            </a:r>
            <a:endParaRPr/>
          </a:p>
        </p:txBody>
      </p:sp>
      <p:sp>
        <p:nvSpPr>
          <p:cNvPr id="812" name="Google Shape;812;p60"/>
          <p:cNvSpPr/>
          <p:nvPr/>
        </p:nvSpPr>
        <p:spPr>
          <a:xfrm>
            <a:off x="8231900" y="3715050"/>
            <a:ext cx="3003900" cy="17640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Classic Compute Plane</a:t>
            </a:r>
            <a:endParaRPr sz="1500">
              <a:solidFill>
                <a:schemeClr val="accent1"/>
              </a:solidFill>
              <a:latin typeface="DM Sans Medium"/>
              <a:ea typeface="DM Sans Medium"/>
              <a:cs typeface="DM Sans Medium"/>
              <a:sym typeface="DM Sans Medium"/>
            </a:endParaRPr>
          </a:p>
        </p:txBody>
      </p:sp>
      <p:sp>
        <p:nvSpPr>
          <p:cNvPr id="813" name="Google Shape;813;p60"/>
          <p:cNvSpPr/>
          <p:nvPr/>
        </p:nvSpPr>
        <p:spPr>
          <a:xfrm>
            <a:off x="4260075" y="3715050"/>
            <a:ext cx="3441000" cy="1771200"/>
          </a:xfrm>
          <a:prstGeom prst="roundRect">
            <a:avLst>
              <a:gd fmla="val 4853"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600"/>
              </a:spcAft>
              <a:buNone/>
            </a:pPr>
            <a:r>
              <a:rPr lang="en" sz="1500">
                <a:solidFill>
                  <a:schemeClr val="accent1"/>
                </a:solidFill>
                <a:latin typeface="DM Sans Medium"/>
                <a:ea typeface="DM Sans Medium"/>
                <a:cs typeface="DM Sans Medium"/>
                <a:sym typeface="DM Sans Medium"/>
              </a:rPr>
              <a:t>     </a:t>
            </a:r>
            <a:r>
              <a:rPr lang="en" sz="1500">
                <a:solidFill>
                  <a:schemeClr val="accent1"/>
                </a:solidFill>
                <a:latin typeface="DM Sans Medium"/>
                <a:ea typeface="DM Sans Medium"/>
                <a:cs typeface="DM Sans Medium"/>
                <a:sym typeface="DM Sans Medium"/>
              </a:rPr>
              <a:t>Serverless Compute</a:t>
            </a:r>
            <a:r>
              <a:rPr lang="en" sz="1500">
                <a:solidFill>
                  <a:schemeClr val="accent1"/>
                </a:solidFill>
                <a:latin typeface="DM Sans Medium"/>
                <a:ea typeface="DM Sans Medium"/>
                <a:cs typeface="DM Sans Medium"/>
                <a:sym typeface="DM Sans Medium"/>
              </a:rPr>
              <a:t> Plane</a:t>
            </a:r>
            <a:endParaRPr sz="1500">
              <a:solidFill>
                <a:schemeClr val="accent1"/>
              </a:solidFill>
              <a:latin typeface="DM Sans Medium"/>
              <a:ea typeface="DM Sans Medium"/>
              <a:cs typeface="DM Sans Medium"/>
              <a:sym typeface="DM Sans Medium"/>
            </a:endParaRPr>
          </a:p>
        </p:txBody>
      </p:sp>
      <p:sp>
        <p:nvSpPr>
          <p:cNvPr id="814" name="Google Shape;814;p60"/>
          <p:cNvSpPr/>
          <p:nvPr/>
        </p:nvSpPr>
        <p:spPr>
          <a:xfrm>
            <a:off x="62603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0"/>
          <p:cNvSpPr/>
          <p:nvPr/>
        </p:nvSpPr>
        <p:spPr>
          <a:xfrm>
            <a:off x="7653850" y="2675525"/>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0"/>
          <p:cNvSpPr/>
          <p:nvPr/>
        </p:nvSpPr>
        <p:spPr>
          <a:xfrm>
            <a:off x="9685550" y="3666662"/>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0"/>
          <p:cNvSpPr/>
          <p:nvPr/>
        </p:nvSpPr>
        <p:spPr>
          <a:xfrm>
            <a:off x="9685550" y="5430321"/>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0"/>
          <p:cNvSpPr/>
          <p:nvPr/>
        </p:nvSpPr>
        <p:spPr>
          <a:xfrm>
            <a:off x="8374100"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Workspace</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clusters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(ETL and AI)</a:t>
            </a:r>
            <a:endParaRPr i="1" sz="1000">
              <a:solidFill>
                <a:schemeClr val="accent1"/>
              </a:solidFill>
              <a:latin typeface="DM Sans"/>
              <a:ea typeface="DM Sans"/>
              <a:cs typeface="DM Sans"/>
              <a:sym typeface="DM Sans"/>
            </a:endParaRPr>
          </a:p>
        </p:txBody>
      </p:sp>
      <p:sp>
        <p:nvSpPr>
          <p:cNvPr id="819" name="Google Shape;819;p60"/>
          <p:cNvSpPr/>
          <p:nvPr/>
        </p:nvSpPr>
        <p:spPr>
          <a:xfrm>
            <a:off x="9808926"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SQL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Warehouses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(DWH and BI)</a:t>
            </a:r>
            <a:endParaRPr i="1" sz="1000">
              <a:solidFill>
                <a:schemeClr val="accent1"/>
              </a:solidFill>
              <a:latin typeface="DM Sans"/>
              <a:ea typeface="DM Sans"/>
              <a:cs typeface="DM Sans"/>
              <a:sym typeface="DM Sans"/>
            </a:endParaRPr>
          </a:p>
        </p:txBody>
      </p:sp>
      <p:cxnSp>
        <p:nvCxnSpPr>
          <p:cNvPr id="820" name="Google Shape;820;p60"/>
          <p:cNvCxnSpPr>
            <a:stCxn id="821" idx="2"/>
            <a:endCxn id="822" idx="0"/>
          </p:cNvCxnSpPr>
          <p:nvPr/>
        </p:nvCxnSpPr>
        <p:spPr>
          <a:xfrm>
            <a:off x="6160913" y="3480014"/>
            <a:ext cx="0" cy="189000"/>
          </a:xfrm>
          <a:prstGeom prst="straightConnector1">
            <a:avLst/>
          </a:prstGeom>
          <a:noFill/>
          <a:ln cap="flat" cmpd="sng" w="19050">
            <a:solidFill>
              <a:schemeClr val="accent1"/>
            </a:solidFill>
            <a:prstDash val="solid"/>
            <a:round/>
            <a:headEnd len="sm" w="sm" type="none"/>
            <a:tailEnd len="sm" w="sm" type="triangle"/>
          </a:ln>
        </p:spPr>
      </p:cxnSp>
      <p:cxnSp>
        <p:nvCxnSpPr>
          <p:cNvPr id="823" name="Google Shape;823;p60"/>
          <p:cNvCxnSpPr>
            <a:stCxn id="815" idx="3"/>
            <a:endCxn id="816" idx="0"/>
          </p:cNvCxnSpPr>
          <p:nvPr/>
        </p:nvCxnSpPr>
        <p:spPr>
          <a:xfrm>
            <a:off x="7750450" y="2723825"/>
            <a:ext cx="1983300" cy="942900"/>
          </a:xfrm>
          <a:prstGeom prst="bentConnector2">
            <a:avLst/>
          </a:prstGeom>
          <a:noFill/>
          <a:ln cap="flat" cmpd="sng" w="19050">
            <a:solidFill>
              <a:schemeClr val="accent1"/>
            </a:solidFill>
            <a:prstDash val="solid"/>
            <a:round/>
            <a:headEnd len="sm" w="sm" type="none"/>
            <a:tailEnd len="sm" w="sm" type="triangle"/>
          </a:ln>
        </p:spPr>
      </p:cxnSp>
      <p:cxnSp>
        <p:nvCxnSpPr>
          <p:cNvPr id="824" name="Google Shape;824;p60"/>
          <p:cNvCxnSpPr>
            <a:stCxn id="817" idx="2"/>
            <a:endCxn id="825" idx="0"/>
          </p:cNvCxnSpPr>
          <p:nvPr/>
        </p:nvCxnSpPr>
        <p:spPr>
          <a:xfrm>
            <a:off x="9733850" y="5526921"/>
            <a:ext cx="0" cy="348000"/>
          </a:xfrm>
          <a:prstGeom prst="straightConnector1">
            <a:avLst/>
          </a:prstGeom>
          <a:noFill/>
          <a:ln cap="flat" cmpd="sng" w="19050">
            <a:solidFill>
              <a:schemeClr val="accent1"/>
            </a:solidFill>
            <a:prstDash val="solid"/>
            <a:round/>
            <a:headEnd len="sm" w="sm" type="none"/>
            <a:tailEnd len="sm" w="sm" type="triangle"/>
          </a:ln>
        </p:spPr>
      </p:cxnSp>
      <p:sp>
        <p:nvSpPr>
          <p:cNvPr id="826" name="Google Shape;826;p60"/>
          <p:cNvSpPr txBox="1"/>
          <p:nvPr/>
        </p:nvSpPr>
        <p:spPr>
          <a:xfrm>
            <a:off x="948300" y="25054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pic>
        <p:nvPicPr>
          <p:cNvPr id="827" name="Google Shape;827;p60"/>
          <p:cNvPicPr preferRelativeResize="0"/>
          <p:nvPr/>
        </p:nvPicPr>
        <p:blipFill>
          <a:blip r:embed="rId4">
            <a:alphaModFix/>
          </a:blip>
          <a:stretch>
            <a:fillRect/>
          </a:stretch>
        </p:blipFill>
        <p:spPr>
          <a:xfrm>
            <a:off x="1855075" y="2420206"/>
            <a:ext cx="516325" cy="516335"/>
          </a:xfrm>
          <a:prstGeom prst="rect">
            <a:avLst/>
          </a:prstGeom>
          <a:noFill/>
          <a:ln>
            <a:noFill/>
          </a:ln>
        </p:spPr>
      </p:pic>
      <p:sp>
        <p:nvSpPr>
          <p:cNvPr id="828" name="Google Shape;828;p60"/>
          <p:cNvSpPr txBox="1"/>
          <p:nvPr/>
        </p:nvSpPr>
        <p:spPr>
          <a:xfrm>
            <a:off x="725175" y="4467925"/>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Compute</a:t>
            </a:r>
            <a:endParaRPr sz="1600">
              <a:solidFill>
                <a:schemeClr val="accent1"/>
              </a:solidFill>
              <a:latin typeface="DM Sans Medium"/>
              <a:ea typeface="DM Sans Medium"/>
              <a:cs typeface="DM Sans Medium"/>
              <a:sym typeface="DM Sans Medium"/>
            </a:endParaRPr>
          </a:p>
        </p:txBody>
      </p:sp>
      <p:sp>
        <p:nvSpPr>
          <p:cNvPr id="829" name="Google Shape;829;p60"/>
          <p:cNvSpPr txBox="1"/>
          <p:nvPr/>
        </p:nvSpPr>
        <p:spPr>
          <a:xfrm>
            <a:off x="725175" y="5902824"/>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Storage</a:t>
            </a:r>
            <a:endParaRPr sz="1600">
              <a:solidFill>
                <a:schemeClr val="accent1"/>
              </a:solidFill>
              <a:latin typeface="DM Sans Medium"/>
              <a:ea typeface="DM Sans Medium"/>
              <a:cs typeface="DM Sans Medium"/>
              <a:sym typeface="DM Sans Medium"/>
            </a:endParaRPr>
          </a:p>
        </p:txBody>
      </p:sp>
      <p:pic>
        <p:nvPicPr>
          <p:cNvPr id="830" name="Google Shape;830;p60"/>
          <p:cNvPicPr preferRelativeResize="0"/>
          <p:nvPr/>
        </p:nvPicPr>
        <p:blipFill>
          <a:blip r:embed="rId5">
            <a:alphaModFix/>
          </a:blip>
          <a:stretch>
            <a:fillRect/>
          </a:stretch>
        </p:blipFill>
        <p:spPr>
          <a:xfrm>
            <a:off x="1855075" y="4437989"/>
            <a:ext cx="516325" cy="516335"/>
          </a:xfrm>
          <a:prstGeom prst="rect">
            <a:avLst/>
          </a:prstGeom>
          <a:noFill/>
          <a:ln>
            <a:noFill/>
          </a:ln>
        </p:spPr>
      </p:pic>
      <p:pic>
        <p:nvPicPr>
          <p:cNvPr id="831" name="Google Shape;831;p60"/>
          <p:cNvPicPr preferRelativeResize="0"/>
          <p:nvPr/>
        </p:nvPicPr>
        <p:blipFill>
          <a:blip r:embed="rId6">
            <a:alphaModFix/>
          </a:blip>
          <a:stretch>
            <a:fillRect/>
          </a:stretch>
        </p:blipFill>
        <p:spPr>
          <a:xfrm>
            <a:off x="1855075" y="5882078"/>
            <a:ext cx="516325" cy="516335"/>
          </a:xfrm>
          <a:prstGeom prst="rect">
            <a:avLst/>
          </a:prstGeom>
          <a:noFill/>
          <a:ln>
            <a:noFill/>
          </a:ln>
        </p:spPr>
      </p:pic>
      <p:sp>
        <p:nvSpPr>
          <p:cNvPr id="832" name="Google Shape;832;p60"/>
          <p:cNvSpPr/>
          <p:nvPr/>
        </p:nvSpPr>
        <p:spPr>
          <a:xfrm>
            <a:off x="8231900" y="5905800"/>
            <a:ext cx="3003900" cy="468900"/>
          </a:xfrm>
          <a:prstGeom prst="roundRect">
            <a:avLst>
              <a:gd fmla="val 20148"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825" name="Google Shape;825;p60"/>
          <p:cNvSpPr/>
          <p:nvPr/>
        </p:nvSpPr>
        <p:spPr>
          <a:xfrm>
            <a:off x="96855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0"/>
          <p:cNvSpPr/>
          <p:nvPr/>
        </p:nvSpPr>
        <p:spPr>
          <a:xfrm>
            <a:off x="2869081"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4" name="Google Shape;834;p60"/>
          <p:cNvCxnSpPr>
            <a:stCxn id="835" idx="3"/>
            <a:endCxn id="833" idx="1"/>
          </p:cNvCxnSpPr>
          <p:nvPr/>
        </p:nvCxnSpPr>
        <p:spPr>
          <a:xfrm>
            <a:off x="2400807" y="2678373"/>
            <a:ext cx="468300" cy="0"/>
          </a:xfrm>
          <a:prstGeom prst="straightConnector1">
            <a:avLst/>
          </a:prstGeom>
          <a:noFill/>
          <a:ln cap="flat" cmpd="sng" w="19050">
            <a:solidFill>
              <a:schemeClr val="accent1"/>
            </a:solidFill>
            <a:prstDash val="solid"/>
            <a:round/>
            <a:headEnd len="sm" w="sm" type="none"/>
            <a:tailEnd len="sm" w="sm" type="triangle"/>
          </a:ln>
        </p:spPr>
      </p:cxnSp>
      <p:sp>
        <p:nvSpPr>
          <p:cNvPr id="835" name="Google Shape;835;p60"/>
          <p:cNvSpPr/>
          <p:nvPr/>
        </p:nvSpPr>
        <p:spPr>
          <a:xfrm>
            <a:off x="2304207"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6" name="Google Shape;836;p60"/>
          <p:cNvPicPr preferRelativeResize="0"/>
          <p:nvPr/>
        </p:nvPicPr>
        <p:blipFill>
          <a:blip r:embed="rId7">
            <a:alphaModFix/>
          </a:blip>
          <a:stretch>
            <a:fillRect/>
          </a:stretch>
        </p:blipFill>
        <p:spPr>
          <a:xfrm>
            <a:off x="8306872" y="3784350"/>
            <a:ext cx="324300" cy="324300"/>
          </a:xfrm>
          <a:prstGeom prst="rect">
            <a:avLst/>
          </a:prstGeom>
          <a:noFill/>
          <a:ln>
            <a:noFill/>
          </a:ln>
        </p:spPr>
      </p:pic>
      <p:sp>
        <p:nvSpPr>
          <p:cNvPr id="837" name="Google Shape;837;p60"/>
          <p:cNvSpPr/>
          <p:nvPr/>
        </p:nvSpPr>
        <p:spPr>
          <a:xfrm>
            <a:off x="2906900" y="5905800"/>
            <a:ext cx="1758300" cy="468900"/>
          </a:xfrm>
          <a:prstGeom prst="roundRect">
            <a:avLst>
              <a:gd fmla="val 15264"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(long term storage)</a:t>
            </a:r>
            <a:endParaRPr sz="1000">
              <a:solidFill>
                <a:schemeClr val="accent1"/>
              </a:solidFill>
              <a:latin typeface="DM Sans Medium"/>
              <a:ea typeface="DM Sans Medium"/>
              <a:cs typeface="DM Sans Medium"/>
              <a:sym typeface="DM Sans Medium"/>
            </a:endParaRPr>
          </a:p>
        </p:txBody>
      </p:sp>
      <p:sp>
        <p:nvSpPr>
          <p:cNvPr id="838" name="Google Shape;838;p60"/>
          <p:cNvSpPr/>
          <p:nvPr/>
        </p:nvSpPr>
        <p:spPr>
          <a:xfrm>
            <a:off x="3741787" y="4671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0"/>
          <p:cNvSpPr/>
          <p:nvPr/>
        </p:nvSpPr>
        <p:spPr>
          <a:xfrm>
            <a:off x="3741787"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0" name="Google Shape;840;p60"/>
          <p:cNvCxnSpPr>
            <a:stCxn id="838" idx="2"/>
            <a:endCxn id="839" idx="0"/>
          </p:cNvCxnSpPr>
          <p:nvPr/>
        </p:nvCxnSpPr>
        <p:spPr>
          <a:xfrm flipH="1" rot="-5400000">
            <a:off x="3236887" y="5321248"/>
            <a:ext cx="1107000" cy="600"/>
          </a:xfrm>
          <a:prstGeom prst="bentConnector3">
            <a:avLst>
              <a:gd fmla="val 49995" name="adj1"/>
            </a:avLst>
          </a:prstGeom>
          <a:noFill/>
          <a:ln cap="flat" cmpd="sng" w="19050">
            <a:solidFill>
              <a:schemeClr val="accent1"/>
            </a:solidFill>
            <a:prstDash val="solid"/>
            <a:round/>
            <a:headEnd len="sm" w="sm" type="none"/>
            <a:tailEnd len="sm" w="sm" type="triangle"/>
          </a:ln>
        </p:spPr>
      </p:cxnSp>
      <p:sp>
        <p:nvSpPr>
          <p:cNvPr id="841" name="Google Shape;841;p60"/>
          <p:cNvSpPr/>
          <p:nvPr/>
        </p:nvSpPr>
        <p:spPr>
          <a:xfrm>
            <a:off x="4837075" y="5905800"/>
            <a:ext cx="2864100" cy="468900"/>
          </a:xfrm>
          <a:prstGeom prst="roundRect">
            <a:avLst>
              <a:gd fmla="val 1929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(AWS only)</a:t>
            </a:r>
            <a:endParaRPr sz="1000">
              <a:solidFill>
                <a:schemeClr val="accent1"/>
              </a:solidFill>
              <a:latin typeface="DM Sans Medium"/>
              <a:ea typeface="DM Sans Medium"/>
              <a:cs typeface="DM Sans Medium"/>
              <a:sym typeface="DM Sans Medium"/>
            </a:endParaRPr>
          </a:p>
        </p:txBody>
      </p:sp>
      <p:sp>
        <p:nvSpPr>
          <p:cNvPr id="842" name="Google Shape;842;p60"/>
          <p:cNvSpPr/>
          <p:nvPr/>
        </p:nvSpPr>
        <p:spPr>
          <a:xfrm>
            <a:off x="61079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0"/>
          <p:cNvSpPr/>
          <p:nvPr/>
        </p:nvSpPr>
        <p:spPr>
          <a:xfrm>
            <a:off x="6107916"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4" name="Google Shape;844;p60"/>
          <p:cNvCxnSpPr>
            <a:stCxn id="842" idx="2"/>
            <a:endCxn id="843" idx="0"/>
          </p:cNvCxnSpPr>
          <p:nvPr/>
        </p:nvCxnSpPr>
        <p:spPr>
          <a:xfrm flipH="1" rot="-5400000">
            <a:off x="5984016" y="5702248"/>
            <a:ext cx="345000" cy="6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845" name="Google Shape;845;p60"/>
          <p:cNvSpPr/>
          <p:nvPr/>
        </p:nvSpPr>
        <p:spPr>
          <a:xfrm>
            <a:off x="93807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6" name="Google Shape;846;p60"/>
          <p:cNvCxnSpPr>
            <a:stCxn id="847" idx="3"/>
            <a:endCxn id="848" idx="1"/>
          </p:cNvCxnSpPr>
          <p:nvPr/>
        </p:nvCxnSpPr>
        <p:spPr>
          <a:xfrm>
            <a:off x="2367743" y="3521357"/>
            <a:ext cx="1034700" cy="1005900"/>
          </a:xfrm>
          <a:prstGeom prst="bentConnector3">
            <a:avLst>
              <a:gd fmla="val 22790" name="adj1"/>
            </a:avLst>
          </a:prstGeom>
          <a:noFill/>
          <a:ln cap="flat" cmpd="sng" w="19050">
            <a:solidFill>
              <a:schemeClr val="accent1"/>
            </a:solidFill>
            <a:prstDash val="solid"/>
            <a:round/>
            <a:headEnd len="sm" w="sm" type="none"/>
            <a:tailEnd len="sm" w="sm" type="triangle"/>
          </a:ln>
        </p:spPr>
      </p:cxnSp>
      <p:sp>
        <p:nvSpPr>
          <p:cNvPr id="849" name="Google Shape;849;p60"/>
          <p:cNvSpPr txBox="1"/>
          <p:nvPr/>
        </p:nvSpPr>
        <p:spPr>
          <a:xfrm>
            <a:off x="948300" y="31912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Apps</a:t>
            </a:r>
            <a:endParaRPr sz="1600">
              <a:solidFill>
                <a:schemeClr val="accent1"/>
              </a:solidFill>
              <a:latin typeface="DM Sans Medium"/>
              <a:ea typeface="DM Sans Medium"/>
              <a:cs typeface="DM Sans Medium"/>
              <a:sym typeface="DM Sans Medium"/>
            </a:endParaRPr>
          </a:p>
        </p:txBody>
      </p:sp>
      <p:pic>
        <p:nvPicPr>
          <p:cNvPr id="850" name="Google Shape;850;p60"/>
          <p:cNvPicPr preferRelativeResize="0"/>
          <p:nvPr/>
        </p:nvPicPr>
        <p:blipFill>
          <a:blip r:embed="rId8">
            <a:alphaModFix/>
          </a:blip>
          <a:stretch>
            <a:fillRect/>
          </a:stretch>
        </p:blipFill>
        <p:spPr>
          <a:xfrm>
            <a:off x="1855102" y="3181925"/>
            <a:ext cx="516300" cy="516300"/>
          </a:xfrm>
          <a:prstGeom prst="rect">
            <a:avLst/>
          </a:prstGeom>
          <a:noFill/>
          <a:ln>
            <a:noFill/>
          </a:ln>
        </p:spPr>
      </p:pic>
      <p:sp>
        <p:nvSpPr>
          <p:cNvPr id="851" name="Google Shape;851;p60"/>
          <p:cNvSpPr/>
          <p:nvPr/>
        </p:nvSpPr>
        <p:spPr>
          <a:xfrm>
            <a:off x="4511600" y="4291625"/>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SQL</a:t>
            </a:r>
            <a:endParaRPr sz="1200">
              <a:solidFill>
                <a:schemeClr val="accent1"/>
              </a:solidFill>
              <a:latin typeface="DM Sans Medium"/>
              <a:ea typeface="DM Sans Medium"/>
              <a:cs typeface="DM Sans Medium"/>
              <a:sym typeface="DM Sans Medium"/>
            </a:endParaRPr>
          </a:p>
        </p:txBody>
      </p:sp>
      <p:sp>
        <p:nvSpPr>
          <p:cNvPr id="852" name="Google Shape;852;p60"/>
          <p:cNvSpPr/>
          <p:nvPr/>
        </p:nvSpPr>
        <p:spPr>
          <a:xfrm>
            <a:off x="4511600" y="4606493"/>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notebooks</a:t>
            </a:r>
            <a:endParaRPr sz="1200">
              <a:solidFill>
                <a:schemeClr val="accent1"/>
              </a:solidFill>
              <a:latin typeface="DM Sans Medium"/>
              <a:ea typeface="DM Sans Medium"/>
              <a:cs typeface="DM Sans Medium"/>
              <a:sym typeface="DM Sans Medium"/>
            </a:endParaRPr>
          </a:p>
        </p:txBody>
      </p:sp>
      <p:sp>
        <p:nvSpPr>
          <p:cNvPr id="853" name="Google Shape;853;p60"/>
          <p:cNvSpPr/>
          <p:nvPr/>
        </p:nvSpPr>
        <p:spPr>
          <a:xfrm>
            <a:off x="4511600" y="4921349"/>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jobs</a:t>
            </a:r>
            <a:endParaRPr sz="1200">
              <a:solidFill>
                <a:schemeClr val="accent1"/>
              </a:solidFill>
              <a:latin typeface="DM Sans Medium"/>
              <a:ea typeface="DM Sans Medium"/>
              <a:cs typeface="DM Sans Medium"/>
              <a:sym typeface="DM Sans Medium"/>
            </a:endParaRPr>
          </a:p>
        </p:txBody>
      </p:sp>
      <p:sp>
        <p:nvSpPr>
          <p:cNvPr id="854" name="Google Shape;854;p60"/>
          <p:cNvSpPr/>
          <p:nvPr/>
        </p:nvSpPr>
        <p:spPr>
          <a:xfrm>
            <a:off x="6252275" y="4291625"/>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Model Serving</a:t>
            </a:r>
            <a:endParaRPr sz="1200">
              <a:solidFill>
                <a:schemeClr val="accent1"/>
              </a:solidFill>
              <a:latin typeface="DM Sans Medium"/>
              <a:ea typeface="DM Sans Medium"/>
              <a:cs typeface="DM Sans Medium"/>
              <a:sym typeface="DM Sans Medium"/>
            </a:endParaRPr>
          </a:p>
        </p:txBody>
      </p:sp>
      <p:sp>
        <p:nvSpPr>
          <p:cNvPr id="855" name="Google Shape;855;p60"/>
          <p:cNvSpPr/>
          <p:nvPr/>
        </p:nvSpPr>
        <p:spPr>
          <a:xfrm>
            <a:off x="6252275" y="4606496"/>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Vector Search</a:t>
            </a:r>
            <a:endParaRPr sz="1200">
              <a:solidFill>
                <a:schemeClr val="accent1"/>
              </a:solidFill>
              <a:latin typeface="DM Sans Medium"/>
              <a:ea typeface="DM Sans Medium"/>
              <a:cs typeface="DM Sans Medium"/>
              <a:sym typeface="DM Sans Medium"/>
            </a:endParaRPr>
          </a:p>
        </p:txBody>
      </p:sp>
      <p:cxnSp>
        <p:nvCxnSpPr>
          <p:cNvPr id="856" name="Google Shape;856;p60"/>
          <p:cNvCxnSpPr>
            <a:stCxn id="857" idx="2"/>
            <a:endCxn id="858" idx="0"/>
          </p:cNvCxnSpPr>
          <p:nvPr/>
        </p:nvCxnSpPr>
        <p:spPr>
          <a:xfrm>
            <a:off x="3790087" y="3480014"/>
            <a:ext cx="0" cy="840900"/>
          </a:xfrm>
          <a:prstGeom prst="straightConnector1">
            <a:avLst/>
          </a:prstGeom>
          <a:noFill/>
          <a:ln cap="flat" cmpd="sng" w="19050">
            <a:solidFill>
              <a:schemeClr val="accent1"/>
            </a:solidFill>
            <a:prstDash val="solid"/>
            <a:round/>
            <a:headEnd len="sm" w="sm" type="none"/>
            <a:tailEnd len="sm" w="sm" type="triangle"/>
          </a:ln>
        </p:spPr>
      </p:cxnSp>
      <p:sp>
        <p:nvSpPr>
          <p:cNvPr id="858" name="Google Shape;858;p60"/>
          <p:cNvSpPr/>
          <p:nvPr/>
        </p:nvSpPr>
        <p:spPr>
          <a:xfrm>
            <a:off x="3741787" y="4320816"/>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0"/>
          <p:cNvSpPr/>
          <p:nvPr/>
        </p:nvSpPr>
        <p:spPr>
          <a:xfrm>
            <a:off x="2271143"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60"/>
          <p:cNvSpPr/>
          <p:nvPr/>
        </p:nvSpPr>
        <p:spPr>
          <a:xfrm>
            <a:off x="2271143" y="34730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60"/>
          <p:cNvSpPr/>
          <p:nvPr/>
        </p:nvSpPr>
        <p:spPr>
          <a:xfrm>
            <a:off x="3741787"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0"/>
          <p:cNvSpPr/>
          <p:nvPr/>
        </p:nvSpPr>
        <p:spPr>
          <a:xfrm>
            <a:off x="6112613"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0"/>
          <p:cNvSpPr/>
          <p:nvPr/>
        </p:nvSpPr>
        <p:spPr>
          <a:xfrm>
            <a:off x="6112613" y="366909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60"/>
          <p:cNvSpPr/>
          <p:nvPr/>
        </p:nvSpPr>
        <p:spPr>
          <a:xfrm>
            <a:off x="2869081"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1" name="Google Shape;861;p60"/>
          <p:cNvCxnSpPr>
            <a:stCxn id="859" idx="3"/>
            <a:endCxn id="860" idx="1"/>
          </p:cNvCxnSpPr>
          <p:nvPr/>
        </p:nvCxnSpPr>
        <p:spPr>
          <a:xfrm>
            <a:off x="2367743" y="3292757"/>
            <a:ext cx="501300" cy="0"/>
          </a:xfrm>
          <a:prstGeom prst="straightConnector1">
            <a:avLst/>
          </a:prstGeom>
          <a:noFill/>
          <a:ln cap="flat" cmpd="sng" w="19050">
            <a:solidFill>
              <a:schemeClr val="accent1"/>
            </a:solidFill>
            <a:prstDash val="solid"/>
            <a:round/>
            <a:headEnd len="sm" w="sm" type="none"/>
            <a:tailEnd len="sm" w="sm" type="triangle"/>
          </a:ln>
        </p:spPr>
      </p:cxnSp>
      <p:sp>
        <p:nvSpPr>
          <p:cNvPr id="848" name="Google Shape;848;p60"/>
          <p:cNvSpPr/>
          <p:nvPr/>
        </p:nvSpPr>
        <p:spPr>
          <a:xfrm>
            <a:off x="3402481" y="4478969"/>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0"/>
          <p:cNvSpPr/>
          <p:nvPr/>
        </p:nvSpPr>
        <p:spPr>
          <a:xfrm>
            <a:off x="3423775" y="4359200"/>
            <a:ext cx="7332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Lakebase</a:t>
            </a:r>
            <a:br>
              <a:rPr lang="en" sz="12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(OLTP DB)</a:t>
            </a:r>
            <a:endParaRPr sz="1000">
              <a:solidFill>
                <a:schemeClr val="accent1"/>
              </a:solidFill>
              <a:latin typeface="DM Sans Medium"/>
              <a:ea typeface="DM Sans Medium"/>
              <a:cs typeface="DM Sans Medium"/>
              <a:sym typeface="DM Sans Medium"/>
            </a:endParaRPr>
          </a:p>
        </p:txBody>
      </p:sp>
      <p:sp>
        <p:nvSpPr>
          <p:cNvPr id="863" name="Google Shape;863;p60"/>
          <p:cNvSpPr/>
          <p:nvPr/>
        </p:nvSpPr>
        <p:spPr>
          <a:xfrm>
            <a:off x="7739150" y="2591270"/>
            <a:ext cx="3585900" cy="3298800"/>
          </a:xfrm>
          <a:prstGeom prst="rect">
            <a:avLst/>
          </a:prstGeom>
          <a:solidFill>
            <a:srgbClr val="FFFFFF">
              <a:alpha val="86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0"/>
          <p:cNvSpPr/>
          <p:nvPr/>
        </p:nvSpPr>
        <p:spPr>
          <a:xfrm>
            <a:off x="2851350" y="5502263"/>
            <a:ext cx="4899000" cy="957900"/>
          </a:xfrm>
          <a:prstGeom prst="rect">
            <a:avLst/>
          </a:prstGeom>
          <a:solidFill>
            <a:srgbClr val="FFFFFF">
              <a:alpha val="86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5" name="Google Shape;865;p60"/>
          <p:cNvCxnSpPr>
            <a:stCxn id="814" idx="2"/>
            <a:endCxn id="845" idx="0"/>
          </p:cNvCxnSpPr>
          <p:nvPr/>
        </p:nvCxnSpPr>
        <p:spPr>
          <a:xfrm flipH="1" rot="-5400000">
            <a:off x="7696266" y="4142398"/>
            <a:ext cx="345000" cy="31203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866" name="Google Shape;866;p60"/>
          <p:cNvSpPr/>
          <p:nvPr/>
        </p:nvSpPr>
        <p:spPr>
          <a:xfrm>
            <a:off x="2339175" y="3210301"/>
            <a:ext cx="1847700" cy="2305500"/>
          </a:xfrm>
          <a:prstGeom prst="rect">
            <a:avLst/>
          </a:prstGeom>
          <a:solidFill>
            <a:srgbClr val="FFFFFF">
              <a:alpha val="86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7" name="Google Shape;867;p60"/>
          <p:cNvPicPr preferRelativeResize="0"/>
          <p:nvPr/>
        </p:nvPicPr>
        <p:blipFill>
          <a:blip r:embed="rId7">
            <a:alphaModFix/>
          </a:blip>
          <a:stretch>
            <a:fillRect/>
          </a:stretch>
        </p:blipFill>
        <p:spPr>
          <a:xfrm>
            <a:off x="4374339" y="3784350"/>
            <a:ext cx="324300" cy="324300"/>
          </a:xfrm>
          <a:prstGeom prst="rect">
            <a:avLst/>
          </a:prstGeom>
          <a:noFill/>
          <a:ln>
            <a:noFill/>
          </a:ln>
        </p:spPr>
      </p:pic>
      <p:sp>
        <p:nvSpPr>
          <p:cNvPr id="868" name="Google Shape;868;p60"/>
          <p:cNvSpPr/>
          <p:nvPr/>
        </p:nvSpPr>
        <p:spPr>
          <a:xfrm>
            <a:off x="2906975" y="1917875"/>
            <a:ext cx="4794300" cy="1511100"/>
          </a:xfrm>
          <a:prstGeom prst="roundRect">
            <a:avLst>
              <a:gd fmla="val 6285" name="adj"/>
            </a:avLst>
          </a:prstGeom>
          <a:solidFill>
            <a:srgbClr val="FFFFFF"/>
          </a:solidFill>
          <a:ln cap="flat" cmpd="sng" w="9525">
            <a:solidFill>
              <a:srgbClr val="FF362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Control Plane</a:t>
            </a:r>
            <a:endParaRPr sz="1500">
              <a:solidFill>
                <a:schemeClr val="accent1"/>
              </a:solidFill>
              <a:latin typeface="DM Sans Medium"/>
              <a:ea typeface="DM Sans Medium"/>
              <a:cs typeface="DM Sans Medium"/>
              <a:sym typeface="DM Sans Medium"/>
            </a:endParaRPr>
          </a:p>
        </p:txBody>
      </p:sp>
      <p:sp>
        <p:nvSpPr>
          <p:cNvPr id="869" name="Google Shape;869;p60"/>
          <p:cNvSpPr/>
          <p:nvPr/>
        </p:nvSpPr>
        <p:spPr>
          <a:xfrm>
            <a:off x="4237394" y="2323747"/>
            <a:ext cx="2086500" cy="1013400"/>
          </a:xfrm>
          <a:prstGeom prst="roundRect">
            <a:avLst>
              <a:gd fmla="val 4653" name="adj"/>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1200">
                <a:solidFill>
                  <a:srgbClr val="F5A300"/>
                </a:solidFill>
                <a:latin typeface="DM Sans Medium"/>
                <a:ea typeface="DM Sans Medium"/>
                <a:cs typeface="DM Sans Medium"/>
                <a:sym typeface="DM Sans Medium"/>
              </a:rPr>
              <a:t>Unity Catalog</a:t>
            </a:r>
            <a:endParaRPr sz="1200">
              <a:solidFill>
                <a:srgbClr val="F5A300"/>
              </a:solidFill>
              <a:latin typeface="DM Sans Medium"/>
              <a:ea typeface="DM Sans Medium"/>
              <a:cs typeface="DM Sans Medium"/>
              <a:sym typeface="DM Sans Medium"/>
            </a:endParaRPr>
          </a:p>
          <a:p>
            <a:pPr indent="0" lvl="0" marL="0" rtl="0" algn="ctr">
              <a:lnSpc>
                <a:spcPct val="115000"/>
              </a:lnSpc>
              <a:spcBef>
                <a:spcPts val="400"/>
              </a:spcBef>
              <a:spcAft>
                <a:spcPts val="0"/>
              </a:spcAft>
              <a:buNone/>
            </a:pPr>
            <a:r>
              <a:rPr lang="en" sz="1200">
                <a:solidFill>
                  <a:schemeClr val="accent3"/>
                </a:solidFill>
                <a:latin typeface="DM Sans Medium"/>
                <a:ea typeface="DM Sans Medium"/>
                <a:cs typeface="DM Sans Medium"/>
                <a:sym typeface="DM Sans Medium"/>
              </a:rPr>
              <a:t>Intelligence Engine</a:t>
            </a:r>
            <a:endParaRPr sz="1200">
              <a:solidFill>
                <a:schemeClr val="accent3"/>
              </a:solidFill>
              <a:latin typeface="DM Sans Medium"/>
              <a:ea typeface="DM Sans Medium"/>
              <a:cs typeface="DM Sans Medium"/>
              <a:sym typeface="DM Sans Medium"/>
            </a:endParaRPr>
          </a:p>
          <a:p>
            <a:pPr indent="0" lvl="0" marL="0" rtl="0" algn="ctr">
              <a:lnSpc>
                <a:spcPct val="115000"/>
              </a:lnSpc>
              <a:spcBef>
                <a:spcPts val="400"/>
              </a:spcBef>
              <a:spcAft>
                <a:spcPts val="400"/>
              </a:spcAft>
              <a:buNone/>
            </a:pPr>
            <a:r>
              <a:rPr lang="en" sz="1200">
                <a:solidFill>
                  <a:schemeClr val="accent1"/>
                </a:solidFill>
                <a:latin typeface="DM Sans Medium"/>
                <a:ea typeface="DM Sans Medium"/>
                <a:cs typeface="DM Sans Medium"/>
                <a:sym typeface="DM Sans Medium"/>
              </a:rPr>
              <a:t>Platform Services</a:t>
            </a:r>
            <a:endParaRPr sz="1200">
              <a:solidFill>
                <a:schemeClr val="accent1"/>
              </a:solidFill>
              <a:latin typeface="DM Sans Medium"/>
              <a:ea typeface="DM Sans Medium"/>
              <a:cs typeface="DM Sans Medium"/>
              <a:sym typeface="DM Sans Medium"/>
            </a:endParaRPr>
          </a:p>
        </p:txBody>
      </p:sp>
      <p:pic>
        <p:nvPicPr>
          <p:cNvPr id="870" name="Google Shape;870;p60"/>
          <p:cNvPicPr preferRelativeResize="0"/>
          <p:nvPr/>
        </p:nvPicPr>
        <p:blipFill>
          <a:blip r:embed="rId7">
            <a:alphaModFix/>
          </a:blip>
          <a:stretch>
            <a:fillRect/>
          </a:stretch>
        </p:blipFill>
        <p:spPr>
          <a:xfrm>
            <a:off x="2995775" y="1967975"/>
            <a:ext cx="324300" cy="324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6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876" name="Google Shape;876;p61"/>
          <p:cNvSpPr/>
          <p:nvPr/>
        </p:nvSpPr>
        <p:spPr>
          <a:xfrm>
            <a:off x="2880250" y="1331675"/>
            <a:ext cx="48702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61"/>
          <p:cNvSpPr/>
          <p:nvPr/>
        </p:nvSpPr>
        <p:spPr>
          <a:xfrm>
            <a:off x="8070950" y="1331675"/>
            <a:ext cx="3277800" cy="368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pic>
        <p:nvPicPr>
          <p:cNvPr id="878" name="Google Shape;878;p61"/>
          <p:cNvPicPr preferRelativeResize="0"/>
          <p:nvPr/>
        </p:nvPicPr>
        <p:blipFill rotWithShape="1">
          <a:blip r:embed="rId3">
            <a:alphaModFix/>
          </a:blip>
          <a:srcRect b="0" l="0" r="0" t="0"/>
          <a:stretch/>
        </p:blipFill>
        <p:spPr>
          <a:xfrm>
            <a:off x="4535392" y="1364149"/>
            <a:ext cx="1886819" cy="296800"/>
          </a:xfrm>
          <a:prstGeom prst="rect">
            <a:avLst/>
          </a:prstGeom>
          <a:noFill/>
          <a:ln>
            <a:noFill/>
          </a:ln>
        </p:spPr>
      </p:pic>
      <p:sp>
        <p:nvSpPr>
          <p:cNvPr id="879" name="Google Shape;879;p61"/>
          <p:cNvSpPr/>
          <p:nvPr/>
        </p:nvSpPr>
        <p:spPr>
          <a:xfrm>
            <a:off x="8182996" y="6091952"/>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61"/>
          <p:cNvSpPr txBox="1"/>
          <p:nvPr>
            <p:ph type="title"/>
          </p:nvPr>
        </p:nvSpPr>
        <p:spPr>
          <a:xfrm>
            <a:off x="749245" y="154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Intelligence Platform</a:t>
            </a:r>
            <a:r>
              <a:rPr lang="en"/>
              <a:t> </a:t>
            </a:r>
            <a:r>
              <a:rPr lang="en"/>
              <a:t>Serverless </a:t>
            </a:r>
            <a:endParaRPr/>
          </a:p>
        </p:txBody>
      </p:sp>
      <p:sp>
        <p:nvSpPr>
          <p:cNvPr id="881" name="Google Shape;881;p61"/>
          <p:cNvSpPr txBox="1"/>
          <p:nvPr>
            <p:ph idx="1" type="subTitle"/>
          </p:nvPr>
        </p:nvSpPr>
        <p:spPr>
          <a:xfrm>
            <a:off x="764809" y="793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Storage and compute in Databricks subscription</a:t>
            </a:r>
            <a:endParaRPr/>
          </a:p>
        </p:txBody>
      </p:sp>
      <p:sp>
        <p:nvSpPr>
          <p:cNvPr id="882" name="Google Shape;882;p61"/>
          <p:cNvSpPr/>
          <p:nvPr/>
        </p:nvSpPr>
        <p:spPr>
          <a:xfrm>
            <a:off x="8231900" y="3715050"/>
            <a:ext cx="3003900" cy="17640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Classic Compute Plane</a:t>
            </a:r>
            <a:endParaRPr sz="1500">
              <a:solidFill>
                <a:schemeClr val="accent1"/>
              </a:solidFill>
              <a:latin typeface="DM Sans Medium"/>
              <a:ea typeface="DM Sans Medium"/>
              <a:cs typeface="DM Sans Medium"/>
              <a:sym typeface="DM Sans Medium"/>
            </a:endParaRPr>
          </a:p>
        </p:txBody>
      </p:sp>
      <p:sp>
        <p:nvSpPr>
          <p:cNvPr id="883" name="Google Shape;883;p61"/>
          <p:cNvSpPr/>
          <p:nvPr/>
        </p:nvSpPr>
        <p:spPr>
          <a:xfrm>
            <a:off x="2906900" y="3715050"/>
            <a:ext cx="4794300" cy="1771200"/>
          </a:xfrm>
          <a:prstGeom prst="roundRect">
            <a:avLst>
              <a:gd fmla="val 4853"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600"/>
              </a:spcAft>
              <a:buNone/>
            </a:pPr>
            <a:r>
              <a:rPr lang="en" sz="1500">
                <a:solidFill>
                  <a:schemeClr val="accent1"/>
                </a:solidFill>
                <a:latin typeface="DM Sans Medium"/>
                <a:ea typeface="DM Sans Medium"/>
                <a:cs typeface="DM Sans Medium"/>
                <a:sym typeface="DM Sans Medium"/>
              </a:rPr>
              <a:t>     </a:t>
            </a:r>
            <a:r>
              <a:rPr lang="en" sz="1500">
                <a:solidFill>
                  <a:schemeClr val="accent1"/>
                </a:solidFill>
                <a:latin typeface="DM Sans Medium"/>
                <a:ea typeface="DM Sans Medium"/>
                <a:cs typeface="DM Sans Medium"/>
                <a:sym typeface="DM Sans Medium"/>
              </a:rPr>
              <a:t>Serverless Compute</a:t>
            </a:r>
            <a:r>
              <a:rPr lang="en" sz="1500">
                <a:solidFill>
                  <a:schemeClr val="accent1"/>
                </a:solidFill>
                <a:latin typeface="DM Sans Medium"/>
                <a:ea typeface="DM Sans Medium"/>
                <a:cs typeface="DM Sans Medium"/>
                <a:sym typeface="DM Sans Medium"/>
              </a:rPr>
              <a:t> Plane</a:t>
            </a:r>
            <a:endParaRPr sz="1500">
              <a:solidFill>
                <a:schemeClr val="accent1"/>
              </a:solidFill>
              <a:latin typeface="DM Sans Medium"/>
              <a:ea typeface="DM Sans Medium"/>
              <a:cs typeface="DM Sans Medium"/>
              <a:sym typeface="DM Sans Medium"/>
            </a:endParaRPr>
          </a:p>
        </p:txBody>
      </p:sp>
      <p:sp>
        <p:nvSpPr>
          <p:cNvPr id="884" name="Google Shape;884;p61"/>
          <p:cNvSpPr/>
          <p:nvPr/>
        </p:nvSpPr>
        <p:spPr>
          <a:xfrm>
            <a:off x="62603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1"/>
          <p:cNvSpPr/>
          <p:nvPr/>
        </p:nvSpPr>
        <p:spPr>
          <a:xfrm>
            <a:off x="2906975" y="1917875"/>
            <a:ext cx="4794300" cy="1511100"/>
          </a:xfrm>
          <a:prstGeom prst="roundRect">
            <a:avLst>
              <a:gd fmla="val 6285" name="adj"/>
            </a:avLst>
          </a:prstGeom>
          <a:solidFill>
            <a:srgbClr val="FFFFFF"/>
          </a:solidFill>
          <a:ln cap="flat" cmpd="sng" w="9525">
            <a:solidFill>
              <a:srgbClr val="FF362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Control Plane</a:t>
            </a:r>
            <a:endParaRPr sz="1500">
              <a:solidFill>
                <a:schemeClr val="accent1"/>
              </a:solidFill>
              <a:latin typeface="DM Sans Medium"/>
              <a:ea typeface="DM Sans Medium"/>
              <a:cs typeface="DM Sans Medium"/>
              <a:sym typeface="DM Sans Medium"/>
            </a:endParaRPr>
          </a:p>
        </p:txBody>
      </p:sp>
      <p:sp>
        <p:nvSpPr>
          <p:cNvPr id="886" name="Google Shape;886;p61"/>
          <p:cNvSpPr/>
          <p:nvPr/>
        </p:nvSpPr>
        <p:spPr>
          <a:xfrm>
            <a:off x="7653850" y="2675525"/>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6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888" name="Google Shape;888;p61"/>
          <p:cNvSpPr/>
          <p:nvPr/>
        </p:nvSpPr>
        <p:spPr>
          <a:xfrm>
            <a:off x="9685550" y="3666662"/>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1"/>
          <p:cNvSpPr/>
          <p:nvPr/>
        </p:nvSpPr>
        <p:spPr>
          <a:xfrm>
            <a:off x="9685550" y="5430321"/>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1"/>
          <p:cNvSpPr/>
          <p:nvPr/>
        </p:nvSpPr>
        <p:spPr>
          <a:xfrm>
            <a:off x="8374100"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Workspace</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clusters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(ETL and AI)</a:t>
            </a:r>
            <a:endParaRPr i="1" sz="1000">
              <a:solidFill>
                <a:schemeClr val="accent1"/>
              </a:solidFill>
              <a:latin typeface="DM Sans"/>
              <a:ea typeface="DM Sans"/>
              <a:cs typeface="DM Sans"/>
              <a:sym typeface="DM Sans"/>
            </a:endParaRPr>
          </a:p>
        </p:txBody>
      </p:sp>
      <p:sp>
        <p:nvSpPr>
          <p:cNvPr id="891" name="Google Shape;891;p61"/>
          <p:cNvSpPr/>
          <p:nvPr/>
        </p:nvSpPr>
        <p:spPr>
          <a:xfrm>
            <a:off x="9808926" y="4288225"/>
            <a:ext cx="1299900" cy="1013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SQL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Warehouses</a:t>
            </a:r>
            <a:endParaRPr>
              <a:solidFill>
                <a:schemeClr val="accent1"/>
              </a:solidFill>
              <a:latin typeface="DM Sans Medium"/>
              <a:ea typeface="DM Sans Medium"/>
              <a:cs typeface="DM Sans Medium"/>
              <a:sym typeface="DM Sans Medium"/>
            </a:endParaRPr>
          </a:p>
          <a:p>
            <a:pPr indent="0" lvl="0" marL="0" rtl="0" algn="ctr">
              <a:spcBef>
                <a:spcPts val="600"/>
              </a:spcBef>
              <a:spcAft>
                <a:spcPts val="600"/>
              </a:spcAft>
              <a:buNone/>
            </a:pPr>
            <a:r>
              <a:rPr i="1" lang="en" sz="1000">
                <a:solidFill>
                  <a:schemeClr val="accent1"/>
                </a:solidFill>
                <a:latin typeface="DM Sans"/>
                <a:ea typeface="DM Sans"/>
                <a:cs typeface="DM Sans"/>
                <a:sym typeface="DM Sans"/>
              </a:rPr>
              <a:t>(DWH and BI)</a:t>
            </a:r>
            <a:endParaRPr i="1" sz="1000">
              <a:solidFill>
                <a:schemeClr val="accent1"/>
              </a:solidFill>
              <a:latin typeface="DM Sans"/>
              <a:ea typeface="DM Sans"/>
              <a:cs typeface="DM Sans"/>
              <a:sym typeface="DM Sans"/>
            </a:endParaRPr>
          </a:p>
        </p:txBody>
      </p:sp>
      <p:cxnSp>
        <p:nvCxnSpPr>
          <p:cNvPr id="892" name="Google Shape;892;p61"/>
          <p:cNvCxnSpPr>
            <a:stCxn id="893" idx="2"/>
            <a:endCxn id="894" idx="0"/>
          </p:cNvCxnSpPr>
          <p:nvPr/>
        </p:nvCxnSpPr>
        <p:spPr>
          <a:xfrm>
            <a:off x="6160913" y="3480014"/>
            <a:ext cx="0" cy="189000"/>
          </a:xfrm>
          <a:prstGeom prst="straightConnector1">
            <a:avLst/>
          </a:prstGeom>
          <a:noFill/>
          <a:ln cap="flat" cmpd="sng" w="19050">
            <a:solidFill>
              <a:schemeClr val="accent1"/>
            </a:solidFill>
            <a:prstDash val="solid"/>
            <a:round/>
            <a:headEnd len="sm" w="sm" type="none"/>
            <a:tailEnd len="sm" w="sm" type="triangle"/>
          </a:ln>
        </p:spPr>
      </p:cxnSp>
      <p:cxnSp>
        <p:nvCxnSpPr>
          <p:cNvPr id="895" name="Google Shape;895;p61"/>
          <p:cNvCxnSpPr>
            <a:stCxn id="886" idx="3"/>
            <a:endCxn id="888" idx="0"/>
          </p:cNvCxnSpPr>
          <p:nvPr/>
        </p:nvCxnSpPr>
        <p:spPr>
          <a:xfrm>
            <a:off x="7750450" y="2723825"/>
            <a:ext cx="1983300" cy="942900"/>
          </a:xfrm>
          <a:prstGeom prst="bentConnector2">
            <a:avLst/>
          </a:prstGeom>
          <a:noFill/>
          <a:ln cap="flat" cmpd="sng" w="19050">
            <a:solidFill>
              <a:schemeClr val="accent1"/>
            </a:solidFill>
            <a:prstDash val="solid"/>
            <a:round/>
            <a:headEnd len="sm" w="sm" type="none"/>
            <a:tailEnd len="sm" w="sm" type="triangle"/>
          </a:ln>
        </p:spPr>
      </p:cxnSp>
      <p:cxnSp>
        <p:nvCxnSpPr>
          <p:cNvPr id="896" name="Google Shape;896;p61"/>
          <p:cNvCxnSpPr>
            <a:stCxn id="889" idx="2"/>
            <a:endCxn id="897" idx="0"/>
          </p:cNvCxnSpPr>
          <p:nvPr/>
        </p:nvCxnSpPr>
        <p:spPr>
          <a:xfrm>
            <a:off x="9733850" y="5526921"/>
            <a:ext cx="0" cy="348000"/>
          </a:xfrm>
          <a:prstGeom prst="straightConnector1">
            <a:avLst/>
          </a:prstGeom>
          <a:noFill/>
          <a:ln cap="flat" cmpd="sng" w="19050">
            <a:solidFill>
              <a:schemeClr val="accent1"/>
            </a:solidFill>
            <a:prstDash val="solid"/>
            <a:round/>
            <a:headEnd len="sm" w="sm" type="none"/>
            <a:tailEnd len="sm" w="sm" type="triangle"/>
          </a:ln>
        </p:spPr>
      </p:cxnSp>
      <p:cxnSp>
        <p:nvCxnSpPr>
          <p:cNvPr id="898" name="Google Shape;898;p61"/>
          <p:cNvCxnSpPr>
            <a:stCxn id="884" idx="2"/>
            <a:endCxn id="899" idx="0"/>
          </p:cNvCxnSpPr>
          <p:nvPr/>
        </p:nvCxnSpPr>
        <p:spPr>
          <a:xfrm flipH="1" rot="-5400000">
            <a:off x="7696266" y="4142398"/>
            <a:ext cx="345000" cy="31203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900" name="Google Shape;900;p61"/>
          <p:cNvSpPr/>
          <p:nvPr/>
        </p:nvSpPr>
        <p:spPr>
          <a:xfrm>
            <a:off x="4237394" y="2323747"/>
            <a:ext cx="2086500" cy="1013400"/>
          </a:xfrm>
          <a:prstGeom prst="roundRect">
            <a:avLst>
              <a:gd fmla="val 4653" name="adj"/>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1200">
                <a:solidFill>
                  <a:srgbClr val="F5A300"/>
                </a:solidFill>
                <a:latin typeface="DM Sans Medium"/>
                <a:ea typeface="DM Sans Medium"/>
                <a:cs typeface="DM Sans Medium"/>
                <a:sym typeface="DM Sans Medium"/>
              </a:rPr>
              <a:t>Unity Catalog</a:t>
            </a:r>
            <a:endParaRPr sz="1200">
              <a:solidFill>
                <a:srgbClr val="F5A300"/>
              </a:solidFill>
              <a:latin typeface="DM Sans Medium"/>
              <a:ea typeface="DM Sans Medium"/>
              <a:cs typeface="DM Sans Medium"/>
              <a:sym typeface="DM Sans Medium"/>
            </a:endParaRPr>
          </a:p>
          <a:p>
            <a:pPr indent="0" lvl="0" marL="0" rtl="0" algn="ctr">
              <a:lnSpc>
                <a:spcPct val="115000"/>
              </a:lnSpc>
              <a:spcBef>
                <a:spcPts val="400"/>
              </a:spcBef>
              <a:spcAft>
                <a:spcPts val="0"/>
              </a:spcAft>
              <a:buNone/>
            </a:pPr>
            <a:r>
              <a:rPr lang="en" sz="1200">
                <a:solidFill>
                  <a:schemeClr val="accent3"/>
                </a:solidFill>
                <a:latin typeface="DM Sans Medium"/>
                <a:ea typeface="DM Sans Medium"/>
                <a:cs typeface="DM Sans Medium"/>
                <a:sym typeface="DM Sans Medium"/>
              </a:rPr>
              <a:t>Intelligence Engine</a:t>
            </a:r>
            <a:endParaRPr sz="1200">
              <a:solidFill>
                <a:schemeClr val="accent3"/>
              </a:solidFill>
              <a:latin typeface="DM Sans Medium"/>
              <a:ea typeface="DM Sans Medium"/>
              <a:cs typeface="DM Sans Medium"/>
              <a:sym typeface="DM Sans Medium"/>
            </a:endParaRPr>
          </a:p>
          <a:p>
            <a:pPr indent="0" lvl="0" marL="0" rtl="0" algn="ctr">
              <a:lnSpc>
                <a:spcPct val="115000"/>
              </a:lnSpc>
              <a:spcBef>
                <a:spcPts val="400"/>
              </a:spcBef>
              <a:spcAft>
                <a:spcPts val="400"/>
              </a:spcAft>
              <a:buNone/>
            </a:pPr>
            <a:r>
              <a:rPr lang="en" sz="1200">
                <a:solidFill>
                  <a:schemeClr val="accent1"/>
                </a:solidFill>
                <a:latin typeface="DM Sans Medium"/>
                <a:ea typeface="DM Sans Medium"/>
                <a:cs typeface="DM Sans Medium"/>
                <a:sym typeface="DM Sans Medium"/>
              </a:rPr>
              <a:t>Platform Services</a:t>
            </a:r>
            <a:endParaRPr sz="1200">
              <a:solidFill>
                <a:schemeClr val="accent1"/>
              </a:solidFill>
              <a:latin typeface="DM Sans Medium"/>
              <a:ea typeface="DM Sans Medium"/>
              <a:cs typeface="DM Sans Medium"/>
              <a:sym typeface="DM Sans Medium"/>
            </a:endParaRPr>
          </a:p>
        </p:txBody>
      </p:sp>
      <p:sp>
        <p:nvSpPr>
          <p:cNvPr id="901" name="Google Shape;901;p61"/>
          <p:cNvSpPr txBox="1"/>
          <p:nvPr/>
        </p:nvSpPr>
        <p:spPr>
          <a:xfrm>
            <a:off x="948300" y="25054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pic>
        <p:nvPicPr>
          <p:cNvPr id="902" name="Google Shape;902;p61"/>
          <p:cNvPicPr preferRelativeResize="0"/>
          <p:nvPr/>
        </p:nvPicPr>
        <p:blipFill>
          <a:blip r:embed="rId4">
            <a:alphaModFix/>
          </a:blip>
          <a:stretch>
            <a:fillRect/>
          </a:stretch>
        </p:blipFill>
        <p:spPr>
          <a:xfrm>
            <a:off x="1855075" y="2420206"/>
            <a:ext cx="516325" cy="516335"/>
          </a:xfrm>
          <a:prstGeom prst="rect">
            <a:avLst/>
          </a:prstGeom>
          <a:noFill/>
          <a:ln>
            <a:noFill/>
          </a:ln>
        </p:spPr>
      </p:pic>
      <p:sp>
        <p:nvSpPr>
          <p:cNvPr id="903" name="Google Shape;903;p61"/>
          <p:cNvSpPr txBox="1"/>
          <p:nvPr/>
        </p:nvSpPr>
        <p:spPr>
          <a:xfrm>
            <a:off x="725175" y="4467925"/>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Compute</a:t>
            </a:r>
            <a:endParaRPr sz="1600">
              <a:solidFill>
                <a:schemeClr val="accent1"/>
              </a:solidFill>
              <a:latin typeface="DM Sans Medium"/>
              <a:ea typeface="DM Sans Medium"/>
              <a:cs typeface="DM Sans Medium"/>
              <a:sym typeface="DM Sans Medium"/>
            </a:endParaRPr>
          </a:p>
        </p:txBody>
      </p:sp>
      <p:sp>
        <p:nvSpPr>
          <p:cNvPr id="904" name="Google Shape;904;p61"/>
          <p:cNvSpPr txBox="1"/>
          <p:nvPr/>
        </p:nvSpPr>
        <p:spPr>
          <a:xfrm>
            <a:off x="725175" y="5902824"/>
            <a:ext cx="11793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Storage</a:t>
            </a:r>
            <a:endParaRPr sz="1600">
              <a:solidFill>
                <a:schemeClr val="accent1"/>
              </a:solidFill>
              <a:latin typeface="DM Sans Medium"/>
              <a:ea typeface="DM Sans Medium"/>
              <a:cs typeface="DM Sans Medium"/>
              <a:sym typeface="DM Sans Medium"/>
            </a:endParaRPr>
          </a:p>
        </p:txBody>
      </p:sp>
      <p:pic>
        <p:nvPicPr>
          <p:cNvPr id="905" name="Google Shape;905;p61"/>
          <p:cNvPicPr preferRelativeResize="0"/>
          <p:nvPr/>
        </p:nvPicPr>
        <p:blipFill>
          <a:blip r:embed="rId5">
            <a:alphaModFix/>
          </a:blip>
          <a:stretch>
            <a:fillRect/>
          </a:stretch>
        </p:blipFill>
        <p:spPr>
          <a:xfrm>
            <a:off x="1855075" y="4437989"/>
            <a:ext cx="516325" cy="516335"/>
          </a:xfrm>
          <a:prstGeom prst="rect">
            <a:avLst/>
          </a:prstGeom>
          <a:noFill/>
          <a:ln>
            <a:noFill/>
          </a:ln>
        </p:spPr>
      </p:pic>
      <p:pic>
        <p:nvPicPr>
          <p:cNvPr id="906" name="Google Shape;906;p61"/>
          <p:cNvPicPr preferRelativeResize="0"/>
          <p:nvPr/>
        </p:nvPicPr>
        <p:blipFill>
          <a:blip r:embed="rId6">
            <a:alphaModFix/>
          </a:blip>
          <a:stretch>
            <a:fillRect/>
          </a:stretch>
        </p:blipFill>
        <p:spPr>
          <a:xfrm>
            <a:off x="1855075" y="5882078"/>
            <a:ext cx="516325" cy="516335"/>
          </a:xfrm>
          <a:prstGeom prst="rect">
            <a:avLst/>
          </a:prstGeom>
          <a:noFill/>
          <a:ln>
            <a:noFill/>
          </a:ln>
        </p:spPr>
      </p:pic>
      <p:sp>
        <p:nvSpPr>
          <p:cNvPr id="907" name="Google Shape;907;p61"/>
          <p:cNvSpPr/>
          <p:nvPr/>
        </p:nvSpPr>
        <p:spPr>
          <a:xfrm>
            <a:off x="8231900" y="5905800"/>
            <a:ext cx="3003900" cy="468900"/>
          </a:xfrm>
          <a:prstGeom prst="roundRect">
            <a:avLst>
              <a:gd fmla="val 20148"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897" name="Google Shape;897;p61"/>
          <p:cNvSpPr/>
          <p:nvPr/>
        </p:nvSpPr>
        <p:spPr>
          <a:xfrm>
            <a:off x="96855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1"/>
          <p:cNvSpPr/>
          <p:nvPr/>
        </p:nvSpPr>
        <p:spPr>
          <a:xfrm>
            <a:off x="2869081"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9" name="Google Shape;909;p61"/>
          <p:cNvCxnSpPr>
            <a:stCxn id="910" idx="3"/>
            <a:endCxn id="908" idx="1"/>
          </p:cNvCxnSpPr>
          <p:nvPr/>
        </p:nvCxnSpPr>
        <p:spPr>
          <a:xfrm>
            <a:off x="2400807" y="2678373"/>
            <a:ext cx="468300" cy="0"/>
          </a:xfrm>
          <a:prstGeom prst="straightConnector1">
            <a:avLst/>
          </a:prstGeom>
          <a:noFill/>
          <a:ln cap="flat" cmpd="sng" w="19050">
            <a:solidFill>
              <a:schemeClr val="accent1"/>
            </a:solidFill>
            <a:prstDash val="solid"/>
            <a:round/>
            <a:headEnd len="sm" w="sm" type="none"/>
            <a:tailEnd len="sm" w="sm" type="triangle"/>
          </a:ln>
        </p:spPr>
      </p:cxnSp>
      <p:sp>
        <p:nvSpPr>
          <p:cNvPr id="910" name="Google Shape;910;p61"/>
          <p:cNvSpPr/>
          <p:nvPr/>
        </p:nvSpPr>
        <p:spPr>
          <a:xfrm>
            <a:off x="2304207" y="2630073"/>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1" name="Google Shape;911;p61"/>
          <p:cNvPicPr preferRelativeResize="0"/>
          <p:nvPr/>
        </p:nvPicPr>
        <p:blipFill>
          <a:blip r:embed="rId7">
            <a:alphaModFix/>
          </a:blip>
          <a:stretch>
            <a:fillRect/>
          </a:stretch>
        </p:blipFill>
        <p:spPr>
          <a:xfrm>
            <a:off x="2995775" y="1967975"/>
            <a:ext cx="324300" cy="324300"/>
          </a:xfrm>
          <a:prstGeom prst="rect">
            <a:avLst/>
          </a:prstGeom>
          <a:noFill/>
          <a:ln>
            <a:noFill/>
          </a:ln>
        </p:spPr>
      </p:pic>
      <p:pic>
        <p:nvPicPr>
          <p:cNvPr id="912" name="Google Shape;912;p61"/>
          <p:cNvPicPr preferRelativeResize="0"/>
          <p:nvPr/>
        </p:nvPicPr>
        <p:blipFill>
          <a:blip r:embed="rId7">
            <a:alphaModFix/>
          </a:blip>
          <a:stretch>
            <a:fillRect/>
          </a:stretch>
        </p:blipFill>
        <p:spPr>
          <a:xfrm>
            <a:off x="8306872" y="3784350"/>
            <a:ext cx="324300" cy="324300"/>
          </a:xfrm>
          <a:prstGeom prst="rect">
            <a:avLst/>
          </a:prstGeom>
          <a:noFill/>
          <a:ln>
            <a:noFill/>
          </a:ln>
        </p:spPr>
      </p:pic>
      <p:pic>
        <p:nvPicPr>
          <p:cNvPr id="913" name="Google Shape;913;p61"/>
          <p:cNvPicPr preferRelativeResize="0"/>
          <p:nvPr/>
        </p:nvPicPr>
        <p:blipFill>
          <a:blip r:embed="rId7">
            <a:alphaModFix/>
          </a:blip>
          <a:stretch>
            <a:fillRect/>
          </a:stretch>
        </p:blipFill>
        <p:spPr>
          <a:xfrm>
            <a:off x="2995764" y="3784350"/>
            <a:ext cx="324300" cy="324300"/>
          </a:xfrm>
          <a:prstGeom prst="rect">
            <a:avLst/>
          </a:prstGeom>
          <a:noFill/>
          <a:ln>
            <a:noFill/>
          </a:ln>
        </p:spPr>
      </p:pic>
      <p:sp>
        <p:nvSpPr>
          <p:cNvPr id="914" name="Google Shape;914;p61"/>
          <p:cNvSpPr/>
          <p:nvPr/>
        </p:nvSpPr>
        <p:spPr>
          <a:xfrm>
            <a:off x="2906900" y="5905800"/>
            <a:ext cx="1758300" cy="468900"/>
          </a:xfrm>
          <a:prstGeom prst="roundRect">
            <a:avLst>
              <a:gd fmla="val 15264"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(long term storage)</a:t>
            </a:r>
            <a:endParaRPr sz="1000">
              <a:solidFill>
                <a:schemeClr val="accent1"/>
              </a:solidFill>
              <a:latin typeface="DM Sans Medium"/>
              <a:ea typeface="DM Sans Medium"/>
              <a:cs typeface="DM Sans Medium"/>
              <a:sym typeface="DM Sans Medium"/>
            </a:endParaRPr>
          </a:p>
        </p:txBody>
      </p:sp>
      <p:sp>
        <p:nvSpPr>
          <p:cNvPr id="915" name="Google Shape;915;p61"/>
          <p:cNvSpPr/>
          <p:nvPr/>
        </p:nvSpPr>
        <p:spPr>
          <a:xfrm>
            <a:off x="3741787" y="4671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1"/>
          <p:cNvSpPr/>
          <p:nvPr/>
        </p:nvSpPr>
        <p:spPr>
          <a:xfrm>
            <a:off x="3741787"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7" name="Google Shape;917;p61"/>
          <p:cNvCxnSpPr>
            <a:stCxn id="915" idx="2"/>
            <a:endCxn id="916" idx="0"/>
          </p:cNvCxnSpPr>
          <p:nvPr/>
        </p:nvCxnSpPr>
        <p:spPr>
          <a:xfrm flipH="1" rot="-5400000">
            <a:off x="3236887" y="5321248"/>
            <a:ext cx="1107000" cy="600"/>
          </a:xfrm>
          <a:prstGeom prst="bentConnector3">
            <a:avLst>
              <a:gd fmla="val 49995" name="adj1"/>
            </a:avLst>
          </a:prstGeom>
          <a:noFill/>
          <a:ln cap="flat" cmpd="sng" w="19050">
            <a:solidFill>
              <a:schemeClr val="accent1"/>
            </a:solidFill>
            <a:prstDash val="solid"/>
            <a:round/>
            <a:headEnd len="sm" w="sm" type="none"/>
            <a:tailEnd len="sm" w="sm" type="triangle"/>
          </a:ln>
        </p:spPr>
      </p:cxnSp>
      <p:sp>
        <p:nvSpPr>
          <p:cNvPr id="918" name="Google Shape;918;p61"/>
          <p:cNvSpPr/>
          <p:nvPr/>
        </p:nvSpPr>
        <p:spPr>
          <a:xfrm>
            <a:off x="4837075" y="5905800"/>
            <a:ext cx="2864100" cy="468900"/>
          </a:xfrm>
          <a:prstGeom prst="roundRect">
            <a:avLst>
              <a:gd fmla="val 19290"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br>
              <a:rPr lang="en" sz="15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(AWS only)</a:t>
            </a:r>
            <a:endParaRPr sz="1000">
              <a:solidFill>
                <a:schemeClr val="accent1"/>
              </a:solidFill>
              <a:latin typeface="DM Sans Medium"/>
              <a:ea typeface="DM Sans Medium"/>
              <a:cs typeface="DM Sans Medium"/>
              <a:sym typeface="DM Sans Medium"/>
            </a:endParaRPr>
          </a:p>
        </p:txBody>
      </p:sp>
      <p:sp>
        <p:nvSpPr>
          <p:cNvPr id="919" name="Google Shape;919;p61"/>
          <p:cNvSpPr/>
          <p:nvPr/>
        </p:nvSpPr>
        <p:spPr>
          <a:xfrm>
            <a:off x="6107916" y="5433448"/>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1"/>
          <p:cNvSpPr/>
          <p:nvPr/>
        </p:nvSpPr>
        <p:spPr>
          <a:xfrm>
            <a:off x="6107916"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1" name="Google Shape;921;p61"/>
          <p:cNvCxnSpPr>
            <a:stCxn id="919" idx="2"/>
            <a:endCxn id="920" idx="0"/>
          </p:cNvCxnSpPr>
          <p:nvPr/>
        </p:nvCxnSpPr>
        <p:spPr>
          <a:xfrm flipH="1" rot="-5400000">
            <a:off x="5984016" y="5702248"/>
            <a:ext cx="345000" cy="600"/>
          </a:xfrm>
          <a:prstGeom prst="bentConnector3">
            <a:avLst>
              <a:gd fmla="val 49983" name="adj1"/>
            </a:avLst>
          </a:prstGeom>
          <a:noFill/>
          <a:ln cap="flat" cmpd="sng" w="19050">
            <a:solidFill>
              <a:schemeClr val="accent1"/>
            </a:solidFill>
            <a:prstDash val="solid"/>
            <a:round/>
            <a:headEnd len="sm" w="sm" type="none"/>
            <a:tailEnd len="sm" w="sm" type="triangle"/>
          </a:ln>
        </p:spPr>
      </p:cxnSp>
      <p:sp>
        <p:nvSpPr>
          <p:cNvPr id="899" name="Google Shape;899;p61"/>
          <p:cNvSpPr/>
          <p:nvPr/>
        </p:nvSpPr>
        <p:spPr>
          <a:xfrm>
            <a:off x="9380750" y="5874930"/>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2" name="Google Shape;922;p61"/>
          <p:cNvCxnSpPr>
            <a:stCxn id="923" idx="3"/>
            <a:endCxn id="924" idx="1"/>
          </p:cNvCxnSpPr>
          <p:nvPr/>
        </p:nvCxnSpPr>
        <p:spPr>
          <a:xfrm>
            <a:off x="2367743" y="3521357"/>
            <a:ext cx="1034700" cy="1005900"/>
          </a:xfrm>
          <a:prstGeom prst="bentConnector3">
            <a:avLst>
              <a:gd fmla="val 22790" name="adj1"/>
            </a:avLst>
          </a:prstGeom>
          <a:noFill/>
          <a:ln cap="flat" cmpd="sng" w="19050">
            <a:solidFill>
              <a:schemeClr val="accent1"/>
            </a:solidFill>
            <a:prstDash val="solid"/>
            <a:round/>
            <a:headEnd len="sm" w="sm" type="none"/>
            <a:tailEnd len="sm" w="sm" type="triangle"/>
          </a:ln>
        </p:spPr>
      </p:cxnSp>
      <p:sp>
        <p:nvSpPr>
          <p:cNvPr id="925" name="Google Shape;925;p61"/>
          <p:cNvSpPr txBox="1"/>
          <p:nvPr/>
        </p:nvSpPr>
        <p:spPr>
          <a:xfrm>
            <a:off x="948300" y="3191248"/>
            <a:ext cx="733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Apps</a:t>
            </a:r>
            <a:endParaRPr sz="1600">
              <a:solidFill>
                <a:schemeClr val="accent1"/>
              </a:solidFill>
              <a:latin typeface="DM Sans Medium"/>
              <a:ea typeface="DM Sans Medium"/>
              <a:cs typeface="DM Sans Medium"/>
              <a:sym typeface="DM Sans Medium"/>
            </a:endParaRPr>
          </a:p>
        </p:txBody>
      </p:sp>
      <p:pic>
        <p:nvPicPr>
          <p:cNvPr id="926" name="Google Shape;926;p61"/>
          <p:cNvPicPr preferRelativeResize="0"/>
          <p:nvPr/>
        </p:nvPicPr>
        <p:blipFill>
          <a:blip r:embed="rId8">
            <a:alphaModFix/>
          </a:blip>
          <a:stretch>
            <a:fillRect/>
          </a:stretch>
        </p:blipFill>
        <p:spPr>
          <a:xfrm>
            <a:off x="1855102" y="3181925"/>
            <a:ext cx="516300" cy="516300"/>
          </a:xfrm>
          <a:prstGeom prst="rect">
            <a:avLst/>
          </a:prstGeom>
          <a:noFill/>
          <a:ln>
            <a:noFill/>
          </a:ln>
        </p:spPr>
      </p:pic>
      <p:sp>
        <p:nvSpPr>
          <p:cNvPr id="927" name="Google Shape;927;p61"/>
          <p:cNvSpPr/>
          <p:nvPr/>
        </p:nvSpPr>
        <p:spPr>
          <a:xfrm>
            <a:off x="4511600" y="4291625"/>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SQL</a:t>
            </a:r>
            <a:endParaRPr sz="1200">
              <a:solidFill>
                <a:schemeClr val="accent1"/>
              </a:solidFill>
              <a:latin typeface="DM Sans Medium"/>
              <a:ea typeface="DM Sans Medium"/>
              <a:cs typeface="DM Sans Medium"/>
              <a:sym typeface="DM Sans Medium"/>
            </a:endParaRPr>
          </a:p>
        </p:txBody>
      </p:sp>
      <p:sp>
        <p:nvSpPr>
          <p:cNvPr id="928" name="Google Shape;928;p61"/>
          <p:cNvSpPr/>
          <p:nvPr/>
        </p:nvSpPr>
        <p:spPr>
          <a:xfrm>
            <a:off x="4511600" y="4606493"/>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notebooks</a:t>
            </a:r>
            <a:endParaRPr sz="1200">
              <a:solidFill>
                <a:schemeClr val="accent1"/>
              </a:solidFill>
              <a:latin typeface="DM Sans Medium"/>
              <a:ea typeface="DM Sans Medium"/>
              <a:cs typeface="DM Sans Medium"/>
              <a:sym typeface="DM Sans Medium"/>
            </a:endParaRPr>
          </a:p>
        </p:txBody>
      </p:sp>
      <p:sp>
        <p:nvSpPr>
          <p:cNvPr id="929" name="Google Shape;929;p61"/>
          <p:cNvSpPr/>
          <p:nvPr/>
        </p:nvSpPr>
        <p:spPr>
          <a:xfrm>
            <a:off x="4511600" y="4921349"/>
            <a:ext cx="15849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Serverless jobs</a:t>
            </a:r>
            <a:endParaRPr sz="1200">
              <a:solidFill>
                <a:schemeClr val="accent1"/>
              </a:solidFill>
              <a:latin typeface="DM Sans Medium"/>
              <a:ea typeface="DM Sans Medium"/>
              <a:cs typeface="DM Sans Medium"/>
              <a:sym typeface="DM Sans Medium"/>
            </a:endParaRPr>
          </a:p>
        </p:txBody>
      </p:sp>
      <p:sp>
        <p:nvSpPr>
          <p:cNvPr id="930" name="Google Shape;930;p61"/>
          <p:cNvSpPr/>
          <p:nvPr/>
        </p:nvSpPr>
        <p:spPr>
          <a:xfrm>
            <a:off x="6252275" y="4291625"/>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Model Serving</a:t>
            </a:r>
            <a:endParaRPr sz="1200">
              <a:solidFill>
                <a:schemeClr val="accent1"/>
              </a:solidFill>
              <a:latin typeface="DM Sans Medium"/>
              <a:ea typeface="DM Sans Medium"/>
              <a:cs typeface="DM Sans Medium"/>
              <a:sym typeface="DM Sans Medium"/>
            </a:endParaRPr>
          </a:p>
        </p:txBody>
      </p:sp>
      <p:sp>
        <p:nvSpPr>
          <p:cNvPr id="931" name="Google Shape;931;p61"/>
          <p:cNvSpPr/>
          <p:nvPr/>
        </p:nvSpPr>
        <p:spPr>
          <a:xfrm>
            <a:off x="6252275" y="4606496"/>
            <a:ext cx="11154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Vector Search</a:t>
            </a:r>
            <a:endParaRPr sz="1200">
              <a:solidFill>
                <a:schemeClr val="accent1"/>
              </a:solidFill>
              <a:latin typeface="DM Sans Medium"/>
              <a:ea typeface="DM Sans Medium"/>
              <a:cs typeface="DM Sans Medium"/>
              <a:sym typeface="DM Sans Medium"/>
            </a:endParaRPr>
          </a:p>
        </p:txBody>
      </p:sp>
      <p:cxnSp>
        <p:nvCxnSpPr>
          <p:cNvPr id="932" name="Google Shape;932;p61"/>
          <p:cNvCxnSpPr>
            <a:stCxn id="933" idx="2"/>
            <a:endCxn id="934" idx="0"/>
          </p:cNvCxnSpPr>
          <p:nvPr/>
        </p:nvCxnSpPr>
        <p:spPr>
          <a:xfrm>
            <a:off x="3790087" y="3480014"/>
            <a:ext cx="0" cy="840900"/>
          </a:xfrm>
          <a:prstGeom prst="straightConnector1">
            <a:avLst/>
          </a:prstGeom>
          <a:noFill/>
          <a:ln cap="flat" cmpd="sng" w="19050">
            <a:solidFill>
              <a:schemeClr val="accent1"/>
            </a:solidFill>
            <a:prstDash val="solid"/>
            <a:round/>
            <a:headEnd len="sm" w="sm" type="none"/>
            <a:tailEnd len="sm" w="sm" type="triangle"/>
          </a:ln>
        </p:spPr>
      </p:cxnSp>
      <p:sp>
        <p:nvSpPr>
          <p:cNvPr id="934" name="Google Shape;934;p61"/>
          <p:cNvSpPr/>
          <p:nvPr/>
        </p:nvSpPr>
        <p:spPr>
          <a:xfrm>
            <a:off x="3741787" y="4320816"/>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61"/>
          <p:cNvSpPr/>
          <p:nvPr/>
        </p:nvSpPr>
        <p:spPr>
          <a:xfrm>
            <a:off x="2271143"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1"/>
          <p:cNvSpPr/>
          <p:nvPr/>
        </p:nvSpPr>
        <p:spPr>
          <a:xfrm>
            <a:off x="2271143" y="34730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1"/>
          <p:cNvSpPr/>
          <p:nvPr/>
        </p:nvSpPr>
        <p:spPr>
          <a:xfrm>
            <a:off x="3741787"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61"/>
          <p:cNvSpPr/>
          <p:nvPr/>
        </p:nvSpPr>
        <p:spPr>
          <a:xfrm>
            <a:off x="6112613" y="3383414"/>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1"/>
          <p:cNvSpPr/>
          <p:nvPr/>
        </p:nvSpPr>
        <p:spPr>
          <a:xfrm>
            <a:off x="6112613" y="366909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1"/>
          <p:cNvSpPr/>
          <p:nvPr/>
        </p:nvSpPr>
        <p:spPr>
          <a:xfrm>
            <a:off x="2869081" y="3244457"/>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7" name="Google Shape;937;p61"/>
          <p:cNvCxnSpPr>
            <a:stCxn id="935" idx="3"/>
            <a:endCxn id="936" idx="1"/>
          </p:cNvCxnSpPr>
          <p:nvPr/>
        </p:nvCxnSpPr>
        <p:spPr>
          <a:xfrm>
            <a:off x="2367743" y="3292757"/>
            <a:ext cx="501300" cy="0"/>
          </a:xfrm>
          <a:prstGeom prst="straightConnector1">
            <a:avLst/>
          </a:prstGeom>
          <a:noFill/>
          <a:ln cap="flat" cmpd="sng" w="19050">
            <a:solidFill>
              <a:schemeClr val="accent1"/>
            </a:solidFill>
            <a:prstDash val="solid"/>
            <a:round/>
            <a:headEnd len="sm" w="sm" type="none"/>
            <a:tailEnd len="sm" w="sm" type="triangle"/>
          </a:ln>
        </p:spPr>
      </p:cxnSp>
      <p:sp>
        <p:nvSpPr>
          <p:cNvPr id="924" name="Google Shape;924;p61"/>
          <p:cNvSpPr/>
          <p:nvPr/>
        </p:nvSpPr>
        <p:spPr>
          <a:xfrm>
            <a:off x="3402481" y="4478969"/>
            <a:ext cx="96600" cy="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61"/>
          <p:cNvSpPr/>
          <p:nvPr/>
        </p:nvSpPr>
        <p:spPr>
          <a:xfrm>
            <a:off x="3423775" y="4359200"/>
            <a:ext cx="733200" cy="348000"/>
          </a:xfrm>
          <a:prstGeom prst="rect">
            <a:avLst/>
          </a:prstGeom>
          <a:noFill/>
          <a:ln>
            <a:noFill/>
          </a:ln>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Lakebase</a:t>
            </a:r>
            <a:br>
              <a:rPr lang="en" sz="12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(OLTP DB)</a:t>
            </a:r>
            <a:endParaRPr sz="1000">
              <a:solidFill>
                <a:schemeClr val="accent1"/>
              </a:solidFill>
              <a:latin typeface="DM Sans Medium"/>
              <a:ea typeface="DM Sans Medium"/>
              <a:cs typeface="DM Sans Medium"/>
              <a:sym typeface="DM Sans Medium"/>
            </a:endParaRPr>
          </a:p>
        </p:txBody>
      </p:sp>
      <p:sp>
        <p:nvSpPr>
          <p:cNvPr id="939" name="Google Shape;939;p61"/>
          <p:cNvSpPr/>
          <p:nvPr/>
        </p:nvSpPr>
        <p:spPr>
          <a:xfrm>
            <a:off x="7739150" y="2570725"/>
            <a:ext cx="3585900" cy="3861900"/>
          </a:xfrm>
          <a:prstGeom prst="rect">
            <a:avLst/>
          </a:prstGeom>
          <a:solidFill>
            <a:srgbClr val="FFFFFF">
              <a:alpha val="86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1"/>
          <p:cNvSpPr/>
          <p:nvPr/>
        </p:nvSpPr>
        <p:spPr>
          <a:xfrm>
            <a:off x="6260325" y="5514413"/>
            <a:ext cx="1478700" cy="324300"/>
          </a:xfrm>
          <a:prstGeom prst="rect">
            <a:avLst/>
          </a:prstGeom>
          <a:solidFill>
            <a:srgbClr val="FFFFFF">
              <a:alpha val="86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4" name="Shape 944"/>
        <p:cNvGrpSpPr/>
        <p:nvPr/>
      </p:nvGrpSpPr>
      <p:grpSpPr>
        <a:xfrm>
          <a:off x="0" y="0"/>
          <a:ext cx="0" cy="0"/>
          <a:chOff x="0" y="0"/>
          <a:chExt cx="0" cy="0"/>
        </a:xfrm>
      </p:grpSpPr>
      <p:sp>
        <p:nvSpPr>
          <p:cNvPr id="945" name="Google Shape;945;p62"/>
          <p:cNvSpPr txBox="1"/>
          <p:nvPr>
            <p:ph type="title"/>
          </p:nvPr>
        </p:nvSpPr>
        <p:spPr>
          <a:xfrm>
            <a:off x="749250" y="535625"/>
            <a:ext cx="9321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Classic Compute</a:t>
            </a:r>
            <a:endParaRPr/>
          </a:p>
        </p:txBody>
      </p:sp>
      <p:sp>
        <p:nvSpPr>
          <p:cNvPr id="946" name="Google Shape;946;p6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63"/>
          <p:cNvSpPr/>
          <p:nvPr/>
        </p:nvSpPr>
        <p:spPr>
          <a:xfrm>
            <a:off x="6590900" y="2350850"/>
            <a:ext cx="2754000" cy="2261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  Classic Compute</a:t>
            </a:r>
            <a:endParaRPr sz="2000">
              <a:solidFill>
                <a:schemeClr val="accent1"/>
              </a:solidFill>
              <a:latin typeface="DM Sans Medium"/>
              <a:ea typeface="DM Sans Medium"/>
              <a:cs typeface="DM Sans Medium"/>
              <a:sym typeface="DM Sans Medium"/>
            </a:endParaRPr>
          </a:p>
        </p:txBody>
      </p:sp>
      <p:sp>
        <p:nvSpPr>
          <p:cNvPr id="952" name="Google Shape;952;p63"/>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a:t>
            </a:r>
            <a:endParaRPr sz="3600"/>
          </a:p>
        </p:txBody>
      </p:sp>
      <p:sp>
        <p:nvSpPr>
          <p:cNvPr id="953" name="Google Shape;953;p63"/>
          <p:cNvSpPr/>
          <p:nvPr/>
        </p:nvSpPr>
        <p:spPr>
          <a:xfrm>
            <a:off x="1235225" y="3054825"/>
            <a:ext cx="4342800" cy="25281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sp>
        <p:nvSpPr>
          <p:cNvPr id="954" name="Google Shape;954;p63"/>
          <p:cNvSpPr/>
          <p:nvPr/>
        </p:nvSpPr>
        <p:spPr>
          <a:xfrm>
            <a:off x="6590900" y="4959525"/>
            <a:ext cx="27540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sp>
        <p:nvSpPr>
          <p:cNvPr id="955" name="Google Shape;955;p63"/>
          <p:cNvSpPr/>
          <p:nvPr/>
        </p:nvSpPr>
        <p:spPr>
          <a:xfrm>
            <a:off x="9690752" y="2349725"/>
            <a:ext cx="1195800" cy="2364600"/>
          </a:xfrm>
          <a:prstGeom prst="roundRect">
            <a:avLst>
              <a:gd fmla="val 10693"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Other data sources</a:t>
            </a:r>
            <a:endParaRPr sz="2000">
              <a:solidFill>
                <a:schemeClr val="accent1"/>
              </a:solidFill>
              <a:latin typeface="DM Sans Medium"/>
              <a:ea typeface="DM Sans Medium"/>
              <a:cs typeface="DM Sans Medium"/>
              <a:sym typeface="DM Sans Medium"/>
            </a:endParaRPr>
          </a:p>
        </p:txBody>
      </p:sp>
      <p:sp>
        <p:nvSpPr>
          <p:cNvPr id="956" name="Google Shape;956;p63"/>
          <p:cNvSpPr/>
          <p:nvPr/>
        </p:nvSpPr>
        <p:spPr>
          <a:xfrm>
            <a:off x="6359950" y="1714500"/>
            <a:ext cx="46647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accent1"/>
                </a:solidFill>
                <a:latin typeface="DM Sans Medium"/>
                <a:ea typeface="DM Sans Medium"/>
                <a:cs typeface="DM Sans Medium"/>
                <a:sym typeface="DM Sans Medium"/>
              </a:rPr>
              <a:t>Customer</a:t>
            </a:r>
            <a:endParaRPr sz="1200">
              <a:solidFill>
                <a:schemeClr val="accent1"/>
              </a:solidFill>
              <a:latin typeface="DM Sans"/>
              <a:ea typeface="DM Sans"/>
              <a:cs typeface="DM Sans"/>
              <a:sym typeface="DM Sans"/>
            </a:endParaRPr>
          </a:p>
        </p:txBody>
      </p:sp>
      <p:sp>
        <p:nvSpPr>
          <p:cNvPr id="957" name="Google Shape;957;p63"/>
          <p:cNvSpPr/>
          <p:nvPr/>
        </p:nvSpPr>
        <p:spPr>
          <a:xfrm>
            <a:off x="1120600" y="1714500"/>
            <a:ext cx="46017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63"/>
          <p:cNvSpPr/>
          <p:nvPr/>
        </p:nvSpPr>
        <p:spPr>
          <a:xfrm rot="10800000">
            <a:off x="5699121" y="3784950"/>
            <a:ext cx="677400" cy="149100"/>
          </a:xfrm>
          <a:prstGeom prst="left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63"/>
          <p:cNvSpPr/>
          <p:nvPr/>
        </p:nvSpPr>
        <p:spPr>
          <a:xfrm rot="-5393414">
            <a:off x="9431329" y="3746100"/>
            <a:ext cx="1566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63"/>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Workspaces</a:t>
            </a:r>
            <a:endParaRPr/>
          </a:p>
        </p:txBody>
      </p:sp>
      <p:pic>
        <p:nvPicPr>
          <p:cNvPr id="961" name="Google Shape;961;p63"/>
          <p:cNvPicPr preferRelativeResize="0"/>
          <p:nvPr/>
        </p:nvPicPr>
        <p:blipFill rotWithShape="1">
          <a:blip r:embed="rId3">
            <a:alphaModFix/>
          </a:blip>
          <a:srcRect b="0" l="0" r="0" t="0"/>
          <a:stretch/>
        </p:blipFill>
        <p:spPr>
          <a:xfrm>
            <a:off x="2386500" y="1789416"/>
            <a:ext cx="1987850" cy="312692"/>
          </a:xfrm>
          <a:prstGeom prst="rect">
            <a:avLst/>
          </a:prstGeom>
          <a:noFill/>
          <a:ln>
            <a:noFill/>
          </a:ln>
        </p:spPr>
      </p:pic>
      <p:sp>
        <p:nvSpPr>
          <p:cNvPr id="962" name="Google Shape;962;p63"/>
          <p:cNvSpPr/>
          <p:nvPr/>
        </p:nvSpPr>
        <p:spPr>
          <a:xfrm>
            <a:off x="9690450" y="4959525"/>
            <a:ext cx="11964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ID Provider</a:t>
            </a:r>
            <a:endParaRPr sz="2000">
              <a:solidFill>
                <a:schemeClr val="accent1"/>
              </a:solidFill>
              <a:latin typeface="DM Sans Medium"/>
              <a:ea typeface="DM Sans Medium"/>
              <a:cs typeface="DM Sans Medium"/>
              <a:sym typeface="DM Sans Medium"/>
            </a:endParaRPr>
          </a:p>
        </p:txBody>
      </p:sp>
      <p:sp>
        <p:nvSpPr>
          <p:cNvPr id="963" name="Google Shape;963;p63"/>
          <p:cNvSpPr/>
          <p:nvPr/>
        </p:nvSpPr>
        <p:spPr>
          <a:xfrm>
            <a:off x="7347448" y="4672497"/>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63"/>
          <p:cNvSpPr/>
          <p:nvPr/>
        </p:nvSpPr>
        <p:spPr>
          <a:xfrm>
            <a:off x="2488075" y="4136200"/>
            <a:ext cx="2859000" cy="1283100"/>
          </a:xfrm>
          <a:prstGeom prst="roundRect">
            <a:avLst>
              <a:gd fmla="val 6143"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Platform Services</a:t>
            </a:r>
            <a:endParaRPr sz="1600">
              <a:solidFill>
                <a:schemeClr val="accent1"/>
              </a:solidFill>
              <a:latin typeface="DM Sans Medium"/>
              <a:ea typeface="DM Sans Medium"/>
              <a:cs typeface="DM Sans Medium"/>
              <a:sym typeface="DM Sans Medium"/>
            </a:endParaRPr>
          </a:p>
        </p:txBody>
      </p:sp>
      <p:sp>
        <p:nvSpPr>
          <p:cNvPr id="965" name="Google Shape;965;p63"/>
          <p:cNvSpPr/>
          <p:nvPr/>
        </p:nvSpPr>
        <p:spPr>
          <a:xfrm>
            <a:off x="8490448" y="4671285"/>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63"/>
          <p:cNvSpPr/>
          <p:nvPr/>
        </p:nvSpPr>
        <p:spPr>
          <a:xfrm>
            <a:off x="1235225" y="2350850"/>
            <a:ext cx="43428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Account Console</a:t>
            </a:r>
            <a:endParaRPr sz="2000">
              <a:solidFill>
                <a:schemeClr val="accent1"/>
              </a:solidFill>
              <a:latin typeface="DM Sans Medium"/>
              <a:ea typeface="DM Sans Medium"/>
              <a:cs typeface="DM Sans Medium"/>
              <a:sym typeface="DM Sans Medium"/>
            </a:endParaRPr>
          </a:p>
        </p:txBody>
      </p:sp>
      <p:sp>
        <p:nvSpPr>
          <p:cNvPr id="967" name="Google Shape;967;p63"/>
          <p:cNvSpPr/>
          <p:nvPr/>
        </p:nvSpPr>
        <p:spPr>
          <a:xfrm>
            <a:off x="1432250" y="4136100"/>
            <a:ext cx="976800" cy="1283100"/>
          </a:xfrm>
          <a:prstGeom prst="roundRect">
            <a:avLst>
              <a:gd fmla="val 8689"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Unity Catalog</a:t>
            </a:r>
            <a:endParaRPr sz="1600">
              <a:solidFill>
                <a:schemeClr val="dk1"/>
              </a:solidFill>
              <a:latin typeface="DM Sans Medium"/>
              <a:ea typeface="DM Sans Medium"/>
              <a:cs typeface="DM Sans Medium"/>
              <a:sym typeface="DM Sans Medium"/>
            </a:endParaRPr>
          </a:p>
        </p:txBody>
      </p:sp>
      <p:grpSp>
        <p:nvGrpSpPr>
          <p:cNvPr id="968" name="Google Shape;968;p63"/>
          <p:cNvGrpSpPr/>
          <p:nvPr/>
        </p:nvGrpSpPr>
        <p:grpSpPr>
          <a:xfrm>
            <a:off x="6984598" y="3155150"/>
            <a:ext cx="882600" cy="932100"/>
            <a:chOff x="6931925" y="3459950"/>
            <a:chExt cx="882600" cy="932100"/>
          </a:xfrm>
        </p:grpSpPr>
        <p:sp>
          <p:nvSpPr>
            <p:cNvPr id="969" name="Google Shape;969;p63"/>
            <p:cNvSpPr/>
            <p:nvPr/>
          </p:nvSpPr>
          <p:spPr>
            <a:xfrm>
              <a:off x="6931925" y="3459950"/>
              <a:ext cx="882600" cy="932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cluster</a:t>
              </a:r>
              <a:endParaRPr>
                <a:solidFill>
                  <a:schemeClr val="dk2"/>
                </a:solidFill>
                <a:latin typeface="DM Sans Medium"/>
                <a:ea typeface="DM Sans Medium"/>
                <a:cs typeface="DM Sans Medium"/>
                <a:sym typeface="DM Sans Medium"/>
              </a:endParaRPr>
            </a:p>
          </p:txBody>
        </p:sp>
        <p:pic>
          <p:nvPicPr>
            <p:cNvPr id="970" name="Google Shape;970;p63"/>
            <p:cNvPicPr preferRelativeResize="0"/>
            <p:nvPr/>
          </p:nvPicPr>
          <p:blipFill>
            <a:blip r:embed="rId4">
              <a:alphaModFix/>
            </a:blip>
            <a:stretch>
              <a:fillRect/>
            </a:stretch>
          </p:blipFill>
          <p:spPr>
            <a:xfrm>
              <a:off x="7067694" y="3489464"/>
              <a:ext cx="611063" cy="611032"/>
            </a:xfrm>
            <a:prstGeom prst="rect">
              <a:avLst/>
            </a:prstGeom>
            <a:noFill/>
            <a:ln>
              <a:noFill/>
            </a:ln>
          </p:spPr>
        </p:pic>
      </p:grpSp>
      <p:pic>
        <p:nvPicPr>
          <p:cNvPr id="971" name="Google Shape;971;p63"/>
          <p:cNvPicPr preferRelativeResize="0"/>
          <p:nvPr/>
        </p:nvPicPr>
        <p:blipFill rotWithShape="1">
          <a:blip r:embed="rId3">
            <a:alphaModFix/>
          </a:blip>
          <a:srcRect b="0" l="0" r="82955" t="0"/>
          <a:stretch/>
        </p:blipFill>
        <p:spPr>
          <a:xfrm>
            <a:off x="2109488" y="2530063"/>
            <a:ext cx="245706" cy="226800"/>
          </a:xfrm>
          <a:prstGeom prst="rect">
            <a:avLst/>
          </a:prstGeom>
          <a:noFill/>
          <a:ln>
            <a:noFill/>
          </a:ln>
        </p:spPr>
      </p:pic>
      <p:grpSp>
        <p:nvGrpSpPr>
          <p:cNvPr id="972" name="Google Shape;972;p63"/>
          <p:cNvGrpSpPr/>
          <p:nvPr/>
        </p:nvGrpSpPr>
        <p:grpSpPr>
          <a:xfrm>
            <a:off x="8127598" y="3155150"/>
            <a:ext cx="882600" cy="932100"/>
            <a:chOff x="6931925" y="3459950"/>
            <a:chExt cx="882600" cy="932100"/>
          </a:xfrm>
        </p:grpSpPr>
        <p:sp>
          <p:nvSpPr>
            <p:cNvPr id="973" name="Google Shape;973;p63"/>
            <p:cNvSpPr/>
            <p:nvPr/>
          </p:nvSpPr>
          <p:spPr>
            <a:xfrm>
              <a:off x="6931925" y="3459950"/>
              <a:ext cx="882600" cy="932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cluster</a:t>
              </a:r>
              <a:endParaRPr>
                <a:solidFill>
                  <a:schemeClr val="dk2"/>
                </a:solidFill>
                <a:latin typeface="DM Sans Medium"/>
                <a:ea typeface="DM Sans Medium"/>
                <a:cs typeface="DM Sans Medium"/>
                <a:sym typeface="DM Sans Medium"/>
              </a:endParaRPr>
            </a:p>
          </p:txBody>
        </p:sp>
        <p:pic>
          <p:nvPicPr>
            <p:cNvPr id="974" name="Google Shape;974;p63"/>
            <p:cNvPicPr preferRelativeResize="0"/>
            <p:nvPr/>
          </p:nvPicPr>
          <p:blipFill>
            <a:blip r:embed="rId4">
              <a:alphaModFix/>
            </a:blip>
            <a:stretch>
              <a:fillRect/>
            </a:stretch>
          </p:blipFill>
          <p:spPr>
            <a:xfrm>
              <a:off x="7067694" y="3489464"/>
              <a:ext cx="611063" cy="611032"/>
            </a:xfrm>
            <a:prstGeom prst="rect">
              <a:avLst/>
            </a:prstGeom>
            <a:noFill/>
            <a:ln>
              <a:noFill/>
            </a:ln>
          </p:spPr>
        </p:pic>
      </p:grpSp>
      <p:pic>
        <p:nvPicPr>
          <p:cNvPr id="975" name="Google Shape;975;p63"/>
          <p:cNvPicPr preferRelativeResize="0"/>
          <p:nvPr/>
        </p:nvPicPr>
        <p:blipFill rotWithShape="1">
          <a:blip r:embed="rId3">
            <a:alphaModFix/>
          </a:blip>
          <a:srcRect b="0" l="0" r="82955" t="0"/>
          <a:stretch/>
        </p:blipFill>
        <p:spPr>
          <a:xfrm>
            <a:off x="2305888" y="3199747"/>
            <a:ext cx="245706" cy="226800"/>
          </a:xfrm>
          <a:prstGeom prst="rect">
            <a:avLst/>
          </a:prstGeom>
          <a:noFill/>
          <a:ln>
            <a:noFill/>
          </a:ln>
        </p:spPr>
      </p:pic>
      <p:pic>
        <p:nvPicPr>
          <p:cNvPr id="976" name="Google Shape;976;p63"/>
          <p:cNvPicPr preferRelativeResize="0"/>
          <p:nvPr/>
        </p:nvPicPr>
        <p:blipFill rotWithShape="1">
          <a:blip r:embed="rId3">
            <a:alphaModFix/>
          </a:blip>
          <a:srcRect b="0" l="0" r="82955" t="0"/>
          <a:stretch/>
        </p:blipFill>
        <p:spPr>
          <a:xfrm>
            <a:off x="6722135" y="2495836"/>
            <a:ext cx="245706" cy="226800"/>
          </a:xfrm>
          <a:prstGeom prst="rect">
            <a:avLst/>
          </a:prstGeom>
          <a:noFill/>
          <a:ln>
            <a:noFill/>
          </a:ln>
        </p:spPr>
      </p:pic>
      <p:sp>
        <p:nvSpPr>
          <p:cNvPr id="977" name="Google Shape;977;p63"/>
          <p:cNvSpPr/>
          <p:nvPr/>
        </p:nvSpPr>
        <p:spPr>
          <a:xfrm>
            <a:off x="1432250" y="3643200"/>
            <a:ext cx="3914700" cy="419700"/>
          </a:xfrm>
          <a:prstGeom prst="roundRect">
            <a:avLst>
              <a:gd fmla="val 15755"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Intelligence Engine</a:t>
            </a:r>
            <a:endParaRPr sz="1600">
              <a:solidFill>
                <a:schemeClr val="dk1"/>
              </a:solidFill>
              <a:latin typeface="DM Sans Medium"/>
              <a:ea typeface="DM Sans Medium"/>
              <a:cs typeface="DM Sans Medium"/>
              <a:sym typeface="DM Sans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64"/>
          <p:cNvSpPr/>
          <p:nvPr/>
        </p:nvSpPr>
        <p:spPr>
          <a:xfrm>
            <a:off x="6590900" y="2350850"/>
            <a:ext cx="2754000" cy="2261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  Classic Compute</a:t>
            </a:r>
            <a:endParaRPr sz="2000">
              <a:solidFill>
                <a:schemeClr val="accent1"/>
              </a:solidFill>
              <a:latin typeface="DM Sans Medium"/>
              <a:ea typeface="DM Sans Medium"/>
              <a:cs typeface="DM Sans Medium"/>
              <a:sym typeface="DM Sans Medium"/>
            </a:endParaRPr>
          </a:p>
        </p:txBody>
      </p:sp>
      <p:sp>
        <p:nvSpPr>
          <p:cNvPr id="983" name="Google Shape;983;p64"/>
          <p:cNvSpPr/>
          <p:nvPr/>
        </p:nvSpPr>
        <p:spPr>
          <a:xfrm>
            <a:off x="7166137" y="3387457"/>
            <a:ext cx="1713000" cy="109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64"/>
          <p:cNvSpPr/>
          <p:nvPr/>
        </p:nvSpPr>
        <p:spPr>
          <a:xfrm>
            <a:off x="7089937" y="3311257"/>
            <a:ext cx="1713000" cy="109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64"/>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Detailed High Level Architecture </a:t>
            </a:r>
            <a:endParaRPr sz="3600"/>
          </a:p>
        </p:txBody>
      </p:sp>
      <p:sp>
        <p:nvSpPr>
          <p:cNvPr id="986" name="Google Shape;986;p64"/>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Workspaces</a:t>
            </a:r>
            <a:endParaRPr/>
          </a:p>
        </p:txBody>
      </p:sp>
      <p:sp>
        <p:nvSpPr>
          <p:cNvPr id="987" name="Google Shape;987;p64"/>
          <p:cNvSpPr/>
          <p:nvPr/>
        </p:nvSpPr>
        <p:spPr>
          <a:xfrm>
            <a:off x="1040975" y="3054825"/>
            <a:ext cx="4537200" cy="27276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54610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sp>
        <p:nvSpPr>
          <p:cNvPr id="988" name="Google Shape;988;p64"/>
          <p:cNvSpPr/>
          <p:nvPr/>
        </p:nvSpPr>
        <p:spPr>
          <a:xfrm>
            <a:off x="6590900" y="4959525"/>
            <a:ext cx="27540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sp>
        <p:nvSpPr>
          <p:cNvPr id="989" name="Google Shape;989;p64"/>
          <p:cNvSpPr/>
          <p:nvPr/>
        </p:nvSpPr>
        <p:spPr>
          <a:xfrm>
            <a:off x="9690752" y="2349725"/>
            <a:ext cx="1195800" cy="2364600"/>
          </a:xfrm>
          <a:prstGeom prst="roundRect">
            <a:avLst>
              <a:gd fmla="val 10693"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Other data sources</a:t>
            </a:r>
            <a:endParaRPr sz="2000">
              <a:solidFill>
                <a:schemeClr val="accent1"/>
              </a:solidFill>
              <a:latin typeface="DM Sans Medium"/>
              <a:ea typeface="DM Sans Medium"/>
              <a:cs typeface="DM Sans Medium"/>
              <a:sym typeface="DM Sans Medium"/>
            </a:endParaRPr>
          </a:p>
        </p:txBody>
      </p:sp>
      <p:sp>
        <p:nvSpPr>
          <p:cNvPr id="990" name="Google Shape;990;p64"/>
          <p:cNvSpPr/>
          <p:nvPr/>
        </p:nvSpPr>
        <p:spPr>
          <a:xfrm>
            <a:off x="6359950" y="1714500"/>
            <a:ext cx="46647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accent1"/>
                </a:solidFill>
                <a:latin typeface="DM Sans Medium"/>
                <a:ea typeface="DM Sans Medium"/>
                <a:cs typeface="DM Sans Medium"/>
                <a:sym typeface="DM Sans Medium"/>
              </a:rPr>
              <a:t>Customer</a:t>
            </a:r>
            <a:endParaRPr sz="1200">
              <a:solidFill>
                <a:schemeClr val="accent1"/>
              </a:solidFill>
              <a:latin typeface="DM Sans"/>
              <a:ea typeface="DM Sans"/>
              <a:cs typeface="DM Sans"/>
              <a:sym typeface="DM Sans"/>
            </a:endParaRPr>
          </a:p>
        </p:txBody>
      </p:sp>
      <p:sp>
        <p:nvSpPr>
          <p:cNvPr id="991" name="Google Shape;991;p64"/>
          <p:cNvSpPr/>
          <p:nvPr/>
        </p:nvSpPr>
        <p:spPr>
          <a:xfrm>
            <a:off x="911525" y="1714500"/>
            <a:ext cx="48108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64"/>
          <p:cNvSpPr/>
          <p:nvPr/>
        </p:nvSpPr>
        <p:spPr>
          <a:xfrm rot="10800000">
            <a:off x="5699121" y="3784950"/>
            <a:ext cx="677400" cy="149100"/>
          </a:xfrm>
          <a:prstGeom prst="left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64"/>
          <p:cNvSpPr/>
          <p:nvPr/>
        </p:nvSpPr>
        <p:spPr>
          <a:xfrm rot="-5393414">
            <a:off x="9431329" y="3746100"/>
            <a:ext cx="1566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4" name="Google Shape;994;p64"/>
          <p:cNvPicPr preferRelativeResize="0"/>
          <p:nvPr/>
        </p:nvPicPr>
        <p:blipFill rotWithShape="1">
          <a:blip r:embed="rId3">
            <a:alphaModFix/>
          </a:blip>
          <a:srcRect b="0" l="0" r="0" t="0"/>
          <a:stretch/>
        </p:blipFill>
        <p:spPr>
          <a:xfrm>
            <a:off x="2305897" y="1776743"/>
            <a:ext cx="2149050" cy="338050"/>
          </a:xfrm>
          <a:prstGeom prst="rect">
            <a:avLst/>
          </a:prstGeom>
          <a:noFill/>
          <a:ln>
            <a:noFill/>
          </a:ln>
        </p:spPr>
      </p:pic>
      <p:sp>
        <p:nvSpPr>
          <p:cNvPr id="995" name="Google Shape;995;p64"/>
          <p:cNvSpPr/>
          <p:nvPr/>
        </p:nvSpPr>
        <p:spPr>
          <a:xfrm>
            <a:off x="9690450" y="4959525"/>
            <a:ext cx="11964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ID Provider</a:t>
            </a:r>
            <a:endParaRPr sz="2000">
              <a:solidFill>
                <a:schemeClr val="accent1"/>
              </a:solidFill>
              <a:latin typeface="DM Sans Medium"/>
              <a:ea typeface="DM Sans Medium"/>
              <a:cs typeface="DM Sans Medium"/>
              <a:sym typeface="DM Sans Medium"/>
            </a:endParaRPr>
          </a:p>
        </p:txBody>
      </p:sp>
      <p:sp>
        <p:nvSpPr>
          <p:cNvPr id="996" name="Google Shape;996;p64"/>
          <p:cNvSpPr/>
          <p:nvPr/>
        </p:nvSpPr>
        <p:spPr>
          <a:xfrm>
            <a:off x="7842798" y="4671285"/>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4"/>
          <p:cNvSpPr/>
          <p:nvPr/>
        </p:nvSpPr>
        <p:spPr>
          <a:xfrm>
            <a:off x="1040975" y="2350850"/>
            <a:ext cx="45372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Account Console</a:t>
            </a:r>
            <a:endParaRPr sz="2000">
              <a:solidFill>
                <a:schemeClr val="accent1"/>
              </a:solidFill>
              <a:latin typeface="DM Sans Medium"/>
              <a:ea typeface="DM Sans Medium"/>
              <a:cs typeface="DM Sans Medium"/>
              <a:sym typeface="DM Sans Medium"/>
            </a:endParaRPr>
          </a:p>
        </p:txBody>
      </p:sp>
      <p:cxnSp>
        <p:nvCxnSpPr>
          <p:cNvPr id="998" name="Google Shape;998;p64"/>
          <p:cNvCxnSpPr>
            <a:stCxn id="999" idx="1"/>
            <a:endCxn id="1000" idx="2"/>
          </p:cNvCxnSpPr>
          <p:nvPr/>
        </p:nvCxnSpPr>
        <p:spPr>
          <a:xfrm rot="10800000">
            <a:off x="4710100" y="5666989"/>
            <a:ext cx="3147000" cy="512700"/>
          </a:xfrm>
          <a:prstGeom prst="bentConnector2">
            <a:avLst/>
          </a:prstGeom>
          <a:noFill/>
          <a:ln cap="flat" cmpd="sng" w="19050">
            <a:solidFill>
              <a:schemeClr val="accent2"/>
            </a:solidFill>
            <a:prstDash val="solid"/>
            <a:round/>
            <a:headEnd len="med" w="med" type="none"/>
            <a:tailEnd len="med" w="med" type="triangle"/>
          </a:ln>
        </p:spPr>
      </p:cxnSp>
      <p:sp>
        <p:nvSpPr>
          <p:cNvPr id="1001" name="Google Shape;1001;p64"/>
          <p:cNvSpPr/>
          <p:nvPr/>
        </p:nvSpPr>
        <p:spPr>
          <a:xfrm>
            <a:off x="7013737" y="3235057"/>
            <a:ext cx="1713000" cy="109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4"/>
          <p:cNvSpPr txBox="1"/>
          <p:nvPr/>
        </p:nvSpPr>
        <p:spPr>
          <a:xfrm>
            <a:off x="7257525" y="2863612"/>
            <a:ext cx="12735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600">
                <a:solidFill>
                  <a:srgbClr val="1B5161"/>
                </a:solidFill>
                <a:latin typeface="DM Sans Medium"/>
                <a:ea typeface="DM Sans Medium"/>
                <a:cs typeface="DM Sans Medium"/>
                <a:sym typeface="DM Sans Medium"/>
              </a:rPr>
              <a:t>Clusters</a:t>
            </a:r>
            <a:endParaRPr i="1" sz="1600">
              <a:solidFill>
                <a:srgbClr val="1B5161"/>
              </a:solidFill>
              <a:latin typeface="DM Sans"/>
              <a:ea typeface="DM Sans"/>
              <a:cs typeface="DM Sans"/>
              <a:sym typeface="DM Sans"/>
            </a:endParaRPr>
          </a:p>
        </p:txBody>
      </p:sp>
      <p:sp>
        <p:nvSpPr>
          <p:cNvPr id="1003" name="Google Shape;1003;p64"/>
          <p:cNvSpPr/>
          <p:nvPr/>
        </p:nvSpPr>
        <p:spPr>
          <a:xfrm>
            <a:off x="7189817" y="3341355"/>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Driver</a:t>
            </a:r>
            <a:endParaRPr sz="1100">
              <a:solidFill>
                <a:srgbClr val="1B5162"/>
              </a:solidFill>
              <a:latin typeface="DM Sans Medium"/>
              <a:ea typeface="DM Sans Medium"/>
              <a:cs typeface="DM Sans Medium"/>
              <a:sym typeface="DM Sans Medium"/>
            </a:endParaRPr>
          </a:p>
        </p:txBody>
      </p:sp>
      <p:sp>
        <p:nvSpPr>
          <p:cNvPr id="1004" name="Google Shape;1004;p64"/>
          <p:cNvSpPr/>
          <p:nvPr/>
        </p:nvSpPr>
        <p:spPr>
          <a:xfrm>
            <a:off x="7799842" y="3341355"/>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005" name="Google Shape;1005;p64"/>
          <p:cNvSpPr/>
          <p:nvPr/>
        </p:nvSpPr>
        <p:spPr>
          <a:xfrm>
            <a:off x="7952242" y="3493755"/>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006" name="Google Shape;1006;p64"/>
          <p:cNvSpPr/>
          <p:nvPr/>
        </p:nvSpPr>
        <p:spPr>
          <a:xfrm>
            <a:off x="8104642" y="3646155"/>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1B5162"/>
                </a:solidFill>
                <a:latin typeface="DM Sans Medium"/>
                <a:ea typeface="DM Sans Medium"/>
                <a:cs typeface="DM Sans Medium"/>
                <a:sym typeface="DM Sans Medium"/>
              </a:rPr>
              <a:t>worker</a:t>
            </a:r>
            <a:endParaRPr sz="1100">
              <a:solidFill>
                <a:srgbClr val="1B5162"/>
              </a:solidFill>
              <a:latin typeface="DM Sans Medium"/>
              <a:ea typeface="DM Sans Medium"/>
              <a:cs typeface="DM Sans Medium"/>
              <a:sym typeface="DM Sans Medium"/>
            </a:endParaRPr>
          </a:p>
        </p:txBody>
      </p:sp>
      <p:pic>
        <p:nvPicPr>
          <p:cNvPr id="1007" name="Google Shape;1007;p64"/>
          <p:cNvPicPr preferRelativeResize="0"/>
          <p:nvPr/>
        </p:nvPicPr>
        <p:blipFill rotWithShape="1">
          <a:blip r:embed="rId4">
            <a:alphaModFix/>
          </a:blip>
          <a:srcRect b="0" l="0" r="0" t="0"/>
          <a:stretch/>
        </p:blipFill>
        <p:spPr>
          <a:xfrm>
            <a:off x="7434107" y="3859443"/>
            <a:ext cx="379924" cy="197318"/>
          </a:xfrm>
          <a:prstGeom prst="rect">
            <a:avLst/>
          </a:prstGeom>
          <a:noFill/>
          <a:ln>
            <a:noFill/>
          </a:ln>
        </p:spPr>
      </p:pic>
      <p:sp>
        <p:nvSpPr>
          <p:cNvPr id="1008" name="Google Shape;1008;p64"/>
          <p:cNvSpPr txBox="1"/>
          <p:nvPr/>
        </p:nvSpPr>
        <p:spPr>
          <a:xfrm>
            <a:off x="5914516" y="5858793"/>
            <a:ext cx="12735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accent2"/>
                </a:solidFill>
                <a:latin typeface="DM Sans Medium"/>
                <a:ea typeface="DM Sans Medium"/>
                <a:cs typeface="DM Sans Medium"/>
                <a:sym typeface="DM Sans Medium"/>
              </a:rPr>
              <a:t>login</a:t>
            </a:r>
            <a:endParaRPr i="1" sz="1200">
              <a:solidFill>
                <a:schemeClr val="accent2"/>
              </a:solidFill>
              <a:latin typeface="DM Sans"/>
              <a:ea typeface="DM Sans"/>
              <a:cs typeface="DM Sans"/>
              <a:sym typeface="DM Sans"/>
            </a:endParaRPr>
          </a:p>
        </p:txBody>
      </p:sp>
      <p:pic>
        <p:nvPicPr>
          <p:cNvPr id="1009" name="Google Shape;1009;p64"/>
          <p:cNvPicPr preferRelativeResize="0"/>
          <p:nvPr/>
        </p:nvPicPr>
        <p:blipFill rotWithShape="1">
          <a:blip r:embed="rId3">
            <a:alphaModFix/>
          </a:blip>
          <a:srcRect b="0" l="0" r="82955" t="0"/>
          <a:stretch/>
        </p:blipFill>
        <p:spPr>
          <a:xfrm>
            <a:off x="2005554" y="2530063"/>
            <a:ext cx="245706" cy="226800"/>
          </a:xfrm>
          <a:prstGeom prst="rect">
            <a:avLst/>
          </a:prstGeom>
          <a:noFill/>
          <a:ln>
            <a:noFill/>
          </a:ln>
        </p:spPr>
      </p:pic>
      <p:pic>
        <p:nvPicPr>
          <p:cNvPr id="1010" name="Google Shape;1010;p64"/>
          <p:cNvPicPr preferRelativeResize="0"/>
          <p:nvPr/>
        </p:nvPicPr>
        <p:blipFill rotWithShape="1">
          <a:blip r:embed="rId3">
            <a:alphaModFix/>
          </a:blip>
          <a:srcRect b="0" l="0" r="82955" t="0"/>
          <a:stretch/>
        </p:blipFill>
        <p:spPr>
          <a:xfrm>
            <a:off x="1962988" y="3206260"/>
            <a:ext cx="245706" cy="226800"/>
          </a:xfrm>
          <a:prstGeom prst="rect">
            <a:avLst/>
          </a:prstGeom>
          <a:noFill/>
          <a:ln>
            <a:noFill/>
          </a:ln>
        </p:spPr>
      </p:pic>
      <p:pic>
        <p:nvPicPr>
          <p:cNvPr id="1011" name="Google Shape;1011;p64"/>
          <p:cNvPicPr preferRelativeResize="0"/>
          <p:nvPr/>
        </p:nvPicPr>
        <p:blipFill>
          <a:blip r:embed="rId5">
            <a:alphaModFix/>
          </a:blip>
          <a:stretch>
            <a:fillRect/>
          </a:stretch>
        </p:blipFill>
        <p:spPr>
          <a:xfrm>
            <a:off x="7131931" y="4020425"/>
            <a:ext cx="275775" cy="275775"/>
          </a:xfrm>
          <a:prstGeom prst="rect">
            <a:avLst/>
          </a:prstGeom>
          <a:noFill/>
          <a:ln>
            <a:noFill/>
          </a:ln>
        </p:spPr>
      </p:pic>
      <p:sp>
        <p:nvSpPr>
          <p:cNvPr id="1012" name="Google Shape;1012;p64"/>
          <p:cNvSpPr txBox="1"/>
          <p:nvPr/>
        </p:nvSpPr>
        <p:spPr>
          <a:xfrm>
            <a:off x="7333080" y="3991451"/>
            <a:ext cx="666600" cy="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000">
                <a:solidFill>
                  <a:schemeClr val="dk2"/>
                </a:solidFill>
                <a:latin typeface="DM Sans"/>
                <a:ea typeface="DM Sans"/>
                <a:cs typeface="DM Sans"/>
                <a:sym typeface="DM Sans"/>
              </a:rPr>
              <a:t>Photon</a:t>
            </a:r>
            <a:endParaRPr i="1" sz="1000">
              <a:solidFill>
                <a:schemeClr val="dk2"/>
              </a:solidFill>
              <a:latin typeface="DM Sans"/>
              <a:ea typeface="DM Sans"/>
              <a:cs typeface="DM Sans"/>
              <a:sym typeface="DM Sans"/>
            </a:endParaRPr>
          </a:p>
        </p:txBody>
      </p:sp>
      <p:sp>
        <p:nvSpPr>
          <p:cNvPr id="1013" name="Google Shape;1013;p64"/>
          <p:cNvSpPr/>
          <p:nvPr/>
        </p:nvSpPr>
        <p:spPr>
          <a:xfrm>
            <a:off x="1314050" y="4134198"/>
            <a:ext cx="1222800" cy="452700"/>
          </a:xfrm>
          <a:prstGeom prst="roundRect">
            <a:avLst>
              <a:gd fmla="val 15352"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Metastore</a:t>
            </a:r>
            <a:br>
              <a:rPr lang="en">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(Catalogs)</a:t>
            </a:r>
            <a:endParaRPr sz="1600">
              <a:solidFill>
                <a:schemeClr val="dk1"/>
              </a:solidFill>
              <a:latin typeface="DM Sans Medium"/>
              <a:ea typeface="DM Sans Medium"/>
              <a:cs typeface="DM Sans Medium"/>
              <a:sym typeface="DM Sans Medium"/>
            </a:endParaRPr>
          </a:p>
        </p:txBody>
      </p:sp>
      <p:sp>
        <p:nvSpPr>
          <p:cNvPr id="1000" name="Google Shape;1000;p64"/>
          <p:cNvSpPr/>
          <p:nvPr/>
        </p:nvSpPr>
        <p:spPr>
          <a:xfrm>
            <a:off x="4098786" y="5215782"/>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Web App</a:t>
            </a:r>
            <a:br>
              <a:rPr lang="en">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Portal, REST API</a:t>
            </a:r>
            <a:endParaRPr sz="1200">
              <a:solidFill>
                <a:schemeClr val="accent1"/>
              </a:solidFill>
              <a:latin typeface="DM Sans"/>
              <a:ea typeface="DM Sans"/>
              <a:cs typeface="DM Sans"/>
              <a:sym typeface="DM Sans"/>
            </a:endParaRPr>
          </a:p>
        </p:txBody>
      </p:sp>
      <p:sp>
        <p:nvSpPr>
          <p:cNvPr id="1014" name="Google Shape;1014;p64"/>
          <p:cNvSpPr/>
          <p:nvPr/>
        </p:nvSpPr>
        <p:spPr>
          <a:xfrm>
            <a:off x="2706423" y="5211898"/>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Compute Manager</a:t>
            </a:r>
            <a:endParaRPr>
              <a:solidFill>
                <a:schemeClr val="accent1"/>
              </a:solidFill>
              <a:latin typeface="DM Sans"/>
              <a:ea typeface="DM Sans"/>
              <a:cs typeface="DM Sans"/>
              <a:sym typeface="DM Sans"/>
            </a:endParaRPr>
          </a:p>
        </p:txBody>
      </p:sp>
      <p:sp>
        <p:nvSpPr>
          <p:cNvPr id="1015" name="Google Shape;1015;p64"/>
          <p:cNvSpPr/>
          <p:nvPr/>
        </p:nvSpPr>
        <p:spPr>
          <a:xfrm>
            <a:off x="1314050" y="4674611"/>
            <a:ext cx="1222800" cy="452700"/>
          </a:xfrm>
          <a:prstGeom prst="roundRect">
            <a:avLst>
              <a:gd fmla="val 16490"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Access control</a:t>
            </a:r>
            <a:endParaRPr sz="1800">
              <a:solidFill>
                <a:schemeClr val="dk1"/>
              </a:solidFill>
              <a:latin typeface="DM Sans Medium"/>
              <a:ea typeface="DM Sans Medium"/>
              <a:cs typeface="DM Sans Medium"/>
              <a:sym typeface="DM Sans Medium"/>
            </a:endParaRPr>
          </a:p>
        </p:txBody>
      </p:sp>
      <p:sp>
        <p:nvSpPr>
          <p:cNvPr id="1016" name="Google Shape;1016;p64"/>
          <p:cNvSpPr/>
          <p:nvPr/>
        </p:nvSpPr>
        <p:spPr>
          <a:xfrm>
            <a:off x="1314050" y="5215024"/>
            <a:ext cx="1222800" cy="452700"/>
          </a:xfrm>
          <a:prstGeom prst="roundRect">
            <a:avLst>
              <a:gd fmla="val 16490"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Data/Lineage Explorer</a:t>
            </a:r>
            <a:endParaRPr sz="1800">
              <a:solidFill>
                <a:schemeClr val="dk1"/>
              </a:solidFill>
              <a:latin typeface="DM Sans Medium"/>
              <a:ea typeface="DM Sans Medium"/>
              <a:cs typeface="DM Sans Medium"/>
              <a:sym typeface="DM Sans Medium"/>
            </a:endParaRPr>
          </a:p>
        </p:txBody>
      </p:sp>
      <p:sp>
        <p:nvSpPr>
          <p:cNvPr id="1017" name="Google Shape;1017;p64"/>
          <p:cNvSpPr txBox="1"/>
          <p:nvPr/>
        </p:nvSpPr>
        <p:spPr>
          <a:xfrm>
            <a:off x="84269" y="4638621"/>
            <a:ext cx="8844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5A300"/>
                </a:solidFill>
                <a:latin typeface="DM Sans Medium"/>
                <a:ea typeface="DM Sans Medium"/>
                <a:cs typeface="DM Sans Medium"/>
                <a:sym typeface="DM Sans Medium"/>
              </a:rPr>
              <a:t>Unity</a:t>
            </a:r>
            <a:br>
              <a:rPr lang="en" sz="1200">
                <a:solidFill>
                  <a:srgbClr val="F5A300"/>
                </a:solidFill>
                <a:latin typeface="DM Sans Medium"/>
                <a:ea typeface="DM Sans Medium"/>
                <a:cs typeface="DM Sans Medium"/>
                <a:sym typeface="DM Sans Medium"/>
              </a:rPr>
            </a:br>
            <a:r>
              <a:rPr lang="en" sz="1200">
                <a:solidFill>
                  <a:srgbClr val="F5A300"/>
                </a:solidFill>
                <a:latin typeface="DM Sans Medium"/>
                <a:ea typeface="DM Sans Medium"/>
                <a:cs typeface="DM Sans Medium"/>
                <a:sym typeface="DM Sans Medium"/>
              </a:rPr>
              <a:t>Catalog</a:t>
            </a:r>
            <a:endParaRPr sz="1200">
              <a:solidFill>
                <a:srgbClr val="F5A300"/>
              </a:solidFill>
              <a:latin typeface="DM Sans Medium"/>
              <a:ea typeface="DM Sans Medium"/>
              <a:cs typeface="DM Sans Medium"/>
              <a:sym typeface="DM Sans Medium"/>
            </a:endParaRPr>
          </a:p>
        </p:txBody>
      </p:sp>
      <p:sp>
        <p:nvSpPr>
          <p:cNvPr id="1018" name="Google Shape;1018;p64"/>
          <p:cNvSpPr/>
          <p:nvPr/>
        </p:nvSpPr>
        <p:spPr>
          <a:xfrm>
            <a:off x="2706423" y="4675380"/>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Jobs</a:t>
            </a:r>
            <a:r>
              <a:rPr lang="en">
                <a:solidFill>
                  <a:schemeClr val="accent1"/>
                </a:solidFill>
                <a:latin typeface="DM Sans"/>
                <a:ea typeface="DM Sans"/>
                <a:cs typeface="DM Sans"/>
                <a:sym typeface="DM Sans"/>
              </a:rPr>
              <a:t> Manager</a:t>
            </a:r>
            <a:endParaRPr>
              <a:solidFill>
                <a:schemeClr val="accent1"/>
              </a:solidFill>
              <a:latin typeface="DM Sans"/>
              <a:ea typeface="DM Sans"/>
              <a:cs typeface="DM Sans"/>
              <a:sym typeface="DM Sans"/>
            </a:endParaRPr>
          </a:p>
        </p:txBody>
      </p:sp>
      <p:sp>
        <p:nvSpPr>
          <p:cNvPr id="1019" name="Google Shape;1019;p64"/>
          <p:cNvSpPr/>
          <p:nvPr/>
        </p:nvSpPr>
        <p:spPr>
          <a:xfrm>
            <a:off x="4098786" y="4675363"/>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Query </a:t>
            </a:r>
            <a:br>
              <a:rPr lang="en">
                <a:solidFill>
                  <a:schemeClr val="accent1"/>
                </a:solidFill>
                <a:latin typeface="DM Sans"/>
                <a:ea typeface="DM Sans"/>
                <a:cs typeface="DM Sans"/>
                <a:sym typeface="DM Sans"/>
              </a:rPr>
            </a:br>
            <a:r>
              <a:rPr lang="en">
                <a:solidFill>
                  <a:schemeClr val="accent1"/>
                </a:solidFill>
                <a:latin typeface="DM Sans"/>
                <a:ea typeface="DM Sans"/>
                <a:cs typeface="DM Sans"/>
                <a:sym typeface="DM Sans"/>
              </a:rPr>
              <a:t>Manager</a:t>
            </a:r>
            <a:endParaRPr>
              <a:solidFill>
                <a:schemeClr val="accent1"/>
              </a:solidFill>
              <a:latin typeface="DM Sans"/>
              <a:ea typeface="DM Sans"/>
              <a:cs typeface="DM Sans"/>
              <a:sym typeface="DM Sans"/>
            </a:endParaRPr>
          </a:p>
        </p:txBody>
      </p:sp>
      <p:cxnSp>
        <p:nvCxnSpPr>
          <p:cNvPr id="1020" name="Google Shape;1020;p64"/>
          <p:cNvCxnSpPr>
            <a:stCxn id="999" idx="3"/>
            <a:endCxn id="995" idx="2"/>
          </p:cNvCxnSpPr>
          <p:nvPr/>
        </p:nvCxnSpPr>
        <p:spPr>
          <a:xfrm flipH="1" rot="10800000">
            <a:off x="8523700" y="5582989"/>
            <a:ext cx="1764900" cy="596700"/>
          </a:xfrm>
          <a:prstGeom prst="bentConnector2">
            <a:avLst/>
          </a:prstGeom>
          <a:noFill/>
          <a:ln cap="flat" cmpd="sng" w="19050">
            <a:solidFill>
              <a:schemeClr val="accent2"/>
            </a:solidFill>
            <a:prstDash val="solid"/>
            <a:round/>
            <a:headEnd len="med" w="med" type="none"/>
            <a:tailEnd len="med" w="med" type="triangle"/>
          </a:ln>
        </p:spPr>
      </p:cxnSp>
      <p:sp>
        <p:nvSpPr>
          <p:cNvPr id="1021" name="Google Shape;1021;p64"/>
          <p:cNvSpPr txBox="1"/>
          <p:nvPr/>
        </p:nvSpPr>
        <p:spPr>
          <a:xfrm>
            <a:off x="8651348" y="5865100"/>
            <a:ext cx="549600" cy="43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300"/>
              </a:spcAft>
              <a:buNone/>
            </a:pPr>
            <a:r>
              <a:rPr i="1" lang="en">
                <a:solidFill>
                  <a:schemeClr val="accent2"/>
                </a:solidFill>
                <a:latin typeface="DM Sans"/>
                <a:ea typeface="DM Sans"/>
                <a:cs typeface="DM Sans"/>
                <a:sym typeface="DM Sans"/>
              </a:rPr>
              <a:t>SSO</a:t>
            </a:r>
            <a:endParaRPr i="1" sz="1200">
              <a:solidFill>
                <a:schemeClr val="accent2"/>
              </a:solidFill>
              <a:latin typeface="DM Sans"/>
              <a:ea typeface="DM Sans"/>
              <a:cs typeface="DM Sans"/>
              <a:sym typeface="DM Sans"/>
            </a:endParaRPr>
          </a:p>
        </p:txBody>
      </p:sp>
      <p:pic>
        <p:nvPicPr>
          <p:cNvPr id="1022" name="Google Shape;1022;p64"/>
          <p:cNvPicPr preferRelativeResize="0"/>
          <p:nvPr/>
        </p:nvPicPr>
        <p:blipFill rotWithShape="1">
          <a:blip r:embed="rId3">
            <a:alphaModFix/>
          </a:blip>
          <a:srcRect b="0" l="0" r="82955" t="0"/>
          <a:stretch/>
        </p:blipFill>
        <p:spPr>
          <a:xfrm>
            <a:off x="6722135" y="2495836"/>
            <a:ext cx="245706" cy="226800"/>
          </a:xfrm>
          <a:prstGeom prst="rect">
            <a:avLst/>
          </a:prstGeom>
          <a:noFill/>
          <a:ln>
            <a:noFill/>
          </a:ln>
        </p:spPr>
      </p:pic>
      <p:sp>
        <p:nvSpPr>
          <p:cNvPr id="1023" name="Google Shape;1023;p64"/>
          <p:cNvSpPr/>
          <p:nvPr/>
        </p:nvSpPr>
        <p:spPr>
          <a:xfrm>
            <a:off x="2704162" y="3599849"/>
            <a:ext cx="1222800" cy="452700"/>
          </a:xfrm>
          <a:prstGeom prst="roundRect">
            <a:avLst>
              <a:gd fmla="val 16490"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Assistant</a:t>
            </a:r>
            <a:endParaRPr sz="1800">
              <a:solidFill>
                <a:schemeClr val="dk1"/>
              </a:solidFill>
              <a:latin typeface="DM Sans Medium"/>
              <a:ea typeface="DM Sans Medium"/>
              <a:cs typeface="DM Sans Medium"/>
              <a:sym typeface="DM Sans Medium"/>
            </a:endParaRPr>
          </a:p>
        </p:txBody>
      </p:sp>
      <p:sp>
        <p:nvSpPr>
          <p:cNvPr id="1024" name="Google Shape;1024;p64"/>
          <p:cNvSpPr/>
          <p:nvPr/>
        </p:nvSpPr>
        <p:spPr>
          <a:xfrm>
            <a:off x="1314062" y="3599849"/>
            <a:ext cx="1222800" cy="452700"/>
          </a:xfrm>
          <a:prstGeom prst="roundRect">
            <a:avLst>
              <a:gd fmla="val 16490"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DatabricksIQ</a:t>
            </a:r>
            <a:endParaRPr sz="1800">
              <a:solidFill>
                <a:schemeClr val="dk1"/>
              </a:solidFill>
              <a:latin typeface="DM Sans Medium"/>
              <a:ea typeface="DM Sans Medium"/>
              <a:cs typeface="DM Sans Medium"/>
              <a:sym typeface="DM Sans Medium"/>
            </a:endParaRPr>
          </a:p>
        </p:txBody>
      </p:sp>
      <p:sp>
        <p:nvSpPr>
          <p:cNvPr id="1025" name="Google Shape;1025;p64"/>
          <p:cNvSpPr txBox="1"/>
          <p:nvPr/>
        </p:nvSpPr>
        <p:spPr>
          <a:xfrm>
            <a:off x="-64231" y="3552914"/>
            <a:ext cx="1181400" cy="5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3"/>
                </a:solidFill>
                <a:latin typeface="DM Sans Medium"/>
                <a:ea typeface="DM Sans Medium"/>
                <a:cs typeface="DM Sans Medium"/>
                <a:sym typeface="DM Sans Medium"/>
              </a:rPr>
              <a:t>Intelligence </a:t>
            </a:r>
            <a:br>
              <a:rPr lang="en" sz="1200">
                <a:solidFill>
                  <a:schemeClr val="accent3"/>
                </a:solidFill>
                <a:latin typeface="DM Sans Medium"/>
                <a:ea typeface="DM Sans Medium"/>
                <a:cs typeface="DM Sans Medium"/>
                <a:sym typeface="DM Sans Medium"/>
              </a:rPr>
            </a:br>
            <a:r>
              <a:rPr lang="en" sz="1200">
                <a:solidFill>
                  <a:schemeClr val="accent3"/>
                </a:solidFill>
                <a:latin typeface="DM Sans Medium"/>
                <a:ea typeface="DM Sans Medium"/>
                <a:cs typeface="DM Sans Medium"/>
                <a:sym typeface="DM Sans Medium"/>
              </a:rPr>
              <a:t>Engine</a:t>
            </a:r>
            <a:endParaRPr sz="1200">
              <a:solidFill>
                <a:schemeClr val="accent3"/>
              </a:solidFill>
              <a:latin typeface="DM Sans Medium"/>
              <a:ea typeface="DM Sans Medium"/>
              <a:cs typeface="DM Sans Medium"/>
              <a:sym typeface="DM Sans Medium"/>
            </a:endParaRPr>
          </a:p>
        </p:txBody>
      </p:sp>
      <p:sp>
        <p:nvSpPr>
          <p:cNvPr id="1026" name="Google Shape;1026;p64"/>
          <p:cNvSpPr txBox="1"/>
          <p:nvPr/>
        </p:nvSpPr>
        <p:spPr>
          <a:xfrm>
            <a:off x="3570394" y="5735796"/>
            <a:ext cx="8844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5"/>
                </a:solidFill>
                <a:latin typeface="DM Sans Medium"/>
                <a:ea typeface="DM Sans Medium"/>
                <a:cs typeface="DM Sans Medium"/>
                <a:sym typeface="DM Sans Medium"/>
              </a:rPr>
              <a:t>Platform Services</a:t>
            </a:r>
            <a:endParaRPr sz="1200">
              <a:solidFill>
                <a:schemeClr val="accent5"/>
              </a:solidFill>
              <a:latin typeface="DM Sans Medium"/>
              <a:ea typeface="DM Sans Medium"/>
              <a:cs typeface="DM Sans Medium"/>
              <a:sym typeface="DM Sans Medium"/>
            </a:endParaRPr>
          </a:p>
        </p:txBody>
      </p:sp>
      <p:sp>
        <p:nvSpPr>
          <p:cNvPr id="1027" name="Google Shape;1027;p64"/>
          <p:cNvSpPr txBox="1"/>
          <p:nvPr/>
        </p:nvSpPr>
        <p:spPr>
          <a:xfrm>
            <a:off x="7824451" y="6324600"/>
            <a:ext cx="732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pic>
        <p:nvPicPr>
          <p:cNvPr id="999" name="Google Shape;999;p64"/>
          <p:cNvPicPr preferRelativeResize="0"/>
          <p:nvPr/>
        </p:nvPicPr>
        <p:blipFill>
          <a:blip r:embed="rId6">
            <a:alphaModFix/>
          </a:blip>
          <a:stretch>
            <a:fillRect/>
          </a:stretch>
        </p:blipFill>
        <p:spPr>
          <a:xfrm>
            <a:off x="7857100" y="5846389"/>
            <a:ext cx="666600" cy="666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1" name="Shape 1031"/>
        <p:cNvGrpSpPr/>
        <p:nvPr/>
      </p:nvGrpSpPr>
      <p:grpSpPr>
        <a:xfrm>
          <a:off x="0" y="0"/>
          <a:ext cx="0" cy="0"/>
          <a:chOff x="0" y="0"/>
          <a:chExt cx="0" cy="0"/>
        </a:xfrm>
      </p:grpSpPr>
      <p:sp>
        <p:nvSpPr>
          <p:cNvPr id="1032" name="Google Shape;1032;p65"/>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SQL Warehouse</a:t>
            </a:r>
            <a:endParaRPr/>
          </a:p>
        </p:txBody>
      </p:sp>
      <p:sp>
        <p:nvSpPr>
          <p:cNvPr id="1033" name="Google Shape;1033;p6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66"/>
          <p:cNvSpPr/>
          <p:nvPr/>
        </p:nvSpPr>
        <p:spPr>
          <a:xfrm>
            <a:off x="6590900" y="2350850"/>
            <a:ext cx="2754000" cy="2261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  Classic Compute</a:t>
            </a:r>
            <a:endParaRPr sz="2000">
              <a:solidFill>
                <a:schemeClr val="accent1"/>
              </a:solidFill>
              <a:latin typeface="DM Sans Medium"/>
              <a:ea typeface="DM Sans Medium"/>
              <a:cs typeface="DM Sans Medium"/>
              <a:sym typeface="DM Sans Medium"/>
            </a:endParaRPr>
          </a:p>
        </p:txBody>
      </p:sp>
      <p:pic>
        <p:nvPicPr>
          <p:cNvPr id="1039" name="Google Shape;1039;p66"/>
          <p:cNvPicPr preferRelativeResize="0"/>
          <p:nvPr/>
        </p:nvPicPr>
        <p:blipFill rotWithShape="1">
          <a:blip r:embed="rId3">
            <a:alphaModFix/>
          </a:blip>
          <a:srcRect b="0" l="0" r="82955" t="0"/>
          <a:stretch/>
        </p:blipFill>
        <p:spPr>
          <a:xfrm>
            <a:off x="6722135" y="2495836"/>
            <a:ext cx="245706" cy="226800"/>
          </a:xfrm>
          <a:prstGeom prst="rect">
            <a:avLst/>
          </a:prstGeom>
          <a:noFill/>
          <a:ln>
            <a:noFill/>
          </a:ln>
        </p:spPr>
      </p:pic>
      <p:sp>
        <p:nvSpPr>
          <p:cNvPr id="1040" name="Google Shape;1040;p66"/>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a:t>
            </a:r>
            <a:endParaRPr sz="3600"/>
          </a:p>
        </p:txBody>
      </p:sp>
      <p:sp>
        <p:nvSpPr>
          <p:cNvPr id="1041" name="Google Shape;1041;p66"/>
          <p:cNvSpPr/>
          <p:nvPr/>
        </p:nvSpPr>
        <p:spPr>
          <a:xfrm>
            <a:off x="6399800" y="1714500"/>
            <a:ext cx="45849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042" name="Google Shape;1042;p66"/>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SQL - SQL Warehouse</a:t>
            </a:r>
            <a:endParaRPr/>
          </a:p>
        </p:txBody>
      </p:sp>
      <p:sp>
        <p:nvSpPr>
          <p:cNvPr id="1043" name="Google Shape;1043;p66"/>
          <p:cNvSpPr/>
          <p:nvPr/>
        </p:nvSpPr>
        <p:spPr>
          <a:xfrm>
            <a:off x="2042775" y="1714500"/>
            <a:ext cx="34329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66"/>
          <p:cNvSpPr/>
          <p:nvPr/>
        </p:nvSpPr>
        <p:spPr>
          <a:xfrm>
            <a:off x="7859398" y="4672497"/>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66"/>
          <p:cNvSpPr txBox="1"/>
          <p:nvPr/>
        </p:nvSpPr>
        <p:spPr>
          <a:xfrm>
            <a:off x="6766200" y="3849950"/>
            <a:ext cx="2343300" cy="431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i="1" lang="en" sz="1200">
                <a:solidFill>
                  <a:srgbClr val="1B5161"/>
                </a:solidFill>
                <a:latin typeface="DM Sans"/>
                <a:ea typeface="DM Sans"/>
                <a:cs typeface="DM Sans"/>
                <a:sym typeface="DM Sans"/>
              </a:rPr>
              <a:t>SQL Warehouse</a:t>
            </a:r>
            <a:br>
              <a:rPr i="1" lang="en" sz="1200">
                <a:solidFill>
                  <a:srgbClr val="1B5161"/>
                </a:solidFill>
                <a:latin typeface="DM Sans"/>
                <a:ea typeface="DM Sans"/>
                <a:cs typeface="DM Sans"/>
                <a:sym typeface="DM Sans"/>
              </a:rPr>
            </a:br>
            <a:r>
              <a:rPr i="1" lang="en" sz="1200">
                <a:solidFill>
                  <a:srgbClr val="1B5161"/>
                </a:solidFill>
                <a:latin typeface="DM Sans"/>
                <a:ea typeface="DM Sans"/>
                <a:cs typeface="DM Sans"/>
                <a:sym typeface="DM Sans"/>
              </a:rPr>
              <a:t>(load balanced clusters)</a:t>
            </a:r>
            <a:endParaRPr i="1" sz="1200">
              <a:solidFill>
                <a:srgbClr val="1B5161"/>
              </a:solidFill>
              <a:latin typeface="DM Sans"/>
              <a:ea typeface="DM Sans"/>
              <a:cs typeface="DM Sans"/>
              <a:sym typeface="DM Sans"/>
            </a:endParaRPr>
          </a:p>
        </p:txBody>
      </p:sp>
      <p:sp>
        <p:nvSpPr>
          <p:cNvPr id="1046" name="Google Shape;1046;p66"/>
          <p:cNvSpPr/>
          <p:nvPr/>
        </p:nvSpPr>
        <p:spPr>
          <a:xfrm>
            <a:off x="1114225" y="1714500"/>
            <a:ext cx="45849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7" name="Google Shape;1047;p66"/>
          <p:cNvPicPr preferRelativeResize="0"/>
          <p:nvPr/>
        </p:nvPicPr>
        <p:blipFill rotWithShape="1">
          <a:blip r:embed="rId3">
            <a:alphaModFix/>
          </a:blip>
          <a:srcRect b="0" l="0" r="0" t="0"/>
          <a:stretch/>
        </p:blipFill>
        <p:spPr>
          <a:xfrm>
            <a:off x="2305897" y="1776743"/>
            <a:ext cx="2149050" cy="338050"/>
          </a:xfrm>
          <a:prstGeom prst="rect">
            <a:avLst/>
          </a:prstGeom>
          <a:noFill/>
          <a:ln>
            <a:noFill/>
          </a:ln>
        </p:spPr>
      </p:pic>
      <p:sp>
        <p:nvSpPr>
          <p:cNvPr id="1048" name="Google Shape;1048;p66"/>
          <p:cNvSpPr/>
          <p:nvPr/>
        </p:nvSpPr>
        <p:spPr>
          <a:xfrm>
            <a:off x="1235225" y="3054825"/>
            <a:ext cx="4342800" cy="25281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sp>
        <p:nvSpPr>
          <p:cNvPr id="1049" name="Google Shape;1049;p66"/>
          <p:cNvSpPr/>
          <p:nvPr/>
        </p:nvSpPr>
        <p:spPr>
          <a:xfrm>
            <a:off x="1235225" y="2350850"/>
            <a:ext cx="43428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Account Console</a:t>
            </a:r>
            <a:endParaRPr sz="2000">
              <a:solidFill>
                <a:schemeClr val="accent1"/>
              </a:solidFill>
              <a:latin typeface="DM Sans Medium"/>
              <a:ea typeface="DM Sans Medium"/>
              <a:cs typeface="DM Sans Medium"/>
              <a:sym typeface="DM Sans Medium"/>
            </a:endParaRPr>
          </a:p>
        </p:txBody>
      </p:sp>
      <p:pic>
        <p:nvPicPr>
          <p:cNvPr id="1050" name="Google Shape;1050;p66"/>
          <p:cNvPicPr preferRelativeResize="0"/>
          <p:nvPr/>
        </p:nvPicPr>
        <p:blipFill rotWithShape="1">
          <a:blip r:embed="rId3">
            <a:alphaModFix/>
          </a:blip>
          <a:srcRect b="0" l="0" r="82955" t="0"/>
          <a:stretch/>
        </p:blipFill>
        <p:spPr>
          <a:xfrm>
            <a:off x="2109488" y="2530063"/>
            <a:ext cx="245706" cy="226800"/>
          </a:xfrm>
          <a:prstGeom prst="rect">
            <a:avLst/>
          </a:prstGeom>
          <a:noFill/>
          <a:ln>
            <a:noFill/>
          </a:ln>
        </p:spPr>
      </p:pic>
      <p:pic>
        <p:nvPicPr>
          <p:cNvPr id="1051" name="Google Shape;1051;p66"/>
          <p:cNvPicPr preferRelativeResize="0"/>
          <p:nvPr/>
        </p:nvPicPr>
        <p:blipFill rotWithShape="1">
          <a:blip r:embed="rId3">
            <a:alphaModFix/>
          </a:blip>
          <a:srcRect b="0" l="0" r="82955" t="0"/>
          <a:stretch/>
        </p:blipFill>
        <p:spPr>
          <a:xfrm>
            <a:off x="2305888" y="3199747"/>
            <a:ext cx="245706" cy="226800"/>
          </a:xfrm>
          <a:prstGeom prst="rect">
            <a:avLst/>
          </a:prstGeom>
          <a:noFill/>
          <a:ln>
            <a:noFill/>
          </a:ln>
        </p:spPr>
      </p:pic>
      <p:sp>
        <p:nvSpPr>
          <p:cNvPr id="1052" name="Google Shape;1052;p66"/>
          <p:cNvSpPr/>
          <p:nvPr/>
        </p:nvSpPr>
        <p:spPr>
          <a:xfrm>
            <a:off x="6916725" y="3231525"/>
            <a:ext cx="2022000" cy="670800"/>
          </a:xfrm>
          <a:prstGeom prst="rect">
            <a:avLst/>
          </a:prstGeom>
          <a:no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66"/>
          <p:cNvPicPr preferRelativeResize="0"/>
          <p:nvPr/>
        </p:nvPicPr>
        <p:blipFill>
          <a:blip r:embed="rId4">
            <a:alphaModFix/>
          </a:blip>
          <a:stretch>
            <a:fillRect/>
          </a:stretch>
        </p:blipFill>
        <p:spPr>
          <a:xfrm>
            <a:off x="7027750" y="3230632"/>
            <a:ext cx="631852" cy="670800"/>
          </a:xfrm>
          <a:prstGeom prst="rect">
            <a:avLst/>
          </a:prstGeom>
          <a:noFill/>
          <a:ln>
            <a:noFill/>
          </a:ln>
        </p:spPr>
      </p:pic>
      <p:pic>
        <p:nvPicPr>
          <p:cNvPr id="1054" name="Google Shape;1054;p66"/>
          <p:cNvPicPr preferRelativeResize="0"/>
          <p:nvPr/>
        </p:nvPicPr>
        <p:blipFill>
          <a:blip r:embed="rId4">
            <a:alphaModFix/>
          </a:blip>
          <a:stretch>
            <a:fillRect/>
          </a:stretch>
        </p:blipFill>
        <p:spPr>
          <a:xfrm>
            <a:off x="7605323" y="3230632"/>
            <a:ext cx="631852" cy="670800"/>
          </a:xfrm>
          <a:prstGeom prst="rect">
            <a:avLst/>
          </a:prstGeom>
          <a:noFill/>
          <a:ln>
            <a:noFill/>
          </a:ln>
        </p:spPr>
      </p:pic>
      <p:pic>
        <p:nvPicPr>
          <p:cNvPr id="1055" name="Google Shape;1055;p66"/>
          <p:cNvPicPr preferRelativeResize="0"/>
          <p:nvPr/>
        </p:nvPicPr>
        <p:blipFill>
          <a:blip r:embed="rId4">
            <a:alphaModFix/>
          </a:blip>
          <a:stretch>
            <a:fillRect/>
          </a:stretch>
        </p:blipFill>
        <p:spPr>
          <a:xfrm>
            <a:off x="8182897" y="3230632"/>
            <a:ext cx="631852" cy="670800"/>
          </a:xfrm>
          <a:prstGeom prst="rect">
            <a:avLst/>
          </a:prstGeom>
          <a:noFill/>
          <a:ln>
            <a:noFill/>
          </a:ln>
        </p:spPr>
      </p:pic>
      <p:sp>
        <p:nvSpPr>
          <p:cNvPr id="1056" name="Google Shape;1056;p66"/>
          <p:cNvSpPr/>
          <p:nvPr/>
        </p:nvSpPr>
        <p:spPr>
          <a:xfrm>
            <a:off x="6590900" y="4959525"/>
            <a:ext cx="27540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sp>
        <p:nvSpPr>
          <p:cNvPr id="1057" name="Google Shape;1057;p66"/>
          <p:cNvSpPr/>
          <p:nvPr/>
        </p:nvSpPr>
        <p:spPr>
          <a:xfrm>
            <a:off x="9690752" y="2349725"/>
            <a:ext cx="1195800" cy="2364600"/>
          </a:xfrm>
          <a:prstGeom prst="roundRect">
            <a:avLst>
              <a:gd fmla="val 10693"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Other data sources</a:t>
            </a:r>
            <a:endParaRPr sz="2000">
              <a:solidFill>
                <a:schemeClr val="accent1"/>
              </a:solidFill>
              <a:latin typeface="DM Sans Medium"/>
              <a:ea typeface="DM Sans Medium"/>
              <a:cs typeface="DM Sans Medium"/>
              <a:sym typeface="DM Sans Medium"/>
            </a:endParaRPr>
          </a:p>
        </p:txBody>
      </p:sp>
      <p:sp>
        <p:nvSpPr>
          <p:cNvPr id="1058" name="Google Shape;1058;p66"/>
          <p:cNvSpPr/>
          <p:nvPr/>
        </p:nvSpPr>
        <p:spPr>
          <a:xfrm>
            <a:off x="9690450" y="4959525"/>
            <a:ext cx="11964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ID Provider</a:t>
            </a:r>
            <a:endParaRPr sz="2000">
              <a:solidFill>
                <a:schemeClr val="accent1"/>
              </a:solidFill>
              <a:latin typeface="DM Sans Medium"/>
              <a:ea typeface="DM Sans Medium"/>
              <a:cs typeface="DM Sans Medium"/>
              <a:sym typeface="DM Sans Medium"/>
            </a:endParaRPr>
          </a:p>
        </p:txBody>
      </p:sp>
      <p:sp>
        <p:nvSpPr>
          <p:cNvPr id="1059" name="Google Shape;1059;p66"/>
          <p:cNvSpPr/>
          <p:nvPr/>
        </p:nvSpPr>
        <p:spPr>
          <a:xfrm rot="-5393414">
            <a:off x="9431329" y="3746100"/>
            <a:ext cx="1566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66"/>
          <p:cNvSpPr/>
          <p:nvPr/>
        </p:nvSpPr>
        <p:spPr>
          <a:xfrm rot="10800000">
            <a:off x="5699121" y="3784950"/>
            <a:ext cx="677400" cy="149100"/>
          </a:xfrm>
          <a:prstGeom prst="left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66"/>
          <p:cNvSpPr/>
          <p:nvPr/>
        </p:nvSpPr>
        <p:spPr>
          <a:xfrm>
            <a:off x="2488075" y="4136200"/>
            <a:ext cx="2859000" cy="1283100"/>
          </a:xfrm>
          <a:prstGeom prst="roundRect">
            <a:avLst>
              <a:gd fmla="val 6143"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Platform Services</a:t>
            </a:r>
            <a:endParaRPr sz="1600">
              <a:solidFill>
                <a:schemeClr val="accent1"/>
              </a:solidFill>
              <a:latin typeface="DM Sans Medium"/>
              <a:ea typeface="DM Sans Medium"/>
              <a:cs typeface="DM Sans Medium"/>
              <a:sym typeface="DM Sans Medium"/>
            </a:endParaRPr>
          </a:p>
        </p:txBody>
      </p:sp>
      <p:sp>
        <p:nvSpPr>
          <p:cNvPr id="1062" name="Google Shape;1062;p66"/>
          <p:cNvSpPr/>
          <p:nvPr/>
        </p:nvSpPr>
        <p:spPr>
          <a:xfrm>
            <a:off x="1432250" y="4136100"/>
            <a:ext cx="976800" cy="1283100"/>
          </a:xfrm>
          <a:prstGeom prst="roundRect">
            <a:avLst>
              <a:gd fmla="val 8689"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Unity Catalog</a:t>
            </a:r>
            <a:endParaRPr sz="1600">
              <a:solidFill>
                <a:schemeClr val="dk1"/>
              </a:solidFill>
              <a:latin typeface="DM Sans Medium"/>
              <a:ea typeface="DM Sans Medium"/>
              <a:cs typeface="DM Sans Medium"/>
              <a:sym typeface="DM Sans Medium"/>
            </a:endParaRPr>
          </a:p>
        </p:txBody>
      </p:sp>
      <p:sp>
        <p:nvSpPr>
          <p:cNvPr id="1063" name="Google Shape;1063;p66"/>
          <p:cNvSpPr/>
          <p:nvPr/>
        </p:nvSpPr>
        <p:spPr>
          <a:xfrm>
            <a:off x="1432250" y="3643200"/>
            <a:ext cx="3914700" cy="419700"/>
          </a:xfrm>
          <a:prstGeom prst="roundRect">
            <a:avLst>
              <a:gd fmla="val 20818"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Intelligence Engine</a:t>
            </a:r>
            <a:endParaRPr sz="1600">
              <a:solidFill>
                <a:schemeClr val="dk1"/>
              </a:solidFill>
              <a:latin typeface="DM Sans Medium"/>
              <a:ea typeface="DM Sans Medium"/>
              <a:cs typeface="DM Sans Medium"/>
              <a:sym typeface="DM Sa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67"/>
          <p:cNvSpPr/>
          <p:nvPr/>
        </p:nvSpPr>
        <p:spPr>
          <a:xfrm>
            <a:off x="6590900" y="2350850"/>
            <a:ext cx="2754000" cy="22614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  Classic Compute</a:t>
            </a:r>
            <a:endParaRPr sz="2000">
              <a:solidFill>
                <a:schemeClr val="accent1"/>
              </a:solidFill>
              <a:latin typeface="DM Sans Medium"/>
              <a:ea typeface="DM Sans Medium"/>
              <a:cs typeface="DM Sans Medium"/>
              <a:sym typeface="DM Sans Medium"/>
            </a:endParaRPr>
          </a:p>
        </p:txBody>
      </p:sp>
      <p:sp>
        <p:nvSpPr>
          <p:cNvPr id="1069" name="Google Shape;1069;p67"/>
          <p:cNvSpPr/>
          <p:nvPr/>
        </p:nvSpPr>
        <p:spPr>
          <a:xfrm>
            <a:off x="9690752" y="2349725"/>
            <a:ext cx="1195800" cy="2364600"/>
          </a:xfrm>
          <a:prstGeom prst="roundRect">
            <a:avLst>
              <a:gd fmla="val 10693"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Other data sources</a:t>
            </a:r>
            <a:endParaRPr sz="2000">
              <a:solidFill>
                <a:schemeClr val="accent1"/>
              </a:solidFill>
              <a:latin typeface="DM Sans Medium"/>
              <a:ea typeface="DM Sans Medium"/>
              <a:cs typeface="DM Sans Medium"/>
              <a:sym typeface="DM Sans Medium"/>
            </a:endParaRPr>
          </a:p>
        </p:txBody>
      </p:sp>
      <p:sp>
        <p:nvSpPr>
          <p:cNvPr id="1070" name="Google Shape;1070;p67"/>
          <p:cNvSpPr/>
          <p:nvPr/>
        </p:nvSpPr>
        <p:spPr>
          <a:xfrm>
            <a:off x="6761848" y="3390425"/>
            <a:ext cx="2497800" cy="1091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1" name="Google Shape;1071;p67"/>
          <p:cNvPicPr preferRelativeResize="0"/>
          <p:nvPr/>
        </p:nvPicPr>
        <p:blipFill rotWithShape="1">
          <a:blip r:embed="rId3">
            <a:alphaModFix/>
          </a:blip>
          <a:srcRect b="0" l="0" r="82955" t="0"/>
          <a:stretch/>
        </p:blipFill>
        <p:spPr>
          <a:xfrm>
            <a:off x="6709078" y="2508547"/>
            <a:ext cx="245706" cy="226800"/>
          </a:xfrm>
          <a:prstGeom prst="rect">
            <a:avLst/>
          </a:prstGeom>
          <a:noFill/>
          <a:ln>
            <a:noFill/>
          </a:ln>
        </p:spPr>
      </p:pic>
      <p:sp>
        <p:nvSpPr>
          <p:cNvPr id="1072" name="Google Shape;1072;p67"/>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Detailed </a:t>
            </a:r>
            <a:r>
              <a:rPr lang="en" sz="3600"/>
              <a:t>High</a:t>
            </a:r>
            <a:r>
              <a:rPr lang="en" sz="3600"/>
              <a:t> Level Architecture</a:t>
            </a:r>
            <a:endParaRPr sz="3600"/>
          </a:p>
        </p:txBody>
      </p:sp>
      <p:sp>
        <p:nvSpPr>
          <p:cNvPr id="1073" name="Google Shape;1073;p6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074" name="Google Shape;1074;p67"/>
          <p:cNvSpPr/>
          <p:nvPr/>
        </p:nvSpPr>
        <p:spPr>
          <a:xfrm>
            <a:off x="6685648" y="3314225"/>
            <a:ext cx="2497800" cy="1091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67"/>
          <p:cNvSpPr txBox="1"/>
          <p:nvPr/>
        </p:nvSpPr>
        <p:spPr>
          <a:xfrm>
            <a:off x="7120184" y="2939800"/>
            <a:ext cx="17130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600">
                <a:solidFill>
                  <a:schemeClr val="accent1"/>
                </a:solidFill>
                <a:latin typeface="Barlow Medium"/>
                <a:ea typeface="Barlow Medium"/>
                <a:cs typeface="Barlow Medium"/>
                <a:sym typeface="Barlow Medium"/>
              </a:rPr>
              <a:t>SQL Warehouses</a:t>
            </a:r>
            <a:endParaRPr i="1" sz="1600">
              <a:solidFill>
                <a:schemeClr val="accent1"/>
              </a:solidFill>
            </a:endParaRPr>
          </a:p>
        </p:txBody>
      </p:sp>
      <p:sp>
        <p:nvSpPr>
          <p:cNvPr id="1076" name="Google Shape;1076;p67"/>
          <p:cNvSpPr/>
          <p:nvPr/>
        </p:nvSpPr>
        <p:spPr>
          <a:xfrm>
            <a:off x="7233587" y="3655217"/>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077" name="Google Shape;1077;p67"/>
          <p:cNvSpPr/>
          <p:nvPr/>
        </p:nvSpPr>
        <p:spPr>
          <a:xfrm>
            <a:off x="7347856" y="3762101"/>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078" name="Google Shape;1078;p67"/>
          <p:cNvSpPr/>
          <p:nvPr/>
        </p:nvSpPr>
        <p:spPr>
          <a:xfrm>
            <a:off x="6749495" y="3655217"/>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chemeClr val="accent1"/>
                </a:solidFill>
                <a:latin typeface="DM Sans Medium"/>
                <a:ea typeface="DM Sans Medium"/>
                <a:cs typeface="DM Sans Medium"/>
                <a:sym typeface="DM Sans Medium"/>
              </a:rPr>
              <a:t>Driver</a:t>
            </a:r>
            <a:endParaRPr sz="800">
              <a:solidFill>
                <a:schemeClr val="accent1"/>
              </a:solidFill>
              <a:latin typeface="DM Sans Medium"/>
              <a:ea typeface="DM Sans Medium"/>
              <a:cs typeface="DM Sans Medium"/>
              <a:sym typeface="DM Sans Medium"/>
            </a:endParaRPr>
          </a:p>
        </p:txBody>
      </p:sp>
      <p:sp>
        <p:nvSpPr>
          <p:cNvPr id="1079" name="Google Shape;1079;p67"/>
          <p:cNvSpPr/>
          <p:nvPr/>
        </p:nvSpPr>
        <p:spPr>
          <a:xfrm>
            <a:off x="8516002" y="3655217"/>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080" name="Google Shape;1080;p67"/>
          <p:cNvSpPr/>
          <p:nvPr/>
        </p:nvSpPr>
        <p:spPr>
          <a:xfrm>
            <a:off x="8630272" y="3762101"/>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081" name="Google Shape;1081;p67"/>
          <p:cNvSpPr/>
          <p:nvPr/>
        </p:nvSpPr>
        <p:spPr>
          <a:xfrm>
            <a:off x="8031911" y="3655217"/>
            <a:ext cx="379800" cy="3600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Driver</a:t>
            </a:r>
            <a:endParaRPr sz="800">
              <a:latin typeface="DM Sans Medium"/>
              <a:ea typeface="DM Sans Medium"/>
              <a:cs typeface="DM Sans Medium"/>
              <a:sym typeface="DM Sans Medium"/>
            </a:endParaRPr>
          </a:p>
        </p:txBody>
      </p:sp>
      <p:sp>
        <p:nvSpPr>
          <p:cNvPr id="1082" name="Google Shape;1082;p67"/>
          <p:cNvSpPr/>
          <p:nvPr/>
        </p:nvSpPr>
        <p:spPr>
          <a:xfrm>
            <a:off x="6733368" y="3398092"/>
            <a:ext cx="2397300" cy="149100"/>
          </a:xfrm>
          <a:prstGeom prst="roundRect">
            <a:avLst>
              <a:gd fmla="val 16667" name="adj"/>
            </a:avLst>
          </a:prstGeom>
          <a:solidFill>
            <a:srgbClr val="FFFFFF"/>
          </a:solidFill>
          <a:ln cap="flat" cmpd="sng" w="9525">
            <a:solidFill>
              <a:schemeClr val="accent1"/>
            </a:solidFill>
            <a:prstDash val="dot"/>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sz="800">
                <a:latin typeface="DM Sans Medium"/>
                <a:ea typeface="DM Sans Medium"/>
                <a:cs typeface="DM Sans Medium"/>
                <a:sym typeface="DM Sans Medium"/>
              </a:rPr>
              <a:t>load balanced</a:t>
            </a:r>
            <a:endParaRPr i="1" sz="800">
              <a:latin typeface="DM Sans Medium"/>
              <a:ea typeface="DM Sans Medium"/>
              <a:cs typeface="DM Sans Medium"/>
              <a:sym typeface="DM Sans Medium"/>
            </a:endParaRPr>
          </a:p>
        </p:txBody>
      </p:sp>
      <p:sp>
        <p:nvSpPr>
          <p:cNvPr id="1083" name="Google Shape;1083;p67"/>
          <p:cNvSpPr txBox="1"/>
          <p:nvPr/>
        </p:nvSpPr>
        <p:spPr>
          <a:xfrm>
            <a:off x="5481438" y="5840987"/>
            <a:ext cx="2097300" cy="8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accent2"/>
                </a:solidFill>
                <a:latin typeface="DM Sans"/>
                <a:ea typeface="DM Sans"/>
                <a:cs typeface="DM Sans"/>
                <a:sym typeface="DM Sans"/>
              </a:rPr>
              <a:t>DB SQL query editor</a:t>
            </a:r>
            <a:endParaRPr i="1">
              <a:solidFill>
                <a:schemeClr val="accent2"/>
              </a:solidFill>
              <a:latin typeface="DM Sans"/>
              <a:ea typeface="DM Sans"/>
              <a:cs typeface="DM Sans"/>
              <a:sym typeface="DM Sans"/>
            </a:endParaRPr>
          </a:p>
          <a:p>
            <a:pPr indent="0" lvl="0" marL="0" rtl="0" algn="l">
              <a:spcBef>
                <a:spcPts val="300"/>
              </a:spcBef>
              <a:spcAft>
                <a:spcPts val="300"/>
              </a:spcAft>
              <a:buNone/>
            </a:pPr>
            <a:r>
              <a:rPr i="1" lang="en">
                <a:solidFill>
                  <a:schemeClr val="accent2"/>
                </a:solidFill>
                <a:latin typeface="DM Sans"/>
                <a:ea typeface="DM Sans"/>
                <a:cs typeface="DM Sans"/>
                <a:sym typeface="DM Sans"/>
              </a:rPr>
              <a:t>BI tools via connectors</a:t>
            </a:r>
            <a:br>
              <a:rPr i="1" lang="en">
                <a:solidFill>
                  <a:schemeClr val="accent2"/>
                </a:solidFill>
                <a:latin typeface="DM Sans"/>
                <a:ea typeface="DM Sans"/>
                <a:cs typeface="DM Sans"/>
                <a:sym typeface="DM Sans"/>
              </a:rPr>
            </a:br>
            <a:r>
              <a:rPr i="1" lang="en">
                <a:solidFill>
                  <a:schemeClr val="accent2"/>
                </a:solidFill>
                <a:latin typeface="DM Sans"/>
                <a:ea typeface="DM Sans"/>
                <a:cs typeface="DM Sans"/>
                <a:sym typeface="DM Sans"/>
              </a:rPr>
              <a:t>or JDBC/ODBC</a:t>
            </a:r>
            <a:endParaRPr i="1">
              <a:solidFill>
                <a:schemeClr val="accent2"/>
              </a:solidFill>
              <a:latin typeface="DM Sans"/>
              <a:ea typeface="DM Sans"/>
              <a:cs typeface="DM Sans"/>
              <a:sym typeface="DM Sans"/>
            </a:endParaRPr>
          </a:p>
        </p:txBody>
      </p:sp>
      <p:sp>
        <p:nvSpPr>
          <p:cNvPr id="1084" name="Google Shape;1084;p67"/>
          <p:cNvSpPr/>
          <p:nvPr/>
        </p:nvSpPr>
        <p:spPr>
          <a:xfrm>
            <a:off x="7462126" y="3876370"/>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chemeClr val="accent1"/>
                </a:solidFill>
                <a:latin typeface="DM Sans Medium"/>
                <a:ea typeface="DM Sans Medium"/>
                <a:cs typeface="DM Sans Medium"/>
                <a:sym typeface="DM Sans Medium"/>
              </a:rPr>
              <a:t>Worker</a:t>
            </a:r>
            <a:endParaRPr sz="800">
              <a:solidFill>
                <a:schemeClr val="accent1"/>
              </a:solidFill>
              <a:latin typeface="DM Sans Medium"/>
              <a:ea typeface="DM Sans Medium"/>
              <a:cs typeface="DM Sans Medium"/>
              <a:sym typeface="DM Sans Medium"/>
            </a:endParaRPr>
          </a:p>
        </p:txBody>
      </p:sp>
      <p:sp>
        <p:nvSpPr>
          <p:cNvPr id="1085" name="Google Shape;1085;p67"/>
          <p:cNvSpPr/>
          <p:nvPr/>
        </p:nvSpPr>
        <p:spPr>
          <a:xfrm>
            <a:off x="8744541" y="3876370"/>
            <a:ext cx="379800" cy="360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chemeClr val="accent1"/>
                </a:solidFill>
                <a:latin typeface="DM Sans Medium"/>
                <a:ea typeface="DM Sans Medium"/>
                <a:cs typeface="DM Sans Medium"/>
                <a:sym typeface="DM Sans Medium"/>
              </a:rPr>
              <a:t>Worker</a:t>
            </a:r>
            <a:endParaRPr sz="800">
              <a:solidFill>
                <a:schemeClr val="accent1"/>
              </a:solidFill>
              <a:latin typeface="DM Sans Medium"/>
              <a:ea typeface="DM Sans Medium"/>
              <a:cs typeface="DM Sans Medium"/>
              <a:sym typeface="DM Sans Medium"/>
            </a:endParaRPr>
          </a:p>
        </p:txBody>
      </p:sp>
      <p:sp>
        <p:nvSpPr>
          <p:cNvPr id="1086" name="Google Shape;1086;p67"/>
          <p:cNvSpPr/>
          <p:nvPr/>
        </p:nvSpPr>
        <p:spPr>
          <a:xfrm>
            <a:off x="6269150" y="1714500"/>
            <a:ext cx="48078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087" name="Google Shape;1087;p67"/>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SQL - SQL Warehouse</a:t>
            </a:r>
            <a:endParaRPr/>
          </a:p>
        </p:txBody>
      </p:sp>
      <p:cxnSp>
        <p:nvCxnSpPr>
          <p:cNvPr id="1088" name="Google Shape;1088;p67"/>
          <p:cNvCxnSpPr>
            <a:stCxn id="1089" idx="3"/>
            <a:endCxn id="1090" idx="2"/>
          </p:cNvCxnSpPr>
          <p:nvPr/>
        </p:nvCxnSpPr>
        <p:spPr>
          <a:xfrm flipH="1" rot="10800000">
            <a:off x="8523700" y="5582989"/>
            <a:ext cx="1764900" cy="596700"/>
          </a:xfrm>
          <a:prstGeom prst="bentConnector2">
            <a:avLst/>
          </a:prstGeom>
          <a:noFill/>
          <a:ln cap="flat" cmpd="sng" w="19050">
            <a:solidFill>
              <a:schemeClr val="accent2"/>
            </a:solidFill>
            <a:prstDash val="solid"/>
            <a:round/>
            <a:headEnd len="med" w="med" type="none"/>
            <a:tailEnd len="med" w="med" type="triangle"/>
          </a:ln>
        </p:spPr>
      </p:cxnSp>
      <p:sp>
        <p:nvSpPr>
          <p:cNvPr id="1091" name="Google Shape;1091;p67"/>
          <p:cNvSpPr txBox="1"/>
          <p:nvPr/>
        </p:nvSpPr>
        <p:spPr>
          <a:xfrm>
            <a:off x="9108548" y="5865100"/>
            <a:ext cx="549600" cy="43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300"/>
              </a:spcAft>
              <a:buNone/>
            </a:pPr>
            <a:r>
              <a:rPr i="1" lang="en">
                <a:solidFill>
                  <a:schemeClr val="accent2"/>
                </a:solidFill>
                <a:latin typeface="DM Sans"/>
                <a:ea typeface="DM Sans"/>
                <a:cs typeface="DM Sans"/>
                <a:sym typeface="DM Sans"/>
              </a:rPr>
              <a:t>SSO</a:t>
            </a:r>
            <a:endParaRPr i="1" sz="1200">
              <a:solidFill>
                <a:schemeClr val="accent2"/>
              </a:solidFill>
              <a:latin typeface="DM Sans"/>
              <a:ea typeface="DM Sans"/>
              <a:cs typeface="DM Sans"/>
              <a:sym typeface="DM Sans"/>
            </a:endParaRPr>
          </a:p>
        </p:txBody>
      </p:sp>
      <p:sp>
        <p:nvSpPr>
          <p:cNvPr id="1092" name="Google Shape;1092;p67"/>
          <p:cNvSpPr txBox="1"/>
          <p:nvPr/>
        </p:nvSpPr>
        <p:spPr>
          <a:xfrm>
            <a:off x="7824451" y="6324600"/>
            <a:ext cx="732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pic>
        <p:nvPicPr>
          <p:cNvPr id="1089" name="Google Shape;1089;p67"/>
          <p:cNvPicPr preferRelativeResize="0"/>
          <p:nvPr/>
        </p:nvPicPr>
        <p:blipFill>
          <a:blip r:embed="rId4">
            <a:alphaModFix/>
          </a:blip>
          <a:stretch>
            <a:fillRect/>
          </a:stretch>
        </p:blipFill>
        <p:spPr>
          <a:xfrm>
            <a:off x="7857100" y="5846389"/>
            <a:ext cx="666600" cy="666600"/>
          </a:xfrm>
          <a:prstGeom prst="rect">
            <a:avLst/>
          </a:prstGeom>
          <a:noFill/>
          <a:ln>
            <a:noFill/>
          </a:ln>
        </p:spPr>
      </p:pic>
      <p:pic>
        <p:nvPicPr>
          <p:cNvPr id="1093" name="Google Shape;1093;p67"/>
          <p:cNvPicPr preferRelativeResize="0"/>
          <p:nvPr/>
        </p:nvPicPr>
        <p:blipFill>
          <a:blip r:embed="rId5">
            <a:alphaModFix/>
          </a:blip>
          <a:stretch>
            <a:fillRect/>
          </a:stretch>
        </p:blipFill>
        <p:spPr>
          <a:xfrm>
            <a:off x="6729143" y="4048727"/>
            <a:ext cx="275775" cy="275775"/>
          </a:xfrm>
          <a:prstGeom prst="rect">
            <a:avLst/>
          </a:prstGeom>
          <a:noFill/>
          <a:ln>
            <a:noFill/>
          </a:ln>
        </p:spPr>
      </p:pic>
      <p:sp>
        <p:nvSpPr>
          <p:cNvPr id="1094" name="Google Shape;1094;p67"/>
          <p:cNvSpPr txBox="1"/>
          <p:nvPr/>
        </p:nvSpPr>
        <p:spPr>
          <a:xfrm>
            <a:off x="6930292" y="4019752"/>
            <a:ext cx="666600" cy="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000">
                <a:solidFill>
                  <a:schemeClr val="dk2"/>
                </a:solidFill>
                <a:latin typeface="DM Sans"/>
                <a:ea typeface="DM Sans"/>
                <a:cs typeface="DM Sans"/>
                <a:sym typeface="DM Sans"/>
              </a:rPr>
              <a:t>Photon</a:t>
            </a:r>
            <a:endParaRPr i="1" sz="1000">
              <a:solidFill>
                <a:schemeClr val="dk2"/>
              </a:solidFill>
              <a:latin typeface="DM Sans"/>
              <a:ea typeface="DM Sans"/>
              <a:cs typeface="DM Sans"/>
              <a:sym typeface="DM Sans"/>
            </a:endParaRPr>
          </a:p>
        </p:txBody>
      </p:sp>
      <p:pic>
        <p:nvPicPr>
          <p:cNvPr id="1095" name="Google Shape;1095;p67"/>
          <p:cNvPicPr preferRelativeResize="0"/>
          <p:nvPr/>
        </p:nvPicPr>
        <p:blipFill>
          <a:blip r:embed="rId5">
            <a:alphaModFix/>
          </a:blip>
          <a:stretch>
            <a:fillRect/>
          </a:stretch>
        </p:blipFill>
        <p:spPr>
          <a:xfrm>
            <a:off x="8013273" y="4048727"/>
            <a:ext cx="275775" cy="275775"/>
          </a:xfrm>
          <a:prstGeom prst="rect">
            <a:avLst/>
          </a:prstGeom>
          <a:noFill/>
          <a:ln>
            <a:noFill/>
          </a:ln>
        </p:spPr>
      </p:pic>
      <p:sp>
        <p:nvSpPr>
          <p:cNvPr id="1096" name="Google Shape;1096;p67"/>
          <p:cNvSpPr txBox="1"/>
          <p:nvPr/>
        </p:nvSpPr>
        <p:spPr>
          <a:xfrm>
            <a:off x="8214422" y="4019752"/>
            <a:ext cx="666600" cy="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000">
                <a:solidFill>
                  <a:schemeClr val="dk2"/>
                </a:solidFill>
                <a:latin typeface="DM Sans"/>
                <a:ea typeface="DM Sans"/>
                <a:cs typeface="DM Sans"/>
                <a:sym typeface="DM Sans"/>
              </a:rPr>
              <a:t>Photon</a:t>
            </a:r>
            <a:endParaRPr i="1" sz="1000">
              <a:solidFill>
                <a:schemeClr val="dk2"/>
              </a:solidFill>
              <a:latin typeface="DM Sans"/>
              <a:ea typeface="DM Sans"/>
              <a:cs typeface="DM Sans"/>
              <a:sym typeface="DM Sans"/>
            </a:endParaRPr>
          </a:p>
        </p:txBody>
      </p:sp>
      <p:sp>
        <p:nvSpPr>
          <p:cNvPr id="1097" name="Google Shape;1097;p67"/>
          <p:cNvSpPr/>
          <p:nvPr/>
        </p:nvSpPr>
        <p:spPr>
          <a:xfrm>
            <a:off x="911525" y="1714500"/>
            <a:ext cx="48108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8" name="Google Shape;1098;p67"/>
          <p:cNvPicPr preferRelativeResize="0"/>
          <p:nvPr/>
        </p:nvPicPr>
        <p:blipFill rotWithShape="1">
          <a:blip r:embed="rId3">
            <a:alphaModFix/>
          </a:blip>
          <a:srcRect b="0" l="0" r="0" t="0"/>
          <a:stretch/>
        </p:blipFill>
        <p:spPr>
          <a:xfrm>
            <a:off x="2305897" y="1776743"/>
            <a:ext cx="2149050" cy="338050"/>
          </a:xfrm>
          <a:prstGeom prst="rect">
            <a:avLst/>
          </a:prstGeom>
          <a:noFill/>
          <a:ln>
            <a:noFill/>
          </a:ln>
        </p:spPr>
      </p:pic>
      <p:sp>
        <p:nvSpPr>
          <p:cNvPr id="1099" name="Google Shape;1099;p67"/>
          <p:cNvSpPr/>
          <p:nvPr/>
        </p:nvSpPr>
        <p:spPr>
          <a:xfrm>
            <a:off x="911525" y="1714500"/>
            <a:ext cx="48108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0" name="Google Shape;1100;p67"/>
          <p:cNvPicPr preferRelativeResize="0"/>
          <p:nvPr/>
        </p:nvPicPr>
        <p:blipFill rotWithShape="1">
          <a:blip r:embed="rId3">
            <a:alphaModFix/>
          </a:blip>
          <a:srcRect b="0" l="0" r="0" t="0"/>
          <a:stretch/>
        </p:blipFill>
        <p:spPr>
          <a:xfrm>
            <a:off x="2305897" y="1776743"/>
            <a:ext cx="2149050" cy="338050"/>
          </a:xfrm>
          <a:prstGeom prst="rect">
            <a:avLst/>
          </a:prstGeom>
          <a:noFill/>
          <a:ln>
            <a:noFill/>
          </a:ln>
        </p:spPr>
      </p:pic>
      <p:sp>
        <p:nvSpPr>
          <p:cNvPr id="1101" name="Google Shape;1101;p67"/>
          <p:cNvSpPr/>
          <p:nvPr/>
        </p:nvSpPr>
        <p:spPr>
          <a:xfrm>
            <a:off x="1040975" y="2350850"/>
            <a:ext cx="45372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Account Console</a:t>
            </a:r>
            <a:endParaRPr sz="2000">
              <a:solidFill>
                <a:schemeClr val="accent1"/>
              </a:solidFill>
              <a:latin typeface="DM Sans Medium"/>
              <a:ea typeface="DM Sans Medium"/>
              <a:cs typeface="DM Sans Medium"/>
              <a:sym typeface="DM Sans Medium"/>
            </a:endParaRPr>
          </a:p>
        </p:txBody>
      </p:sp>
      <p:sp>
        <p:nvSpPr>
          <p:cNvPr id="1102" name="Google Shape;1102;p67"/>
          <p:cNvSpPr/>
          <p:nvPr/>
        </p:nvSpPr>
        <p:spPr>
          <a:xfrm>
            <a:off x="1040975" y="3054825"/>
            <a:ext cx="4537200" cy="27276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54610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pic>
        <p:nvPicPr>
          <p:cNvPr id="1103" name="Google Shape;1103;p67"/>
          <p:cNvPicPr preferRelativeResize="0"/>
          <p:nvPr/>
        </p:nvPicPr>
        <p:blipFill rotWithShape="1">
          <a:blip r:embed="rId3">
            <a:alphaModFix/>
          </a:blip>
          <a:srcRect b="0" l="0" r="82955" t="0"/>
          <a:stretch/>
        </p:blipFill>
        <p:spPr>
          <a:xfrm>
            <a:off x="1962988" y="3206260"/>
            <a:ext cx="245706" cy="226800"/>
          </a:xfrm>
          <a:prstGeom prst="rect">
            <a:avLst/>
          </a:prstGeom>
          <a:noFill/>
          <a:ln>
            <a:noFill/>
          </a:ln>
        </p:spPr>
      </p:pic>
      <p:sp>
        <p:nvSpPr>
          <p:cNvPr id="1104" name="Google Shape;1104;p67"/>
          <p:cNvSpPr/>
          <p:nvPr/>
        </p:nvSpPr>
        <p:spPr>
          <a:xfrm>
            <a:off x="1314050" y="4134198"/>
            <a:ext cx="1222800" cy="452700"/>
          </a:xfrm>
          <a:prstGeom prst="roundRect">
            <a:avLst>
              <a:gd fmla="val 15352"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Metastore</a:t>
            </a:r>
            <a:br>
              <a:rPr lang="en">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(Catalogs)</a:t>
            </a:r>
            <a:endParaRPr sz="1600">
              <a:solidFill>
                <a:schemeClr val="dk1"/>
              </a:solidFill>
              <a:latin typeface="DM Sans Medium"/>
              <a:ea typeface="DM Sans Medium"/>
              <a:cs typeface="DM Sans Medium"/>
              <a:sym typeface="DM Sans Medium"/>
            </a:endParaRPr>
          </a:p>
        </p:txBody>
      </p:sp>
      <p:sp>
        <p:nvSpPr>
          <p:cNvPr id="1105" name="Google Shape;1105;p67"/>
          <p:cNvSpPr/>
          <p:nvPr/>
        </p:nvSpPr>
        <p:spPr>
          <a:xfrm>
            <a:off x="4098786" y="5215782"/>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Web App</a:t>
            </a:r>
            <a:br>
              <a:rPr lang="en">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Portal, REST API</a:t>
            </a:r>
            <a:endParaRPr sz="1200">
              <a:solidFill>
                <a:schemeClr val="accent1"/>
              </a:solidFill>
              <a:latin typeface="DM Sans"/>
              <a:ea typeface="DM Sans"/>
              <a:cs typeface="DM Sans"/>
              <a:sym typeface="DM Sans"/>
            </a:endParaRPr>
          </a:p>
        </p:txBody>
      </p:sp>
      <p:sp>
        <p:nvSpPr>
          <p:cNvPr id="1106" name="Google Shape;1106;p67"/>
          <p:cNvSpPr/>
          <p:nvPr/>
        </p:nvSpPr>
        <p:spPr>
          <a:xfrm>
            <a:off x="2706423" y="5211898"/>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Compute Manager</a:t>
            </a:r>
            <a:endParaRPr>
              <a:solidFill>
                <a:schemeClr val="accent1"/>
              </a:solidFill>
              <a:latin typeface="DM Sans"/>
              <a:ea typeface="DM Sans"/>
              <a:cs typeface="DM Sans"/>
              <a:sym typeface="DM Sans"/>
            </a:endParaRPr>
          </a:p>
        </p:txBody>
      </p:sp>
      <p:sp>
        <p:nvSpPr>
          <p:cNvPr id="1107" name="Google Shape;1107;p67"/>
          <p:cNvSpPr/>
          <p:nvPr/>
        </p:nvSpPr>
        <p:spPr>
          <a:xfrm>
            <a:off x="1314050" y="4674611"/>
            <a:ext cx="1222800" cy="452700"/>
          </a:xfrm>
          <a:prstGeom prst="roundRect">
            <a:avLst>
              <a:gd fmla="val 16490"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Access control</a:t>
            </a:r>
            <a:endParaRPr sz="1800">
              <a:solidFill>
                <a:schemeClr val="dk1"/>
              </a:solidFill>
              <a:latin typeface="DM Sans Medium"/>
              <a:ea typeface="DM Sans Medium"/>
              <a:cs typeface="DM Sans Medium"/>
              <a:sym typeface="DM Sans Medium"/>
            </a:endParaRPr>
          </a:p>
        </p:txBody>
      </p:sp>
      <p:sp>
        <p:nvSpPr>
          <p:cNvPr id="1108" name="Google Shape;1108;p67"/>
          <p:cNvSpPr/>
          <p:nvPr/>
        </p:nvSpPr>
        <p:spPr>
          <a:xfrm>
            <a:off x="1314050" y="5215024"/>
            <a:ext cx="1222800" cy="452700"/>
          </a:xfrm>
          <a:prstGeom prst="roundRect">
            <a:avLst>
              <a:gd fmla="val 16490"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Data/Lineage Explorer</a:t>
            </a:r>
            <a:endParaRPr sz="1800">
              <a:solidFill>
                <a:schemeClr val="dk1"/>
              </a:solidFill>
              <a:latin typeface="DM Sans Medium"/>
              <a:ea typeface="DM Sans Medium"/>
              <a:cs typeface="DM Sans Medium"/>
              <a:sym typeface="DM Sans Medium"/>
            </a:endParaRPr>
          </a:p>
        </p:txBody>
      </p:sp>
      <p:sp>
        <p:nvSpPr>
          <p:cNvPr id="1109" name="Google Shape;1109;p67"/>
          <p:cNvSpPr txBox="1"/>
          <p:nvPr/>
        </p:nvSpPr>
        <p:spPr>
          <a:xfrm>
            <a:off x="84269" y="4638621"/>
            <a:ext cx="8844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5A300"/>
                </a:solidFill>
                <a:latin typeface="DM Sans Medium"/>
                <a:ea typeface="DM Sans Medium"/>
                <a:cs typeface="DM Sans Medium"/>
                <a:sym typeface="DM Sans Medium"/>
              </a:rPr>
              <a:t>Unity</a:t>
            </a:r>
            <a:br>
              <a:rPr lang="en" sz="1200">
                <a:solidFill>
                  <a:srgbClr val="F5A300"/>
                </a:solidFill>
                <a:latin typeface="DM Sans Medium"/>
                <a:ea typeface="DM Sans Medium"/>
                <a:cs typeface="DM Sans Medium"/>
                <a:sym typeface="DM Sans Medium"/>
              </a:rPr>
            </a:br>
            <a:r>
              <a:rPr lang="en" sz="1200">
                <a:solidFill>
                  <a:srgbClr val="F5A300"/>
                </a:solidFill>
                <a:latin typeface="DM Sans Medium"/>
                <a:ea typeface="DM Sans Medium"/>
                <a:cs typeface="DM Sans Medium"/>
                <a:sym typeface="DM Sans Medium"/>
              </a:rPr>
              <a:t>Catalog</a:t>
            </a:r>
            <a:endParaRPr sz="1200">
              <a:solidFill>
                <a:srgbClr val="F5A300"/>
              </a:solidFill>
              <a:latin typeface="DM Sans Medium"/>
              <a:ea typeface="DM Sans Medium"/>
              <a:cs typeface="DM Sans Medium"/>
              <a:sym typeface="DM Sans Medium"/>
            </a:endParaRPr>
          </a:p>
        </p:txBody>
      </p:sp>
      <p:sp>
        <p:nvSpPr>
          <p:cNvPr id="1110" name="Google Shape;1110;p67"/>
          <p:cNvSpPr/>
          <p:nvPr/>
        </p:nvSpPr>
        <p:spPr>
          <a:xfrm>
            <a:off x="2706423" y="4675380"/>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Jobs</a:t>
            </a:r>
            <a:br>
              <a:rPr lang="en">
                <a:solidFill>
                  <a:schemeClr val="accent1"/>
                </a:solidFill>
                <a:latin typeface="DM Sans"/>
                <a:ea typeface="DM Sans"/>
                <a:cs typeface="DM Sans"/>
                <a:sym typeface="DM Sans"/>
              </a:rPr>
            </a:br>
            <a:r>
              <a:rPr lang="en">
                <a:solidFill>
                  <a:schemeClr val="accent1"/>
                </a:solidFill>
                <a:latin typeface="DM Sans"/>
                <a:ea typeface="DM Sans"/>
                <a:cs typeface="DM Sans"/>
                <a:sym typeface="DM Sans"/>
              </a:rPr>
              <a:t>Manager</a:t>
            </a:r>
            <a:endParaRPr>
              <a:solidFill>
                <a:schemeClr val="accent1"/>
              </a:solidFill>
              <a:latin typeface="DM Sans"/>
              <a:ea typeface="DM Sans"/>
              <a:cs typeface="DM Sans"/>
              <a:sym typeface="DM Sans"/>
            </a:endParaRPr>
          </a:p>
        </p:txBody>
      </p:sp>
      <p:sp>
        <p:nvSpPr>
          <p:cNvPr id="1111" name="Google Shape;1111;p67"/>
          <p:cNvSpPr/>
          <p:nvPr/>
        </p:nvSpPr>
        <p:spPr>
          <a:xfrm>
            <a:off x="4098786" y="4675363"/>
            <a:ext cx="1222800" cy="4512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Query </a:t>
            </a:r>
            <a:br>
              <a:rPr lang="en">
                <a:solidFill>
                  <a:schemeClr val="accent1"/>
                </a:solidFill>
                <a:latin typeface="DM Sans"/>
                <a:ea typeface="DM Sans"/>
                <a:cs typeface="DM Sans"/>
                <a:sym typeface="DM Sans"/>
              </a:rPr>
            </a:br>
            <a:r>
              <a:rPr lang="en">
                <a:solidFill>
                  <a:schemeClr val="accent1"/>
                </a:solidFill>
                <a:latin typeface="DM Sans"/>
                <a:ea typeface="DM Sans"/>
                <a:cs typeface="DM Sans"/>
                <a:sym typeface="DM Sans"/>
              </a:rPr>
              <a:t>Manager</a:t>
            </a:r>
            <a:endParaRPr>
              <a:solidFill>
                <a:schemeClr val="accent1"/>
              </a:solidFill>
              <a:latin typeface="DM Sans"/>
              <a:ea typeface="DM Sans"/>
              <a:cs typeface="DM Sans"/>
              <a:sym typeface="DM Sans"/>
            </a:endParaRPr>
          </a:p>
        </p:txBody>
      </p:sp>
      <p:sp>
        <p:nvSpPr>
          <p:cNvPr id="1112" name="Google Shape;1112;p67"/>
          <p:cNvSpPr/>
          <p:nvPr/>
        </p:nvSpPr>
        <p:spPr>
          <a:xfrm>
            <a:off x="2704162" y="3599849"/>
            <a:ext cx="1222800" cy="452700"/>
          </a:xfrm>
          <a:prstGeom prst="roundRect">
            <a:avLst>
              <a:gd fmla="val 16490"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Assistant</a:t>
            </a:r>
            <a:endParaRPr sz="1800">
              <a:solidFill>
                <a:schemeClr val="dk1"/>
              </a:solidFill>
              <a:latin typeface="DM Sans Medium"/>
              <a:ea typeface="DM Sans Medium"/>
              <a:cs typeface="DM Sans Medium"/>
              <a:sym typeface="DM Sans Medium"/>
            </a:endParaRPr>
          </a:p>
        </p:txBody>
      </p:sp>
      <p:sp>
        <p:nvSpPr>
          <p:cNvPr id="1113" name="Google Shape;1113;p67"/>
          <p:cNvSpPr/>
          <p:nvPr/>
        </p:nvSpPr>
        <p:spPr>
          <a:xfrm>
            <a:off x="1314062" y="3599849"/>
            <a:ext cx="1222800" cy="452700"/>
          </a:xfrm>
          <a:prstGeom prst="roundRect">
            <a:avLst>
              <a:gd fmla="val 16490"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DatabricksIQ</a:t>
            </a:r>
            <a:endParaRPr sz="1800">
              <a:solidFill>
                <a:schemeClr val="dk1"/>
              </a:solidFill>
              <a:latin typeface="DM Sans Medium"/>
              <a:ea typeface="DM Sans Medium"/>
              <a:cs typeface="DM Sans Medium"/>
              <a:sym typeface="DM Sans Medium"/>
            </a:endParaRPr>
          </a:p>
        </p:txBody>
      </p:sp>
      <p:sp>
        <p:nvSpPr>
          <p:cNvPr id="1114" name="Google Shape;1114;p67"/>
          <p:cNvSpPr txBox="1"/>
          <p:nvPr/>
        </p:nvSpPr>
        <p:spPr>
          <a:xfrm>
            <a:off x="-64231" y="3552914"/>
            <a:ext cx="1181400" cy="5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3"/>
                </a:solidFill>
                <a:latin typeface="DM Sans Medium"/>
                <a:ea typeface="DM Sans Medium"/>
                <a:cs typeface="DM Sans Medium"/>
                <a:sym typeface="DM Sans Medium"/>
              </a:rPr>
              <a:t>Intelligence </a:t>
            </a:r>
            <a:br>
              <a:rPr lang="en" sz="1200">
                <a:solidFill>
                  <a:schemeClr val="accent3"/>
                </a:solidFill>
                <a:latin typeface="DM Sans Medium"/>
                <a:ea typeface="DM Sans Medium"/>
                <a:cs typeface="DM Sans Medium"/>
                <a:sym typeface="DM Sans Medium"/>
              </a:rPr>
            </a:br>
            <a:r>
              <a:rPr lang="en" sz="1200">
                <a:solidFill>
                  <a:schemeClr val="accent3"/>
                </a:solidFill>
                <a:latin typeface="DM Sans Medium"/>
                <a:ea typeface="DM Sans Medium"/>
                <a:cs typeface="DM Sans Medium"/>
                <a:sym typeface="DM Sans Medium"/>
              </a:rPr>
              <a:t>Engine</a:t>
            </a:r>
            <a:endParaRPr sz="1200">
              <a:solidFill>
                <a:schemeClr val="accent3"/>
              </a:solidFill>
              <a:latin typeface="DM Sans Medium"/>
              <a:ea typeface="DM Sans Medium"/>
              <a:cs typeface="DM Sans Medium"/>
              <a:sym typeface="DM Sans Medium"/>
            </a:endParaRPr>
          </a:p>
        </p:txBody>
      </p:sp>
      <p:sp>
        <p:nvSpPr>
          <p:cNvPr id="1115" name="Google Shape;1115;p67"/>
          <p:cNvSpPr txBox="1"/>
          <p:nvPr/>
        </p:nvSpPr>
        <p:spPr>
          <a:xfrm>
            <a:off x="3570394" y="5735796"/>
            <a:ext cx="8844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5"/>
                </a:solidFill>
                <a:latin typeface="DM Sans Medium"/>
                <a:ea typeface="DM Sans Medium"/>
                <a:cs typeface="DM Sans Medium"/>
                <a:sym typeface="DM Sans Medium"/>
              </a:rPr>
              <a:t>Platform Services</a:t>
            </a:r>
            <a:endParaRPr sz="1200">
              <a:solidFill>
                <a:schemeClr val="accent5"/>
              </a:solidFill>
              <a:latin typeface="DM Sans Medium"/>
              <a:ea typeface="DM Sans Medium"/>
              <a:cs typeface="DM Sans Medium"/>
              <a:sym typeface="DM Sans Medium"/>
            </a:endParaRPr>
          </a:p>
        </p:txBody>
      </p:sp>
      <p:cxnSp>
        <p:nvCxnSpPr>
          <p:cNvPr id="1116" name="Google Shape;1116;p67"/>
          <p:cNvCxnSpPr>
            <a:stCxn id="1089" idx="1"/>
            <a:endCxn id="1105" idx="2"/>
          </p:cNvCxnSpPr>
          <p:nvPr/>
        </p:nvCxnSpPr>
        <p:spPr>
          <a:xfrm rot="10800000">
            <a:off x="4710100" y="5666989"/>
            <a:ext cx="3147000" cy="512700"/>
          </a:xfrm>
          <a:prstGeom prst="bentConnector2">
            <a:avLst/>
          </a:prstGeom>
          <a:noFill/>
          <a:ln cap="flat" cmpd="sng" w="19050">
            <a:solidFill>
              <a:schemeClr val="accent2"/>
            </a:solidFill>
            <a:prstDash val="solid"/>
            <a:round/>
            <a:headEnd len="med" w="med" type="none"/>
            <a:tailEnd len="med" w="med" type="triangle"/>
          </a:ln>
        </p:spPr>
      </p:cxnSp>
      <p:sp>
        <p:nvSpPr>
          <p:cNvPr id="1117" name="Google Shape;1117;p67"/>
          <p:cNvSpPr/>
          <p:nvPr/>
        </p:nvSpPr>
        <p:spPr>
          <a:xfrm rot="10800000">
            <a:off x="5699121" y="3784950"/>
            <a:ext cx="677400" cy="149100"/>
          </a:xfrm>
          <a:prstGeom prst="left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67"/>
          <p:cNvSpPr/>
          <p:nvPr/>
        </p:nvSpPr>
        <p:spPr>
          <a:xfrm>
            <a:off x="7859398" y="4672497"/>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67"/>
          <p:cNvSpPr/>
          <p:nvPr/>
        </p:nvSpPr>
        <p:spPr>
          <a:xfrm>
            <a:off x="6590900" y="4959525"/>
            <a:ext cx="27540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sp>
        <p:nvSpPr>
          <p:cNvPr id="1120" name="Google Shape;1120;p67"/>
          <p:cNvSpPr/>
          <p:nvPr/>
        </p:nvSpPr>
        <p:spPr>
          <a:xfrm rot="-5393414">
            <a:off x="9431329" y="3746100"/>
            <a:ext cx="1566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67"/>
          <p:cNvSpPr/>
          <p:nvPr/>
        </p:nvSpPr>
        <p:spPr>
          <a:xfrm>
            <a:off x="9690450" y="4959525"/>
            <a:ext cx="1196400" cy="623400"/>
          </a:xfrm>
          <a:prstGeom prst="roundRect">
            <a:avLst>
              <a:gd fmla="val 14506"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ID Provider</a:t>
            </a:r>
            <a:endParaRPr sz="2000">
              <a:solidFill>
                <a:schemeClr val="accent1"/>
              </a:solidFill>
              <a:latin typeface="DM Sans Medium"/>
              <a:ea typeface="DM Sans Medium"/>
              <a:cs typeface="DM Sans Medium"/>
              <a:sym typeface="DM Sans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4" name="Shape 1124"/>
        <p:cNvGrpSpPr/>
        <p:nvPr/>
      </p:nvGrpSpPr>
      <p:grpSpPr>
        <a:xfrm>
          <a:off x="0" y="0"/>
          <a:ext cx="0" cy="0"/>
          <a:chOff x="0" y="0"/>
          <a:chExt cx="0" cy="0"/>
        </a:xfrm>
      </p:grpSpPr>
      <p:sp>
        <p:nvSpPr>
          <p:cNvPr id="1125" name="Google Shape;1125;p68"/>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Serverless Compute</a:t>
            </a:r>
            <a:endParaRPr/>
          </a:p>
        </p:txBody>
      </p:sp>
      <p:sp>
        <p:nvSpPr>
          <p:cNvPr id="1126" name="Google Shape;1126;p6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69"/>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a:t>
            </a:r>
            <a:endParaRPr sz="3600"/>
          </a:p>
        </p:txBody>
      </p:sp>
      <p:sp>
        <p:nvSpPr>
          <p:cNvPr id="1132" name="Google Shape;1132;p6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133" name="Google Shape;1133;p69"/>
          <p:cNvSpPr/>
          <p:nvPr/>
        </p:nvSpPr>
        <p:spPr>
          <a:xfrm>
            <a:off x="772375" y="2886900"/>
            <a:ext cx="2936400" cy="2696100"/>
          </a:xfrm>
          <a:prstGeom prst="roundRect">
            <a:avLst>
              <a:gd fmla="val 4514" name="adj"/>
            </a:avLst>
          </a:prstGeom>
          <a:solidFill>
            <a:srgbClr val="FFFFFF"/>
          </a:solidFill>
          <a:ln cap="flat" cmpd="sng" w="9525">
            <a:solidFill>
              <a:srgbClr val="FF362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FF3620"/>
                </a:solidFill>
                <a:latin typeface="DM Sans Medium"/>
                <a:ea typeface="DM Sans Medium"/>
                <a:cs typeface="DM Sans Medium"/>
                <a:sym typeface="DM Sans Medium"/>
              </a:rPr>
              <a:t> Control Plane</a:t>
            </a:r>
            <a:endParaRPr sz="2000">
              <a:solidFill>
                <a:srgbClr val="FF3620"/>
              </a:solidFill>
              <a:latin typeface="DM Sans Medium"/>
              <a:ea typeface="DM Sans Medium"/>
              <a:cs typeface="DM Sans Medium"/>
              <a:sym typeface="DM Sans Medium"/>
            </a:endParaRPr>
          </a:p>
        </p:txBody>
      </p:sp>
      <p:sp>
        <p:nvSpPr>
          <p:cNvPr id="1134" name="Google Shape;1134;p69"/>
          <p:cNvSpPr/>
          <p:nvPr/>
        </p:nvSpPr>
        <p:spPr>
          <a:xfrm>
            <a:off x="4447975" y="2122325"/>
            <a:ext cx="3870300" cy="3460800"/>
          </a:xfrm>
          <a:prstGeom prst="roundRect">
            <a:avLst>
              <a:gd fmla="val 3347" name="adj"/>
            </a:avLst>
          </a:prstGeom>
          <a:solidFill>
            <a:srgbClr val="FFFFFF"/>
          </a:solidFill>
          <a:ln cap="flat" cmpd="sng" w="9525">
            <a:solidFill>
              <a:srgbClr val="1B516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1B5161"/>
                </a:solidFill>
                <a:latin typeface="DM Sans Medium"/>
                <a:ea typeface="DM Sans Medium"/>
                <a:cs typeface="DM Sans Medium"/>
                <a:sym typeface="DM Sans Medium"/>
              </a:rPr>
              <a:t>Serverless Compute</a:t>
            </a:r>
            <a:endParaRPr sz="2000">
              <a:solidFill>
                <a:srgbClr val="1B5161"/>
              </a:solidFill>
              <a:latin typeface="DM Sans Medium"/>
              <a:ea typeface="DM Sans Medium"/>
              <a:cs typeface="DM Sans Medium"/>
              <a:sym typeface="DM Sans Medium"/>
            </a:endParaRPr>
          </a:p>
        </p:txBody>
      </p:sp>
      <p:sp>
        <p:nvSpPr>
          <p:cNvPr id="1135" name="Google Shape;1135;p69"/>
          <p:cNvSpPr/>
          <p:nvPr/>
        </p:nvSpPr>
        <p:spPr>
          <a:xfrm>
            <a:off x="783775" y="1485900"/>
            <a:ext cx="75345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6" name="Google Shape;1136;p69"/>
          <p:cNvPicPr preferRelativeResize="0"/>
          <p:nvPr/>
        </p:nvPicPr>
        <p:blipFill rotWithShape="1">
          <a:blip r:embed="rId3">
            <a:alphaModFix/>
          </a:blip>
          <a:srcRect b="0" l="0" r="0" t="0"/>
          <a:stretch/>
        </p:blipFill>
        <p:spPr>
          <a:xfrm>
            <a:off x="3399155" y="1548143"/>
            <a:ext cx="2196331" cy="338050"/>
          </a:xfrm>
          <a:prstGeom prst="rect">
            <a:avLst/>
          </a:prstGeom>
          <a:noFill/>
          <a:ln>
            <a:noFill/>
          </a:ln>
        </p:spPr>
      </p:pic>
      <p:sp>
        <p:nvSpPr>
          <p:cNvPr id="1137" name="Google Shape;1137;p69"/>
          <p:cNvSpPr/>
          <p:nvPr/>
        </p:nvSpPr>
        <p:spPr>
          <a:xfrm>
            <a:off x="8927775" y="1485900"/>
            <a:ext cx="1890000" cy="468900"/>
          </a:xfrm>
          <a:prstGeom prst="rect">
            <a:avLst/>
          </a:prstGeom>
          <a:solidFill>
            <a:srgbClr val="EFEFE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1000">
              <a:solidFill>
                <a:schemeClr val="accent1"/>
              </a:solidFill>
              <a:latin typeface="DM Sans"/>
              <a:ea typeface="DM Sans"/>
              <a:cs typeface="DM Sans"/>
              <a:sym typeface="DM Sans"/>
            </a:endParaRPr>
          </a:p>
        </p:txBody>
      </p:sp>
      <p:sp>
        <p:nvSpPr>
          <p:cNvPr id="1138" name="Google Shape;1138;p69"/>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Serverless Compute (storage in customer subscription)</a:t>
            </a:r>
            <a:endParaRPr/>
          </a:p>
        </p:txBody>
      </p:sp>
      <p:pic>
        <p:nvPicPr>
          <p:cNvPr id="1139" name="Google Shape;1139;p69"/>
          <p:cNvPicPr preferRelativeResize="0"/>
          <p:nvPr/>
        </p:nvPicPr>
        <p:blipFill rotWithShape="1">
          <a:blip r:embed="rId3">
            <a:alphaModFix/>
          </a:blip>
          <a:srcRect b="0" l="0" r="82955" t="0"/>
          <a:stretch/>
        </p:blipFill>
        <p:spPr>
          <a:xfrm>
            <a:off x="1188245" y="3049774"/>
            <a:ext cx="245706" cy="226800"/>
          </a:xfrm>
          <a:prstGeom prst="rect">
            <a:avLst/>
          </a:prstGeom>
          <a:noFill/>
          <a:ln>
            <a:noFill/>
          </a:ln>
        </p:spPr>
      </p:pic>
      <p:sp>
        <p:nvSpPr>
          <p:cNvPr id="1140" name="Google Shape;1140;p69"/>
          <p:cNvSpPr/>
          <p:nvPr/>
        </p:nvSpPr>
        <p:spPr>
          <a:xfrm>
            <a:off x="783775" y="2129100"/>
            <a:ext cx="29250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    Account Console</a:t>
            </a:r>
            <a:endParaRPr sz="2000">
              <a:solidFill>
                <a:schemeClr val="accent1"/>
              </a:solidFill>
              <a:latin typeface="DM Sans Medium"/>
              <a:ea typeface="DM Sans Medium"/>
              <a:cs typeface="DM Sans Medium"/>
              <a:sym typeface="DM Sans Medium"/>
            </a:endParaRPr>
          </a:p>
        </p:txBody>
      </p:sp>
      <p:pic>
        <p:nvPicPr>
          <p:cNvPr id="1141" name="Google Shape;1141;p69"/>
          <p:cNvPicPr preferRelativeResize="0"/>
          <p:nvPr/>
        </p:nvPicPr>
        <p:blipFill rotWithShape="1">
          <a:blip r:embed="rId3">
            <a:alphaModFix/>
          </a:blip>
          <a:srcRect b="0" l="0" r="82955" t="0"/>
          <a:stretch/>
        </p:blipFill>
        <p:spPr>
          <a:xfrm>
            <a:off x="1049643" y="2308307"/>
            <a:ext cx="245706" cy="226800"/>
          </a:xfrm>
          <a:prstGeom prst="rect">
            <a:avLst/>
          </a:prstGeom>
          <a:noFill/>
          <a:ln>
            <a:noFill/>
          </a:ln>
        </p:spPr>
      </p:pic>
      <p:pic>
        <p:nvPicPr>
          <p:cNvPr id="1142" name="Google Shape;1142;p69"/>
          <p:cNvPicPr preferRelativeResize="0"/>
          <p:nvPr/>
        </p:nvPicPr>
        <p:blipFill rotWithShape="1">
          <a:blip r:embed="rId4">
            <a:alphaModFix/>
          </a:blip>
          <a:srcRect b="0" l="0" r="0" t="0"/>
          <a:stretch/>
        </p:blipFill>
        <p:spPr>
          <a:xfrm>
            <a:off x="8549251" y="3669979"/>
            <a:ext cx="260074" cy="260046"/>
          </a:xfrm>
          <a:prstGeom prst="rect">
            <a:avLst/>
          </a:prstGeom>
          <a:noFill/>
          <a:ln>
            <a:noFill/>
          </a:ln>
        </p:spPr>
      </p:pic>
      <p:sp>
        <p:nvSpPr>
          <p:cNvPr id="1143" name="Google Shape;1143;p69"/>
          <p:cNvSpPr/>
          <p:nvPr/>
        </p:nvSpPr>
        <p:spPr>
          <a:xfrm rot="-5393414">
            <a:off x="8613653" y="3883425"/>
            <a:ext cx="156600" cy="2745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69"/>
          <p:cNvSpPr/>
          <p:nvPr/>
        </p:nvSpPr>
        <p:spPr>
          <a:xfrm>
            <a:off x="5967948" y="2886900"/>
            <a:ext cx="2138100" cy="716100"/>
          </a:xfrm>
          <a:prstGeom prst="roundRect">
            <a:avLst>
              <a:gd fmla="val 13718" name="adj"/>
            </a:avLst>
          </a:prstGeom>
          <a:solidFill>
            <a:srgbClr val="FFFFFF"/>
          </a:solidFill>
          <a:ln cap="flat" cmpd="sng" w="9525">
            <a:solidFill>
              <a:schemeClr val="accent1"/>
            </a:solidFill>
            <a:prstDash val="solid"/>
            <a:round/>
            <a:headEnd len="sm" w="sm" type="none"/>
            <a:tailEnd len="sm" w="sm" type="none"/>
          </a:ln>
        </p:spPr>
        <p:txBody>
          <a:bodyPr anchorCtr="0" anchor="b" bIns="0" lIns="0" spcFirstLastPara="1" rIns="0" wrap="square" tIns="18275">
            <a:noAutofit/>
          </a:bodyPr>
          <a:lstStyle/>
          <a:p>
            <a:pPr indent="0" lvl="0" marL="0" rtl="0" algn="ctr">
              <a:spcBef>
                <a:spcPts val="0"/>
              </a:spcBef>
              <a:spcAft>
                <a:spcPts val="0"/>
              </a:spcAft>
              <a:buNone/>
            </a:pPr>
            <a:r>
              <a:rPr lang="en" sz="1200">
                <a:solidFill>
                  <a:srgbClr val="1B5161"/>
                </a:solidFill>
                <a:latin typeface="DM Sans Medium"/>
                <a:ea typeface="DM Sans Medium"/>
                <a:cs typeface="DM Sans Medium"/>
                <a:sym typeface="DM Sans Medium"/>
              </a:rPr>
              <a:t>DB SQL Clusters</a:t>
            </a:r>
            <a:endParaRPr sz="1200">
              <a:solidFill>
                <a:srgbClr val="1B5161"/>
              </a:solidFill>
              <a:latin typeface="DM Sans Medium"/>
              <a:ea typeface="DM Sans Medium"/>
              <a:cs typeface="DM Sans Medium"/>
              <a:sym typeface="DM Sans Medium"/>
            </a:endParaRPr>
          </a:p>
        </p:txBody>
      </p:sp>
      <p:sp>
        <p:nvSpPr>
          <p:cNvPr id="1145" name="Google Shape;1145;p69"/>
          <p:cNvSpPr/>
          <p:nvPr/>
        </p:nvSpPr>
        <p:spPr>
          <a:xfrm>
            <a:off x="5967926" y="4757074"/>
            <a:ext cx="2138100" cy="662100"/>
          </a:xfrm>
          <a:prstGeom prst="roundRect">
            <a:avLst>
              <a:gd fmla="val 13719" name="adj"/>
            </a:avLst>
          </a:prstGeom>
          <a:solidFill>
            <a:srgbClr val="FFFFFF"/>
          </a:solidFill>
          <a:ln cap="flat" cmpd="sng" w="9525">
            <a:solidFill>
              <a:schemeClr val="accent1"/>
            </a:solidFill>
            <a:prstDash val="solid"/>
            <a:round/>
            <a:headEnd len="sm" w="sm" type="none"/>
            <a:tailEnd len="sm" w="sm" type="none"/>
          </a:ln>
        </p:spPr>
        <p:txBody>
          <a:bodyPr anchorCtr="0" anchor="b" bIns="0" lIns="0" spcFirstLastPara="1" rIns="0" wrap="square" tIns="18275">
            <a:noAutofit/>
          </a:bodyPr>
          <a:lstStyle/>
          <a:p>
            <a:pPr indent="0" lvl="0" marL="0" rtl="0" algn="ctr">
              <a:spcBef>
                <a:spcPts val="0"/>
              </a:spcBef>
              <a:spcAft>
                <a:spcPts val="0"/>
              </a:spcAft>
              <a:buNone/>
            </a:pPr>
            <a:r>
              <a:rPr lang="en" sz="1200">
                <a:solidFill>
                  <a:srgbClr val="1B5161"/>
                </a:solidFill>
                <a:latin typeface="DM Sans Medium"/>
                <a:ea typeface="DM Sans Medium"/>
                <a:cs typeface="DM Sans Medium"/>
                <a:sym typeface="DM Sans Medium"/>
              </a:rPr>
              <a:t>Unallocated Pool</a:t>
            </a:r>
            <a:endParaRPr sz="1200">
              <a:solidFill>
                <a:srgbClr val="1B5161"/>
              </a:solidFill>
              <a:latin typeface="DM Sans Medium"/>
              <a:ea typeface="DM Sans Medium"/>
              <a:cs typeface="DM Sans Medium"/>
              <a:sym typeface="DM Sans Medium"/>
            </a:endParaRPr>
          </a:p>
        </p:txBody>
      </p:sp>
      <p:pic>
        <p:nvPicPr>
          <p:cNvPr id="1146" name="Google Shape;1146;p69"/>
          <p:cNvPicPr preferRelativeResize="0"/>
          <p:nvPr/>
        </p:nvPicPr>
        <p:blipFill>
          <a:blip r:embed="rId5">
            <a:alphaModFix/>
          </a:blip>
          <a:stretch>
            <a:fillRect/>
          </a:stretch>
        </p:blipFill>
        <p:spPr>
          <a:xfrm>
            <a:off x="6892580" y="4837204"/>
            <a:ext cx="334546" cy="334573"/>
          </a:xfrm>
          <a:prstGeom prst="rect">
            <a:avLst/>
          </a:prstGeom>
          <a:noFill/>
          <a:ln>
            <a:noFill/>
          </a:ln>
        </p:spPr>
      </p:pic>
      <p:pic>
        <p:nvPicPr>
          <p:cNvPr id="1147" name="Google Shape;1147;p69"/>
          <p:cNvPicPr preferRelativeResize="0"/>
          <p:nvPr/>
        </p:nvPicPr>
        <p:blipFill>
          <a:blip r:embed="rId5">
            <a:alphaModFix/>
          </a:blip>
          <a:stretch>
            <a:fillRect/>
          </a:stretch>
        </p:blipFill>
        <p:spPr>
          <a:xfrm>
            <a:off x="7220467" y="4837204"/>
            <a:ext cx="334546" cy="334573"/>
          </a:xfrm>
          <a:prstGeom prst="rect">
            <a:avLst/>
          </a:prstGeom>
          <a:noFill/>
          <a:ln>
            <a:noFill/>
          </a:ln>
        </p:spPr>
      </p:pic>
      <p:sp>
        <p:nvSpPr>
          <p:cNvPr id="1148" name="Google Shape;1148;p69"/>
          <p:cNvSpPr/>
          <p:nvPr/>
        </p:nvSpPr>
        <p:spPr>
          <a:xfrm>
            <a:off x="4637775" y="4757200"/>
            <a:ext cx="1234200" cy="6621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solidFill>
                  <a:srgbClr val="1B5161"/>
                </a:solidFill>
                <a:latin typeface="DM Sans Medium"/>
                <a:ea typeface="DM Sans Medium"/>
                <a:cs typeface="DM Sans Medium"/>
                <a:sym typeface="DM Sans Medium"/>
              </a:rPr>
              <a:t>Serverless Compute Manager</a:t>
            </a:r>
            <a:endParaRPr i="1">
              <a:solidFill>
                <a:srgbClr val="FF3620"/>
              </a:solidFill>
              <a:latin typeface="DM Sans Medium"/>
              <a:ea typeface="DM Sans Medium"/>
              <a:cs typeface="DM Sans Medium"/>
              <a:sym typeface="DM Sans Medium"/>
            </a:endParaRPr>
          </a:p>
        </p:txBody>
      </p:sp>
      <p:sp>
        <p:nvSpPr>
          <p:cNvPr id="1149" name="Google Shape;1149;p69"/>
          <p:cNvSpPr/>
          <p:nvPr/>
        </p:nvSpPr>
        <p:spPr>
          <a:xfrm>
            <a:off x="9025957" y="2132500"/>
            <a:ext cx="1719900" cy="3648600"/>
          </a:xfrm>
          <a:prstGeom prst="roundRect">
            <a:avLst>
              <a:gd fmla="val 7101" name="adj"/>
            </a:avLst>
          </a:prstGeom>
          <a:solidFill>
            <a:srgbClr val="FFFFFF"/>
          </a:solidFill>
          <a:ln cap="flat" cmpd="sng" w="9525">
            <a:solidFill>
              <a:schemeClr val="accent1"/>
            </a:solidFill>
            <a:prstDash val="solid"/>
            <a:round/>
            <a:headEnd len="sm" w="sm" type="none"/>
            <a:tailEnd len="sm" w="sm" type="none"/>
          </a:ln>
        </p:spPr>
        <p:txBody>
          <a:bodyPr anchorCtr="0" anchor="t" bIns="18275" lIns="18275" spcFirstLastPara="1" rIns="18275" wrap="square" tIns="18275">
            <a:noAutofit/>
          </a:bodyPr>
          <a:lstStyle/>
          <a:p>
            <a:pPr indent="0" lvl="0" marL="0" rtl="0" algn="l">
              <a:spcBef>
                <a:spcPts val="0"/>
              </a:spcBef>
              <a:spcAft>
                <a:spcPts val="0"/>
              </a:spcAft>
              <a:buNone/>
            </a:pPr>
            <a:r>
              <a:t/>
            </a:r>
            <a:endParaRPr i="1" sz="1800">
              <a:solidFill>
                <a:srgbClr val="BD802B"/>
              </a:solidFill>
              <a:latin typeface="DM Sans Medium"/>
              <a:ea typeface="DM Sans Medium"/>
              <a:cs typeface="DM Sans Medium"/>
              <a:sym typeface="DM Sans Medium"/>
            </a:endParaRPr>
          </a:p>
        </p:txBody>
      </p:sp>
      <p:sp>
        <p:nvSpPr>
          <p:cNvPr id="1150" name="Google Shape;1150;p69"/>
          <p:cNvSpPr/>
          <p:nvPr/>
        </p:nvSpPr>
        <p:spPr>
          <a:xfrm>
            <a:off x="9264524" y="4914825"/>
            <a:ext cx="1292700" cy="386100"/>
          </a:xfrm>
          <a:prstGeom prst="roundRect">
            <a:avLst>
              <a:gd fmla="val 10693"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ID Provider</a:t>
            </a:r>
            <a:endParaRPr sz="1200">
              <a:solidFill>
                <a:schemeClr val="accent1"/>
              </a:solidFill>
              <a:latin typeface="DM Sans Medium"/>
              <a:ea typeface="DM Sans Medium"/>
              <a:cs typeface="DM Sans Medium"/>
              <a:sym typeface="DM Sans Medium"/>
            </a:endParaRPr>
          </a:p>
        </p:txBody>
      </p:sp>
      <p:sp>
        <p:nvSpPr>
          <p:cNvPr id="1151" name="Google Shape;1151;p69"/>
          <p:cNvSpPr/>
          <p:nvPr/>
        </p:nvSpPr>
        <p:spPr>
          <a:xfrm>
            <a:off x="9253217" y="4253688"/>
            <a:ext cx="1292700" cy="389100"/>
          </a:xfrm>
          <a:prstGeom prst="roundRect">
            <a:avLst>
              <a:gd fmla="val 10693"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Other data sources</a:t>
            </a:r>
            <a:endParaRPr sz="1200">
              <a:solidFill>
                <a:schemeClr val="accent1"/>
              </a:solidFill>
              <a:latin typeface="DM Sans Medium"/>
              <a:ea typeface="DM Sans Medium"/>
              <a:cs typeface="DM Sans Medium"/>
              <a:sym typeface="DM Sans Medium"/>
            </a:endParaRPr>
          </a:p>
        </p:txBody>
      </p:sp>
      <p:sp>
        <p:nvSpPr>
          <p:cNvPr id="1152" name="Google Shape;1152;p69"/>
          <p:cNvSpPr/>
          <p:nvPr/>
        </p:nvSpPr>
        <p:spPr>
          <a:xfrm>
            <a:off x="9264871" y="2612675"/>
            <a:ext cx="1292700" cy="1368901"/>
          </a:xfrm>
          <a:prstGeom prst="roundRect">
            <a:avLst>
              <a:gd fmla="val 7534" name="adj"/>
            </a:avLst>
          </a:prstGeom>
          <a:solidFill>
            <a:srgbClr val="FFFFFF"/>
          </a:solidFill>
          <a:ln cap="flat" cmpd="sng" w="9525">
            <a:solidFill>
              <a:schemeClr val="accent1"/>
            </a:solidFill>
            <a:prstDash val="solid"/>
            <a:round/>
            <a:headEnd len="sm" w="sm" type="none"/>
            <a:tailEnd len="sm" w="sm" type="none"/>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     Cloud Storage</a:t>
            </a:r>
            <a:endParaRPr sz="1200">
              <a:solidFill>
                <a:schemeClr val="accent1"/>
              </a:solidFill>
              <a:latin typeface="DM Sans Medium"/>
              <a:ea typeface="DM Sans Medium"/>
              <a:cs typeface="DM Sans Medium"/>
              <a:sym typeface="DM Sans Medium"/>
            </a:endParaRPr>
          </a:p>
        </p:txBody>
      </p:sp>
      <p:sp>
        <p:nvSpPr>
          <p:cNvPr id="1153" name="Google Shape;1153;p69"/>
          <p:cNvSpPr/>
          <p:nvPr/>
        </p:nvSpPr>
        <p:spPr>
          <a:xfrm>
            <a:off x="9419348" y="3559168"/>
            <a:ext cx="954000" cy="3381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a:ea typeface="DM Sans"/>
                <a:cs typeface="DM Sans"/>
                <a:sym typeface="DM Sans"/>
              </a:rPr>
              <a:t>root bucket</a:t>
            </a:r>
            <a:br>
              <a:rPr lang="en" sz="1100">
                <a:solidFill>
                  <a:schemeClr val="accent1"/>
                </a:solidFill>
                <a:latin typeface="DM Sans"/>
                <a:ea typeface="DM Sans"/>
                <a:cs typeface="DM Sans"/>
                <a:sym typeface="DM Sans"/>
              </a:rPr>
            </a:br>
            <a:r>
              <a:rPr lang="en" sz="1100">
                <a:solidFill>
                  <a:schemeClr val="accent1"/>
                </a:solidFill>
                <a:latin typeface="DM Sans"/>
                <a:ea typeface="DM Sans"/>
                <a:cs typeface="DM Sans"/>
                <a:sym typeface="DM Sans"/>
              </a:rPr>
              <a:t>(DBFS)</a:t>
            </a:r>
            <a:endParaRPr sz="1100">
              <a:solidFill>
                <a:schemeClr val="accent1"/>
              </a:solidFill>
              <a:latin typeface="DM Sans"/>
              <a:ea typeface="DM Sans"/>
              <a:cs typeface="DM Sans"/>
              <a:sym typeface="DM Sans"/>
            </a:endParaRPr>
          </a:p>
        </p:txBody>
      </p:sp>
      <p:sp>
        <p:nvSpPr>
          <p:cNvPr id="1154" name="Google Shape;1154;p69"/>
          <p:cNvSpPr/>
          <p:nvPr/>
        </p:nvSpPr>
        <p:spPr>
          <a:xfrm rot="-5393414">
            <a:off x="4041653" y="3883425"/>
            <a:ext cx="156600" cy="2745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5" name="Google Shape;1155;p69"/>
          <p:cNvPicPr preferRelativeResize="0"/>
          <p:nvPr/>
        </p:nvPicPr>
        <p:blipFill>
          <a:blip r:embed="rId6">
            <a:alphaModFix/>
          </a:blip>
          <a:stretch>
            <a:fillRect/>
          </a:stretch>
        </p:blipFill>
        <p:spPr>
          <a:xfrm>
            <a:off x="6279785" y="2966049"/>
            <a:ext cx="389134" cy="389100"/>
          </a:xfrm>
          <a:prstGeom prst="rect">
            <a:avLst/>
          </a:prstGeom>
          <a:noFill/>
          <a:ln>
            <a:noFill/>
          </a:ln>
        </p:spPr>
      </p:pic>
      <p:pic>
        <p:nvPicPr>
          <p:cNvPr id="1156" name="Google Shape;1156;p69"/>
          <p:cNvPicPr preferRelativeResize="0"/>
          <p:nvPr/>
        </p:nvPicPr>
        <p:blipFill>
          <a:blip r:embed="rId6">
            <a:alphaModFix/>
          </a:blip>
          <a:stretch>
            <a:fillRect/>
          </a:stretch>
        </p:blipFill>
        <p:spPr>
          <a:xfrm>
            <a:off x="6846731" y="2966049"/>
            <a:ext cx="389134" cy="389100"/>
          </a:xfrm>
          <a:prstGeom prst="rect">
            <a:avLst/>
          </a:prstGeom>
          <a:noFill/>
          <a:ln>
            <a:noFill/>
          </a:ln>
        </p:spPr>
      </p:pic>
      <p:pic>
        <p:nvPicPr>
          <p:cNvPr id="1157" name="Google Shape;1157;p69"/>
          <p:cNvPicPr preferRelativeResize="0"/>
          <p:nvPr/>
        </p:nvPicPr>
        <p:blipFill>
          <a:blip r:embed="rId6">
            <a:alphaModFix/>
          </a:blip>
          <a:stretch>
            <a:fillRect/>
          </a:stretch>
        </p:blipFill>
        <p:spPr>
          <a:xfrm>
            <a:off x="7410655" y="2966049"/>
            <a:ext cx="389134" cy="389100"/>
          </a:xfrm>
          <a:prstGeom prst="rect">
            <a:avLst/>
          </a:prstGeom>
          <a:noFill/>
          <a:ln>
            <a:noFill/>
          </a:ln>
        </p:spPr>
      </p:pic>
      <p:sp>
        <p:nvSpPr>
          <p:cNvPr id="1158" name="Google Shape;1158;p69"/>
          <p:cNvSpPr/>
          <p:nvPr/>
        </p:nvSpPr>
        <p:spPr>
          <a:xfrm>
            <a:off x="1996886" y="4136200"/>
            <a:ext cx="1550100" cy="1283100"/>
          </a:xfrm>
          <a:prstGeom prst="roundRect">
            <a:avLst>
              <a:gd fmla="val 6143"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Platform Services</a:t>
            </a:r>
            <a:endParaRPr sz="1600">
              <a:solidFill>
                <a:schemeClr val="accent1"/>
              </a:solidFill>
              <a:latin typeface="DM Sans Medium"/>
              <a:ea typeface="DM Sans Medium"/>
              <a:cs typeface="DM Sans Medium"/>
              <a:sym typeface="DM Sans Medium"/>
            </a:endParaRPr>
          </a:p>
        </p:txBody>
      </p:sp>
      <p:sp>
        <p:nvSpPr>
          <p:cNvPr id="1159" name="Google Shape;1159;p69"/>
          <p:cNvSpPr/>
          <p:nvPr/>
        </p:nvSpPr>
        <p:spPr>
          <a:xfrm>
            <a:off x="941061" y="4136100"/>
            <a:ext cx="976800" cy="1283100"/>
          </a:xfrm>
          <a:prstGeom prst="roundRect">
            <a:avLst>
              <a:gd fmla="val 8689"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Unity Catalog</a:t>
            </a:r>
            <a:endParaRPr sz="1600">
              <a:solidFill>
                <a:schemeClr val="dk1"/>
              </a:solidFill>
              <a:latin typeface="DM Sans Medium"/>
              <a:ea typeface="DM Sans Medium"/>
              <a:cs typeface="DM Sans Medium"/>
              <a:sym typeface="DM Sans Medium"/>
            </a:endParaRPr>
          </a:p>
        </p:txBody>
      </p:sp>
      <p:sp>
        <p:nvSpPr>
          <p:cNvPr id="1160" name="Google Shape;1160;p69"/>
          <p:cNvSpPr/>
          <p:nvPr/>
        </p:nvSpPr>
        <p:spPr>
          <a:xfrm>
            <a:off x="941061" y="3643200"/>
            <a:ext cx="2605800" cy="419700"/>
          </a:xfrm>
          <a:prstGeom prst="roundRect">
            <a:avLst>
              <a:gd fmla="val 20818"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DatabricksIQ</a:t>
            </a:r>
            <a:endParaRPr sz="1600">
              <a:solidFill>
                <a:schemeClr val="dk1"/>
              </a:solidFill>
              <a:latin typeface="DM Sans Medium"/>
              <a:ea typeface="DM Sans Medium"/>
              <a:cs typeface="DM Sans Medium"/>
              <a:sym typeface="DM Sans Medium"/>
            </a:endParaRPr>
          </a:p>
        </p:txBody>
      </p:sp>
      <p:pic>
        <p:nvPicPr>
          <p:cNvPr id="1161" name="Google Shape;1161;p69"/>
          <p:cNvPicPr preferRelativeResize="0"/>
          <p:nvPr/>
        </p:nvPicPr>
        <p:blipFill>
          <a:blip r:embed="rId5">
            <a:alphaModFix/>
          </a:blip>
          <a:stretch>
            <a:fillRect/>
          </a:stretch>
        </p:blipFill>
        <p:spPr>
          <a:xfrm>
            <a:off x="7548355" y="4837204"/>
            <a:ext cx="334546" cy="334573"/>
          </a:xfrm>
          <a:prstGeom prst="rect">
            <a:avLst/>
          </a:prstGeom>
          <a:noFill/>
          <a:ln>
            <a:noFill/>
          </a:ln>
        </p:spPr>
      </p:pic>
      <p:sp>
        <p:nvSpPr>
          <p:cNvPr id="1162" name="Google Shape;1162;p69"/>
          <p:cNvSpPr/>
          <p:nvPr/>
        </p:nvSpPr>
        <p:spPr>
          <a:xfrm>
            <a:off x="5967950" y="3662625"/>
            <a:ext cx="2138100" cy="799500"/>
          </a:xfrm>
          <a:prstGeom prst="roundRect">
            <a:avLst>
              <a:gd fmla="val 16591" name="adj"/>
            </a:avLst>
          </a:prstGeom>
          <a:solidFill>
            <a:srgbClr val="FFFFFF"/>
          </a:solidFill>
          <a:ln cap="flat" cmpd="sng" w="9525">
            <a:solidFill>
              <a:schemeClr val="accent1"/>
            </a:solidFill>
            <a:prstDash val="solid"/>
            <a:round/>
            <a:headEnd len="sm" w="sm" type="none"/>
            <a:tailEnd len="sm" w="sm" type="none"/>
          </a:ln>
        </p:spPr>
        <p:txBody>
          <a:bodyPr anchorCtr="0" anchor="b" bIns="0" lIns="0" spcFirstLastPara="1" rIns="0" wrap="square" tIns="18275">
            <a:noAutofit/>
          </a:bodyPr>
          <a:lstStyle/>
          <a:p>
            <a:pPr indent="0" lvl="0" marL="0" rtl="0" algn="ctr">
              <a:spcBef>
                <a:spcPts val="0"/>
              </a:spcBef>
              <a:spcAft>
                <a:spcPts val="0"/>
              </a:spcAft>
              <a:buNone/>
            </a:pPr>
            <a:r>
              <a:rPr lang="en" sz="1200">
                <a:solidFill>
                  <a:srgbClr val="1B5161"/>
                </a:solidFill>
                <a:latin typeface="DM Sans Medium"/>
                <a:ea typeface="DM Sans Medium"/>
                <a:cs typeface="DM Sans Medium"/>
                <a:sym typeface="DM Sans Medium"/>
              </a:rPr>
              <a:t>Notebooks, Lakeflow Jobs, LDP</a:t>
            </a:r>
            <a:endParaRPr sz="1200">
              <a:solidFill>
                <a:srgbClr val="1B5161"/>
              </a:solidFill>
              <a:latin typeface="DM Sans Medium"/>
              <a:ea typeface="DM Sans Medium"/>
              <a:cs typeface="DM Sans Medium"/>
              <a:sym typeface="DM Sans Medium"/>
            </a:endParaRPr>
          </a:p>
        </p:txBody>
      </p:sp>
      <p:pic>
        <p:nvPicPr>
          <p:cNvPr id="1163" name="Google Shape;1163;p69"/>
          <p:cNvPicPr preferRelativeResize="0"/>
          <p:nvPr/>
        </p:nvPicPr>
        <p:blipFill>
          <a:blip r:embed="rId5">
            <a:alphaModFix/>
          </a:blip>
          <a:stretch>
            <a:fillRect/>
          </a:stretch>
        </p:blipFill>
        <p:spPr>
          <a:xfrm>
            <a:off x="6848247" y="3697395"/>
            <a:ext cx="386102" cy="386100"/>
          </a:xfrm>
          <a:prstGeom prst="rect">
            <a:avLst/>
          </a:prstGeom>
          <a:noFill/>
          <a:ln>
            <a:noFill/>
          </a:ln>
        </p:spPr>
      </p:pic>
      <p:pic>
        <p:nvPicPr>
          <p:cNvPr id="1164" name="Google Shape;1164;p69"/>
          <p:cNvPicPr preferRelativeResize="0"/>
          <p:nvPr/>
        </p:nvPicPr>
        <p:blipFill>
          <a:blip r:embed="rId5">
            <a:alphaModFix/>
          </a:blip>
          <a:stretch>
            <a:fillRect/>
          </a:stretch>
        </p:blipFill>
        <p:spPr>
          <a:xfrm>
            <a:off x="7412171" y="3697395"/>
            <a:ext cx="386102" cy="386100"/>
          </a:xfrm>
          <a:prstGeom prst="rect">
            <a:avLst/>
          </a:prstGeom>
          <a:noFill/>
          <a:ln>
            <a:noFill/>
          </a:ln>
        </p:spPr>
      </p:pic>
      <p:pic>
        <p:nvPicPr>
          <p:cNvPr id="1165" name="Google Shape;1165;p69"/>
          <p:cNvPicPr preferRelativeResize="0"/>
          <p:nvPr/>
        </p:nvPicPr>
        <p:blipFill>
          <a:blip r:embed="rId5">
            <a:alphaModFix/>
          </a:blip>
          <a:stretch>
            <a:fillRect/>
          </a:stretch>
        </p:blipFill>
        <p:spPr>
          <a:xfrm>
            <a:off x="6281311" y="3697405"/>
            <a:ext cx="386083" cy="386080"/>
          </a:xfrm>
          <a:prstGeom prst="rect">
            <a:avLst/>
          </a:prstGeom>
          <a:noFill/>
          <a:ln>
            <a:noFill/>
          </a:ln>
        </p:spPr>
      </p:pic>
      <p:pic>
        <p:nvPicPr>
          <p:cNvPr id="1166" name="Google Shape;1166;p69"/>
          <p:cNvPicPr preferRelativeResize="0"/>
          <p:nvPr/>
        </p:nvPicPr>
        <p:blipFill>
          <a:blip r:embed="rId5">
            <a:alphaModFix/>
          </a:blip>
          <a:stretch>
            <a:fillRect/>
          </a:stretch>
        </p:blipFill>
        <p:spPr>
          <a:xfrm>
            <a:off x="6212526" y="4833728"/>
            <a:ext cx="334546" cy="334573"/>
          </a:xfrm>
          <a:prstGeom prst="rect">
            <a:avLst/>
          </a:prstGeom>
          <a:noFill/>
          <a:ln>
            <a:noFill/>
          </a:ln>
        </p:spPr>
      </p:pic>
      <p:pic>
        <p:nvPicPr>
          <p:cNvPr id="1167" name="Google Shape;1167;p69"/>
          <p:cNvPicPr preferRelativeResize="0"/>
          <p:nvPr/>
        </p:nvPicPr>
        <p:blipFill>
          <a:blip r:embed="rId5">
            <a:alphaModFix/>
          </a:blip>
          <a:stretch>
            <a:fillRect/>
          </a:stretch>
        </p:blipFill>
        <p:spPr>
          <a:xfrm>
            <a:off x="6540414" y="4837204"/>
            <a:ext cx="334546" cy="334573"/>
          </a:xfrm>
          <a:prstGeom prst="rect">
            <a:avLst/>
          </a:prstGeom>
          <a:noFill/>
          <a:ln>
            <a:noFill/>
          </a:ln>
        </p:spPr>
      </p:pic>
      <p:sp>
        <p:nvSpPr>
          <p:cNvPr id="1168" name="Google Shape;1168;p69"/>
          <p:cNvSpPr/>
          <p:nvPr/>
        </p:nvSpPr>
        <p:spPr>
          <a:xfrm rot="10800000">
            <a:off x="6883222" y="4560997"/>
            <a:ext cx="307500" cy="97200"/>
          </a:xfrm>
          <a:prstGeom prst="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9" name="Google Shape;1169;p69"/>
          <p:cNvPicPr preferRelativeResize="0"/>
          <p:nvPr/>
        </p:nvPicPr>
        <p:blipFill rotWithShape="1">
          <a:blip r:embed="rId7">
            <a:alphaModFix/>
          </a:blip>
          <a:srcRect b="0" l="0" r="0" t="0"/>
          <a:stretch/>
        </p:blipFill>
        <p:spPr>
          <a:xfrm>
            <a:off x="9659688" y="3030576"/>
            <a:ext cx="503074" cy="390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70"/>
          <p:cNvSpPr/>
          <p:nvPr/>
        </p:nvSpPr>
        <p:spPr>
          <a:xfrm>
            <a:off x="5214975" y="2362525"/>
            <a:ext cx="3096900" cy="32205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0" spcFirstLastPara="1" rIns="0"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     Serverless Compute</a:t>
            </a:r>
            <a:endParaRPr sz="2000">
              <a:solidFill>
                <a:schemeClr val="accent1"/>
              </a:solidFill>
              <a:latin typeface="DM Sans Medium"/>
              <a:ea typeface="DM Sans Medium"/>
              <a:cs typeface="DM Sans Medium"/>
              <a:sym typeface="DM Sans Medium"/>
            </a:endParaRPr>
          </a:p>
        </p:txBody>
      </p:sp>
      <p:sp>
        <p:nvSpPr>
          <p:cNvPr id="1175" name="Google Shape;1175;p70"/>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a:t>
            </a:r>
            <a:endParaRPr sz="3600"/>
          </a:p>
        </p:txBody>
      </p:sp>
      <p:sp>
        <p:nvSpPr>
          <p:cNvPr id="1176" name="Google Shape;1176;p7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177" name="Google Shape;1177;p70"/>
          <p:cNvSpPr/>
          <p:nvPr/>
        </p:nvSpPr>
        <p:spPr>
          <a:xfrm rot="-5386829">
            <a:off x="8798263" y="3121500"/>
            <a:ext cx="156601" cy="571500"/>
          </a:xfrm>
          <a:prstGeom prst="down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0"/>
          <p:cNvSpPr/>
          <p:nvPr/>
        </p:nvSpPr>
        <p:spPr>
          <a:xfrm rot="-5386829">
            <a:off x="8798239" y="4546602"/>
            <a:ext cx="156601" cy="571500"/>
          </a:xfrm>
          <a:prstGeom prst="downArrow">
            <a:avLst>
              <a:gd fmla="val 50000" name="adj1"/>
              <a:gd fmla="val 50000" name="adj2"/>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0"/>
          <p:cNvSpPr/>
          <p:nvPr/>
        </p:nvSpPr>
        <p:spPr>
          <a:xfrm>
            <a:off x="9441380" y="2513275"/>
            <a:ext cx="1735200" cy="1488900"/>
          </a:xfrm>
          <a:prstGeom prst="roundRect">
            <a:avLst>
              <a:gd fmla="val 7101" name="adj"/>
            </a:avLst>
          </a:prstGeom>
          <a:solidFill>
            <a:srgbClr val="FFFFFF"/>
          </a:solidFill>
          <a:ln cap="flat" cmpd="sng" w="9525">
            <a:solidFill>
              <a:schemeClr val="accent4"/>
            </a:solidFill>
            <a:prstDash val="solid"/>
            <a:round/>
            <a:headEnd len="sm" w="sm" type="none"/>
            <a:tailEnd len="sm" w="sm" type="none"/>
          </a:ln>
        </p:spPr>
        <p:txBody>
          <a:bodyPr anchorCtr="0" anchor="t" bIns="91425" lIns="27425" spcFirstLastPara="1" rIns="91425" wrap="square" tIns="0">
            <a:noAutofit/>
          </a:bodyPr>
          <a:lstStyle/>
          <a:p>
            <a:pPr indent="0" lvl="0" marL="0" rtl="0" algn="l">
              <a:spcBef>
                <a:spcPts val="0"/>
              </a:spcBef>
              <a:spcAft>
                <a:spcPts val="0"/>
              </a:spcAft>
              <a:buNone/>
            </a:pPr>
            <a:r>
              <a:rPr i="1" lang="en" sz="1700">
                <a:solidFill>
                  <a:srgbClr val="F5A300"/>
                </a:solidFill>
                <a:latin typeface="DM Sans Medium"/>
                <a:ea typeface="DM Sans Medium"/>
                <a:cs typeface="DM Sans Medium"/>
                <a:sym typeface="DM Sans Medium"/>
              </a:rPr>
              <a:t>A</a:t>
            </a:r>
            <a:endParaRPr i="1" sz="1700">
              <a:solidFill>
                <a:srgbClr val="F5A300"/>
              </a:solidFill>
              <a:latin typeface="DM Sans Medium"/>
              <a:ea typeface="DM Sans Medium"/>
              <a:cs typeface="DM Sans Medium"/>
              <a:sym typeface="DM Sans Medium"/>
            </a:endParaRPr>
          </a:p>
        </p:txBody>
      </p:sp>
      <p:sp>
        <p:nvSpPr>
          <p:cNvPr id="1180" name="Google Shape;1180;p70"/>
          <p:cNvSpPr/>
          <p:nvPr/>
        </p:nvSpPr>
        <p:spPr>
          <a:xfrm>
            <a:off x="9735865" y="3515646"/>
            <a:ext cx="1292700" cy="363000"/>
          </a:xfrm>
          <a:prstGeom prst="roundRect">
            <a:avLst>
              <a:gd fmla="val 1069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ID Provider</a:t>
            </a:r>
            <a:endParaRPr sz="1200">
              <a:solidFill>
                <a:schemeClr val="accent1"/>
              </a:solidFill>
              <a:latin typeface="DM Sans Medium"/>
              <a:ea typeface="DM Sans Medium"/>
              <a:cs typeface="DM Sans Medium"/>
              <a:sym typeface="DM Sans Medium"/>
            </a:endParaRPr>
          </a:p>
        </p:txBody>
      </p:sp>
      <p:sp>
        <p:nvSpPr>
          <p:cNvPr id="1181" name="Google Shape;1181;p70"/>
          <p:cNvSpPr/>
          <p:nvPr/>
        </p:nvSpPr>
        <p:spPr>
          <a:xfrm>
            <a:off x="9735730" y="3084642"/>
            <a:ext cx="1292700" cy="363600"/>
          </a:xfrm>
          <a:prstGeom prst="roundRect">
            <a:avLst>
              <a:gd fmla="val 1069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Other data sources</a:t>
            </a:r>
            <a:endParaRPr sz="1200">
              <a:solidFill>
                <a:schemeClr val="accent1"/>
              </a:solidFill>
              <a:latin typeface="DM Sans Medium"/>
              <a:ea typeface="DM Sans Medium"/>
              <a:cs typeface="DM Sans Medium"/>
              <a:sym typeface="DM Sans Medium"/>
            </a:endParaRPr>
          </a:p>
        </p:txBody>
      </p:sp>
      <p:sp>
        <p:nvSpPr>
          <p:cNvPr id="1182" name="Google Shape;1182;p70"/>
          <p:cNvSpPr/>
          <p:nvPr/>
        </p:nvSpPr>
        <p:spPr>
          <a:xfrm>
            <a:off x="9735625" y="2655600"/>
            <a:ext cx="1292700" cy="361800"/>
          </a:xfrm>
          <a:prstGeom prst="roundRect">
            <a:avLst>
              <a:gd fmla="val 16555"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Cloud Storage</a:t>
            </a:r>
            <a:endParaRPr sz="1200">
              <a:solidFill>
                <a:schemeClr val="accent1"/>
              </a:solidFill>
              <a:latin typeface="DM Sans Medium"/>
              <a:ea typeface="DM Sans Medium"/>
              <a:cs typeface="DM Sans Medium"/>
              <a:sym typeface="DM Sans Medium"/>
            </a:endParaRPr>
          </a:p>
        </p:txBody>
      </p:sp>
      <p:sp>
        <p:nvSpPr>
          <p:cNvPr id="1183" name="Google Shape;1183;p70"/>
          <p:cNvSpPr txBox="1"/>
          <p:nvPr>
            <p:ph idx="1" type="subTitle"/>
          </p:nvPr>
        </p:nvSpPr>
        <p:spPr>
          <a:xfrm>
            <a:off x="764800" y="946100"/>
            <a:ext cx="111531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SQL - </a:t>
            </a:r>
            <a:r>
              <a:rPr lang="en"/>
              <a:t>Serverless SQL </a:t>
            </a:r>
            <a:r>
              <a:rPr lang="en"/>
              <a:t>Compute (storage in customer subscription)</a:t>
            </a:r>
            <a:endParaRPr/>
          </a:p>
        </p:txBody>
      </p:sp>
      <p:sp>
        <p:nvSpPr>
          <p:cNvPr id="1184" name="Google Shape;1184;p70"/>
          <p:cNvSpPr/>
          <p:nvPr/>
        </p:nvSpPr>
        <p:spPr>
          <a:xfrm>
            <a:off x="9322000" y="1714500"/>
            <a:ext cx="19965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185" name="Google Shape;1185;p70"/>
          <p:cNvSpPr/>
          <p:nvPr/>
        </p:nvSpPr>
        <p:spPr>
          <a:xfrm>
            <a:off x="1509375" y="1714500"/>
            <a:ext cx="34329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0"/>
          <p:cNvSpPr/>
          <p:nvPr/>
        </p:nvSpPr>
        <p:spPr>
          <a:xfrm>
            <a:off x="562650" y="1714500"/>
            <a:ext cx="78954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7" name="Google Shape;1187;p70"/>
          <p:cNvPicPr preferRelativeResize="0"/>
          <p:nvPr/>
        </p:nvPicPr>
        <p:blipFill rotWithShape="1">
          <a:blip r:embed="rId3">
            <a:alphaModFix/>
          </a:blip>
          <a:srcRect b="0" l="0" r="0" t="0"/>
          <a:stretch/>
        </p:blipFill>
        <p:spPr>
          <a:xfrm>
            <a:off x="3471247" y="1776743"/>
            <a:ext cx="2149050" cy="338050"/>
          </a:xfrm>
          <a:prstGeom prst="rect">
            <a:avLst/>
          </a:prstGeom>
          <a:noFill/>
          <a:ln>
            <a:noFill/>
          </a:ln>
        </p:spPr>
      </p:pic>
      <p:sp>
        <p:nvSpPr>
          <p:cNvPr id="1188" name="Google Shape;1188;p70"/>
          <p:cNvSpPr/>
          <p:nvPr/>
        </p:nvSpPr>
        <p:spPr>
          <a:xfrm>
            <a:off x="701825" y="3054825"/>
            <a:ext cx="4342800" cy="25281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sp>
        <p:nvSpPr>
          <p:cNvPr id="1189" name="Google Shape;1189;p70"/>
          <p:cNvSpPr/>
          <p:nvPr/>
        </p:nvSpPr>
        <p:spPr>
          <a:xfrm>
            <a:off x="701825" y="2350850"/>
            <a:ext cx="43428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Account Console</a:t>
            </a:r>
            <a:endParaRPr sz="2000">
              <a:solidFill>
                <a:schemeClr val="accent1"/>
              </a:solidFill>
              <a:latin typeface="DM Sans Medium"/>
              <a:ea typeface="DM Sans Medium"/>
              <a:cs typeface="DM Sans Medium"/>
              <a:sym typeface="DM Sans Medium"/>
            </a:endParaRPr>
          </a:p>
        </p:txBody>
      </p:sp>
      <p:pic>
        <p:nvPicPr>
          <p:cNvPr id="1190" name="Google Shape;1190;p70"/>
          <p:cNvPicPr preferRelativeResize="0"/>
          <p:nvPr/>
        </p:nvPicPr>
        <p:blipFill rotWithShape="1">
          <a:blip r:embed="rId3">
            <a:alphaModFix/>
          </a:blip>
          <a:srcRect b="0" l="0" r="82955" t="0"/>
          <a:stretch/>
        </p:blipFill>
        <p:spPr>
          <a:xfrm>
            <a:off x="1576088" y="2530063"/>
            <a:ext cx="245706" cy="226800"/>
          </a:xfrm>
          <a:prstGeom prst="rect">
            <a:avLst/>
          </a:prstGeom>
          <a:noFill/>
          <a:ln>
            <a:noFill/>
          </a:ln>
        </p:spPr>
      </p:pic>
      <p:pic>
        <p:nvPicPr>
          <p:cNvPr id="1191" name="Google Shape;1191;p70"/>
          <p:cNvPicPr preferRelativeResize="0"/>
          <p:nvPr/>
        </p:nvPicPr>
        <p:blipFill rotWithShape="1">
          <a:blip r:embed="rId3">
            <a:alphaModFix/>
          </a:blip>
          <a:srcRect b="0" l="0" r="82955" t="0"/>
          <a:stretch/>
        </p:blipFill>
        <p:spPr>
          <a:xfrm>
            <a:off x="1772488" y="3199747"/>
            <a:ext cx="245706" cy="226800"/>
          </a:xfrm>
          <a:prstGeom prst="rect">
            <a:avLst/>
          </a:prstGeom>
          <a:noFill/>
          <a:ln>
            <a:noFill/>
          </a:ln>
        </p:spPr>
      </p:pic>
      <p:sp>
        <p:nvSpPr>
          <p:cNvPr id="1192" name="Google Shape;1192;p70"/>
          <p:cNvSpPr txBox="1"/>
          <p:nvPr/>
        </p:nvSpPr>
        <p:spPr>
          <a:xfrm>
            <a:off x="5356217" y="3141063"/>
            <a:ext cx="13791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F5A300"/>
                </a:solidFill>
                <a:latin typeface="DM Sans Medium"/>
                <a:ea typeface="DM Sans Medium"/>
                <a:cs typeface="DM Sans Medium"/>
                <a:sym typeface="DM Sans Medium"/>
              </a:rPr>
              <a:t>Customer A</a:t>
            </a:r>
            <a:endParaRPr i="1" sz="1600">
              <a:solidFill>
                <a:srgbClr val="F5A300"/>
              </a:solidFill>
              <a:latin typeface="DM Sans"/>
              <a:ea typeface="DM Sans"/>
              <a:cs typeface="DM Sans"/>
              <a:sym typeface="DM Sans"/>
            </a:endParaRPr>
          </a:p>
        </p:txBody>
      </p:sp>
      <p:sp>
        <p:nvSpPr>
          <p:cNvPr id="1193" name="Google Shape;1193;p70"/>
          <p:cNvSpPr/>
          <p:nvPr/>
        </p:nvSpPr>
        <p:spPr>
          <a:xfrm>
            <a:off x="6708475" y="2956041"/>
            <a:ext cx="1227000" cy="9024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i="1" lang="en" sz="1600">
                <a:solidFill>
                  <a:srgbClr val="1B5161"/>
                </a:solidFill>
                <a:latin typeface="DM Sans"/>
                <a:ea typeface="DM Sans"/>
                <a:cs typeface="DM Sans"/>
                <a:sym typeface="DM Sans"/>
              </a:rPr>
              <a:t>clusters</a:t>
            </a:r>
            <a:endParaRPr i="1" sz="1600">
              <a:solidFill>
                <a:srgbClr val="1B5161"/>
              </a:solidFill>
              <a:latin typeface="DM Sans"/>
              <a:ea typeface="DM Sans"/>
              <a:cs typeface="DM Sans"/>
              <a:sym typeface="DM Sans"/>
            </a:endParaRPr>
          </a:p>
        </p:txBody>
      </p:sp>
      <p:sp>
        <p:nvSpPr>
          <p:cNvPr id="1194" name="Google Shape;1194;p70"/>
          <p:cNvSpPr txBox="1"/>
          <p:nvPr/>
        </p:nvSpPr>
        <p:spPr>
          <a:xfrm>
            <a:off x="5357018" y="4635677"/>
            <a:ext cx="13791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chemeClr val="accent2"/>
                </a:solidFill>
                <a:latin typeface="DM Sans Medium"/>
                <a:ea typeface="DM Sans Medium"/>
                <a:cs typeface="DM Sans Medium"/>
                <a:sym typeface="DM Sans Medium"/>
              </a:rPr>
              <a:t>Customer B</a:t>
            </a:r>
            <a:endParaRPr i="1" sz="1600">
              <a:solidFill>
                <a:schemeClr val="accent2"/>
              </a:solidFill>
              <a:latin typeface="DM Sans Medium"/>
              <a:ea typeface="DM Sans Medium"/>
              <a:cs typeface="DM Sans Medium"/>
              <a:sym typeface="DM Sans Medium"/>
            </a:endParaRPr>
          </a:p>
        </p:txBody>
      </p:sp>
      <p:sp>
        <p:nvSpPr>
          <p:cNvPr id="1195" name="Google Shape;1195;p70"/>
          <p:cNvSpPr/>
          <p:nvPr/>
        </p:nvSpPr>
        <p:spPr>
          <a:xfrm>
            <a:off x="6708475" y="4381152"/>
            <a:ext cx="1209300" cy="9024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i="1" lang="en" sz="1600">
                <a:solidFill>
                  <a:srgbClr val="1B5161"/>
                </a:solidFill>
                <a:latin typeface="DM Sans"/>
                <a:ea typeface="DM Sans"/>
                <a:cs typeface="DM Sans"/>
                <a:sym typeface="DM Sans"/>
              </a:rPr>
              <a:t>clusters</a:t>
            </a:r>
            <a:endParaRPr i="1" sz="1600">
              <a:solidFill>
                <a:srgbClr val="1B5161"/>
              </a:solidFill>
              <a:latin typeface="DM Sans"/>
              <a:ea typeface="DM Sans"/>
              <a:cs typeface="DM Sans"/>
              <a:sym typeface="DM Sans"/>
            </a:endParaRPr>
          </a:p>
        </p:txBody>
      </p:sp>
      <p:sp>
        <p:nvSpPr>
          <p:cNvPr id="1196" name="Google Shape;1196;p70"/>
          <p:cNvSpPr/>
          <p:nvPr/>
        </p:nvSpPr>
        <p:spPr>
          <a:xfrm>
            <a:off x="9441380" y="4094125"/>
            <a:ext cx="1735200" cy="1488900"/>
          </a:xfrm>
          <a:prstGeom prst="roundRect">
            <a:avLst>
              <a:gd fmla="val 7101" name="adj"/>
            </a:avLst>
          </a:prstGeom>
          <a:solidFill>
            <a:srgbClr val="FFFFFF"/>
          </a:solidFill>
          <a:ln cap="flat" cmpd="sng" w="9525">
            <a:solidFill>
              <a:schemeClr val="accent2"/>
            </a:solidFill>
            <a:prstDash val="solid"/>
            <a:round/>
            <a:headEnd len="sm" w="sm" type="none"/>
            <a:tailEnd len="sm" w="sm" type="none"/>
          </a:ln>
        </p:spPr>
        <p:txBody>
          <a:bodyPr anchorCtr="0" anchor="t" bIns="91425" lIns="27425" spcFirstLastPara="1" rIns="91425" wrap="square" tIns="0">
            <a:noAutofit/>
          </a:bodyPr>
          <a:lstStyle/>
          <a:p>
            <a:pPr indent="0" lvl="0" marL="0" rtl="0" algn="l">
              <a:spcBef>
                <a:spcPts val="0"/>
              </a:spcBef>
              <a:spcAft>
                <a:spcPts val="0"/>
              </a:spcAft>
              <a:buNone/>
            </a:pPr>
            <a:r>
              <a:rPr i="1" lang="en" sz="1700">
                <a:solidFill>
                  <a:schemeClr val="accent2"/>
                </a:solidFill>
                <a:latin typeface="DM Sans Medium"/>
                <a:ea typeface="DM Sans Medium"/>
                <a:cs typeface="DM Sans Medium"/>
                <a:sym typeface="DM Sans Medium"/>
              </a:rPr>
              <a:t>B</a:t>
            </a:r>
            <a:endParaRPr i="1" sz="1700">
              <a:solidFill>
                <a:schemeClr val="accent2"/>
              </a:solidFill>
              <a:latin typeface="DM Sans Medium"/>
              <a:ea typeface="DM Sans Medium"/>
              <a:cs typeface="DM Sans Medium"/>
              <a:sym typeface="DM Sans Medium"/>
            </a:endParaRPr>
          </a:p>
        </p:txBody>
      </p:sp>
      <p:sp>
        <p:nvSpPr>
          <p:cNvPr id="1197" name="Google Shape;1197;p70"/>
          <p:cNvSpPr/>
          <p:nvPr/>
        </p:nvSpPr>
        <p:spPr>
          <a:xfrm>
            <a:off x="9735865" y="5096496"/>
            <a:ext cx="1292700" cy="363000"/>
          </a:xfrm>
          <a:prstGeom prst="roundRect">
            <a:avLst>
              <a:gd fmla="val 1069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ID Provider</a:t>
            </a:r>
            <a:endParaRPr sz="1200">
              <a:solidFill>
                <a:schemeClr val="accent1"/>
              </a:solidFill>
              <a:latin typeface="DM Sans Medium"/>
              <a:ea typeface="DM Sans Medium"/>
              <a:cs typeface="DM Sans Medium"/>
              <a:sym typeface="DM Sans Medium"/>
            </a:endParaRPr>
          </a:p>
        </p:txBody>
      </p:sp>
      <p:sp>
        <p:nvSpPr>
          <p:cNvPr id="1198" name="Google Shape;1198;p70"/>
          <p:cNvSpPr/>
          <p:nvPr/>
        </p:nvSpPr>
        <p:spPr>
          <a:xfrm>
            <a:off x="9735730" y="4665492"/>
            <a:ext cx="1292700" cy="363600"/>
          </a:xfrm>
          <a:prstGeom prst="roundRect">
            <a:avLst>
              <a:gd fmla="val 1069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Other data sources</a:t>
            </a:r>
            <a:endParaRPr sz="1200">
              <a:solidFill>
                <a:schemeClr val="accent1"/>
              </a:solidFill>
              <a:latin typeface="DM Sans Medium"/>
              <a:ea typeface="DM Sans Medium"/>
              <a:cs typeface="DM Sans Medium"/>
              <a:sym typeface="DM Sans Medium"/>
            </a:endParaRPr>
          </a:p>
        </p:txBody>
      </p:sp>
      <p:sp>
        <p:nvSpPr>
          <p:cNvPr id="1199" name="Google Shape;1199;p70"/>
          <p:cNvSpPr/>
          <p:nvPr/>
        </p:nvSpPr>
        <p:spPr>
          <a:xfrm>
            <a:off x="9735625" y="4236450"/>
            <a:ext cx="1292700" cy="361800"/>
          </a:xfrm>
          <a:prstGeom prst="roundRect">
            <a:avLst>
              <a:gd fmla="val 16555"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Cloud Storage</a:t>
            </a:r>
            <a:endParaRPr sz="1200">
              <a:solidFill>
                <a:schemeClr val="accent1"/>
              </a:solidFill>
              <a:latin typeface="DM Sans Medium"/>
              <a:ea typeface="DM Sans Medium"/>
              <a:cs typeface="DM Sans Medium"/>
              <a:sym typeface="DM Sans Medium"/>
            </a:endParaRPr>
          </a:p>
        </p:txBody>
      </p:sp>
      <p:pic>
        <p:nvPicPr>
          <p:cNvPr id="1200" name="Google Shape;1200;p70"/>
          <p:cNvPicPr preferRelativeResize="0"/>
          <p:nvPr/>
        </p:nvPicPr>
        <p:blipFill rotWithShape="1">
          <a:blip r:embed="rId3">
            <a:alphaModFix/>
          </a:blip>
          <a:srcRect b="0" l="0" r="82955" t="0"/>
          <a:stretch/>
        </p:blipFill>
        <p:spPr>
          <a:xfrm>
            <a:off x="5427832" y="2509701"/>
            <a:ext cx="245706" cy="226800"/>
          </a:xfrm>
          <a:prstGeom prst="rect">
            <a:avLst/>
          </a:prstGeom>
          <a:noFill/>
          <a:ln>
            <a:noFill/>
          </a:ln>
        </p:spPr>
      </p:pic>
      <p:pic>
        <p:nvPicPr>
          <p:cNvPr id="1201" name="Google Shape;1201;p70"/>
          <p:cNvPicPr preferRelativeResize="0"/>
          <p:nvPr/>
        </p:nvPicPr>
        <p:blipFill>
          <a:blip r:embed="rId4">
            <a:alphaModFix/>
          </a:blip>
          <a:stretch>
            <a:fillRect/>
          </a:stretch>
        </p:blipFill>
        <p:spPr>
          <a:xfrm>
            <a:off x="6850065" y="4441705"/>
            <a:ext cx="468925" cy="468945"/>
          </a:xfrm>
          <a:prstGeom prst="rect">
            <a:avLst/>
          </a:prstGeom>
          <a:noFill/>
          <a:ln>
            <a:noFill/>
          </a:ln>
        </p:spPr>
      </p:pic>
      <p:pic>
        <p:nvPicPr>
          <p:cNvPr id="1202" name="Google Shape;1202;p70"/>
          <p:cNvPicPr preferRelativeResize="0"/>
          <p:nvPr/>
        </p:nvPicPr>
        <p:blipFill>
          <a:blip r:embed="rId5">
            <a:alphaModFix/>
          </a:blip>
          <a:stretch>
            <a:fillRect/>
          </a:stretch>
        </p:blipFill>
        <p:spPr>
          <a:xfrm>
            <a:off x="6850063" y="3016625"/>
            <a:ext cx="468925" cy="468925"/>
          </a:xfrm>
          <a:prstGeom prst="rect">
            <a:avLst/>
          </a:prstGeom>
          <a:noFill/>
          <a:ln>
            <a:noFill/>
          </a:ln>
        </p:spPr>
      </p:pic>
      <p:pic>
        <p:nvPicPr>
          <p:cNvPr id="1203" name="Google Shape;1203;p70"/>
          <p:cNvPicPr preferRelativeResize="0"/>
          <p:nvPr/>
        </p:nvPicPr>
        <p:blipFill>
          <a:blip r:embed="rId4">
            <a:alphaModFix/>
          </a:blip>
          <a:stretch>
            <a:fillRect/>
          </a:stretch>
        </p:blipFill>
        <p:spPr>
          <a:xfrm>
            <a:off x="7307265" y="4441705"/>
            <a:ext cx="468925" cy="468945"/>
          </a:xfrm>
          <a:prstGeom prst="rect">
            <a:avLst/>
          </a:prstGeom>
          <a:noFill/>
          <a:ln>
            <a:noFill/>
          </a:ln>
        </p:spPr>
      </p:pic>
      <p:pic>
        <p:nvPicPr>
          <p:cNvPr id="1204" name="Google Shape;1204;p70"/>
          <p:cNvPicPr preferRelativeResize="0"/>
          <p:nvPr/>
        </p:nvPicPr>
        <p:blipFill>
          <a:blip r:embed="rId5">
            <a:alphaModFix/>
          </a:blip>
          <a:stretch>
            <a:fillRect/>
          </a:stretch>
        </p:blipFill>
        <p:spPr>
          <a:xfrm>
            <a:off x="7307263" y="3016625"/>
            <a:ext cx="468925" cy="468925"/>
          </a:xfrm>
          <a:prstGeom prst="rect">
            <a:avLst/>
          </a:prstGeom>
          <a:noFill/>
          <a:ln>
            <a:noFill/>
          </a:ln>
        </p:spPr>
      </p:pic>
      <p:sp>
        <p:nvSpPr>
          <p:cNvPr id="1205" name="Google Shape;1205;p70"/>
          <p:cNvSpPr/>
          <p:nvPr/>
        </p:nvSpPr>
        <p:spPr>
          <a:xfrm>
            <a:off x="2057186" y="4065363"/>
            <a:ext cx="2775000" cy="1354500"/>
          </a:xfrm>
          <a:prstGeom prst="roundRect">
            <a:avLst>
              <a:gd fmla="val 4653"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300"/>
              </a:spcBef>
              <a:spcAft>
                <a:spcPts val="0"/>
              </a:spcAft>
              <a:buNone/>
            </a:pPr>
            <a:r>
              <a:rPr lang="en">
                <a:solidFill>
                  <a:schemeClr val="accent1"/>
                </a:solidFill>
                <a:latin typeface="DM Sans Medium"/>
                <a:ea typeface="DM Sans Medium"/>
                <a:cs typeface="DM Sans Medium"/>
                <a:sym typeface="DM Sans Medium"/>
              </a:rPr>
              <a:t>Web App</a:t>
            </a:r>
            <a:endParaRPr>
              <a:solidFill>
                <a:schemeClr val="accent1"/>
              </a:solidFill>
              <a:latin typeface="DM Sans Medium"/>
              <a:ea typeface="DM Sans Medium"/>
              <a:cs typeface="DM Sans Medium"/>
              <a:sym typeface="DM Sans Medium"/>
            </a:endParaRPr>
          </a:p>
          <a:p>
            <a:pPr indent="0" lvl="0" marL="0" rtl="0" algn="ctr">
              <a:lnSpc>
                <a:spcPct val="100000"/>
              </a:lnSpc>
              <a:spcBef>
                <a:spcPts val="300"/>
              </a:spcBef>
              <a:spcAft>
                <a:spcPts val="0"/>
              </a:spcAft>
              <a:buNone/>
            </a:pPr>
            <a:r>
              <a:rPr lang="en">
                <a:solidFill>
                  <a:schemeClr val="accent1"/>
                </a:solidFill>
                <a:latin typeface="DM Sans Medium"/>
                <a:ea typeface="DM Sans Medium"/>
                <a:cs typeface="DM Sans Medium"/>
                <a:sym typeface="DM Sans Medium"/>
              </a:rPr>
              <a:t>Jobs</a:t>
            </a:r>
            <a:r>
              <a:rPr lang="en">
                <a:solidFill>
                  <a:schemeClr val="accent1"/>
                </a:solidFill>
                <a:latin typeface="DM Sans Medium"/>
                <a:ea typeface="DM Sans Medium"/>
                <a:cs typeface="DM Sans Medium"/>
                <a:sym typeface="DM Sans Medium"/>
              </a:rPr>
              <a:t> Manage</a:t>
            </a:r>
            <a:r>
              <a:rPr lang="en">
                <a:solidFill>
                  <a:schemeClr val="accent1"/>
                </a:solidFill>
                <a:latin typeface="DM Sans Medium"/>
                <a:ea typeface="DM Sans Medium"/>
                <a:cs typeface="DM Sans Medium"/>
                <a:sym typeface="DM Sans Medium"/>
              </a:rPr>
              <a:t>r</a:t>
            </a:r>
            <a:endParaRPr>
              <a:solidFill>
                <a:schemeClr val="accent1"/>
              </a:solidFill>
              <a:latin typeface="DM Sans Medium"/>
              <a:ea typeface="DM Sans Medium"/>
              <a:cs typeface="DM Sans Medium"/>
              <a:sym typeface="DM Sans Medium"/>
            </a:endParaRPr>
          </a:p>
          <a:p>
            <a:pPr indent="0" lvl="0" marL="0" rtl="0" algn="ctr">
              <a:lnSpc>
                <a:spcPct val="100000"/>
              </a:lnSpc>
              <a:spcBef>
                <a:spcPts val="300"/>
              </a:spcBef>
              <a:spcAft>
                <a:spcPts val="0"/>
              </a:spcAft>
              <a:buNone/>
            </a:pPr>
            <a:r>
              <a:rPr lang="en">
                <a:solidFill>
                  <a:schemeClr val="accent1"/>
                </a:solidFill>
                <a:latin typeface="DM Sans Medium"/>
                <a:ea typeface="DM Sans Medium"/>
                <a:cs typeface="DM Sans Medium"/>
                <a:sym typeface="DM Sans Medium"/>
              </a:rPr>
              <a:t>Compute Manager</a:t>
            </a:r>
            <a:endParaRPr>
              <a:solidFill>
                <a:schemeClr val="accent1"/>
              </a:solidFill>
              <a:latin typeface="DM Sans Medium"/>
              <a:ea typeface="DM Sans Medium"/>
              <a:cs typeface="DM Sans Medium"/>
              <a:sym typeface="DM Sans Medium"/>
            </a:endParaRPr>
          </a:p>
          <a:p>
            <a:pPr indent="0" lvl="0" marL="0" rtl="0" algn="ctr">
              <a:lnSpc>
                <a:spcPct val="100000"/>
              </a:lnSpc>
              <a:spcBef>
                <a:spcPts val="300"/>
              </a:spcBef>
              <a:spcAft>
                <a:spcPts val="0"/>
              </a:spcAft>
              <a:buNone/>
            </a:pPr>
            <a:r>
              <a:rPr lang="en">
                <a:solidFill>
                  <a:schemeClr val="accent1"/>
                </a:solidFill>
                <a:latin typeface="DM Sans Medium"/>
                <a:ea typeface="DM Sans Medium"/>
                <a:cs typeface="DM Sans Medium"/>
                <a:sym typeface="DM Sans Medium"/>
              </a:rPr>
              <a:t>Connectors</a:t>
            </a:r>
            <a:endParaRPr>
              <a:solidFill>
                <a:schemeClr val="accent1"/>
              </a:solidFill>
              <a:latin typeface="DM Sans Medium"/>
              <a:ea typeface="DM Sans Medium"/>
              <a:cs typeface="DM Sans Medium"/>
              <a:sym typeface="DM Sans Medium"/>
            </a:endParaRPr>
          </a:p>
          <a:p>
            <a:pPr indent="0" lvl="0" marL="0" rtl="0" algn="ctr">
              <a:lnSpc>
                <a:spcPct val="100000"/>
              </a:lnSpc>
              <a:spcBef>
                <a:spcPts val="300"/>
              </a:spcBef>
              <a:spcAft>
                <a:spcPts val="300"/>
              </a:spcAft>
              <a:buNone/>
            </a:pPr>
            <a:r>
              <a:rPr lang="en">
                <a:solidFill>
                  <a:schemeClr val="accent1"/>
                </a:solidFill>
                <a:latin typeface="DM Sans Medium"/>
                <a:ea typeface="DM Sans Medium"/>
                <a:cs typeface="DM Sans Medium"/>
                <a:sym typeface="DM Sans Medium"/>
              </a:rPr>
              <a:t>Query Manager</a:t>
            </a:r>
            <a:endParaRPr>
              <a:solidFill>
                <a:schemeClr val="accent1"/>
              </a:solidFill>
              <a:latin typeface="DM Sans Medium"/>
              <a:ea typeface="DM Sans Medium"/>
              <a:cs typeface="DM Sans Medium"/>
              <a:sym typeface="DM Sans Medium"/>
            </a:endParaRPr>
          </a:p>
        </p:txBody>
      </p:sp>
      <p:sp>
        <p:nvSpPr>
          <p:cNvPr id="1206" name="Google Shape;1206;p70"/>
          <p:cNvSpPr/>
          <p:nvPr/>
        </p:nvSpPr>
        <p:spPr>
          <a:xfrm>
            <a:off x="932661" y="4059900"/>
            <a:ext cx="1011900" cy="1354500"/>
          </a:xfrm>
          <a:prstGeom prst="roundRect">
            <a:avLst>
              <a:gd fmla="val 8689"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Unity Catalog</a:t>
            </a:r>
            <a:endParaRPr sz="1800">
              <a:solidFill>
                <a:schemeClr val="dk1"/>
              </a:solidFill>
              <a:latin typeface="DM Sans Medium"/>
              <a:ea typeface="DM Sans Medium"/>
              <a:cs typeface="DM Sans Medium"/>
              <a:sym typeface="DM Sans Medium"/>
            </a:endParaRPr>
          </a:p>
        </p:txBody>
      </p:sp>
      <p:sp>
        <p:nvSpPr>
          <p:cNvPr id="1207" name="Google Shape;1207;p70"/>
          <p:cNvSpPr/>
          <p:nvPr/>
        </p:nvSpPr>
        <p:spPr>
          <a:xfrm>
            <a:off x="932661" y="3550108"/>
            <a:ext cx="3914700" cy="419700"/>
          </a:xfrm>
          <a:prstGeom prst="roundRect">
            <a:avLst>
              <a:gd fmla="val 20818"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DatabricksIQ</a:t>
            </a:r>
            <a:endParaRPr sz="1800">
              <a:solidFill>
                <a:schemeClr val="dk1"/>
              </a:solidFill>
              <a:latin typeface="DM Sans Medium"/>
              <a:ea typeface="DM Sans Medium"/>
              <a:cs typeface="DM Sans Medium"/>
              <a:sym typeface="DM Sans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71"/>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 - </a:t>
            </a:r>
            <a:r>
              <a:rPr lang="en" sz="3600"/>
              <a:t>Details</a:t>
            </a:r>
            <a:endParaRPr sz="3600"/>
          </a:p>
        </p:txBody>
      </p:sp>
      <p:sp>
        <p:nvSpPr>
          <p:cNvPr id="1213" name="Google Shape;1213;p7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214" name="Google Shape;1214;p71"/>
          <p:cNvSpPr/>
          <p:nvPr/>
        </p:nvSpPr>
        <p:spPr>
          <a:xfrm>
            <a:off x="456925" y="2886900"/>
            <a:ext cx="2709600" cy="2894400"/>
          </a:xfrm>
          <a:prstGeom prst="roundRect">
            <a:avLst>
              <a:gd fmla="val 4514" name="adj"/>
            </a:avLst>
          </a:prstGeom>
          <a:solidFill>
            <a:srgbClr val="FFFFFF"/>
          </a:solidFill>
          <a:ln cap="flat" cmpd="sng" w="9525">
            <a:solidFill>
              <a:srgbClr val="FF362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FF3620"/>
                </a:solidFill>
                <a:latin typeface="DM Sans Medium"/>
                <a:ea typeface="DM Sans Medium"/>
                <a:cs typeface="DM Sans Medium"/>
                <a:sym typeface="DM Sans Medium"/>
              </a:rPr>
              <a:t> Control Plane</a:t>
            </a:r>
            <a:endParaRPr sz="2000">
              <a:solidFill>
                <a:srgbClr val="FF3620"/>
              </a:solidFill>
              <a:latin typeface="DM Sans Medium"/>
              <a:ea typeface="DM Sans Medium"/>
              <a:cs typeface="DM Sans Medium"/>
              <a:sym typeface="DM Sans Medium"/>
            </a:endParaRPr>
          </a:p>
        </p:txBody>
      </p:sp>
      <p:sp>
        <p:nvSpPr>
          <p:cNvPr id="1215" name="Google Shape;1215;p71"/>
          <p:cNvSpPr/>
          <p:nvPr/>
        </p:nvSpPr>
        <p:spPr>
          <a:xfrm>
            <a:off x="3600900" y="2122325"/>
            <a:ext cx="6178800" cy="3658500"/>
          </a:xfrm>
          <a:prstGeom prst="roundRect">
            <a:avLst>
              <a:gd fmla="val 3347" name="adj"/>
            </a:avLst>
          </a:prstGeom>
          <a:solidFill>
            <a:srgbClr val="FFFFFF"/>
          </a:solidFill>
          <a:ln cap="flat" cmpd="sng" w="9525">
            <a:solidFill>
              <a:srgbClr val="1B516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1B5161"/>
                </a:solidFill>
                <a:latin typeface="DM Sans Medium"/>
                <a:ea typeface="DM Sans Medium"/>
                <a:cs typeface="DM Sans Medium"/>
                <a:sym typeface="DM Sans Medium"/>
              </a:rPr>
              <a:t>Serverless Compute</a:t>
            </a:r>
            <a:endParaRPr sz="2000">
              <a:solidFill>
                <a:srgbClr val="1B5161"/>
              </a:solidFill>
              <a:latin typeface="DM Sans Medium"/>
              <a:ea typeface="DM Sans Medium"/>
              <a:cs typeface="DM Sans Medium"/>
              <a:sym typeface="DM Sans Medium"/>
            </a:endParaRPr>
          </a:p>
        </p:txBody>
      </p:sp>
      <p:sp>
        <p:nvSpPr>
          <p:cNvPr id="1216" name="Google Shape;1216;p71"/>
          <p:cNvSpPr/>
          <p:nvPr/>
        </p:nvSpPr>
        <p:spPr>
          <a:xfrm>
            <a:off x="1846086" y="4943990"/>
            <a:ext cx="1193700" cy="6366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i="1" lang="en">
                <a:solidFill>
                  <a:schemeClr val="accent1"/>
                </a:solidFill>
                <a:latin typeface="DM Sans Medium"/>
                <a:ea typeface="DM Sans Medium"/>
                <a:cs typeface="DM Sans Medium"/>
                <a:sym typeface="DM Sans Medium"/>
              </a:rPr>
              <a:t>Web App</a:t>
            </a:r>
            <a:br>
              <a:rPr i="1" lang="en">
                <a:solidFill>
                  <a:schemeClr val="accent1"/>
                </a:solidFill>
                <a:latin typeface="DM Sans Medium"/>
                <a:ea typeface="DM Sans Medium"/>
                <a:cs typeface="DM Sans Medium"/>
                <a:sym typeface="DM Sans Medium"/>
              </a:rPr>
            </a:br>
            <a:r>
              <a:rPr i="1" lang="en" sz="1200">
                <a:solidFill>
                  <a:schemeClr val="accent1"/>
                </a:solidFill>
                <a:latin typeface="DM Sans"/>
                <a:ea typeface="DM Sans"/>
                <a:cs typeface="DM Sans"/>
                <a:sym typeface="DM Sans"/>
              </a:rPr>
              <a:t>(Portal/REST API)</a:t>
            </a:r>
            <a:endParaRPr i="1" sz="1200">
              <a:solidFill>
                <a:schemeClr val="accent1"/>
              </a:solidFill>
              <a:latin typeface="DM Sans"/>
              <a:ea typeface="DM Sans"/>
              <a:cs typeface="DM Sans"/>
              <a:sym typeface="DM Sans"/>
            </a:endParaRPr>
          </a:p>
        </p:txBody>
      </p:sp>
      <p:sp>
        <p:nvSpPr>
          <p:cNvPr id="1217" name="Google Shape;1217;p71"/>
          <p:cNvSpPr/>
          <p:nvPr/>
        </p:nvSpPr>
        <p:spPr>
          <a:xfrm>
            <a:off x="1846086" y="4211038"/>
            <a:ext cx="1193700" cy="6366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Queries</a:t>
            </a:r>
            <a:endParaRPr i="1">
              <a:solidFill>
                <a:schemeClr val="accent1"/>
              </a:solidFill>
              <a:latin typeface="DM Sans Medium"/>
              <a:ea typeface="DM Sans Medium"/>
              <a:cs typeface="DM Sans Medium"/>
              <a:sym typeface="DM Sans Medium"/>
            </a:endParaRPr>
          </a:p>
        </p:txBody>
      </p:sp>
      <p:sp>
        <p:nvSpPr>
          <p:cNvPr id="1218" name="Google Shape;1218;p71"/>
          <p:cNvSpPr/>
          <p:nvPr/>
        </p:nvSpPr>
        <p:spPr>
          <a:xfrm>
            <a:off x="3815300" y="3161825"/>
            <a:ext cx="1334400" cy="2523300"/>
          </a:xfrm>
          <a:prstGeom prst="rect">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71"/>
          <p:cNvSpPr txBox="1"/>
          <p:nvPr/>
        </p:nvSpPr>
        <p:spPr>
          <a:xfrm>
            <a:off x="3702838" y="2558300"/>
            <a:ext cx="1559400" cy="67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600">
                <a:solidFill>
                  <a:srgbClr val="1B5161"/>
                </a:solidFill>
                <a:latin typeface="DM Sans Medium"/>
                <a:ea typeface="DM Sans Medium"/>
                <a:cs typeface="DM Sans Medium"/>
                <a:sym typeface="DM Sans Medium"/>
              </a:rPr>
              <a:t>Unassigned </a:t>
            </a:r>
            <a:br>
              <a:rPr i="1" lang="en" sz="1600">
                <a:solidFill>
                  <a:srgbClr val="1B5161"/>
                </a:solidFill>
                <a:latin typeface="DM Sans Medium"/>
                <a:ea typeface="DM Sans Medium"/>
                <a:cs typeface="DM Sans Medium"/>
                <a:sym typeface="DM Sans Medium"/>
              </a:rPr>
            </a:br>
            <a:r>
              <a:rPr i="1" lang="en" sz="1600">
                <a:solidFill>
                  <a:srgbClr val="1B5161"/>
                </a:solidFill>
                <a:latin typeface="DM Sans Medium"/>
                <a:ea typeface="DM Sans Medium"/>
                <a:cs typeface="DM Sans Medium"/>
                <a:sym typeface="DM Sans Medium"/>
              </a:rPr>
              <a:t>clusters</a:t>
            </a:r>
            <a:endParaRPr i="1" sz="1600">
              <a:solidFill>
                <a:srgbClr val="1B5161"/>
              </a:solidFill>
              <a:latin typeface="DM Sans Medium"/>
              <a:ea typeface="DM Sans Medium"/>
              <a:cs typeface="DM Sans Medium"/>
              <a:sym typeface="DM Sans Medium"/>
            </a:endParaRPr>
          </a:p>
        </p:txBody>
      </p:sp>
      <p:grpSp>
        <p:nvGrpSpPr>
          <p:cNvPr id="1220" name="Google Shape;1220;p71"/>
          <p:cNvGrpSpPr/>
          <p:nvPr/>
        </p:nvGrpSpPr>
        <p:grpSpPr>
          <a:xfrm>
            <a:off x="7997834" y="3166347"/>
            <a:ext cx="1899526" cy="1226453"/>
            <a:chOff x="7997684" y="3166345"/>
            <a:chExt cx="1835291" cy="1226453"/>
          </a:xfrm>
        </p:grpSpPr>
        <p:sp>
          <p:nvSpPr>
            <p:cNvPr id="1221" name="Google Shape;1221;p71"/>
            <p:cNvSpPr txBox="1"/>
            <p:nvPr/>
          </p:nvSpPr>
          <p:spPr>
            <a:xfrm>
              <a:off x="8101975" y="3166345"/>
              <a:ext cx="1731000" cy="117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i="1" lang="en" sz="1300">
                  <a:solidFill>
                    <a:srgbClr val="FF3620"/>
                  </a:solidFill>
                  <a:latin typeface="DM Sans"/>
                  <a:ea typeface="DM Sans"/>
                  <a:cs typeface="DM Sans"/>
                  <a:sym typeface="DM Sans"/>
                </a:rPr>
                <a:t>Isolated Networks</a:t>
              </a:r>
              <a:endParaRPr i="1" sz="1300">
                <a:solidFill>
                  <a:srgbClr val="FF3620"/>
                </a:solidFill>
                <a:latin typeface="DM Sans"/>
                <a:ea typeface="DM Sans"/>
                <a:cs typeface="DM Sans"/>
                <a:sym typeface="DM Sans"/>
              </a:endParaRPr>
            </a:p>
            <a:p>
              <a:pPr indent="0" lvl="0" marL="0" rtl="0" algn="l">
                <a:lnSpc>
                  <a:spcPct val="100000"/>
                </a:lnSpc>
                <a:spcBef>
                  <a:spcPts val="500"/>
                </a:spcBef>
                <a:spcAft>
                  <a:spcPts val="0"/>
                </a:spcAft>
                <a:buNone/>
              </a:pPr>
              <a:r>
                <a:rPr i="1" lang="en" sz="1300">
                  <a:solidFill>
                    <a:srgbClr val="FF3620"/>
                  </a:solidFill>
                  <a:latin typeface="DM Sans"/>
                  <a:ea typeface="DM Sans"/>
                  <a:cs typeface="DM Sans"/>
                  <a:sym typeface="DM Sans"/>
                </a:rPr>
                <a:t>Isolated VMs</a:t>
              </a:r>
              <a:endParaRPr i="1" sz="1300">
                <a:solidFill>
                  <a:srgbClr val="FF3620"/>
                </a:solidFill>
                <a:latin typeface="DM Sans"/>
                <a:ea typeface="DM Sans"/>
                <a:cs typeface="DM Sans"/>
                <a:sym typeface="DM Sans"/>
              </a:endParaRPr>
            </a:p>
            <a:p>
              <a:pPr indent="0" lvl="0" marL="0" rtl="0" algn="l">
                <a:lnSpc>
                  <a:spcPct val="100000"/>
                </a:lnSpc>
                <a:spcBef>
                  <a:spcPts val="500"/>
                </a:spcBef>
                <a:spcAft>
                  <a:spcPts val="0"/>
                </a:spcAft>
                <a:buNone/>
              </a:pPr>
              <a:r>
                <a:rPr i="1" lang="en" sz="1300">
                  <a:solidFill>
                    <a:srgbClr val="FF3620"/>
                  </a:solidFill>
                  <a:latin typeface="DM Sans"/>
                  <a:ea typeface="DM Sans"/>
                  <a:cs typeface="DM Sans"/>
                  <a:sym typeface="DM Sans"/>
                </a:rPr>
                <a:t>Isolated Containers</a:t>
              </a:r>
              <a:endParaRPr i="1" sz="1300">
                <a:solidFill>
                  <a:srgbClr val="FF3620"/>
                </a:solidFill>
                <a:latin typeface="DM Sans"/>
                <a:ea typeface="DM Sans"/>
                <a:cs typeface="DM Sans"/>
                <a:sym typeface="DM Sans"/>
              </a:endParaRPr>
            </a:p>
            <a:p>
              <a:pPr indent="0" lvl="0" marL="0" rtl="0" algn="l">
                <a:lnSpc>
                  <a:spcPct val="100000"/>
                </a:lnSpc>
                <a:spcBef>
                  <a:spcPts val="500"/>
                </a:spcBef>
                <a:spcAft>
                  <a:spcPts val="500"/>
                </a:spcAft>
                <a:buNone/>
              </a:pPr>
              <a:r>
                <a:rPr i="1" lang="en" sz="1300">
                  <a:solidFill>
                    <a:srgbClr val="FF3620"/>
                  </a:solidFill>
                  <a:latin typeface="DM Sans"/>
                  <a:ea typeface="DM Sans"/>
                  <a:cs typeface="DM Sans"/>
                  <a:sym typeface="DM Sans"/>
                </a:rPr>
                <a:t>Least Privileges</a:t>
              </a:r>
              <a:endParaRPr i="1" sz="1300">
                <a:solidFill>
                  <a:srgbClr val="FF3620"/>
                </a:solidFill>
                <a:latin typeface="DM Sans"/>
                <a:ea typeface="DM Sans"/>
                <a:cs typeface="DM Sans"/>
                <a:sym typeface="DM Sans"/>
              </a:endParaRPr>
            </a:p>
          </p:txBody>
        </p:sp>
        <p:sp>
          <p:nvSpPr>
            <p:cNvPr id="1222" name="Google Shape;1222;p71"/>
            <p:cNvSpPr/>
            <p:nvPr/>
          </p:nvSpPr>
          <p:spPr>
            <a:xfrm rot="10800000">
              <a:off x="7997684" y="3551076"/>
              <a:ext cx="73800" cy="397500"/>
            </a:xfrm>
            <a:prstGeom prst="homePlate">
              <a:avLst>
                <a:gd fmla="val 100000" name="adj"/>
              </a:avLst>
            </a:prstGeom>
            <a:solidFill>
              <a:srgbClr val="FF3620"/>
            </a:solidFill>
            <a:ln cap="flat" cmpd="sng" w="9525">
              <a:solidFill>
                <a:srgbClr val="FF3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71"/>
            <p:cNvSpPr/>
            <p:nvPr/>
          </p:nvSpPr>
          <p:spPr>
            <a:xfrm rot="5400000">
              <a:off x="8830213" y="4157148"/>
              <a:ext cx="73800" cy="397500"/>
            </a:xfrm>
            <a:prstGeom prst="homePlate">
              <a:avLst>
                <a:gd fmla="val 100000" name="adj"/>
              </a:avLst>
            </a:prstGeom>
            <a:solidFill>
              <a:srgbClr val="FF3620"/>
            </a:solidFill>
            <a:ln cap="flat" cmpd="sng" w="9525">
              <a:solidFill>
                <a:srgbClr val="FF3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4" name="Google Shape;1224;p71"/>
          <p:cNvSpPr/>
          <p:nvPr/>
        </p:nvSpPr>
        <p:spPr>
          <a:xfrm rot="10800000">
            <a:off x="3292243" y="4155025"/>
            <a:ext cx="237300" cy="149100"/>
          </a:xfrm>
          <a:prstGeom prst="leftArrow">
            <a:avLst>
              <a:gd fmla="val 50000" name="adj1"/>
              <a:gd fmla="val 50000" name="adj2"/>
            </a:avLst>
          </a:prstGeom>
          <a:solidFill>
            <a:srgbClr val="E7E6E6"/>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5" name="Google Shape;1225;p71"/>
          <p:cNvGrpSpPr/>
          <p:nvPr/>
        </p:nvGrpSpPr>
        <p:grpSpPr>
          <a:xfrm>
            <a:off x="3964328" y="3257163"/>
            <a:ext cx="1033094" cy="551938"/>
            <a:chOff x="6332569" y="3240531"/>
            <a:chExt cx="1469550" cy="785118"/>
          </a:xfrm>
        </p:grpSpPr>
        <p:sp>
          <p:nvSpPr>
            <p:cNvPr id="1226" name="Google Shape;1226;p71"/>
            <p:cNvSpPr/>
            <p:nvPr/>
          </p:nvSpPr>
          <p:spPr>
            <a:xfrm>
              <a:off x="6332569" y="32405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Driver</a:t>
              </a:r>
              <a:endParaRPr sz="800">
                <a:latin typeface="DM Sans Medium"/>
                <a:ea typeface="DM Sans Medium"/>
                <a:cs typeface="DM Sans Medium"/>
                <a:sym typeface="DM Sans Medium"/>
              </a:endParaRPr>
            </a:p>
          </p:txBody>
        </p:sp>
        <p:sp>
          <p:nvSpPr>
            <p:cNvPr id="1227" name="Google Shape;1227;p71"/>
            <p:cNvSpPr/>
            <p:nvPr/>
          </p:nvSpPr>
          <p:spPr>
            <a:xfrm>
              <a:off x="6931825" y="32405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28" name="Google Shape;1228;p71"/>
            <p:cNvSpPr/>
            <p:nvPr/>
          </p:nvSpPr>
          <p:spPr>
            <a:xfrm>
              <a:off x="7084225" y="33929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29" name="Google Shape;1229;p71"/>
            <p:cNvSpPr/>
            <p:nvPr/>
          </p:nvSpPr>
          <p:spPr>
            <a:xfrm>
              <a:off x="7236619" y="3545348"/>
              <a:ext cx="5655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worker</a:t>
              </a:r>
              <a:endParaRPr sz="800">
                <a:latin typeface="DM Sans Medium"/>
                <a:ea typeface="DM Sans Medium"/>
                <a:cs typeface="DM Sans Medium"/>
                <a:sym typeface="DM Sans Medium"/>
              </a:endParaRPr>
            </a:p>
          </p:txBody>
        </p:sp>
      </p:grpSp>
      <p:grpSp>
        <p:nvGrpSpPr>
          <p:cNvPr id="1230" name="Google Shape;1230;p71"/>
          <p:cNvGrpSpPr/>
          <p:nvPr/>
        </p:nvGrpSpPr>
        <p:grpSpPr>
          <a:xfrm>
            <a:off x="3986615" y="4096763"/>
            <a:ext cx="1033107" cy="551938"/>
            <a:chOff x="6332569" y="3240531"/>
            <a:chExt cx="1469570" cy="785118"/>
          </a:xfrm>
        </p:grpSpPr>
        <p:sp>
          <p:nvSpPr>
            <p:cNvPr id="1231" name="Google Shape;1231;p71"/>
            <p:cNvSpPr/>
            <p:nvPr/>
          </p:nvSpPr>
          <p:spPr>
            <a:xfrm>
              <a:off x="6332569" y="32405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Driver</a:t>
              </a:r>
              <a:endParaRPr sz="800">
                <a:latin typeface="DM Sans Medium"/>
                <a:ea typeface="DM Sans Medium"/>
                <a:cs typeface="DM Sans Medium"/>
                <a:sym typeface="DM Sans Medium"/>
              </a:endParaRPr>
            </a:p>
          </p:txBody>
        </p:sp>
        <p:sp>
          <p:nvSpPr>
            <p:cNvPr id="1232" name="Google Shape;1232;p71"/>
            <p:cNvSpPr/>
            <p:nvPr/>
          </p:nvSpPr>
          <p:spPr>
            <a:xfrm>
              <a:off x="6931825" y="32405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33" name="Google Shape;1233;p71"/>
            <p:cNvSpPr/>
            <p:nvPr/>
          </p:nvSpPr>
          <p:spPr>
            <a:xfrm>
              <a:off x="7084225" y="33929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34" name="Google Shape;1234;p71"/>
            <p:cNvSpPr/>
            <p:nvPr/>
          </p:nvSpPr>
          <p:spPr>
            <a:xfrm>
              <a:off x="7236638" y="3545348"/>
              <a:ext cx="5655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worker</a:t>
              </a:r>
              <a:endParaRPr sz="800">
                <a:latin typeface="DM Sans Medium"/>
                <a:ea typeface="DM Sans Medium"/>
                <a:cs typeface="DM Sans Medium"/>
                <a:sym typeface="DM Sans Medium"/>
              </a:endParaRPr>
            </a:p>
          </p:txBody>
        </p:sp>
      </p:grpSp>
      <p:grpSp>
        <p:nvGrpSpPr>
          <p:cNvPr id="1235" name="Google Shape;1235;p71"/>
          <p:cNvGrpSpPr/>
          <p:nvPr/>
        </p:nvGrpSpPr>
        <p:grpSpPr>
          <a:xfrm>
            <a:off x="3986615" y="4936363"/>
            <a:ext cx="1033107" cy="551938"/>
            <a:chOff x="6332569" y="3240531"/>
            <a:chExt cx="1469570" cy="785118"/>
          </a:xfrm>
        </p:grpSpPr>
        <p:sp>
          <p:nvSpPr>
            <p:cNvPr id="1236" name="Google Shape;1236;p71"/>
            <p:cNvSpPr/>
            <p:nvPr/>
          </p:nvSpPr>
          <p:spPr>
            <a:xfrm>
              <a:off x="6332569" y="32405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Driver</a:t>
              </a:r>
              <a:endParaRPr sz="800">
                <a:latin typeface="DM Sans Medium"/>
                <a:ea typeface="DM Sans Medium"/>
                <a:cs typeface="DM Sans Medium"/>
                <a:sym typeface="DM Sans Medium"/>
              </a:endParaRPr>
            </a:p>
          </p:txBody>
        </p:sp>
        <p:sp>
          <p:nvSpPr>
            <p:cNvPr id="1237" name="Google Shape;1237;p71"/>
            <p:cNvSpPr/>
            <p:nvPr/>
          </p:nvSpPr>
          <p:spPr>
            <a:xfrm>
              <a:off x="6931825" y="32405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38" name="Google Shape;1238;p71"/>
            <p:cNvSpPr/>
            <p:nvPr/>
          </p:nvSpPr>
          <p:spPr>
            <a:xfrm>
              <a:off x="7084225" y="3392931"/>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39" name="Google Shape;1239;p71"/>
            <p:cNvSpPr/>
            <p:nvPr/>
          </p:nvSpPr>
          <p:spPr>
            <a:xfrm>
              <a:off x="7236638" y="3545348"/>
              <a:ext cx="5655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Sans Medium"/>
                  <a:ea typeface="DM Sans Medium"/>
                  <a:cs typeface="DM Sans Medium"/>
                  <a:sym typeface="DM Sans Medium"/>
                </a:rPr>
                <a:t>worker</a:t>
              </a:r>
              <a:endParaRPr sz="800">
                <a:latin typeface="DM Sans Medium"/>
                <a:ea typeface="DM Sans Medium"/>
                <a:cs typeface="DM Sans Medium"/>
                <a:sym typeface="DM Sans Medium"/>
              </a:endParaRPr>
            </a:p>
          </p:txBody>
        </p:sp>
      </p:grpSp>
      <p:grpSp>
        <p:nvGrpSpPr>
          <p:cNvPr id="1240" name="Google Shape;1240;p71"/>
          <p:cNvGrpSpPr/>
          <p:nvPr/>
        </p:nvGrpSpPr>
        <p:grpSpPr>
          <a:xfrm>
            <a:off x="5157825" y="2132276"/>
            <a:ext cx="6778663" cy="2167380"/>
            <a:chOff x="5157825" y="2132276"/>
            <a:chExt cx="6778663" cy="2167380"/>
          </a:xfrm>
        </p:grpSpPr>
        <p:sp>
          <p:nvSpPr>
            <p:cNvPr id="1241" name="Google Shape;1241;p71"/>
            <p:cNvSpPr/>
            <p:nvPr/>
          </p:nvSpPr>
          <p:spPr>
            <a:xfrm rot="-5393414">
              <a:off x="9922617" y="2872175"/>
              <a:ext cx="156600" cy="274500"/>
            </a:xfrm>
            <a:prstGeom prst="downArrow">
              <a:avLst>
                <a:gd fmla="val 50000" name="adj1"/>
                <a:gd fmla="val 50000" name="adj2"/>
              </a:avLst>
            </a:prstGeom>
            <a:solidFill>
              <a:srgbClr val="E7E6E6"/>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1"/>
            <p:cNvSpPr/>
            <p:nvPr/>
          </p:nvSpPr>
          <p:spPr>
            <a:xfrm>
              <a:off x="10216438" y="2132276"/>
              <a:ext cx="1719900" cy="1768500"/>
            </a:xfrm>
            <a:prstGeom prst="roundRect">
              <a:avLst>
                <a:gd fmla="val 7101" name="adj"/>
              </a:avLst>
            </a:prstGeom>
            <a:solidFill>
              <a:srgbClr val="FFFFFF"/>
            </a:solidFill>
            <a:ln cap="flat" cmpd="sng" w="9525">
              <a:solidFill>
                <a:schemeClr val="accent4"/>
              </a:solidFill>
              <a:prstDash val="solid"/>
              <a:round/>
              <a:headEnd len="sm" w="sm" type="none"/>
              <a:tailEnd len="sm" w="sm" type="none"/>
            </a:ln>
          </p:spPr>
          <p:txBody>
            <a:bodyPr anchorCtr="0" anchor="t" bIns="18275" lIns="18275" spcFirstLastPara="1" rIns="18275" wrap="square" tIns="18275">
              <a:noAutofit/>
            </a:bodyPr>
            <a:lstStyle/>
            <a:p>
              <a:pPr indent="0" lvl="0" marL="0" rtl="0" algn="l">
                <a:spcBef>
                  <a:spcPts val="0"/>
                </a:spcBef>
                <a:spcAft>
                  <a:spcPts val="0"/>
                </a:spcAft>
                <a:buNone/>
              </a:pPr>
              <a:r>
                <a:rPr i="1" lang="en" sz="1800">
                  <a:solidFill>
                    <a:srgbClr val="F5A300"/>
                  </a:solidFill>
                  <a:latin typeface="DM Sans Medium"/>
                  <a:ea typeface="DM Sans Medium"/>
                  <a:cs typeface="DM Sans Medium"/>
                  <a:sym typeface="DM Sans Medium"/>
                </a:rPr>
                <a:t>A</a:t>
              </a:r>
              <a:endParaRPr i="1" sz="1800">
                <a:solidFill>
                  <a:srgbClr val="F5A300"/>
                </a:solidFill>
                <a:latin typeface="DM Sans Medium"/>
                <a:ea typeface="DM Sans Medium"/>
                <a:cs typeface="DM Sans Medium"/>
                <a:sym typeface="DM Sans Medium"/>
              </a:endParaRPr>
            </a:p>
          </p:txBody>
        </p:sp>
        <p:sp>
          <p:nvSpPr>
            <p:cNvPr id="1243" name="Google Shape;1243;p71"/>
            <p:cNvSpPr/>
            <p:nvPr/>
          </p:nvSpPr>
          <p:spPr>
            <a:xfrm>
              <a:off x="10531049" y="3538976"/>
              <a:ext cx="1292700" cy="273000"/>
            </a:xfrm>
            <a:prstGeom prst="roundRect">
              <a:avLst>
                <a:gd fmla="val 1069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ID Provider</a:t>
              </a:r>
              <a:endParaRPr sz="1200">
                <a:solidFill>
                  <a:schemeClr val="accent1"/>
                </a:solidFill>
                <a:latin typeface="DM Sans Medium"/>
                <a:ea typeface="DM Sans Medium"/>
                <a:cs typeface="DM Sans Medium"/>
                <a:sym typeface="DM Sans Medium"/>
              </a:endParaRPr>
            </a:p>
          </p:txBody>
        </p:sp>
        <p:sp>
          <p:nvSpPr>
            <p:cNvPr id="1244" name="Google Shape;1244;p71"/>
            <p:cNvSpPr/>
            <p:nvPr/>
          </p:nvSpPr>
          <p:spPr>
            <a:xfrm>
              <a:off x="10531042" y="3090838"/>
              <a:ext cx="1292700" cy="389100"/>
            </a:xfrm>
            <a:prstGeom prst="roundRect">
              <a:avLst>
                <a:gd fmla="val 1069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Other data sources</a:t>
              </a:r>
              <a:endParaRPr sz="1200">
                <a:solidFill>
                  <a:schemeClr val="accent1"/>
                </a:solidFill>
                <a:latin typeface="DM Sans Medium"/>
                <a:ea typeface="DM Sans Medium"/>
                <a:cs typeface="DM Sans Medium"/>
                <a:sym typeface="DM Sans Medium"/>
              </a:endParaRPr>
            </a:p>
          </p:txBody>
        </p:sp>
        <p:sp>
          <p:nvSpPr>
            <p:cNvPr id="1245" name="Google Shape;1245;p71"/>
            <p:cNvSpPr/>
            <p:nvPr/>
          </p:nvSpPr>
          <p:spPr>
            <a:xfrm>
              <a:off x="10531102" y="2234700"/>
              <a:ext cx="1292700" cy="797101"/>
            </a:xfrm>
            <a:prstGeom prst="roundRect">
              <a:avLst>
                <a:gd fmla="val 7534" name="adj"/>
              </a:avLst>
            </a:prstGeom>
            <a:solidFill>
              <a:srgbClr val="FFFFFF"/>
            </a:solidFill>
            <a:ln cap="flat" cmpd="sng" w="9525">
              <a:solidFill>
                <a:schemeClr val="accent4"/>
              </a:solidFill>
              <a:prstDash val="solid"/>
              <a:round/>
              <a:headEnd len="sm" w="sm" type="none"/>
              <a:tailEnd len="sm" w="sm" type="none"/>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     Cloud Storage</a:t>
              </a:r>
              <a:endParaRPr sz="1200">
                <a:solidFill>
                  <a:schemeClr val="accent1"/>
                </a:solidFill>
                <a:latin typeface="DM Sans Medium"/>
                <a:ea typeface="DM Sans Medium"/>
                <a:cs typeface="DM Sans Medium"/>
                <a:sym typeface="DM Sans Medium"/>
              </a:endParaRPr>
            </a:p>
          </p:txBody>
        </p:sp>
        <p:sp>
          <p:nvSpPr>
            <p:cNvPr id="1246" name="Google Shape;1246;p71"/>
            <p:cNvSpPr/>
            <p:nvPr/>
          </p:nvSpPr>
          <p:spPr>
            <a:xfrm>
              <a:off x="10685923" y="2609293"/>
              <a:ext cx="954000" cy="3381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a:ea typeface="DM Sans"/>
                  <a:cs typeface="DM Sans"/>
                  <a:sym typeface="DM Sans"/>
                </a:rPr>
                <a:t>root bucket</a:t>
              </a:r>
              <a:br>
                <a:rPr lang="en" sz="1100">
                  <a:solidFill>
                    <a:schemeClr val="accent1"/>
                  </a:solidFill>
                  <a:latin typeface="DM Sans"/>
                  <a:ea typeface="DM Sans"/>
                  <a:cs typeface="DM Sans"/>
                  <a:sym typeface="DM Sans"/>
                </a:rPr>
              </a:br>
              <a:r>
                <a:rPr lang="en" sz="1100">
                  <a:solidFill>
                    <a:schemeClr val="accent1"/>
                  </a:solidFill>
                  <a:latin typeface="DM Sans"/>
                  <a:ea typeface="DM Sans"/>
                  <a:cs typeface="DM Sans"/>
                  <a:sym typeface="DM Sans"/>
                </a:rPr>
                <a:t>(DBFS)</a:t>
              </a:r>
              <a:endParaRPr sz="1100">
                <a:solidFill>
                  <a:schemeClr val="accent1"/>
                </a:solidFill>
                <a:latin typeface="DM Sans"/>
                <a:ea typeface="DM Sans"/>
                <a:cs typeface="DM Sans"/>
                <a:sym typeface="DM Sans"/>
              </a:endParaRPr>
            </a:p>
          </p:txBody>
        </p:sp>
        <p:grpSp>
          <p:nvGrpSpPr>
            <p:cNvPr id="1247" name="Google Shape;1247;p71"/>
            <p:cNvGrpSpPr/>
            <p:nvPr/>
          </p:nvGrpSpPr>
          <p:grpSpPr>
            <a:xfrm>
              <a:off x="5157825" y="2806737"/>
              <a:ext cx="3288761" cy="1492920"/>
              <a:chOff x="5157825" y="2806737"/>
              <a:chExt cx="3288761" cy="1492920"/>
            </a:xfrm>
          </p:grpSpPr>
          <p:sp>
            <p:nvSpPr>
              <p:cNvPr id="1248" name="Google Shape;1248;p71"/>
              <p:cNvSpPr txBox="1"/>
              <p:nvPr/>
            </p:nvSpPr>
            <p:spPr>
              <a:xfrm>
                <a:off x="6088886" y="2806737"/>
                <a:ext cx="23577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F5A300"/>
                    </a:solidFill>
                    <a:latin typeface="DM Sans Medium"/>
                    <a:ea typeface="DM Sans Medium"/>
                    <a:cs typeface="DM Sans Medium"/>
                    <a:sym typeface="DM Sans Medium"/>
                  </a:rPr>
                  <a:t>Customer A</a:t>
                </a:r>
                <a:endParaRPr i="1" sz="1600">
                  <a:solidFill>
                    <a:srgbClr val="F5A300"/>
                  </a:solidFill>
                  <a:latin typeface="DM Sans"/>
                  <a:ea typeface="DM Sans"/>
                  <a:cs typeface="DM Sans"/>
                  <a:sym typeface="DM Sans"/>
                </a:endParaRPr>
              </a:p>
            </p:txBody>
          </p:sp>
          <p:sp>
            <p:nvSpPr>
              <p:cNvPr id="1249" name="Google Shape;1249;p71"/>
              <p:cNvSpPr/>
              <p:nvPr/>
            </p:nvSpPr>
            <p:spPr>
              <a:xfrm>
                <a:off x="6145725" y="3158850"/>
                <a:ext cx="1712400" cy="10917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4"/>
                  </a:solidFill>
                </a:endParaRPr>
              </a:p>
            </p:txBody>
          </p:sp>
          <p:cxnSp>
            <p:nvCxnSpPr>
              <p:cNvPr id="1250" name="Google Shape;1250;p71"/>
              <p:cNvCxnSpPr>
                <a:endCxn id="1249" idx="1"/>
              </p:cNvCxnSpPr>
              <p:nvPr/>
            </p:nvCxnSpPr>
            <p:spPr>
              <a:xfrm>
                <a:off x="5157825" y="3704700"/>
                <a:ext cx="987900" cy="0"/>
              </a:xfrm>
              <a:prstGeom prst="straightConnector1">
                <a:avLst/>
              </a:prstGeom>
              <a:noFill/>
              <a:ln cap="flat" cmpd="sng" w="9525">
                <a:solidFill>
                  <a:srgbClr val="1B5161"/>
                </a:solidFill>
                <a:prstDash val="dash"/>
                <a:round/>
                <a:headEnd len="med" w="med" type="none"/>
                <a:tailEnd len="med" w="med" type="triangle"/>
              </a:ln>
            </p:spPr>
          </p:cxnSp>
          <p:sp>
            <p:nvSpPr>
              <p:cNvPr id="1251" name="Google Shape;1251;p71"/>
              <p:cNvSpPr txBox="1"/>
              <p:nvPr/>
            </p:nvSpPr>
            <p:spPr>
              <a:xfrm>
                <a:off x="5233519" y="3745557"/>
                <a:ext cx="832500" cy="554100"/>
              </a:xfrm>
              <a:prstGeom prst="rect">
                <a:avLst/>
              </a:prstGeom>
              <a:noFill/>
              <a:ln>
                <a:noFill/>
              </a:ln>
            </p:spPr>
            <p:txBody>
              <a:bodyPr anchorCtr="0" anchor="t" bIns="0" lIns="91425" spcFirstLastPara="1" rIns="91425" wrap="square" tIns="0">
                <a:noAutofit/>
              </a:bodyPr>
              <a:lstStyle/>
              <a:p>
                <a:pPr indent="0" lvl="0" marL="0" rtl="0" algn="ctr">
                  <a:lnSpc>
                    <a:spcPct val="90000"/>
                  </a:lnSpc>
                  <a:spcBef>
                    <a:spcPts val="0"/>
                  </a:spcBef>
                  <a:spcAft>
                    <a:spcPts val="0"/>
                  </a:spcAft>
                  <a:buNone/>
                </a:pPr>
                <a:r>
                  <a:rPr i="1" lang="en" sz="1000">
                    <a:solidFill>
                      <a:srgbClr val="1B5161"/>
                    </a:solidFill>
                    <a:latin typeface="DM Sans"/>
                    <a:ea typeface="DM Sans"/>
                    <a:cs typeface="DM Sans"/>
                    <a:sym typeface="DM Sans"/>
                  </a:rPr>
                  <a:t>assign as </a:t>
                </a:r>
                <a:r>
                  <a:rPr i="1" lang="en" sz="1000">
                    <a:solidFill>
                      <a:srgbClr val="1B5161"/>
                    </a:solidFill>
                    <a:latin typeface="DM Sans Medium"/>
                    <a:ea typeface="DM Sans Medium"/>
                    <a:cs typeface="DM Sans Medium"/>
                    <a:sym typeface="DM Sans Medium"/>
                  </a:rPr>
                  <a:t>dedicated</a:t>
                </a:r>
                <a:r>
                  <a:rPr i="1" lang="en" sz="1000">
                    <a:solidFill>
                      <a:srgbClr val="1B5161"/>
                    </a:solidFill>
                    <a:latin typeface="DM Sans"/>
                    <a:ea typeface="DM Sans"/>
                    <a:cs typeface="DM Sans"/>
                    <a:sym typeface="DM Sans"/>
                  </a:rPr>
                  <a:t> </a:t>
                </a:r>
                <a:r>
                  <a:rPr i="1" lang="en" sz="1000">
                    <a:solidFill>
                      <a:srgbClr val="1B5161"/>
                    </a:solidFill>
                    <a:latin typeface="DM Sans Medium"/>
                    <a:ea typeface="DM Sans Medium"/>
                    <a:cs typeface="DM Sans Medium"/>
                    <a:sym typeface="DM Sans Medium"/>
                  </a:rPr>
                  <a:t>compute resources</a:t>
                </a:r>
                <a:endParaRPr i="1" sz="1000">
                  <a:solidFill>
                    <a:srgbClr val="1B5161"/>
                  </a:solidFill>
                  <a:latin typeface="DM Sans Medium"/>
                  <a:ea typeface="DM Sans Medium"/>
                  <a:cs typeface="DM Sans Medium"/>
                  <a:sym typeface="DM Sans Medium"/>
                </a:endParaRPr>
              </a:p>
            </p:txBody>
          </p:sp>
          <p:sp>
            <p:nvSpPr>
              <p:cNvPr id="1252" name="Google Shape;1252;p71"/>
              <p:cNvSpPr/>
              <p:nvPr/>
            </p:nvSpPr>
            <p:spPr>
              <a:xfrm>
                <a:off x="6296544" y="3303156"/>
                <a:ext cx="506700" cy="4803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Driver</a:t>
                </a:r>
                <a:endParaRPr sz="1100">
                  <a:latin typeface="DM Sans Medium"/>
                  <a:ea typeface="DM Sans Medium"/>
                  <a:cs typeface="DM Sans Medium"/>
                  <a:sym typeface="DM Sans Medium"/>
                </a:endParaRPr>
              </a:p>
            </p:txBody>
          </p:sp>
          <p:sp>
            <p:nvSpPr>
              <p:cNvPr id="1253" name="Google Shape;1253;p71"/>
              <p:cNvSpPr/>
              <p:nvPr/>
            </p:nvSpPr>
            <p:spPr>
              <a:xfrm>
                <a:off x="6895800" y="3303156"/>
                <a:ext cx="506700" cy="4803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54" name="Google Shape;1254;p71"/>
              <p:cNvSpPr/>
              <p:nvPr/>
            </p:nvSpPr>
            <p:spPr>
              <a:xfrm>
                <a:off x="7048200" y="3455556"/>
                <a:ext cx="506700" cy="4803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55" name="Google Shape;1255;p71"/>
              <p:cNvSpPr/>
              <p:nvPr/>
            </p:nvSpPr>
            <p:spPr>
              <a:xfrm>
                <a:off x="7200600" y="3607956"/>
                <a:ext cx="506700" cy="4803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worker</a:t>
                </a:r>
                <a:endParaRPr sz="1100">
                  <a:latin typeface="DM Sans Medium"/>
                  <a:ea typeface="DM Sans Medium"/>
                  <a:cs typeface="DM Sans Medium"/>
                  <a:sym typeface="DM Sans Medium"/>
                </a:endParaRPr>
              </a:p>
            </p:txBody>
          </p:sp>
        </p:grpSp>
      </p:grpSp>
      <p:grpSp>
        <p:nvGrpSpPr>
          <p:cNvPr id="1256" name="Google Shape;1256;p71"/>
          <p:cNvGrpSpPr/>
          <p:nvPr/>
        </p:nvGrpSpPr>
        <p:grpSpPr>
          <a:xfrm>
            <a:off x="433805" y="1485900"/>
            <a:ext cx="9396459" cy="468900"/>
            <a:chOff x="536350" y="1485900"/>
            <a:chExt cx="9310800" cy="468900"/>
          </a:xfrm>
        </p:grpSpPr>
        <p:sp>
          <p:nvSpPr>
            <p:cNvPr id="1257" name="Google Shape;1257;p71"/>
            <p:cNvSpPr/>
            <p:nvPr/>
          </p:nvSpPr>
          <p:spPr>
            <a:xfrm>
              <a:off x="536350" y="1485900"/>
              <a:ext cx="93108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8" name="Google Shape;1258;p71"/>
            <p:cNvPicPr preferRelativeResize="0"/>
            <p:nvPr/>
          </p:nvPicPr>
          <p:blipFill rotWithShape="1">
            <a:blip r:embed="rId3">
              <a:alphaModFix/>
            </a:blip>
            <a:srcRect b="0" l="0" r="0" t="0"/>
            <a:stretch/>
          </p:blipFill>
          <p:spPr>
            <a:xfrm>
              <a:off x="4117225" y="1548143"/>
              <a:ext cx="2149050" cy="338050"/>
            </a:xfrm>
            <a:prstGeom prst="rect">
              <a:avLst/>
            </a:prstGeom>
            <a:noFill/>
            <a:ln>
              <a:noFill/>
            </a:ln>
          </p:spPr>
        </p:pic>
      </p:grpSp>
      <p:sp>
        <p:nvSpPr>
          <p:cNvPr id="1259" name="Google Shape;1259;p71"/>
          <p:cNvSpPr/>
          <p:nvPr/>
        </p:nvSpPr>
        <p:spPr>
          <a:xfrm>
            <a:off x="10118150" y="1485900"/>
            <a:ext cx="1890000" cy="468900"/>
          </a:xfrm>
          <a:prstGeom prst="rect">
            <a:avLst/>
          </a:prstGeom>
          <a:solidFill>
            <a:srgbClr val="EFEFE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1000">
              <a:solidFill>
                <a:schemeClr val="accent1"/>
              </a:solidFill>
              <a:latin typeface="DM Sans"/>
              <a:ea typeface="DM Sans"/>
              <a:cs typeface="DM Sans"/>
              <a:sym typeface="DM Sans"/>
            </a:endParaRPr>
          </a:p>
        </p:txBody>
      </p:sp>
      <p:sp>
        <p:nvSpPr>
          <p:cNvPr id="1260" name="Google Shape;1260;p71"/>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Serverless SQL Compute (storage in customer subscription)</a:t>
            </a:r>
            <a:endParaRPr/>
          </a:p>
        </p:txBody>
      </p:sp>
      <p:sp>
        <p:nvSpPr>
          <p:cNvPr id="1261" name="Google Shape;1261;p71"/>
          <p:cNvSpPr/>
          <p:nvPr/>
        </p:nvSpPr>
        <p:spPr>
          <a:xfrm rot="-5393414">
            <a:off x="9922660" y="4762175"/>
            <a:ext cx="156600" cy="274500"/>
          </a:xfrm>
          <a:prstGeom prst="downArrow">
            <a:avLst>
              <a:gd fmla="val 50000" name="adj1"/>
              <a:gd fmla="val 50000" name="adj2"/>
            </a:avLst>
          </a:prstGeom>
          <a:solidFill>
            <a:srgbClr val="E7E6E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2" name="Google Shape;1262;p71"/>
          <p:cNvGrpSpPr/>
          <p:nvPr/>
        </p:nvGrpSpPr>
        <p:grpSpPr>
          <a:xfrm>
            <a:off x="2443000" y="5580589"/>
            <a:ext cx="8633100" cy="1118236"/>
            <a:chOff x="2443000" y="5580589"/>
            <a:chExt cx="8633100" cy="1118236"/>
          </a:xfrm>
        </p:grpSpPr>
        <p:sp>
          <p:nvSpPr>
            <p:cNvPr id="1263" name="Google Shape;1263;p71"/>
            <p:cNvSpPr txBox="1"/>
            <p:nvPr/>
          </p:nvSpPr>
          <p:spPr>
            <a:xfrm>
              <a:off x="5606457" y="6026975"/>
              <a:ext cx="4779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chemeClr val="accent1"/>
                  </a:solidFill>
                  <a:latin typeface="DM Sans"/>
                  <a:ea typeface="DM Sans"/>
                  <a:cs typeface="DM Sans"/>
                  <a:sym typeface="DM Sans"/>
                </a:rPr>
                <a:t>SSO (with ID Provider from </a:t>
              </a:r>
              <a:r>
                <a:rPr i="1" lang="en">
                  <a:solidFill>
                    <a:srgbClr val="F5A300"/>
                  </a:solidFill>
                  <a:latin typeface="DM Sans Medium"/>
                  <a:ea typeface="DM Sans Medium"/>
                  <a:cs typeface="DM Sans Medium"/>
                  <a:sym typeface="DM Sans Medium"/>
                </a:rPr>
                <a:t>A</a:t>
              </a:r>
              <a:r>
                <a:rPr i="1" lang="en">
                  <a:solidFill>
                    <a:schemeClr val="accent1"/>
                  </a:solidFill>
                  <a:latin typeface="DM Sans"/>
                  <a:ea typeface="DM Sans"/>
                  <a:cs typeface="DM Sans"/>
                  <a:sym typeface="DM Sans"/>
                </a:rPr>
                <a:t> or </a:t>
              </a:r>
              <a:r>
                <a:rPr i="1" lang="en">
                  <a:solidFill>
                    <a:schemeClr val="accent2"/>
                  </a:solidFill>
                  <a:latin typeface="DM Sans Medium"/>
                  <a:ea typeface="DM Sans Medium"/>
                  <a:cs typeface="DM Sans Medium"/>
                  <a:sym typeface="DM Sans Medium"/>
                </a:rPr>
                <a:t>B</a:t>
              </a:r>
              <a:r>
                <a:rPr i="1" lang="en">
                  <a:solidFill>
                    <a:schemeClr val="accent1"/>
                  </a:solidFill>
                  <a:latin typeface="DM Sans"/>
                  <a:ea typeface="DM Sans"/>
                  <a:cs typeface="DM Sans"/>
                  <a:sym typeface="DM Sans"/>
                </a:rPr>
                <a:t>)</a:t>
              </a:r>
              <a:endParaRPr i="1">
                <a:solidFill>
                  <a:schemeClr val="accent1"/>
                </a:solidFill>
                <a:latin typeface="DM Sans"/>
                <a:ea typeface="DM Sans"/>
                <a:cs typeface="DM Sans"/>
                <a:sym typeface="DM Sans"/>
              </a:endParaRPr>
            </a:p>
          </p:txBody>
        </p:sp>
        <p:sp>
          <p:nvSpPr>
            <p:cNvPr id="1264" name="Google Shape;1264;p71"/>
            <p:cNvSpPr txBox="1"/>
            <p:nvPr/>
          </p:nvSpPr>
          <p:spPr>
            <a:xfrm>
              <a:off x="3749700" y="6267725"/>
              <a:ext cx="20751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User (from</a:t>
              </a:r>
              <a:r>
                <a:rPr lang="en" sz="1600">
                  <a:latin typeface="DM Sans Medium"/>
                  <a:ea typeface="DM Sans Medium"/>
                  <a:cs typeface="DM Sans Medium"/>
                  <a:sym typeface="DM Sans Medium"/>
                </a:rPr>
                <a:t> </a:t>
              </a:r>
              <a:r>
                <a:rPr lang="en" sz="1600">
                  <a:solidFill>
                    <a:srgbClr val="F5A300"/>
                  </a:solidFill>
                  <a:latin typeface="DM Sans Medium"/>
                  <a:ea typeface="DM Sans Medium"/>
                  <a:cs typeface="DM Sans Medium"/>
                  <a:sym typeface="DM Sans Medium"/>
                </a:rPr>
                <a:t>A</a:t>
              </a:r>
              <a:r>
                <a:rPr lang="en" sz="1600">
                  <a:latin typeface="DM Sans Medium"/>
                  <a:ea typeface="DM Sans Medium"/>
                  <a:cs typeface="DM Sans Medium"/>
                  <a:sym typeface="DM Sans Medium"/>
                </a:rPr>
                <a:t> </a:t>
              </a:r>
              <a:r>
                <a:rPr lang="en" sz="1600">
                  <a:solidFill>
                    <a:schemeClr val="accent1"/>
                  </a:solidFill>
                  <a:latin typeface="DM Sans Medium"/>
                  <a:ea typeface="DM Sans Medium"/>
                  <a:cs typeface="DM Sans Medium"/>
                  <a:sym typeface="DM Sans Medium"/>
                </a:rPr>
                <a:t>or</a:t>
              </a:r>
              <a:r>
                <a:rPr lang="en" sz="1600">
                  <a:latin typeface="DM Sans Medium"/>
                  <a:ea typeface="DM Sans Medium"/>
                  <a:cs typeface="DM Sans Medium"/>
                  <a:sym typeface="DM Sans Medium"/>
                </a:rPr>
                <a:t> </a:t>
              </a:r>
              <a:r>
                <a:rPr lang="en" sz="1600">
                  <a:solidFill>
                    <a:schemeClr val="accent2"/>
                  </a:solidFill>
                  <a:latin typeface="DM Sans Medium"/>
                  <a:ea typeface="DM Sans Medium"/>
                  <a:cs typeface="DM Sans Medium"/>
                  <a:sym typeface="DM Sans Medium"/>
                </a:rPr>
                <a:t>B</a:t>
              </a:r>
              <a:r>
                <a:rPr lang="en" sz="1600">
                  <a:latin typeface="DM Sans Medium"/>
                  <a:ea typeface="DM Sans Medium"/>
                  <a:cs typeface="DM Sans Medium"/>
                  <a:sym typeface="DM Sans Medium"/>
                </a:rPr>
                <a:t>)</a:t>
              </a:r>
              <a:endParaRPr sz="1600">
                <a:latin typeface="DM Sans Medium"/>
                <a:ea typeface="DM Sans Medium"/>
                <a:cs typeface="DM Sans Medium"/>
                <a:sym typeface="DM Sans Medium"/>
              </a:endParaRPr>
            </a:p>
          </p:txBody>
        </p:sp>
        <p:cxnSp>
          <p:nvCxnSpPr>
            <p:cNvPr id="1265" name="Google Shape;1265;p71"/>
            <p:cNvCxnSpPr>
              <a:stCxn id="1266" idx="1"/>
              <a:endCxn id="1216" idx="2"/>
            </p:cNvCxnSpPr>
            <p:nvPr/>
          </p:nvCxnSpPr>
          <p:spPr>
            <a:xfrm rot="10800000">
              <a:off x="2443000" y="5580589"/>
              <a:ext cx="1985100" cy="522900"/>
            </a:xfrm>
            <a:prstGeom prst="bentConnector2">
              <a:avLst/>
            </a:prstGeom>
            <a:noFill/>
            <a:ln cap="flat" cmpd="sng" w="19050">
              <a:solidFill>
                <a:schemeClr val="accent1"/>
              </a:solidFill>
              <a:prstDash val="solid"/>
              <a:round/>
              <a:headEnd len="med" w="med" type="none"/>
              <a:tailEnd len="med" w="med" type="triangle"/>
            </a:ln>
          </p:spPr>
        </p:cxnSp>
        <p:cxnSp>
          <p:nvCxnSpPr>
            <p:cNvPr id="1267" name="Google Shape;1267;p71"/>
            <p:cNvCxnSpPr>
              <a:stCxn id="1266" idx="3"/>
              <a:endCxn id="1268" idx="2"/>
            </p:cNvCxnSpPr>
            <p:nvPr/>
          </p:nvCxnSpPr>
          <p:spPr>
            <a:xfrm flipH="1" rot="10800000">
              <a:off x="5094700" y="5783689"/>
              <a:ext cx="5981400" cy="319800"/>
            </a:xfrm>
            <a:prstGeom prst="bentConnector2">
              <a:avLst/>
            </a:prstGeom>
            <a:noFill/>
            <a:ln cap="flat" cmpd="sng" w="19050">
              <a:solidFill>
                <a:schemeClr val="accent1"/>
              </a:solidFill>
              <a:prstDash val="solid"/>
              <a:round/>
              <a:headEnd len="med" w="med" type="none"/>
              <a:tailEnd len="med" w="med" type="triangle"/>
            </a:ln>
          </p:spPr>
        </p:cxnSp>
      </p:grpSp>
      <p:pic>
        <p:nvPicPr>
          <p:cNvPr id="1266" name="Google Shape;1266;p71"/>
          <p:cNvPicPr preferRelativeResize="0"/>
          <p:nvPr/>
        </p:nvPicPr>
        <p:blipFill>
          <a:blip r:embed="rId4">
            <a:alphaModFix/>
          </a:blip>
          <a:stretch>
            <a:fillRect/>
          </a:stretch>
        </p:blipFill>
        <p:spPr>
          <a:xfrm>
            <a:off x="4428100" y="5770189"/>
            <a:ext cx="666600" cy="666600"/>
          </a:xfrm>
          <a:prstGeom prst="rect">
            <a:avLst/>
          </a:prstGeom>
          <a:noFill/>
          <a:ln>
            <a:noFill/>
          </a:ln>
        </p:spPr>
      </p:pic>
      <p:grpSp>
        <p:nvGrpSpPr>
          <p:cNvPr id="1269" name="Google Shape;1269;p71"/>
          <p:cNvGrpSpPr/>
          <p:nvPr/>
        </p:nvGrpSpPr>
        <p:grpSpPr>
          <a:xfrm>
            <a:off x="5145093" y="4015164"/>
            <a:ext cx="6791394" cy="1768500"/>
            <a:chOff x="5145093" y="4015164"/>
            <a:chExt cx="6791394" cy="1768500"/>
          </a:xfrm>
        </p:grpSpPr>
        <p:sp>
          <p:nvSpPr>
            <p:cNvPr id="1270" name="Google Shape;1270;p71"/>
            <p:cNvSpPr txBox="1"/>
            <p:nvPr/>
          </p:nvSpPr>
          <p:spPr>
            <a:xfrm>
              <a:off x="6088886" y="4240936"/>
              <a:ext cx="2505900" cy="6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chemeClr val="accent2"/>
                  </a:solidFill>
                  <a:latin typeface="DM Sans Medium"/>
                  <a:ea typeface="DM Sans Medium"/>
                  <a:cs typeface="DM Sans Medium"/>
                  <a:sym typeface="DM Sans Medium"/>
                </a:rPr>
                <a:t>Customer B</a:t>
              </a:r>
              <a:endParaRPr i="1" sz="1600">
                <a:solidFill>
                  <a:schemeClr val="accent2"/>
                </a:solidFill>
                <a:latin typeface="DM Sans"/>
                <a:ea typeface="DM Sans"/>
                <a:cs typeface="DM Sans"/>
                <a:sym typeface="DM Sans"/>
              </a:endParaRPr>
            </a:p>
            <a:p>
              <a:pPr indent="0" lvl="0" marL="0" rtl="0" algn="l">
                <a:spcBef>
                  <a:spcPts val="0"/>
                </a:spcBef>
                <a:spcAft>
                  <a:spcPts val="0"/>
                </a:spcAft>
                <a:buNone/>
              </a:pPr>
              <a:r>
                <a:t/>
              </a:r>
              <a:endParaRPr i="1" sz="1600">
                <a:solidFill>
                  <a:schemeClr val="accent2"/>
                </a:solidFill>
                <a:latin typeface="DM Sans Medium"/>
                <a:ea typeface="DM Sans Medium"/>
                <a:cs typeface="DM Sans Medium"/>
                <a:sym typeface="DM Sans Medium"/>
              </a:endParaRPr>
            </a:p>
          </p:txBody>
        </p:sp>
        <p:sp>
          <p:nvSpPr>
            <p:cNvPr id="1271" name="Google Shape;1271;p71"/>
            <p:cNvSpPr/>
            <p:nvPr/>
          </p:nvSpPr>
          <p:spPr>
            <a:xfrm>
              <a:off x="6163293" y="4596000"/>
              <a:ext cx="3380700" cy="10917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2" name="Google Shape;1272;p71"/>
            <p:cNvCxnSpPr>
              <a:endCxn id="1271" idx="1"/>
            </p:cNvCxnSpPr>
            <p:nvPr/>
          </p:nvCxnSpPr>
          <p:spPr>
            <a:xfrm>
              <a:off x="5145093" y="5141850"/>
              <a:ext cx="1018200" cy="0"/>
            </a:xfrm>
            <a:prstGeom prst="straightConnector1">
              <a:avLst/>
            </a:prstGeom>
            <a:noFill/>
            <a:ln cap="flat" cmpd="sng" w="9525">
              <a:solidFill>
                <a:srgbClr val="1B5161"/>
              </a:solidFill>
              <a:prstDash val="dash"/>
              <a:round/>
              <a:headEnd len="med" w="med" type="none"/>
              <a:tailEnd len="med" w="med" type="triangle"/>
            </a:ln>
          </p:spPr>
        </p:cxnSp>
        <p:sp>
          <p:nvSpPr>
            <p:cNvPr id="1273" name="Google Shape;1273;p71"/>
            <p:cNvSpPr txBox="1"/>
            <p:nvPr/>
          </p:nvSpPr>
          <p:spPr>
            <a:xfrm>
              <a:off x="5239911" y="5179229"/>
              <a:ext cx="832500" cy="554100"/>
            </a:xfrm>
            <a:prstGeom prst="rect">
              <a:avLst/>
            </a:prstGeom>
            <a:noFill/>
            <a:ln>
              <a:noFill/>
            </a:ln>
          </p:spPr>
          <p:txBody>
            <a:bodyPr anchorCtr="0" anchor="t" bIns="0" lIns="91425" spcFirstLastPara="1" rIns="91425" wrap="square" tIns="0">
              <a:noAutofit/>
            </a:bodyPr>
            <a:lstStyle/>
            <a:p>
              <a:pPr indent="0" lvl="0" marL="0" rtl="0" algn="ctr">
                <a:lnSpc>
                  <a:spcPct val="90000"/>
                </a:lnSpc>
                <a:spcBef>
                  <a:spcPts val="0"/>
                </a:spcBef>
                <a:spcAft>
                  <a:spcPts val="0"/>
                </a:spcAft>
                <a:buNone/>
              </a:pPr>
              <a:r>
                <a:rPr i="1" lang="en" sz="1000">
                  <a:solidFill>
                    <a:srgbClr val="1B5161"/>
                  </a:solidFill>
                  <a:latin typeface="DM Sans"/>
                  <a:ea typeface="DM Sans"/>
                  <a:cs typeface="DM Sans"/>
                  <a:sym typeface="DM Sans"/>
                </a:rPr>
                <a:t>assign as </a:t>
              </a:r>
              <a:r>
                <a:rPr i="1" lang="en" sz="1000">
                  <a:solidFill>
                    <a:srgbClr val="1B5161"/>
                  </a:solidFill>
                  <a:latin typeface="DM Sans Medium"/>
                  <a:ea typeface="DM Sans Medium"/>
                  <a:cs typeface="DM Sans Medium"/>
                  <a:sym typeface="DM Sans Medium"/>
                </a:rPr>
                <a:t>dedicated</a:t>
              </a:r>
              <a:r>
                <a:rPr i="1" lang="en" sz="1000">
                  <a:solidFill>
                    <a:srgbClr val="1B5161"/>
                  </a:solidFill>
                  <a:latin typeface="DM Sans"/>
                  <a:ea typeface="DM Sans"/>
                  <a:cs typeface="DM Sans"/>
                  <a:sym typeface="DM Sans"/>
                </a:rPr>
                <a:t> </a:t>
              </a:r>
              <a:r>
                <a:rPr i="1" lang="en" sz="1000">
                  <a:solidFill>
                    <a:srgbClr val="1B5161"/>
                  </a:solidFill>
                  <a:latin typeface="DM Sans Medium"/>
                  <a:ea typeface="DM Sans Medium"/>
                  <a:cs typeface="DM Sans Medium"/>
                  <a:sym typeface="DM Sans Medium"/>
                </a:rPr>
                <a:t>compute resources</a:t>
              </a:r>
              <a:endParaRPr i="1" sz="1200">
                <a:solidFill>
                  <a:srgbClr val="1B5161"/>
                </a:solidFill>
                <a:latin typeface="DM Sans Medium"/>
                <a:ea typeface="DM Sans Medium"/>
                <a:cs typeface="DM Sans Medium"/>
                <a:sym typeface="DM Sans Medium"/>
              </a:endParaRPr>
            </a:p>
          </p:txBody>
        </p:sp>
        <p:sp>
          <p:nvSpPr>
            <p:cNvPr id="1274" name="Google Shape;1274;p71"/>
            <p:cNvSpPr/>
            <p:nvPr/>
          </p:nvSpPr>
          <p:spPr>
            <a:xfrm>
              <a:off x="6296544" y="47322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Driver</a:t>
              </a:r>
              <a:endParaRPr sz="1100">
                <a:latin typeface="DM Sans Medium"/>
                <a:ea typeface="DM Sans Medium"/>
                <a:cs typeface="DM Sans Medium"/>
                <a:sym typeface="DM Sans Medium"/>
              </a:endParaRPr>
            </a:p>
          </p:txBody>
        </p:sp>
        <p:sp>
          <p:nvSpPr>
            <p:cNvPr id="1275" name="Google Shape;1275;p71"/>
            <p:cNvSpPr/>
            <p:nvPr/>
          </p:nvSpPr>
          <p:spPr>
            <a:xfrm>
              <a:off x="6895800" y="47322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76" name="Google Shape;1276;p71"/>
            <p:cNvSpPr/>
            <p:nvPr/>
          </p:nvSpPr>
          <p:spPr>
            <a:xfrm>
              <a:off x="7048200" y="48846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77" name="Google Shape;1277;p71"/>
            <p:cNvSpPr/>
            <p:nvPr/>
          </p:nvSpPr>
          <p:spPr>
            <a:xfrm>
              <a:off x="7200600" y="50370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worker</a:t>
              </a:r>
              <a:endParaRPr sz="1100">
                <a:latin typeface="DM Sans Medium"/>
                <a:ea typeface="DM Sans Medium"/>
                <a:cs typeface="DM Sans Medium"/>
                <a:sym typeface="DM Sans Medium"/>
              </a:endParaRPr>
            </a:p>
          </p:txBody>
        </p:sp>
        <p:sp>
          <p:nvSpPr>
            <p:cNvPr id="1278" name="Google Shape;1278;p71"/>
            <p:cNvSpPr/>
            <p:nvPr/>
          </p:nvSpPr>
          <p:spPr>
            <a:xfrm>
              <a:off x="7997580" y="47322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Driver</a:t>
              </a:r>
              <a:endParaRPr sz="1100">
                <a:latin typeface="DM Sans Medium"/>
                <a:ea typeface="DM Sans Medium"/>
                <a:cs typeface="DM Sans Medium"/>
                <a:sym typeface="DM Sans Medium"/>
              </a:endParaRPr>
            </a:p>
          </p:txBody>
        </p:sp>
        <p:sp>
          <p:nvSpPr>
            <p:cNvPr id="1279" name="Google Shape;1279;p71"/>
            <p:cNvSpPr/>
            <p:nvPr/>
          </p:nvSpPr>
          <p:spPr>
            <a:xfrm>
              <a:off x="8596836" y="47322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280" name="Google Shape;1280;p71"/>
            <p:cNvSpPr/>
            <p:nvPr/>
          </p:nvSpPr>
          <p:spPr>
            <a:xfrm>
              <a:off x="8749236" y="48846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100">
                <a:latin typeface="DM Sans Medium"/>
                <a:ea typeface="DM Sans Medium"/>
                <a:cs typeface="DM Sans Medium"/>
                <a:sym typeface="DM Sans Medium"/>
              </a:endParaRPr>
            </a:p>
          </p:txBody>
        </p:sp>
        <p:sp>
          <p:nvSpPr>
            <p:cNvPr id="1268" name="Google Shape;1268;p71"/>
            <p:cNvSpPr/>
            <p:nvPr/>
          </p:nvSpPr>
          <p:spPr>
            <a:xfrm>
              <a:off x="10216437" y="4015164"/>
              <a:ext cx="1719900" cy="1768500"/>
            </a:xfrm>
            <a:prstGeom prst="roundRect">
              <a:avLst>
                <a:gd fmla="val 7101" name="adj"/>
              </a:avLst>
            </a:prstGeom>
            <a:solidFill>
              <a:srgbClr val="FFFFFF"/>
            </a:solidFill>
            <a:ln cap="flat" cmpd="sng" w="9525">
              <a:solidFill>
                <a:schemeClr val="accent2"/>
              </a:solidFill>
              <a:prstDash val="solid"/>
              <a:round/>
              <a:headEnd len="sm" w="sm" type="none"/>
              <a:tailEnd len="sm" w="sm" type="none"/>
            </a:ln>
          </p:spPr>
          <p:txBody>
            <a:bodyPr anchorCtr="0" anchor="t" bIns="91425" lIns="18275" spcFirstLastPara="1" rIns="18275" wrap="square" tIns="18275">
              <a:noAutofit/>
            </a:bodyPr>
            <a:lstStyle/>
            <a:p>
              <a:pPr indent="0" lvl="0" marL="0" rtl="0" algn="l">
                <a:spcBef>
                  <a:spcPts val="0"/>
                </a:spcBef>
                <a:spcAft>
                  <a:spcPts val="0"/>
                </a:spcAft>
                <a:buNone/>
              </a:pPr>
              <a:r>
                <a:rPr i="1" lang="en" sz="1800">
                  <a:solidFill>
                    <a:schemeClr val="accent2"/>
                  </a:solidFill>
                  <a:latin typeface="DM Sans Medium"/>
                  <a:ea typeface="DM Sans Medium"/>
                  <a:cs typeface="DM Sans Medium"/>
                  <a:sym typeface="DM Sans Medium"/>
                </a:rPr>
                <a:t>B</a:t>
              </a:r>
              <a:endParaRPr i="1" sz="1800">
                <a:solidFill>
                  <a:schemeClr val="accent2"/>
                </a:solidFill>
                <a:latin typeface="DM Sans Medium"/>
                <a:ea typeface="DM Sans Medium"/>
                <a:cs typeface="DM Sans Medium"/>
                <a:sym typeface="DM Sans Medium"/>
              </a:endParaRPr>
            </a:p>
          </p:txBody>
        </p:sp>
        <p:sp>
          <p:nvSpPr>
            <p:cNvPr id="1281" name="Google Shape;1281;p71"/>
            <p:cNvSpPr/>
            <p:nvPr/>
          </p:nvSpPr>
          <p:spPr>
            <a:xfrm>
              <a:off x="10531049" y="5421864"/>
              <a:ext cx="1292700" cy="273000"/>
            </a:xfrm>
            <a:prstGeom prst="roundRect">
              <a:avLst>
                <a:gd fmla="val 1069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rgbClr val="1B5161"/>
                  </a:solidFill>
                  <a:latin typeface="DM Sans Medium"/>
                  <a:ea typeface="DM Sans Medium"/>
                  <a:cs typeface="DM Sans Medium"/>
                  <a:sym typeface="DM Sans Medium"/>
                </a:rPr>
                <a:t>ID Provider</a:t>
              </a:r>
              <a:endParaRPr sz="1200">
                <a:solidFill>
                  <a:srgbClr val="1B5161"/>
                </a:solidFill>
                <a:latin typeface="DM Sans Medium"/>
                <a:ea typeface="DM Sans Medium"/>
                <a:cs typeface="DM Sans Medium"/>
                <a:sym typeface="DM Sans Medium"/>
              </a:endParaRPr>
            </a:p>
          </p:txBody>
        </p:sp>
        <p:sp>
          <p:nvSpPr>
            <p:cNvPr id="1282" name="Google Shape;1282;p71"/>
            <p:cNvSpPr/>
            <p:nvPr/>
          </p:nvSpPr>
          <p:spPr>
            <a:xfrm>
              <a:off x="10531042" y="4971182"/>
              <a:ext cx="1292700" cy="389100"/>
            </a:xfrm>
            <a:prstGeom prst="roundRect">
              <a:avLst>
                <a:gd fmla="val 1069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rgbClr val="1B5161"/>
                  </a:solidFill>
                  <a:latin typeface="DM Sans Medium"/>
                  <a:ea typeface="DM Sans Medium"/>
                  <a:cs typeface="DM Sans Medium"/>
                  <a:sym typeface="DM Sans Medium"/>
                </a:rPr>
                <a:t>Other data sources</a:t>
              </a:r>
              <a:endParaRPr sz="1200">
                <a:solidFill>
                  <a:srgbClr val="1B5161"/>
                </a:solidFill>
                <a:latin typeface="DM Sans Medium"/>
                <a:ea typeface="DM Sans Medium"/>
                <a:cs typeface="DM Sans Medium"/>
                <a:sym typeface="DM Sans Medium"/>
              </a:endParaRPr>
            </a:p>
          </p:txBody>
        </p:sp>
        <p:sp>
          <p:nvSpPr>
            <p:cNvPr id="1283" name="Google Shape;1283;p71"/>
            <p:cNvSpPr/>
            <p:nvPr/>
          </p:nvSpPr>
          <p:spPr>
            <a:xfrm>
              <a:off x="10531120" y="4117599"/>
              <a:ext cx="1292700" cy="792001"/>
            </a:xfrm>
            <a:prstGeom prst="roundRect">
              <a:avLst>
                <a:gd fmla="val 7534" name="adj"/>
              </a:avLst>
            </a:prstGeom>
            <a:solidFill>
              <a:srgbClr val="FFFFFF"/>
            </a:solidFill>
            <a:ln cap="flat" cmpd="sng" w="9525">
              <a:solidFill>
                <a:schemeClr val="accent2"/>
              </a:solidFill>
              <a:prstDash val="solid"/>
              <a:round/>
              <a:headEnd len="sm" w="sm" type="none"/>
              <a:tailEnd len="sm" w="sm" type="none"/>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     Cloud Storage</a:t>
              </a:r>
              <a:endParaRPr sz="1200">
                <a:solidFill>
                  <a:srgbClr val="1B5161"/>
                </a:solidFill>
                <a:latin typeface="DM Sans Medium"/>
                <a:ea typeface="DM Sans Medium"/>
                <a:cs typeface="DM Sans Medium"/>
                <a:sym typeface="DM Sans Medium"/>
              </a:endParaRPr>
            </a:p>
          </p:txBody>
        </p:sp>
        <p:sp>
          <p:nvSpPr>
            <p:cNvPr id="1284" name="Google Shape;1284;p71"/>
            <p:cNvSpPr/>
            <p:nvPr/>
          </p:nvSpPr>
          <p:spPr>
            <a:xfrm>
              <a:off x="10685923" y="4492180"/>
              <a:ext cx="954000" cy="338100"/>
            </a:xfrm>
            <a:prstGeom prst="roundRect">
              <a:avLst>
                <a:gd fmla="val 16667" name="adj"/>
              </a:avLst>
            </a:prstGeom>
            <a:solidFill>
              <a:srgbClr val="FFFFFF"/>
            </a:solidFill>
            <a:ln cap="flat" cmpd="sng" w="9525">
              <a:solidFill>
                <a:srgbClr val="00953A"/>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a:ea typeface="DM Sans"/>
                  <a:cs typeface="DM Sans"/>
                  <a:sym typeface="DM Sans"/>
                </a:rPr>
                <a:t>root bucket</a:t>
              </a:r>
              <a:br>
                <a:rPr lang="en" sz="1100">
                  <a:solidFill>
                    <a:schemeClr val="accent1"/>
                  </a:solidFill>
                  <a:latin typeface="DM Sans"/>
                  <a:ea typeface="DM Sans"/>
                  <a:cs typeface="DM Sans"/>
                  <a:sym typeface="DM Sans"/>
                </a:rPr>
              </a:br>
              <a:r>
                <a:rPr lang="en" sz="1100">
                  <a:solidFill>
                    <a:schemeClr val="accent1"/>
                  </a:solidFill>
                  <a:latin typeface="DM Sans"/>
                  <a:ea typeface="DM Sans"/>
                  <a:cs typeface="DM Sans"/>
                  <a:sym typeface="DM Sans"/>
                </a:rPr>
                <a:t>(DBFS)</a:t>
              </a:r>
              <a:endParaRPr sz="1100">
                <a:solidFill>
                  <a:schemeClr val="accent1"/>
                </a:solidFill>
                <a:latin typeface="DM Sans"/>
                <a:ea typeface="DM Sans"/>
                <a:cs typeface="DM Sans"/>
                <a:sym typeface="DM Sans"/>
              </a:endParaRPr>
            </a:p>
          </p:txBody>
        </p:sp>
      </p:grpSp>
      <p:sp>
        <p:nvSpPr>
          <p:cNvPr id="1285" name="Google Shape;1285;p71"/>
          <p:cNvSpPr/>
          <p:nvPr/>
        </p:nvSpPr>
        <p:spPr>
          <a:xfrm>
            <a:off x="8901636" y="5037052"/>
            <a:ext cx="506700" cy="480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worker</a:t>
            </a:r>
            <a:endParaRPr sz="1100">
              <a:latin typeface="DM Sans Medium"/>
              <a:ea typeface="DM Sans Medium"/>
              <a:cs typeface="DM Sans Medium"/>
              <a:sym typeface="DM Sans Medium"/>
            </a:endParaRPr>
          </a:p>
        </p:txBody>
      </p:sp>
      <p:pic>
        <p:nvPicPr>
          <p:cNvPr id="1286" name="Google Shape;1286;p71"/>
          <p:cNvPicPr preferRelativeResize="0"/>
          <p:nvPr/>
        </p:nvPicPr>
        <p:blipFill rotWithShape="1">
          <a:blip r:embed="rId3">
            <a:alphaModFix/>
          </a:blip>
          <a:srcRect b="0" l="0" r="82955" t="0"/>
          <a:stretch/>
        </p:blipFill>
        <p:spPr>
          <a:xfrm>
            <a:off x="717245" y="3049774"/>
            <a:ext cx="245706" cy="226800"/>
          </a:xfrm>
          <a:prstGeom prst="rect">
            <a:avLst/>
          </a:prstGeom>
          <a:noFill/>
          <a:ln>
            <a:noFill/>
          </a:ln>
        </p:spPr>
      </p:pic>
      <p:pic>
        <p:nvPicPr>
          <p:cNvPr id="1287" name="Google Shape;1287;p71"/>
          <p:cNvPicPr preferRelativeResize="0"/>
          <p:nvPr/>
        </p:nvPicPr>
        <p:blipFill rotWithShape="1">
          <a:blip r:embed="rId3">
            <a:alphaModFix/>
          </a:blip>
          <a:srcRect b="0" l="0" r="82955" t="0"/>
          <a:stretch/>
        </p:blipFill>
        <p:spPr>
          <a:xfrm>
            <a:off x="5149746" y="2293813"/>
            <a:ext cx="245706" cy="226800"/>
          </a:xfrm>
          <a:prstGeom prst="rect">
            <a:avLst/>
          </a:prstGeom>
          <a:noFill/>
          <a:ln>
            <a:noFill/>
          </a:ln>
        </p:spPr>
      </p:pic>
      <p:sp>
        <p:nvSpPr>
          <p:cNvPr id="1288" name="Google Shape;1288;p71"/>
          <p:cNvSpPr/>
          <p:nvPr/>
        </p:nvSpPr>
        <p:spPr>
          <a:xfrm>
            <a:off x="456925" y="2129100"/>
            <a:ext cx="27213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    Account Console</a:t>
            </a:r>
            <a:endParaRPr sz="2000">
              <a:solidFill>
                <a:schemeClr val="accent1"/>
              </a:solidFill>
              <a:latin typeface="DM Sans Medium"/>
              <a:ea typeface="DM Sans Medium"/>
              <a:cs typeface="DM Sans Medium"/>
              <a:sym typeface="DM Sans Medium"/>
            </a:endParaRPr>
          </a:p>
        </p:txBody>
      </p:sp>
      <p:pic>
        <p:nvPicPr>
          <p:cNvPr id="1289" name="Google Shape;1289;p71"/>
          <p:cNvPicPr preferRelativeResize="0"/>
          <p:nvPr/>
        </p:nvPicPr>
        <p:blipFill rotWithShape="1">
          <a:blip r:embed="rId3">
            <a:alphaModFix/>
          </a:blip>
          <a:srcRect b="0" l="0" r="82955" t="0"/>
          <a:stretch/>
        </p:blipFill>
        <p:spPr>
          <a:xfrm>
            <a:off x="578644" y="2308307"/>
            <a:ext cx="245706" cy="226800"/>
          </a:xfrm>
          <a:prstGeom prst="rect">
            <a:avLst/>
          </a:prstGeom>
          <a:noFill/>
          <a:ln>
            <a:noFill/>
          </a:ln>
        </p:spPr>
      </p:pic>
      <p:grpSp>
        <p:nvGrpSpPr>
          <p:cNvPr id="1290" name="Google Shape;1290;p71"/>
          <p:cNvGrpSpPr/>
          <p:nvPr/>
        </p:nvGrpSpPr>
        <p:grpSpPr>
          <a:xfrm>
            <a:off x="6278690" y="3816350"/>
            <a:ext cx="867749" cy="338100"/>
            <a:chOff x="6278690" y="3816350"/>
            <a:chExt cx="867749" cy="338100"/>
          </a:xfrm>
        </p:grpSpPr>
        <p:pic>
          <p:nvPicPr>
            <p:cNvPr id="1291" name="Google Shape;1291;p71"/>
            <p:cNvPicPr preferRelativeResize="0"/>
            <p:nvPr/>
          </p:nvPicPr>
          <p:blipFill>
            <a:blip r:embed="rId5">
              <a:alphaModFix/>
            </a:blip>
            <a:stretch>
              <a:fillRect/>
            </a:stretch>
          </p:blipFill>
          <p:spPr>
            <a:xfrm>
              <a:off x="6278690" y="3845325"/>
              <a:ext cx="275775" cy="275775"/>
            </a:xfrm>
            <a:prstGeom prst="rect">
              <a:avLst/>
            </a:prstGeom>
            <a:noFill/>
            <a:ln>
              <a:noFill/>
            </a:ln>
          </p:spPr>
        </p:pic>
        <p:sp>
          <p:nvSpPr>
            <p:cNvPr id="1292" name="Google Shape;1292;p71"/>
            <p:cNvSpPr txBox="1"/>
            <p:nvPr/>
          </p:nvSpPr>
          <p:spPr>
            <a:xfrm>
              <a:off x="6479839" y="3816350"/>
              <a:ext cx="666600" cy="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000">
                  <a:solidFill>
                    <a:schemeClr val="dk2"/>
                  </a:solidFill>
                  <a:latin typeface="DM Sans"/>
                  <a:ea typeface="DM Sans"/>
                  <a:cs typeface="DM Sans"/>
                  <a:sym typeface="DM Sans"/>
                </a:rPr>
                <a:t>Photon</a:t>
              </a:r>
              <a:endParaRPr i="1" sz="1000">
                <a:solidFill>
                  <a:schemeClr val="dk2"/>
                </a:solidFill>
                <a:latin typeface="DM Sans"/>
                <a:ea typeface="DM Sans"/>
                <a:cs typeface="DM Sans"/>
                <a:sym typeface="DM Sans"/>
              </a:endParaRPr>
            </a:p>
          </p:txBody>
        </p:sp>
      </p:grpSp>
      <p:grpSp>
        <p:nvGrpSpPr>
          <p:cNvPr id="1293" name="Google Shape;1293;p71"/>
          <p:cNvGrpSpPr/>
          <p:nvPr/>
        </p:nvGrpSpPr>
        <p:grpSpPr>
          <a:xfrm>
            <a:off x="6278690" y="5250493"/>
            <a:ext cx="2602190" cy="338100"/>
            <a:chOff x="6278690" y="5250493"/>
            <a:chExt cx="2602190" cy="338100"/>
          </a:xfrm>
        </p:grpSpPr>
        <p:grpSp>
          <p:nvGrpSpPr>
            <p:cNvPr id="1294" name="Google Shape;1294;p71"/>
            <p:cNvGrpSpPr/>
            <p:nvPr/>
          </p:nvGrpSpPr>
          <p:grpSpPr>
            <a:xfrm>
              <a:off x="6278690" y="5250493"/>
              <a:ext cx="867749" cy="338100"/>
              <a:chOff x="6278690" y="5250493"/>
              <a:chExt cx="867749" cy="338100"/>
            </a:xfrm>
          </p:grpSpPr>
          <p:pic>
            <p:nvPicPr>
              <p:cNvPr id="1295" name="Google Shape;1295;p71"/>
              <p:cNvPicPr preferRelativeResize="0"/>
              <p:nvPr/>
            </p:nvPicPr>
            <p:blipFill>
              <a:blip r:embed="rId5">
                <a:alphaModFix/>
              </a:blip>
              <a:stretch>
                <a:fillRect/>
              </a:stretch>
            </p:blipFill>
            <p:spPr>
              <a:xfrm>
                <a:off x="6278690" y="5279468"/>
                <a:ext cx="275775" cy="275775"/>
              </a:xfrm>
              <a:prstGeom prst="rect">
                <a:avLst/>
              </a:prstGeom>
              <a:noFill/>
              <a:ln>
                <a:noFill/>
              </a:ln>
            </p:spPr>
          </p:pic>
          <p:sp>
            <p:nvSpPr>
              <p:cNvPr id="1296" name="Google Shape;1296;p71"/>
              <p:cNvSpPr txBox="1"/>
              <p:nvPr/>
            </p:nvSpPr>
            <p:spPr>
              <a:xfrm>
                <a:off x="6479839" y="5250493"/>
                <a:ext cx="666600" cy="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000">
                    <a:solidFill>
                      <a:schemeClr val="dk2"/>
                    </a:solidFill>
                    <a:latin typeface="DM Sans"/>
                    <a:ea typeface="DM Sans"/>
                    <a:cs typeface="DM Sans"/>
                    <a:sym typeface="DM Sans"/>
                  </a:rPr>
                  <a:t>Photon</a:t>
                </a:r>
                <a:endParaRPr i="1" sz="1000">
                  <a:solidFill>
                    <a:schemeClr val="dk2"/>
                  </a:solidFill>
                  <a:latin typeface="DM Sans"/>
                  <a:ea typeface="DM Sans"/>
                  <a:cs typeface="DM Sans"/>
                  <a:sym typeface="DM Sans"/>
                </a:endParaRPr>
              </a:p>
            </p:txBody>
          </p:sp>
        </p:grpSp>
        <p:pic>
          <p:nvPicPr>
            <p:cNvPr id="1297" name="Google Shape;1297;p71"/>
            <p:cNvPicPr preferRelativeResize="0"/>
            <p:nvPr/>
          </p:nvPicPr>
          <p:blipFill>
            <a:blip r:embed="rId5">
              <a:alphaModFix/>
            </a:blip>
            <a:stretch>
              <a:fillRect/>
            </a:stretch>
          </p:blipFill>
          <p:spPr>
            <a:xfrm>
              <a:off x="8013131" y="5279468"/>
              <a:ext cx="275775" cy="275775"/>
            </a:xfrm>
            <a:prstGeom prst="rect">
              <a:avLst/>
            </a:prstGeom>
            <a:noFill/>
            <a:ln>
              <a:noFill/>
            </a:ln>
          </p:spPr>
        </p:pic>
        <p:sp>
          <p:nvSpPr>
            <p:cNvPr id="1298" name="Google Shape;1298;p71"/>
            <p:cNvSpPr txBox="1"/>
            <p:nvPr/>
          </p:nvSpPr>
          <p:spPr>
            <a:xfrm>
              <a:off x="8214280" y="5250493"/>
              <a:ext cx="666600" cy="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000">
                  <a:solidFill>
                    <a:schemeClr val="dk2"/>
                  </a:solidFill>
                  <a:latin typeface="DM Sans"/>
                  <a:ea typeface="DM Sans"/>
                  <a:cs typeface="DM Sans"/>
                  <a:sym typeface="DM Sans"/>
                </a:rPr>
                <a:t>Photon</a:t>
              </a:r>
              <a:endParaRPr i="1" sz="1000">
                <a:solidFill>
                  <a:schemeClr val="dk2"/>
                </a:solidFill>
                <a:latin typeface="DM Sans"/>
                <a:ea typeface="DM Sans"/>
                <a:cs typeface="DM Sans"/>
                <a:sym typeface="DM Sans"/>
              </a:endParaRPr>
            </a:p>
          </p:txBody>
        </p:sp>
      </p:grpSp>
      <p:sp>
        <p:nvSpPr>
          <p:cNvPr id="1299" name="Google Shape;1299;p71"/>
          <p:cNvSpPr/>
          <p:nvPr/>
        </p:nvSpPr>
        <p:spPr>
          <a:xfrm>
            <a:off x="586511" y="4211050"/>
            <a:ext cx="1193700" cy="6366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Lakeflow Jobs</a:t>
            </a:r>
            <a:endParaRPr i="1">
              <a:solidFill>
                <a:schemeClr val="accent1"/>
              </a:solidFill>
              <a:latin typeface="DM Sans Medium"/>
              <a:ea typeface="DM Sans Medium"/>
              <a:cs typeface="DM Sans Medium"/>
              <a:sym typeface="DM Sans Medium"/>
            </a:endParaRPr>
          </a:p>
        </p:txBody>
      </p:sp>
      <p:grpSp>
        <p:nvGrpSpPr>
          <p:cNvPr id="1300" name="Google Shape;1300;p71"/>
          <p:cNvGrpSpPr/>
          <p:nvPr/>
        </p:nvGrpSpPr>
        <p:grpSpPr>
          <a:xfrm>
            <a:off x="9858215" y="4155025"/>
            <a:ext cx="928909" cy="668750"/>
            <a:chOff x="9858215" y="4155025"/>
            <a:chExt cx="928909" cy="668750"/>
          </a:xfrm>
        </p:grpSpPr>
        <p:pic>
          <p:nvPicPr>
            <p:cNvPr id="1301" name="Google Shape;1301;p71"/>
            <p:cNvPicPr preferRelativeResize="0"/>
            <p:nvPr/>
          </p:nvPicPr>
          <p:blipFill rotWithShape="1">
            <a:blip r:embed="rId6">
              <a:alphaModFix/>
            </a:blip>
            <a:srcRect b="0" l="0" r="0" t="0"/>
            <a:stretch/>
          </p:blipFill>
          <p:spPr>
            <a:xfrm>
              <a:off x="9858215" y="4563729"/>
              <a:ext cx="260074" cy="260046"/>
            </a:xfrm>
            <a:prstGeom prst="rect">
              <a:avLst/>
            </a:prstGeom>
            <a:noFill/>
            <a:ln>
              <a:noFill/>
            </a:ln>
          </p:spPr>
        </p:pic>
        <p:pic>
          <p:nvPicPr>
            <p:cNvPr id="1302" name="Google Shape;1302;p71"/>
            <p:cNvPicPr preferRelativeResize="0"/>
            <p:nvPr/>
          </p:nvPicPr>
          <p:blipFill rotWithShape="1">
            <a:blip r:embed="rId6">
              <a:alphaModFix/>
            </a:blip>
            <a:srcRect b="0" l="0" r="0" t="0"/>
            <a:stretch/>
          </p:blipFill>
          <p:spPr>
            <a:xfrm>
              <a:off x="10527049" y="4155025"/>
              <a:ext cx="260074" cy="260046"/>
            </a:xfrm>
            <a:prstGeom prst="rect">
              <a:avLst/>
            </a:prstGeom>
            <a:noFill/>
            <a:ln>
              <a:noFill/>
            </a:ln>
          </p:spPr>
        </p:pic>
      </p:grpSp>
      <p:grpSp>
        <p:nvGrpSpPr>
          <p:cNvPr id="1303" name="Google Shape;1303;p71"/>
          <p:cNvGrpSpPr/>
          <p:nvPr/>
        </p:nvGrpSpPr>
        <p:grpSpPr>
          <a:xfrm>
            <a:off x="7030926" y="2265018"/>
            <a:ext cx="3756198" cy="4605746"/>
            <a:chOff x="7030926" y="2265018"/>
            <a:chExt cx="3756198" cy="4605746"/>
          </a:xfrm>
        </p:grpSpPr>
        <p:pic>
          <p:nvPicPr>
            <p:cNvPr id="1304" name="Google Shape;1304;p71"/>
            <p:cNvPicPr preferRelativeResize="0"/>
            <p:nvPr/>
          </p:nvPicPr>
          <p:blipFill rotWithShape="1">
            <a:blip r:embed="rId6">
              <a:alphaModFix/>
            </a:blip>
            <a:srcRect b="0" l="0" r="0" t="0"/>
            <a:stretch/>
          </p:blipFill>
          <p:spPr>
            <a:xfrm>
              <a:off x="9858215" y="2658729"/>
              <a:ext cx="260074" cy="260046"/>
            </a:xfrm>
            <a:prstGeom prst="rect">
              <a:avLst/>
            </a:prstGeom>
            <a:noFill/>
            <a:ln>
              <a:noFill/>
            </a:ln>
          </p:spPr>
        </p:pic>
        <p:pic>
          <p:nvPicPr>
            <p:cNvPr id="1305" name="Google Shape;1305;p71"/>
            <p:cNvPicPr preferRelativeResize="0"/>
            <p:nvPr/>
          </p:nvPicPr>
          <p:blipFill rotWithShape="1">
            <a:blip r:embed="rId6">
              <a:alphaModFix/>
            </a:blip>
            <a:srcRect b="0" l="0" r="0" t="0"/>
            <a:stretch/>
          </p:blipFill>
          <p:spPr>
            <a:xfrm>
              <a:off x="10527049" y="2265018"/>
              <a:ext cx="260074" cy="260046"/>
            </a:xfrm>
            <a:prstGeom prst="rect">
              <a:avLst/>
            </a:prstGeom>
            <a:noFill/>
            <a:ln>
              <a:noFill/>
            </a:ln>
          </p:spPr>
        </p:pic>
        <p:sp>
          <p:nvSpPr>
            <p:cNvPr id="1306" name="Google Shape;1306;p71"/>
            <p:cNvSpPr txBox="1"/>
            <p:nvPr/>
          </p:nvSpPr>
          <p:spPr>
            <a:xfrm>
              <a:off x="7182860" y="6519764"/>
              <a:ext cx="3000000" cy="351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500"/>
                </a:spcAft>
                <a:buNone/>
              </a:pPr>
              <a:r>
                <a:rPr i="1" lang="en" sz="1200">
                  <a:solidFill>
                    <a:srgbClr val="FF3620"/>
                  </a:solidFill>
                  <a:latin typeface="DM Sans"/>
                  <a:ea typeface="DM Sans"/>
                  <a:cs typeface="DM Sans"/>
                  <a:sym typeface="DM Sans"/>
                </a:rPr>
                <a:t>Encryption at rest and in transit</a:t>
              </a:r>
              <a:endParaRPr sz="1200"/>
            </a:p>
          </p:txBody>
        </p:sp>
        <p:pic>
          <p:nvPicPr>
            <p:cNvPr id="1307" name="Google Shape;1307;p71"/>
            <p:cNvPicPr preferRelativeResize="0"/>
            <p:nvPr/>
          </p:nvPicPr>
          <p:blipFill rotWithShape="1">
            <a:blip r:embed="rId6">
              <a:alphaModFix/>
            </a:blip>
            <a:srcRect b="0" l="0" r="0" t="0"/>
            <a:stretch/>
          </p:blipFill>
          <p:spPr>
            <a:xfrm>
              <a:off x="7030926" y="6545579"/>
              <a:ext cx="260074" cy="260046"/>
            </a:xfrm>
            <a:prstGeom prst="rect">
              <a:avLst/>
            </a:prstGeom>
            <a:noFill/>
            <a:ln>
              <a:noFill/>
            </a:ln>
          </p:spPr>
        </p:pic>
      </p:grpSp>
      <p:sp>
        <p:nvSpPr>
          <p:cNvPr id="1308" name="Google Shape;1308;p71"/>
          <p:cNvSpPr/>
          <p:nvPr/>
        </p:nvSpPr>
        <p:spPr>
          <a:xfrm>
            <a:off x="586511" y="3478090"/>
            <a:ext cx="1193700" cy="6366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Unity Catalog</a:t>
            </a:r>
            <a:endParaRPr i="1">
              <a:solidFill>
                <a:schemeClr val="accent1"/>
              </a:solidFill>
              <a:latin typeface="DM Sans Medium"/>
              <a:ea typeface="DM Sans Medium"/>
              <a:cs typeface="DM Sans Medium"/>
              <a:sym typeface="DM Sans Medium"/>
            </a:endParaRPr>
          </a:p>
        </p:txBody>
      </p:sp>
      <p:sp>
        <p:nvSpPr>
          <p:cNvPr id="1309" name="Google Shape;1309;p71"/>
          <p:cNvSpPr/>
          <p:nvPr/>
        </p:nvSpPr>
        <p:spPr>
          <a:xfrm>
            <a:off x="1846086" y="3478090"/>
            <a:ext cx="1193700" cy="636600"/>
          </a:xfrm>
          <a:prstGeom prst="roundRect">
            <a:avLst>
              <a:gd fmla="val 16667" name="adj"/>
            </a:avLst>
          </a:prstGeom>
          <a:no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DatabricksIQ</a:t>
            </a:r>
            <a:endParaRPr i="1">
              <a:solidFill>
                <a:schemeClr val="accent1"/>
              </a:solidFill>
              <a:latin typeface="DM Sans Medium"/>
              <a:ea typeface="DM Sans Medium"/>
              <a:cs typeface="DM Sans Medium"/>
              <a:sym typeface="DM Sans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1000"/>
                                        <p:tgtEl>
                                          <p:spTgt spid="1240"/>
                                        </p:tgtEl>
                                      </p:cBhvr>
                                    </p:animEffect>
                                  </p:childTnLst>
                                </p:cTn>
                              </p:par>
                              <p:par>
                                <p:cTn fill="hold" nodeType="with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1000"/>
                                        <p:tgtEl>
                                          <p:spTgt spid="1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9"/>
                                        </p:tgtEl>
                                        <p:attrNameLst>
                                          <p:attrName>style.visibility</p:attrName>
                                        </p:attrNameLst>
                                      </p:cBhvr>
                                      <p:to>
                                        <p:strVal val="visible"/>
                                      </p:to>
                                    </p:set>
                                    <p:animEffect filter="fade" transition="in">
                                      <p:cBhvr>
                                        <p:cTn dur="1000"/>
                                        <p:tgtEl>
                                          <p:spTgt spid="1269"/>
                                        </p:tgtEl>
                                      </p:cBhvr>
                                    </p:animEffect>
                                  </p:childTnLst>
                                </p:cTn>
                              </p:par>
                              <p:par>
                                <p:cTn fill="hold" nodeType="with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1000"/>
                                        <p:tgtEl>
                                          <p:spTgt spid="1293"/>
                                        </p:tgtEl>
                                      </p:cBhvr>
                                    </p:animEffect>
                                  </p:childTnLst>
                                </p:cTn>
                              </p:par>
                              <p:par>
                                <p:cTn fill="hold" nodeType="with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1000"/>
                                        <p:tgtEl>
                                          <p:spTgt spid="1285"/>
                                        </p:tgtEl>
                                      </p:cBhvr>
                                    </p:animEffect>
                                  </p:childTnLst>
                                </p:cTn>
                              </p:par>
                              <p:par>
                                <p:cTn fill="hold" nodeType="withEffect" presetClass="entr" presetID="10" presetSubtype="0">
                                  <p:stCondLst>
                                    <p:cond delay="0"/>
                                  </p:stCondLst>
                                  <p:childTnLst>
                                    <p:set>
                                      <p:cBhvr>
                                        <p:cTn dur="1" fill="hold">
                                          <p:stCondLst>
                                            <p:cond delay="0"/>
                                          </p:stCondLst>
                                        </p:cTn>
                                        <p:tgtEl>
                                          <p:spTgt spid="1261"/>
                                        </p:tgtEl>
                                        <p:attrNameLst>
                                          <p:attrName>style.visibility</p:attrName>
                                        </p:attrNameLst>
                                      </p:cBhvr>
                                      <p:to>
                                        <p:strVal val="visible"/>
                                      </p:to>
                                    </p:set>
                                    <p:animEffect filter="fade" transition="in">
                                      <p:cBhvr>
                                        <p:cTn dur="1000"/>
                                        <p:tgtEl>
                                          <p:spTgt spid="1261"/>
                                        </p:tgtEl>
                                      </p:cBhvr>
                                    </p:animEffect>
                                  </p:childTnLst>
                                </p:cTn>
                              </p:par>
                              <p:par>
                                <p:cTn fill="hold" nodeType="with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1000"/>
                                        <p:tgtEl>
                                          <p:spTgt spid="1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2"/>
                                        </p:tgtEl>
                                        <p:attrNameLst>
                                          <p:attrName>style.visibility</p:attrName>
                                        </p:attrNameLst>
                                      </p:cBhvr>
                                      <p:to>
                                        <p:strVal val="visible"/>
                                      </p:to>
                                    </p:set>
                                    <p:animEffect filter="fade" transition="in">
                                      <p:cBhvr>
                                        <p:cTn dur="1000"/>
                                        <p:tgtEl>
                                          <p:spTgt spid="1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3" name="Shape 1313"/>
        <p:cNvGrpSpPr/>
        <p:nvPr/>
      </p:nvGrpSpPr>
      <p:grpSpPr>
        <a:xfrm>
          <a:off x="0" y="0"/>
          <a:ext cx="0" cy="0"/>
          <a:chOff x="0" y="0"/>
          <a:chExt cx="0" cy="0"/>
        </a:xfrm>
      </p:grpSpPr>
      <p:sp>
        <p:nvSpPr>
          <p:cNvPr id="1314" name="Google Shape;1314;p72"/>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Serverless Model Serving, Vector Search, Online Tables</a:t>
            </a:r>
            <a:endParaRPr/>
          </a:p>
        </p:txBody>
      </p:sp>
      <p:sp>
        <p:nvSpPr>
          <p:cNvPr id="1315" name="Google Shape;1315;p7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73"/>
          <p:cNvSpPr/>
          <p:nvPr/>
        </p:nvSpPr>
        <p:spPr>
          <a:xfrm>
            <a:off x="9406972" y="2138725"/>
            <a:ext cx="1719900" cy="4014900"/>
          </a:xfrm>
          <a:prstGeom prst="roundRect">
            <a:avLst>
              <a:gd fmla="val 7101" name="adj"/>
            </a:avLst>
          </a:prstGeom>
          <a:solidFill>
            <a:srgbClr val="FFFFFF"/>
          </a:solidFill>
          <a:ln cap="flat" cmpd="sng" w="9525">
            <a:solidFill>
              <a:schemeClr val="accent1"/>
            </a:solidFill>
            <a:prstDash val="solid"/>
            <a:round/>
            <a:headEnd len="sm" w="sm" type="none"/>
            <a:tailEnd len="sm" w="sm" type="none"/>
          </a:ln>
        </p:spPr>
        <p:txBody>
          <a:bodyPr anchorCtr="0" anchor="t" bIns="18275" lIns="18275" spcFirstLastPara="1" rIns="18275" wrap="square" tIns="18275">
            <a:noAutofit/>
          </a:bodyPr>
          <a:lstStyle/>
          <a:p>
            <a:pPr indent="0" lvl="0" marL="0" rtl="0" algn="l">
              <a:spcBef>
                <a:spcPts val="0"/>
              </a:spcBef>
              <a:spcAft>
                <a:spcPts val="0"/>
              </a:spcAft>
              <a:buNone/>
            </a:pPr>
            <a:r>
              <a:t/>
            </a:r>
            <a:endParaRPr i="1" sz="1800">
              <a:solidFill>
                <a:srgbClr val="BD802B"/>
              </a:solidFill>
              <a:latin typeface="DM Sans Medium"/>
              <a:ea typeface="DM Sans Medium"/>
              <a:cs typeface="DM Sans Medium"/>
              <a:sym typeface="DM Sans Medium"/>
            </a:endParaRPr>
          </a:p>
        </p:txBody>
      </p:sp>
      <p:sp>
        <p:nvSpPr>
          <p:cNvPr id="1321" name="Google Shape;1321;p73"/>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a:t>
            </a:r>
            <a:endParaRPr sz="3600"/>
          </a:p>
        </p:txBody>
      </p:sp>
      <p:sp>
        <p:nvSpPr>
          <p:cNvPr id="1322" name="Google Shape;1322;p7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323" name="Google Shape;1323;p73"/>
          <p:cNvSpPr/>
          <p:nvPr/>
        </p:nvSpPr>
        <p:spPr>
          <a:xfrm>
            <a:off x="772375" y="2886900"/>
            <a:ext cx="3710100" cy="2696100"/>
          </a:xfrm>
          <a:prstGeom prst="roundRect">
            <a:avLst>
              <a:gd fmla="val 4514" name="adj"/>
            </a:avLst>
          </a:prstGeom>
          <a:solidFill>
            <a:srgbClr val="FFFFFF"/>
          </a:solidFill>
          <a:ln cap="flat" cmpd="sng" w="9525">
            <a:solidFill>
              <a:srgbClr val="FF362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FF3620"/>
                </a:solidFill>
                <a:latin typeface="DM Sans Medium"/>
                <a:ea typeface="DM Sans Medium"/>
                <a:cs typeface="DM Sans Medium"/>
                <a:sym typeface="DM Sans Medium"/>
              </a:rPr>
              <a:t> Control Plane</a:t>
            </a:r>
            <a:endParaRPr sz="2000">
              <a:solidFill>
                <a:srgbClr val="FF3620"/>
              </a:solidFill>
              <a:latin typeface="DM Sans Medium"/>
              <a:ea typeface="DM Sans Medium"/>
              <a:cs typeface="DM Sans Medium"/>
              <a:sym typeface="DM Sans Medium"/>
            </a:endParaRPr>
          </a:p>
        </p:txBody>
      </p:sp>
      <p:sp>
        <p:nvSpPr>
          <p:cNvPr id="1324" name="Google Shape;1324;p73"/>
          <p:cNvSpPr/>
          <p:nvPr/>
        </p:nvSpPr>
        <p:spPr>
          <a:xfrm>
            <a:off x="4828975" y="2129100"/>
            <a:ext cx="3870300" cy="3453900"/>
          </a:xfrm>
          <a:prstGeom prst="roundRect">
            <a:avLst>
              <a:gd fmla="val 3347" name="adj"/>
            </a:avLst>
          </a:prstGeom>
          <a:solidFill>
            <a:srgbClr val="FFFFFF"/>
          </a:solidFill>
          <a:ln cap="flat" cmpd="sng" w="9525">
            <a:solidFill>
              <a:srgbClr val="1B516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1B5161"/>
                </a:solidFill>
                <a:latin typeface="DM Sans Medium"/>
                <a:ea typeface="DM Sans Medium"/>
                <a:cs typeface="DM Sans Medium"/>
                <a:sym typeface="DM Sans Medium"/>
              </a:rPr>
              <a:t>Serverless Compute</a:t>
            </a:r>
            <a:endParaRPr sz="2000">
              <a:solidFill>
                <a:srgbClr val="1B5161"/>
              </a:solidFill>
              <a:latin typeface="DM Sans Medium"/>
              <a:ea typeface="DM Sans Medium"/>
              <a:cs typeface="DM Sans Medium"/>
              <a:sym typeface="DM Sans Medium"/>
            </a:endParaRPr>
          </a:p>
        </p:txBody>
      </p:sp>
      <p:sp>
        <p:nvSpPr>
          <p:cNvPr id="1325" name="Google Shape;1325;p73"/>
          <p:cNvSpPr/>
          <p:nvPr/>
        </p:nvSpPr>
        <p:spPr>
          <a:xfrm>
            <a:off x="783775" y="1485900"/>
            <a:ext cx="79155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6" name="Google Shape;1326;p73"/>
          <p:cNvPicPr preferRelativeResize="0"/>
          <p:nvPr/>
        </p:nvPicPr>
        <p:blipFill rotWithShape="1">
          <a:blip r:embed="rId3">
            <a:alphaModFix/>
          </a:blip>
          <a:srcRect b="0" l="0" r="0" t="0"/>
          <a:stretch/>
        </p:blipFill>
        <p:spPr>
          <a:xfrm>
            <a:off x="3643359" y="1551325"/>
            <a:ext cx="2196331" cy="338050"/>
          </a:xfrm>
          <a:prstGeom prst="rect">
            <a:avLst/>
          </a:prstGeom>
          <a:noFill/>
          <a:ln>
            <a:noFill/>
          </a:ln>
        </p:spPr>
      </p:pic>
      <p:sp>
        <p:nvSpPr>
          <p:cNvPr id="1327" name="Google Shape;1327;p73"/>
          <p:cNvSpPr/>
          <p:nvPr/>
        </p:nvSpPr>
        <p:spPr>
          <a:xfrm>
            <a:off x="9308775" y="1485900"/>
            <a:ext cx="1890000" cy="468900"/>
          </a:xfrm>
          <a:prstGeom prst="rect">
            <a:avLst/>
          </a:prstGeom>
          <a:solidFill>
            <a:srgbClr val="EFEFE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1000">
              <a:solidFill>
                <a:schemeClr val="accent1"/>
              </a:solidFill>
              <a:latin typeface="DM Sans"/>
              <a:ea typeface="DM Sans"/>
              <a:cs typeface="DM Sans"/>
              <a:sym typeface="DM Sans"/>
            </a:endParaRPr>
          </a:p>
        </p:txBody>
      </p:sp>
      <p:sp>
        <p:nvSpPr>
          <p:cNvPr id="1328" name="Google Shape;1328;p73"/>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Serverless Model Serving, Vector Search, Online Tables</a:t>
            </a:r>
            <a:endParaRPr/>
          </a:p>
        </p:txBody>
      </p:sp>
      <p:pic>
        <p:nvPicPr>
          <p:cNvPr id="1329" name="Google Shape;1329;p73"/>
          <p:cNvPicPr preferRelativeResize="0"/>
          <p:nvPr/>
        </p:nvPicPr>
        <p:blipFill rotWithShape="1">
          <a:blip r:embed="rId3">
            <a:alphaModFix/>
          </a:blip>
          <a:srcRect b="0" l="0" r="82955" t="0"/>
          <a:stretch/>
        </p:blipFill>
        <p:spPr>
          <a:xfrm>
            <a:off x="1188245" y="3049774"/>
            <a:ext cx="245706" cy="226800"/>
          </a:xfrm>
          <a:prstGeom prst="rect">
            <a:avLst/>
          </a:prstGeom>
          <a:noFill/>
          <a:ln>
            <a:noFill/>
          </a:ln>
        </p:spPr>
      </p:pic>
      <p:sp>
        <p:nvSpPr>
          <p:cNvPr id="1330" name="Google Shape;1330;p73"/>
          <p:cNvSpPr/>
          <p:nvPr/>
        </p:nvSpPr>
        <p:spPr>
          <a:xfrm>
            <a:off x="772375" y="2129100"/>
            <a:ext cx="3710100" cy="583500"/>
          </a:xfrm>
          <a:prstGeom prst="roundRect">
            <a:avLst>
              <a:gd fmla="val 16765"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    Account Console</a:t>
            </a:r>
            <a:endParaRPr sz="2000">
              <a:solidFill>
                <a:schemeClr val="accent1"/>
              </a:solidFill>
              <a:latin typeface="DM Sans Medium"/>
              <a:ea typeface="DM Sans Medium"/>
              <a:cs typeface="DM Sans Medium"/>
              <a:sym typeface="DM Sans Medium"/>
            </a:endParaRPr>
          </a:p>
        </p:txBody>
      </p:sp>
      <p:pic>
        <p:nvPicPr>
          <p:cNvPr id="1331" name="Google Shape;1331;p73"/>
          <p:cNvPicPr preferRelativeResize="0"/>
          <p:nvPr/>
        </p:nvPicPr>
        <p:blipFill rotWithShape="1">
          <a:blip r:embed="rId3">
            <a:alphaModFix/>
          </a:blip>
          <a:srcRect b="0" l="0" r="82955" t="0"/>
          <a:stretch/>
        </p:blipFill>
        <p:spPr>
          <a:xfrm>
            <a:off x="1049643" y="2308307"/>
            <a:ext cx="245706" cy="226800"/>
          </a:xfrm>
          <a:prstGeom prst="rect">
            <a:avLst/>
          </a:prstGeom>
          <a:noFill/>
          <a:ln>
            <a:noFill/>
          </a:ln>
        </p:spPr>
      </p:pic>
      <p:sp>
        <p:nvSpPr>
          <p:cNvPr id="1332" name="Google Shape;1332;p73"/>
          <p:cNvSpPr/>
          <p:nvPr/>
        </p:nvSpPr>
        <p:spPr>
          <a:xfrm rot="5393414">
            <a:off x="8602611" y="2436898"/>
            <a:ext cx="156600" cy="1720504"/>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3"/>
          <p:cNvSpPr/>
          <p:nvPr/>
        </p:nvSpPr>
        <p:spPr>
          <a:xfrm>
            <a:off x="5776825" y="4761725"/>
            <a:ext cx="1974600" cy="687000"/>
          </a:xfrm>
          <a:prstGeom prst="roundRect">
            <a:avLst>
              <a:gd fmla="val 16591" name="adj"/>
            </a:avLst>
          </a:prstGeom>
          <a:solidFill>
            <a:srgbClr val="FFFFFF"/>
          </a:solidFill>
          <a:ln cap="flat" cmpd="sng" w="9525">
            <a:solidFill>
              <a:schemeClr val="accent1"/>
            </a:solidFill>
            <a:prstDash val="solid"/>
            <a:round/>
            <a:headEnd len="sm" w="sm" type="none"/>
            <a:tailEnd len="sm" w="sm" type="none"/>
          </a:ln>
        </p:spPr>
        <p:txBody>
          <a:bodyPr anchorCtr="0" anchor="b" bIns="0" lIns="0" spcFirstLastPara="1" rIns="0" wrap="square" tIns="18275">
            <a:noAutofit/>
          </a:bodyPr>
          <a:lstStyle/>
          <a:p>
            <a:pPr indent="0" lvl="0" marL="0" rtl="0" algn="ctr">
              <a:spcBef>
                <a:spcPts val="0"/>
              </a:spcBef>
              <a:spcAft>
                <a:spcPts val="0"/>
              </a:spcAft>
              <a:buNone/>
            </a:pPr>
            <a:r>
              <a:rPr lang="en" sz="1200">
                <a:solidFill>
                  <a:srgbClr val="1B5161"/>
                </a:solidFill>
                <a:latin typeface="DM Sans Medium"/>
                <a:ea typeface="DM Sans Medium"/>
                <a:cs typeface="DM Sans Medium"/>
                <a:sym typeface="DM Sans Medium"/>
              </a:rPr>
              <a:t>Vector Index</a:t>
            </a:r>
            <a:endParaRPr sz="1200">
              <a:solidFill>
                <a:srgbClr val="1B5161"/>
              </a:solidFill>
              <a:latin typeface="DM Sans Medium"/>
              <a:ea typeface="DM Sans Medium"/>
              <a:cs typeface="DM Sans Medium"/>
              <a:sym typeface="DM Sans Medium"/>
            </a:endParaRPr>
          </a:p>
        </p:txBody>
      </p:sp>
      <p:pic>
        <p:nvPicPr>
          <p:cNvPr id="1334" name="Google Shape;1334;p73"/>
          <p:cNvPicPr preferRelativeResize="0"/>
          <p:nvPr/>
        </p:nvPicPr>
        <p:blipFill>
          <a:blip r:embed="rId4">
            <a:alphaModFix/>
          </a:blip>
          <a:stretch>
            <a:fillRect/>
          </a:stretch>
        </p:blipFill>
        <p:spPr>
          <a:xfrm>
            <a:off x="6568121" y="4828777"/>
            <a:ext cx="389102" cy="389100"/>
          </a:xfrm>
          <a:prstGeom prst="rect">
            <a:avLst/>
          </a:prstGeom>
          <a:noFill/>
          <a:ln>
            <a:noFill/>
          </a:ln>
        </p:spPr>
      </p:pic>
      <p:pic>
        <p:nvPicPr>
          <p:cNvPr id="1335" name="Google Shape;1335;p73"/>
          <p:cNvPicPr preferRelativeResize="0"/>
          <p:nvPr/>
        </p:nvPicPr>
        <p:blipFill>
          <a:blip r:embed="rId4">
            <a:alphaModFix/>
          </a:blip>
          <a:stretch>
            <a:fillRect/>
          </a:stretch>
        </p:blipFill>
        <p:spPr>
          <a:xfrm>
            <a:off x="7076444" y="4828777"/>
            <a:ext cx="389102" cy="389100"/>
          </a:xfrm>
          <a:prstGeom prst="rect">
            <a:avLst/>
          </a:prstGeom>
          <a:noFill/>
          <a:ln>
            <a:noFill/>
          </a:ln>
        </p:spPr>
      </p:pic>
      <p:pic>
        <p:nvPicPr>
          <p:cNvPr id="1336" name="Google Shape;1336;p73"/>
          <p:cNvPicPr preferRelativeResize="0"/>
          <p:nvPr/>
        </p:nvPicPr>
        <p:blipFill>
          <a:blip r:embed="rId4">
            <a:alphaModFix/>
          </a:blip>
          <a:stretch>
            <a:fillRect/>
          </a:stretch>
        </p:blipFill>
        <p:spPr>
          <a:xfrm>
            <a:off x="6068801" y="4828787"/>
            <a:ext cx="389083" cy="389080"/>
          </a:xfrm>
          <a:prstGeom prst="rect">
            <a:avLst/>
          </a:prstGeom>
          <a:noFill/>
          <a:ln>
            <a:noFill/>
          </a:ln>
        </p:spPr>
      </p:pic>
      <p:sp>
        <p:nvSpPr>
          <p:cNvPr id="1337" name="Google Shape;1337;p73"/>
          <p:cNvSpPr/>
          <p:nvPr/>
        </p:nvSpPr>
        <p:spPr>
          <a:xfrm>
            <a:off x="9644460" y="2756349"/>
            <a:ext cx="1292700" cy="2667302"/>
          </a:xfrm>
          <a:prstGeom prst="roundRect">
            <a:avLst>
              <a:gd fmla="val 7534" name="adj"/>
            </a:avLst>
          </a:prstGeom>
          <a:solidFill>
            <a:srgbClr val="FFFFFF"/>
          </a:solidFill>
          <a:ln cap="flat" cmpd="sng" w="9525">
            <a:solidFill>
              <a:schemeClr val="accent1"/>
            </a:solidFill>
            <a:prstDash val="solid"/>
            <a:round/>
            <a:headEnd len="sm" w="sm" type="none"/>
            <a:tailEnd len="sm" w="sm" type="none"/>
          </a:ln>
        </p:spPr>
        <p:txBody>
          <a:bodyPr anchorCtr="0" anchor="t" bIns="91425" lIns="0" spcFirstLastPara="1" rIns="0"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Cloud Storage</a:t>
            </a:r>
            <a:endParaRPr sz="1200">
              <a:solidFill>
                <a:schemeClr val="accent1"/>
              </a:solidFill>
              <a:latin typeface="DM Sans Medium"/>
              <a:ea typeface="DM Sans Medium"/>
              <a:cs typeface="DM Sans Medium"/>
              <a:sym typeface="DM Sans Medium"/>
            </a:endParaRPr>
          </a:p>
        </p:txBody>
      </p:sp>
      <p:sp>
        <p:nvSpPr>
          <p:cNvPr id="1338" name="Google Shape;1338;p73"/>
          <p:cNvSpPr/>
          <p:nvPr/>
        </p:nvSpPr>
        <p:spPr>
          <a:xfrm>
            <a:off x="941050" y="3387525"/>
            <a:ext cx="2037300" cy="419700"/>
          </a:xfrm>
          <a:prstGeom prst="roundRect">
            <a:avLst>
              <a:gd fmla="val 20818" name="adj"/>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DatabricksIQ</a:t>
            </a:r>
            <a:endParaRPr>
              <a:solidFill>
                <a:schemeClr val="dk1"/>
              </a:solidFill>
              <a:latin typeface="DM Sans Medium"/>
              <a:ea typeface="DM Sans Medium"/>
              <a:cs typeface="DM Sans Medium"/>
              <a:sym typeface="DM Sans Medium"/>
            </a:endParaRPr>
          </a:p>
        </p:txBody>
      </p:sp>
      <p:sp>
        <p:nvSpPr>
          <p:cNvPr id="1339" name="Google Shape;1339;p73"/>
          <p:cNvSpPr/>
          <p:nvPr/>
        </p:nvSpPr>
        <p:spPr>
          <a:xfrm>
            <a:off x="5792200" y="3859712"/>
            <a:ext cx="1974600" cy="687000"/>
          </a:xfrm>
          <a:prstGeom prst="roundRect">
            <a:avLst>
              <a:gd fmla="val 16591" name="adj"/>
            </a:avLst>
          </a:prstGeom>
          <a:solidFill>
            <a:srgbClr val="FFFFFF"/>
          </a:solidFill>
          <a:ln cap="flat" cmpd="sng" w="9525">
            <a:solidFill>
              <a:schemeClr val="accent1"/>
            </a:solidFill>
            <a:prstDash val="solid"/>
            <a:round/>
            <a:headEnd len="sm" w="sm" type="none"/>
            <a:tailEnd len="sm" w="sm" type="none"/>
          </a:ln>
        </p:spPr>
        <p:txBody>
          <a:bodyPr anchorCtr="0" anchor="b" bIns="0" lIns="0" spcFirstLastPara="1" rIns="0" wrap="square" tIns="18275">
            <a:noAutofit/>
          </a:bodyPr>
          <a:lstStyle/>
          <a:p>
            <a:pPr indent="0" lvl="0" marL="0" rtl="0" algn="ctr">
              <a:spcBef>
                <a:spcPts val="0"/>
              </a:spcBef>
              <a:spcAft>
                <a:spcPts val="0"/>
              </a:spcAft>
              <a:buNone/>
            </a:pPr>
            <a:r>
              <a:rPr lang="en" sz="1200">
                <a:solidFill>
                  <a:srgbClr val="1B5161"/>
                </a:solidFill>
                <a:latin typeface="DM Sans Medium"/>
                <a:ea typeface="DM Sans Medium"/>
                <a:cs typeface="DM Sans Medium"/>
                <a:sym typeface="DM Sans Medium"/>
              </a:rPr>
              <a:t>Model Serving</a:t>
            </a:r>
            <a:endParaRPr sz="1200">
              <a:solidFill>
                <a:srgbClr val="1B5161"/>
              </a:solidFill>
              <a:latin typeface="DM Sans Medium"/>
              <a:ea typeface="DM Sans Medium"/>
              <a:cs typeface="DM Sans Medium"/>
              <a:sym typeface="DM Sans Medium"/>
            </a:endParaRPr>
          </a:p>
        </p:txBody>
      </p:sp>
      <p:pic>
        <p:nvPicPr>
          <p:cNvPr id="1340" name="Google Shape;1340;p73"/>
          <p:cNvPicPr preferRelativeResize="0"/>
          <p:nvPr/>
        </p:nvPicPr>
        <p:blipFill>
          <a:blip r:embed="rId4">
            <a:alphaModFix/>
          </a:blip>
          <a:stretch>
            <a:fillRect/>
          </a:stretch>
        </p:blipFill>
        <p:spPr>
          <a:xfrm>
            <a:off x="6568121" y="3926581"/>
            <a:ext cx="389102" cy="389100"/>
          </a:xfrm>
          <a:prstGeom prst="rect">
            <a:avLst/>
          </a:prstGeom>
          <a:noFill/>
          <a:ln>
            <a:noFill/>
          </a:ln>
        </p:spPr>
      </p:pic>
      <p:pic>
        <p:nvPicPr>
          <p:cNvPr id="1341" name="Google Shape;1341;p73"/>
          <p:cNvPicPr preferRelativeResize="0"/>
          <p:nvPr/>
        </p:nvPicPr>
        <p:blipFill>
          <a:blip r:embed="rId4">
            <a:alphaModFix/>
          </a:blip>
          <a:stretch>
            <a:fillRect/>
          </a:stretch>
        </p:blipFill>
        <p:spPr>
          <a:xfrm>
            <a:off x="6068801" y="3926601"/>
            <a:ext cx="389083" cy="389080"/>
          </a:xfrm>
          <a:prstGeom prst="rect">
            <a:avLst/>
          </a:prstGeom>
          <a:noFill/>
          <a:ln>
            <a:noFill/>
          </a:ln>
        </p:spPr>
      </p:pic>
      <p:pic>
        <p:nvPicPr>
          <p:cNvPr id="1342" name="Google Shape;1342;p73"/>
          <p:cNvPicPr preferRelativeResize="0"/>
          <p:nvPr/>
        </p:nvPicPr>
        <p:blipFill>
          <a:blip r:embed="rId4">
            <a:alphaModFix/>
          </a:blip>
          <a:stretch>
            <a:fillRect/>
          </a:stretch>
        </p:blipFill>
        <p:spPr>
          <a:xfrm>
            <a:off x="7076444" y="3926581"/>
            <a:ext cx="389102" cy="389100"/>
          </a:xfrm>
          <a:prstGeom prst="rect">
            <a:avLst/>
          </a:prstGeom>
          <a:noFill/>
          <a:ln>
            <a:noFill/>
          </a:ln>
        </p:spPr>
      </p:pic>
      <p:sp>
        <p:nvSpPr>
          <p:cNvPr id="1343" name="Google Shape;1343;p73"/>
          <p:cNvSpPr/>
          <p:nvPr/>
        </p:nvSpPr>
        <p:spPr>
          <a:xfrm>
            <a:off x="3285175" y="4761726"/>
            <a:ext cx="1038300" cy="659100"/>
          </a:xfrm>
          <a:prstGeom prst="roundRect">
            <a:avLst>
              <a:gd fmla="val 11225"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Vector Search</a:t>
            </a:r>
            <a:endParaRPr>
              <a:solidFill>
                <a:schemeClr val="accent1"/>
              </a:solidFill>
              <a:latin typeface="DM Sans Medium"/>
              <a:ea typeface="DM Sans Medium"/>
              <a:cs typeface="DM Sans Medium"/>
              <a:sym typeface="DM Sans Medium"/>
            </a:endParaRPr>
          </a:p>
        </p:txBody>
      </p:sp>
      <p:sp>
        <p:nvSpPr>
          <p:cNvPr id="1344" name="Google Shape;1344;p73"/>
          <p:cNvSpPr/>
          <p:nvPr/>
        </p:nvSpPr>
        <p:spPr>
          <a:xfrm>
            <a:off x="941050" y="3899700"/>
            <a:ext cx="976800" cy="1519500"/>
          </a:xfrm>
          <a:prstGeom prst="roundRect">
            <a:avLst>
              <a:gd fmla="val 8689"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Unity Catalog</a:t>
            </a:r>
            <a:endParaRPr>
              <a:solidFill>
                <a:schemeClr val="dk1"/>
              </a:solidFill>
              <a:latin typeface="DM Sans Medium"/>
              <a:ea typeface="DM Sans Medium"/>
              <a:cs typeface="DM Sans Medium"/>
              <a:sym typeface="DM Sans Medium"/>
            </a:endParaRPr>
          </a:p>
        </p:txBody>
      </p:sp>
      <p:sp>
        <p:nvSpPr>
          <p:cNvPr id="1345" name="Google Shape;1345;p73"/>
          <p:cNvSpPr/>
          <p:nvPr/>
        </p:nvSpPr>
        <p:spPr>
          <a:xfrm rot="-5393414">
            <a:off x="4961299" y="4458576"/>
            <a:ext cx="156600" cy="1293300"/>
          </a:xfrm>
          <a:prstGeom prst="up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3"/>
          <p:cNvSpPr/>
          <p:nvPr/>
        </p:nvSpPr>
        <p:spPr>
          <a:xfrm rot="-5393414">
            <a:off x="4961299" y="3565455"/>
            <a:ext cx="156600" cy="1293300"/>
          </a:xfrm>
          <a:prstGeom prst="up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7" name="Google Shape;1347;p73"/>
          <p:cNvCxnSpPr>
            <a:stCxn id="1348" idx="1"/>
            <a:endCxn id="1349" idx="2"/>
          </p:cNvCxnSpPr>
          <p:nvPr/>
        </p:nvCxnSpPr>
        <p:spPr>
          <a:xfrm rot="10800000">
            <a:off x="2489924" y="5419050"/>
            <a:ext cx="7155600" cy="357000"/>
          </a:xfrm>
          <a:prstGeom prst="bentConnector2">
            <a:avLst/>
          </a:prstGeom>
          <a:noFill/>
          <a:ln cap="flat" cmpd="sng" w="19050">
            <a:solidFill>
              <a:schemeClr val="accent2"/>
            </a:solidFill>
            <a:prstDash val="solid"/>
            <a:round/>
            <a:headEnd len="med" w="med" type="none"/>
            <a:tailEnd len="med" w="med" type="triangle"/>
          </a:ln>
        </p:spPr>
      </p:cxnSp>
      <p:sp>
        <p:nvSpPr>
          <p:cNvPr id="1350" name="Google Shape;1350;p73"/>
          <p:cNvSpPr/>
          <p:nvPr/>
        </p:nvSpPr>
        <p:spPr>
          <a:xfrm>
            <a:off x="3285175" y="3899648"/>
            <a:ext cx="1038300" cy="624900"/>
          </a:xfrm>
          <a:prstGeom prst="roundRect">
            <a:avLst>
              <a:gd fmla="val 12671"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Model Serving Proxy</a:t>
            </a:r>
            <a:endParaRPr>
              <a:solidFill>
                <a:schemeClr val="accent1"/>
              </a:solidFill>
              <a:latin typeface="DM Sans Medium"/>
              <a:ea typeface="DM Sans Medium"/>
              <a:cs typeface="DM Sans Medium"/>
              <a:sym typeface="DM Sans Medium"/>
            </a:endParaRPr>
          </a:p>
        </p:txBody>
      </p:sp>
      <p:sp>
        <p:nvSpPr>
          <p:cNvPr id="1349" name="Google Shape;1349;p73"/>
          <p:cNvSpPr/>
          <p:nvPr/>
        </p:nvSpPr>
        <p:spPr>
          <a:xfrm>
            <a:off x="2001475" y="3899650"/>
            <a:ext cx="976800" cy="1519500"/>
          </a:xfrm>
          <a:prstGeom prst="roundRect">
            <a:avLst>
              <a:gd fmla="val 10134" name="adj"/>
            </a:avLst>
          </a:prstGeom>
          <a:no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i="1" lang="en">
                <a:solidFill>
                  <a:schemeClr val="accent1"/>
                </a:solidFill>
                <a:latin typeface="DM Sans Medium"/>
                <a:ea typeface="DM Sans Medium"/>
                <a:cs typeface="DM Sans Medium"/>
                <a:sym typeface="DM Sans Medium"/>
              </a:rPr>
              <a:t>Web App</a:t>
            </a:r>
            <a:r>
              <a:rPr i="1" lang="en">
                <a:solidFill>
                  <a:schemeClr val="accent1"/>
                </a:solidFill>
                <a:latin typeface="DM Sans Medium"/>
                <a:ea typeface="DM Sans Medium"/>
                <a:cs typeface="DM Sans Medium"/>
                <a:sym typeface="DM Sans Medium"/>
              </a:rPr>
              <a:t> </a:t>
            </a:r>
            <a:r>
              <a:rPr i="1" lang="en" sz="1200">
                <a:solidFill>
                  <a:schemeClr val="accent1"/>
                </a:solidFill>
                <a:latin typeface="DM Sans"/>
                <a:ea typeface="DM Sans"/>
                <a:cs typeface="DM Sans"/>
                <a:sym typeface="DM Sans"/>
              </a:rPr>
              <a:t>(API proxy)</a:t>
            </a:r>
            <a:endParaRPr i="1" sz="1000">
              <a:solidFill>
                <a:schemeClr val="accent1"/>
              </a:solidFill>
              <a:latin typeface="DM Sans"/>
              <a:ea typeface="DM Sans"/>
              <a:cs typeface="DM Sans"/>
              <a:sym typeface="DM Sans"/>
            </a:endParaRPr>
          </a:p>
        </p:txBody>
      </p:sp>
      <p:sp>
        <p:nvSpPr>
          <p:cNvPr id="1348" name="Google Shape;1348;p73"/>
          <p:cNvSpPr/>
          <p:nvPr/>
        </p:nvSpPr>
        <p:spPr>
          <a:xfrm>
            <a:off x="9645524" y="5583000"/>
            <a:ext cx="1292700" cy="386100"/>
          </a:xfrm>
          <a:prstGeom prst="roundRect">
            <a:avLst>
              <a:gd fmla="val 22645"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1200">
                <a:solidFill>
                  <a:schemeClr val="accent1"/>
                </a:solidFill>
                <a:latin typeface="DM Sans Medium"/>
                <a:ea typeface="DM Sans Medium"/>
                <a:cs typeface="DM Sans Medium"/>
                <a:sym typeface="DM Sans Medium"/>
              </a:rPr>
              <a:t>AI App</a:t>
            </a:r>
            <a:endParaRPr sz="1200">
              <a:solidFill>
                <a:schemeClr val="accent1"/>
              </a:solidFill>
              <a:latin typeface="DM Sans Medium"/>
              <a:ea typeface="DM Sans Medium"/>
              <a:cs typeface="DM Sans Medium"/>
              <a:sym typeface="DM Sans Medium"/>
            </a:endParaRPr>
          </a:p>
        </p:txBody>
      </p:sp>
      <p:sp>
        <p:nvSpPr>
          <p:cNvPr id="1351" name="Google Shape;1351;p73"/>
          <p:cNvSpPr/>
          <p:nvPr/>
        </p:nvSpPr>
        <p:spPr>
          <a:xfrm rot="-5393414">
            <a:off x="3055262" y="4113555"/>
            <a:ext cx="156600" cy="1971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3"/>
          <p:cNvSpPr/>
          <p:nvPr/>
        </p:nvSpPr>
        <p:spPr>
          <a:xfrm rot="-5393414">
            <a:off x="3055262" y="5006676"/>
            <a:ext cx="156600" cy="1971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3"/>
          <p:cNvSpPr/>
          <p:nvPr/>
        </p:nvSpPr>
        <p:spPr>
          <a:xfrm>
            <a:off x="5767675" y="2952148"/>
            <a:ext cx="1974600" cy="687000"/>
          </a:xfrm>
          <a:prstGeom prst="roundRect">
            <a:avLst>
              <a:gd fmla="val 16591" name="adj"/>
            </a:avLst>
          </a:prstGeom>
          <a:solidFill>
            <a:srgbClr val="FFFFFF"/>
          </a:solidFill>
          <a:ln cap="flat" cmpd="sng" w="9525">
            <a:solidFill>
              <a:schemeClr val="accent1"/>
            </a:solidFill>
            <a:prstDash val="solid"/>
            <a:round/>
            <a:headEnd len="sm" w="sm" type="none"/>
            <a:tailEnd len="sm" w="sm" type="none"/>
          </a:ln>
        </p:spPr>
        <p:txBody>
          <a:bodyPr anchorCtr="0" anchor="b" bIns="0" lIns="0" spcFirstLastPara="1" rIns="0" wrap="square" tIns="18275">
            <a:noAutofit/>
          </a:bodyPr>
          <a:lstStyle/>
          <a:p>
            <a:pPr indent="0" lvl="0" marL="0" rtl="0" algn="ctr">
              <a:spcBef>
                <a:spcPts val="0"/>
              </a:spcBef>
              <a:spcAft>
                <a:spcPts val="0"/>
              </a:spcAft>
              <a:buNone/>
            </a:pPr>
            <a:r>
              <a:rPr lang="en" sz="1200">
                <a:solidFill>
                  <a:srgbClr val="1B5161"/>
                </a:solidFill>
                <a:latin typeface="DM Sans Medium"/>
                <a:ea typeface="DM Sans Medium"/>
                <a:cs typeface="DM Sans Medium"/>
                <a:sym typeface="DM Sans Medium"/>
              </a:rPr>
              <a:t>Online Tables</a:t>
            </a:r>
            <a:endParaRPr sz="1200">
              <a:solidFill>
                <a:srgbClr val="1B5161"/>
              </a:solidFill>
              <a:latin typeface="DM Sans Medium"/>
              <a:ea typeface="DM Sans Medium"/>
              <a:cs typeface="DM Sans Medium"/>
              <a:sym typeface="DM Sans Medium"/>
            </a:endParaRPr>
          </a:p>
        </p:txBody>
      </p:sp>
      <p:pic>
        <p:nvPicPr>
          <p:cNvPr id="1354" name="Google Shape;1354;p73"/>
          <p:cNvPicPr preferRelativeResize="0"/>
          <p:nvPr/>
        </p:nvPicPr>
        <p:blipFill>
          <a:blip r:embed="rId5">
            <a:alphaModFix/>
          </a:blip>
          <a:stretch>
            <a:fillRect/>
          </a:stretch>
        </p:blipFill>
        <p:spPr>
          <a:xfrm>
            <a:off x="6068805" y="3028337"/>
            <a:ext cx="389075" cy="389096"/>
          </a:xfrm>
          <a:prstGeom prst="rect">
            <a:avLst/>
          </a:prstGeom>
          <a:noFill/>
          <a:ln>
            <a:noFill/>
          </a:ln>
        </p:spPr>
      </p:pic>
      <p:pic>
        <p:nvPicPr>
          <p:cNvPr id="1355" name="Google Shape;1355;p73"/>
          <p:cNvPicPr preferRelativeResize="0"/>
          <p:nvPr/>
        </p:nvPicPr>
        <p:blipFill>
          <a:blip r:embed="rId5">
            <a:alphaModFix/>
          </a:blip>
          <a:stretch>
            <a:fillRect/>
          </a:stretch>
        </p:blipFill>
        <p:spPr>
          <a:xfrm>
            <a:off x="6568134" y="3028337"/>
            <a:ext cx="389075" cy="389096"/>
          </a:xfrm>
          <a:prstGeom prst="rect">
            <a:avLst/>
          </a:prstGeom>
          <a:noFill/>
          <a:ln>
            <a:noFill/>
          </a:ln>
        </p:spPr>
      </p:pic>
      <p:pic>
        <p:nvPicPr>
          <p:cNvPr id="1356" name="Google Shape;1356;p73"/>
          <p:cNvPicPr preferRelativeResize="0"/>
          <p:nvPr/>
        </p:nvPicPr>
        <p:blipFill>
          <a:blip r:embed="rId5">
            <a:alphaModFix/>
          </a:blip>
          <a:stretch>
            <a:fillRect/>
          </a:stretch>
        </p:blipFill>
        <p:spPr>
          <a:xfrm>
            <a:off x="7076458" y="3028337"/>
            <a:ext cx="389075" cy="389096"/>
          </a:xfrm>
          <a:prstGeom prst="rect">
            <a:avLst/>
          </a:prstGeom>
          <a:noFill/>
          <a:ln>
            <a:noFill/>
          </a:ln>
        </p:spPr>
      </p:pic>
      <p:sp>
        <p:nvSpPr>
          <p:cNvPr id="1357" name="Google Shape;1357;p73"/>
          <p:cNvSpPr/>
          <p:nvPr/>
        </p:nvSpPr>
        <p:spPr>
          <a:xfrm rot="5393414">
            <a:off x="8602611" y="4244972"/>
            <a:ext cx="156600" cy="1720504"/>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8" name="Google Shape;1358;p73"/>
          <p:cNvPicPr preferRelativeResize="0"/>
          <p:nvPr/>
        </p:nvPicPr>
        <p:blipFill rotWithShape="1">
          <a:blip r:embed="rId6">
            <a:alphaModFix/>
          </a:blip>
          <a:srcRect b="0" l="0" r="0" t="0"/>
          <a:stretch/>
        </p:blipFill>
        <p:spPr>
          <a:xfrm>
            <a:off x="10040350" y="3932163"/>
            <a:ext cx="503074" cy="390750"/>
          </a:xfrm>
          <a:prstGeom prst="rect">
            <a:avLst/>
          </a:prstGeom>
          <a:noFill/>
          <a:ln>
            <a:noFill/>
          </a:ln>
        </p:spPr>
      </p:pic>
      <p:sp>
        <p:nvSpPr>
          <p:cNvPr id="1359" name="Google Shape;1359;p73"/>
          <p:cNvSpPr/>
          <p:nvPr/>
        </p:nvSpPr>
        <p:spPr>
          <a:xfrm>
            <a:off x="8833013" y="3164400"/>
            <a:ext cx="458100" cy="2655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latin typeface="DM Sans"/>
                <a:ea typeface="DM Sans"/>
                <a:cs typeface="DM Sans"/>
                <a:sym typeface="DM Sans"/>
              </a:rPr>
              <a:t>LDP</a:t>
            </a:r>
            <a:endParaRPr sz="1200">
              <a:latin typeface="DM Sans"/>
              <a:ea typeface="DM Sans"/>
              <a:cs typeface="DM Sans"/>
              <a:sym typeface="DM Sans"/>
            </a:endParaRPr>
          </a:p>
        </p:txBody>
      </p:sp>
      <p:sp>
        <p:nvSpPr>
          <p:cNvPr id="1360" name="Google Shape;1360;p73"/>
          <p:cNvSpPr/>
          <p:nvPr/>
        </p:nvSpPr>
        <p:spPr>
          <a:xfrm rot="10800000">
            <a:off x="6701350" y="3681900"/>
            <a:ext cx="156300" cy="1281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73"/>
          <p:cNvSpPr/>
          <p:nvPr/>
        </p:nvSpPr>
        <p:spPr>
          <a:xfrm>
            <a:off x="8833032" y="4972475"/>
            <a:ext cx="458100" cy="2655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latin typeface="DM Sans"/>
                <a:ea typeface="DM Sans"/>
                <a:cs typeface="DM Sans"/>
                <a:sym typeface="DM Sans"/>
              </a:rPr>
              <a:t>LDP</a:t>
            </a:r>
            <a:endParaRPr sz="1200">
              <a:latin typeface="DM Sans"/>
              <a:ea typeface="DM Sans"/>
              <a:cs typeface="DM Sans"/>
              <a:sym typeface="DM Sans"/>
            </a:endParaRPr>
          </a:p>
        </p:txBody>
      </p:sp>
      <p:sp>
        <p:nvSpPr>
          <p:cNvPr id="1362" name="Google Shape;1362;p73"/>
          <p:cNvSpPr txBox="1"/>
          <p:nvPr/>
        </p:nvSpPr>
        <p:spPr>
          <a:xfrm>
            <a:off x="8680525" y="2538292"/>
            <a:ext cx="7836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100">
                <a:solidFill>
                  <a:schemeClr val="dk1"/>
                </a:solidFill>
                <a:latin typeface="DM Sans"/>
                <a:ea typeface="DM Sans"/>
                <a:cs typeface="DM Sans"/>
                <a:sym typeface="DM Sans"/>
              </a:rPr>
              <a:t>Sync delta table</a:t>
            </a:r>
            <a:endParaRPr i="1" sz="1100">
              <a:solidFill>
                <a:schemeClr val="dk1"/>
              </a:solidFill>
              <a:latin typeface="DM Sans"/>
              <a:ea typeface="DM Sans"/>
              <a:cs typeface="DM Sans"/>
              <a:sym typeface="DM Sans"/>
            </a:endParaRPr>
          </a:p>
        </p:txBody>
      </p:sp>
      <p:sp>
        <p:nvSpPr>
          <p:cNvPr id="1363" name="Google Shape;1363;p73"/>
          <p:cNvSpPr txBox="1"/>
          <p:nvPr/>
        </p:nvSpPr>
        <p:spPr>
          <a:xfrm>
            <a:off x="8680525" y="4354271"/>
            <a:ext cx="7836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100">
                <a:solidFill>
                  <a:schemeClr val="dk1"/>
                </a:solidFill>
                <a:latin typeface="DM Sans"/>
                <a:ea typeface="DM Sans"/>
                <a:cs typeface="DM Sans"/>
                <a:sym typeface="DM Sans"/>
              </a:rPr>
              <a:t>Sync delta table</a:t>
            </a:r>
            <a:endParaRPr i="1" sz="1100">
              <a:solidFill>
                <a:schemeClr val="dk1"/>
              </a:solidFill>
              <a:latin typeface="DM Sans"/>
              <a:ea typeface="DM Sans"/>
              <a:cs typeface="DM Sans"/>
              <a:sym typeface="DM Sans"/>
            </a:endParaRPr>
          </a:p>
        </p:txBody>
      </p:sp>
      <p:sp>
        <p:nvSpPr>
          <p:cNvPr id="1364" name="Google Shape;1364;p73"/>
          <p:cNvSpPr/>
          <p:nvPr/>
        </p:nvSpPr>
        <p:spPr>
          <a:xfrm>
            <a:off x="6701225" y="4590125"/>
            <a:ext cx="156900" cy="1254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73"/>
          <p:cNvSpPr/>
          <p:nvPr/>
        </p:nvSpPr>
        <p:spPr>
          <a:xfrm rot="10800000">
            <a:off x="3726175" y="4579088"/>
            <a:ext cx="156300" cy="1281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3"/>
          <p:cNvSpPr txBox="1"/>
          <p:nvPr/>
        </p:nvSpPr>
        <p:spPr>
          <a:xfrm>
            <a:off x="5240650" y="6400450"/>
            <a:ext cx="22578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100">
                <a:solidFill>
                  <a:schemeClr val="dk1"/>
                </a:solidFill>
                <a:latin typeface="DM Sans"/>
                <a:ea typeface="DM Sans"/>
                <a:cs typeface="DM Sans"/>
                <a:sym typeface="DM Sans"/>
              </a:rPr>
              <a:t>* Access embedding model</a:t>
            </a:r>
            <a:endParaRPr i="1" sz="1100">
              <a:solidFill>
                <a:schemeClr val="dk1"/>
              </a:solidFill>
              <a:latin typeface="DM Sans"/>
              <a:ea typeface="DM Sans"/>
              <a:cs typeface="DM Sans"/>
              <a:sym typeface="DM Sans"/>
            </a:endParaRPr>
          </a:p>
        </p:txBody>
      </p:sp>
      <p:sp>
        <p:nvSpPr>
          <p:cNvPr id="1367" name="Google Shape;1367;p73"/>
          <p:cNvSpPr txBox="1"/>
          <p:nvPr/>
        </p:nvSpPr>
        <p:spPr>
          <a:xfrm>
            <a:off x="3861190" y="4574200"/>
            <a:ext cx="156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100">
                <a:solidFill>
                  <a:schemeClr val="dk1"/>
                </a:solidFill>
                <a:latin typeface="DM Sans"/>
                <a:ea typeface="DM Sans"/>
                <a:cs typeface="DM Sans"/>
                <a:sym typeface="DM Sans"/>
              </a:rPr>
              <a:t>* </a:t>
            </a:r>
            <a:endParaRPr i="1" sz="1100">
              <a:solidFill>
                <a:schemeClr val="dk1"/>
              </a:solidFill>
              <a:latin typeface="DM Sans"/>
              <a:ea typeface="DM Sans"/>
              <a:cs typeface="DM Sans"/>
              <a:sym typeface="DM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1" name="Shape 1371"/>
        <p:cNvGrpSpPr/>
        <p:nvPr/>
      </p:nvGrpSpPr>
      <p:grpSpPr>
        <a:xfrm>
          <a:off x="0" y="0"/>
          <a:ext cx="0" cy="0"/>
          <a:chOff x="0" y="0"/>
          <a:chExt cx="0" cy="0"/>
        </a:xfrm>
      </p:grpSpPr>
      <p:sp>
        <p:nvSpPr>
          <p:cNvPr id="1372" name="Google Shape;1372;p74"/>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Online Transaction Processing</a:t>
            </a:r>
            <a:endParaRPr/>
          </a:p>
        </p:txBody>
      </p:sp>
      <p:sp>
        <p:nvSpPr>
          <p:cNvPr id="1373" name="Google Shape;1373;p7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75"/>
          <p:cNvSpPr/>
          <p:nvPr/>
        </p:nvSpPr>
        <p:spPr>
          <a:xfrm>
            <a:off x="1398425" y="3103525"/>
            <a:ext cx="2981100" cy="1915800"/>
          </a:xfrm>
          <a:prstGeom prst="roundRect">
            <a:avLst>
              <a:gd fmla="val 6145"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sp>
        <p:nvSpPr>
          <p:cNvPr id="1379" name="Google Shape;1379;p75"/>
          <p:cNvSpPr/>
          <p:nvPr/>
        </p:nvSpPr>
        <p:spPr>
          <a:xfrm>
            <a:off x="4677575" y="3103525"/>
            <a:ext cx="4931100" cy="1915800"/>
          </a:xfrm>
          <a:prstGeom prst="roundRect">
            <a:avLst>
              <a:gd fmla="val 5991" name="adj"/>
            </a:avLst>
          </a:prstGeom>
          <a:solidFill>
            <a:srgbClr val="FFFFFF"/>
          </a:solidFill>
          <a:ln cap="flat" cmpd="sng" w="9525">
            <a:solidFill>
              <a:schemeClr val="dk2"/>
            </a:solidFill>
            <a:prstDash val="solid"/>
            <a:round/>
            <a:headEnd len="sm" w="sm" type="none"/>
            <a:tailEnd len="sm" w="sm" type="none"/>
          </a:ln>
        </p:spPr>
        <p:txBody>
          <a:bodyPr anchorCtr="0" anchor="t" bIns="0" lIns="91425" spcFirstLastPara="1" rIns="91425" wrap="square" tIns="0">
            <a:noAutofit/>
          </a:bodyPr>
          <a:lstStyle/>
          <a:p>
            <a:pPr indent="0" lvl="0" marL="0" rtl="0" algn="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Serverless </a:t>
            </a:r>
            <a:br>
              <a:rPr lang="en" sz="2000">
                <a:solidFill>
                  <a:schemeClr val="accent1"/>
                </a:solidFill>
                <a:latin typeface="DM Sans Medium"/>
                <a:ea typeface="DM Sans Medium"/>
                <a:cs typeface="DM Sans Medium"/>
                <a:sym typeface="DM Sans Medium"/>
              </a:rPr>
            </a:br>
            <a:r>
              <a:rPr lang="en" sz="2000">
                <a:solidFill>
                  <a:schemeClr val="accent1"/>
                </a:solidFill>
                <a:latin typeface="DM Sans Medium"/>
                <a:ea typeface="DM Sans Medium"/>
                <a:cs typeface="DM Sans Medium"/>
                <a:sym typeface="DM Sans Medium"/>
              </a:rPr>
              <a:t>Comput</a:t>
            </a:r>
            <a:r>
              <a:rPr lang="en" sz="2000">
                <a:solidFill>
                  <a:schemeClr val="accent1"/>
                </a:solidFill>
                <a:latin typeface="DM Sans Medium"/>
                <a:ea typeface="DM Sans Medium"/>
                <a:cs typeface="DM Sans Medium"/>
                <a:sym typeface="DM Sans Medium"/>
              </a:rPr>
              <a:t>e</a:t>
            </a:r>
            <a:endParaRPr sz="2000">
              <a:solidFill>
                <a:schemeClr val="accent1"/>
              </a:solidFill>
              <a:latin typeface="DM Sans Medium"/>
              <a:ea typeface="DM Sans Medium"/>
              <a:cs typeface="DM Sans Medium"/>
              <a:sym typeface="DM Sans Medium"/>
            </a:endParaRPr>
          </a:p>
        </p:txBody>
      </p:sp>
      <p:sp>
        <p:nvSpPr>
          <p:cNvPr id="1380" name="Google Shape;1380;p75"/>
          <p:cNvSpPr/>
          <p:nvPr/>
        </p:nvSpPr>
        <p:spPr>
          <a:xfrm>
            <a:off x="5163525" y="3559475"/>
            <a:ext cx="2750100" cy="1113900"/>
          </a:xfrm>
          <a:prstGeom prst="roundRect">
            <a:avLst>
              <a:gd fmla="val 11732" name="adj"/>
            </a:avLst>
          </a:prstGeom>
          <a:noFill/>
          <a:ln cap="flat" cmpd="sng" w="9525">
            <a:solidFill>
              <a:schemeClr val="accent1"/>
            </a:solidFill>
            <a:prstDash val="solid"/>
            <a:round/>
            <a:headEnd len="sm" w="sm" type="none"/>
            <a:tailEnd len="sm" w="sm" type="none"/>
          </a:ln>
        </p:spPr>
        <p:txBody>
          <a:bodyPr anchorCtr="0" anchor="t" bIns="0" lIns="0" spcFirstLastPara="1" rIns="91425" wrap="square" tIns="0">
            <a:noAutofit/>
          </a:bodyPr>
          <a:lstStyle/>
          <a:p>
            <a:pPr indent="0" lvl="0" marL="0" rtl="0" algn="ctr">
              <a:lnSpc>
                <a:spcPct val="90000"/>
              </a:lnSpc>
              <a:spcBef>
                <a:spcPts val="0"/>
              </a:spcBef>
              <a:spcAft>
                <a:spcPts val="0"/>
              </a:spcAft>
              <a:buNone/>
            </a:pPr>
            <a:r>
              <a:rPr lang="en" sz="1300">
                <a:solidFill>
                  <a:schemeClr val="accent1"/>
                </a:solidFill>
                <a:latin typeface="DM Sans Medium"/>
                <a:ea typeface="DM Sans Medium"/>
                <a:cs typeface="DM Sans Medium"/>
                <a:sym typeface="DM Sans Medium"/>
              </a:rPr>
              <a:t>Lakebase (Postgres OLTP)</a:t>
            </a:r>
            <a:endParaRPr sz="1300">
              <a:solidFill>
                <a:schemeClr val="accent1"/>
              </a:solidFill>
              <a:latin typeface="DM Sans Medium"/>
              <a:ea typeface="DM Sans Medium"/>
              <a:cs typeface="DM Sans Medium"/>
              <a:sym typeface="DM Sans Medium"/>
            </a:endParaRPr>
          </a:p>
        </p:txBody>
      </p:sp>
      <p:pic>
        <p:nvPicPr>
          <p:cNvPr id="1381" name="Google Shape;1381;p75"/>
          <p:cNvPicPr preferRelativeResize="0"/>
          <p:nvPr/>
        </p:nvPicPr>
        <p:blipFill rotWithShape="1">
          <a:blip r:embed="rId3">
            <a:alphaModFix/>
          </a:blip>
          <a:srcRect b="0" l="0" r="82955" t="0"/>
          <a:stretch/>
        </p:blipFill>
        <p:spPr>
          <a:xfrm>
            <a:off x="4775275" y="3248442"/>
            <a:ext cx="245706" cy="226800"/>
          </a:xfrm>
          <a:prstGeom prst="rect">
            <a:avLst/>
          </a:prstGeom>
          <a:noFill/>
          <a:ln>
            <a:noFill/>
          </a:ln>
        </p:spPr>
      </p:pic>
      <p:cxnSp>
        <p:nvCxnSpPr>
          <p:cNvPr id="1382" name="Google Shape;1382;p75"/>
          <p:cNvCxnSpPr>
            <a:stCxn id="1383" idx="3"/>
            <a:endCxn id="1384" idx="0"/>
          </p:cNvCxnSpPr>
          <p:nvPr/>
        </p:nvCxnSpPr>
        <p:spPr>
          <a:xfrm>
            <a:off x="2018938" y="2438334"/>
            <a:ext cx="771300" cy="665100"/>
          </a:xfrm>
          <a:prstGeom prst="bentConnector2">
            <a:avLst/>
          </a:prstGeom>
          <a:noFill/>
          <a:ln cap="flat" cmpd="sng" w="9525">
            <a:solidFill>
              <a:schemeClr val="accent1"/>
            </a:solidFill>
            <a:prstDash val="solid"/>
            <a:round/>
            <a:headEnd len="med" w="med" type="none"/>
            <a:tailEnd len="med" w="med" type="triangle"/>
          </a:ln>
        </p:spPr>
      </p:cxnSp>
      <p:sp>
        <p:nvSpPr>
          <p:cNvPr id="1385" name="Google Shape;1385;p75"/>
          <p:cNvSpPr/>
          <p:nvPr/>
        </p:nvSpPr>
        <p:spPr>
          <a:xfrm>
            <a:off x="4677575" y="5259625"/>
            <a:ext cx="4931100" cy="762900"/>
          </a:xfrm>
          <a:prstGeom prst="roundRect">
            <a:avLst>
              <a:gd fmla="val 11732"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Cloud </a:t>
            </a:r>
            <a:br>
              <a:rPr lang="en" sz="2000">
                <a:solidFill>
                  <a:schemeClr val="accent1"/>
                </a:solidFill>
                <a:latin typeface="DM Sans Medium"/>
                <a:ea typeface="DM Sans Medium"/>
                <a:cs typeface="DM Sans Medium"/>
                <a:sym typeface="DM Sans Medium"/>
              </a:rPr>
            </a:br>
            <a:r>
              <a:rPr lang="en" sz="2000">
                <a:solidFill>
                  <a:schemeClr val="accent1"/>
                </a:solidFill>
                <a:latin typeface="DM Sans Medium"/>
                <a:ea typeface="DM Sans Medium"/>
                <a:cs typeface="DM Sans Medium"/>
                <a:sym typeface="DM Sans Medium"/>
              </a:rPr>
              <a:t>Storage</a:t>
            </a:r>
            <a:endParaRPr sz="2000">
              <a:solidFill>
                <a:schemeClr val="accent1"/>
              </a:solidFill>
              <a:latin typeface="DM Sans Medium"/>
              <a:ea typeface="DM Sans Medium"/>
              <a:cs typeface="DM Sans Medium"/>
              <a:sym typeface="DM Sans Medium"/>
            </a:endParaRPr>
          </a:p>
        </p:txBody>
      </p:sp>
      <p:cxnSp>
        <p:nvCxnSpPr>
          <p:cNvPr id="1386" name="Google Shape;1386;p75"/>
          <p:cNvCxnSpPr/>
          <p:nvPr/>
        </p:nvCxnSpPr>
        <p:spPr>
          <a:xfrm>
            <a:off x="5649550" y="4551175"/>
            <a:ext cx="0" cy="708600"/>
          </a:xfrm>
          <a:prstGeom prst="straightConnector1">
            <a:avLst/>
          </a:prstGeom>
          <a:noFill/>
          <a:ln cap="flat" cmpd="sng" w="19050">
            <a:solidFill>
              <a:schemeClr val="accent2"/>
            </a:solidFill>
            <a:prstDash val="solid"/>
            <a:round/>
            <a:headEnd len="sm" w="sm" type="triangle"/>
            <a:tailEnd len="sm" w="sm" type="triangle"/>
          </a:ln>
        </p:spPr>
      </p:cxnSp>
      <p:sp>
        <p:nvSpPr>
          <p:cNvPr id="1387" name="Google Shape;1387;p75"/>
          <p:cNvSpPr/>
          <p:nvPr/>
        </p:nvSpPr>
        <p:spPr>
          <a:xfrm>
            <a:off x="7850275" y="4438975"/>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88" name="Google Shape;1388;p75"/>
          <p:cNvSpPr/>
          <p:nvPr/>
        </p:nvSpPr>
        <p:spPr>
          <a:xfrm>
            <a:off x="5344075" y="3932150"/>
            <a:ext cx="7626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Postgres</a:t>
            </a:r>
            <a:endParaRPr sz="1200">
              <a:latin typeface="DM Sans"/>
              <a:ea typeface="DM Sans"/>
              <a:cs typeface="DM Sans"/>
              <a:sym typeface="DM Sans"/>
            </a:endParaRPr>
          </a:p>
        </p:txBody>
      </p:sp>
      <p:sp>
        <p:nvSpPr>
          <p:cNvPr id="1389" name="Google Shape;1389;p75"/>
          <p:cNvSpPr/>
          <p:nvPr/>
        </p:nvSpPr>
        <p:spPr>
          <a:xfrm>
            <a:off x="6170511" y="3932150"/>
            <a:ext cx="7626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Postgres</a:t>
            </a:r>
            <a:endParaRPr sz="1200">
              <a:latin typeface="DM Sans"/>
              <a:ea typeface="DM Sans"/>
              <a:cs typeface="DM Sans"/>
              <a:sym typeface="DM Sans"/>
            </a:endParaRPr>
          </a:p>
        </p:txBody>
      </p:sp>
      <p:sp>
        <p:nvSpPr>
          <p:cNvPr id="1390" name="Google Shape;1390;p75"/>
          <p:cNvSpPr/>
          <p:nvPr/>
        </p:nvSpPr>
        <p:spPr>
          <a:xfrm>
            <a:off x="6982074" y="3932150"/>
            <a:ext cx="7626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Postgres</a:t>
            </a:r>
            <a:endParaRPr sz="1200">
              <a:latin typeface="DM Sans"/>
              <a:ea typeface="DM Sans"/>
              <a:cs typeface="DM Sans"/>
              <a:sym typeface="DM Sans"/>
            </a:endParaRPr>
          </a:p>
        </p:txBody>
      </p:sp>
      <p:sp>
        <p:nvSpPr>
          <p:cNvPr id="1391" name="Google Shape;1391;p75"/>
          <p:cNvSpPr/>
          <p:nvPr/>
        </p:nvSpPr>
        <p:spPr>
          <a:xfrm>
            <a:off x="5233000" y="5385197"/>
            <a:ext cx="833100" cy="460725"/>
          </a:xfrm>
          <a:prstGeom prst="flowChartMagneticDisk">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Database</a:t>
            </a:r>
            <a:endParaRPr sz="1200">
              <a:latin typeface="DM Sans"/>
              <a:ea typeface="DM Sans"/>
              <a:cs typeface="DM Sans"/>
              <a:sym typeface="DM Sans"/>
            </a:endParaRPr>
          </a:p>
        </p:txBody>
      </p:sp>
      <p:sp>
        <p:nvSpPr>
          <p:cNvPr id="1392" name="Google Shape;1392;p75"/>
          <p:cNvSpPr/>
          <p:nvPr/>
        </p:nvSpPr>
        <p:spPr>
          <a:xfrm>
            <a:off x="6135925" y="5385197"/>
            <a:ext cx="833100" cy="460725"/>
          </a:xfrm>
          <a:prstGeom prst="flowChartMagneticDisk">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Database</a:t>
            </a:r>
            <a:endParaRPr sz="1200">
              <a:latin typeface="DM Sans"/>
              <a:ea typeface="DM Sans"/>
              <a:cs typeface="DM Sans"/>
              <a:sym typeface="DM Sans"/>
            </a:endParaRPr>
          </a:p>
        </p:txBody>
      </p:sp>
      <p:sp>
        <p:nvSpPr>
          <p:cNvPr id="1393" name="Google Shape;1393;p75"/>
          <p:cNvSpPr/>
          <p:nvPr/>
        </p:nvSpPr>
        <p:spPr>
          <a:xfrm>
            <a:off x="7022600" y="5385197"/>
            <a:ext cx="833100" cy="460725"/>
          </a:xfrm>
          <a:prstGeom prst="flowChartMagneticDisk">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Database</a:t>
            </a:r>
            <a:endParaRPr sz="1200">
              <a:latin typeface="DM Sans"/>
              <a:ea typeface="DM Sans"/>
              <a:cs typeface="DM Sans"/>
              <a:sym typeface="DM Sans"/>
            </a:endParaRPr>
          </a:p>
        </p:txBody>
      </p:sp>
      <p:cxnSp>
        <p:nvCxnSpPr>
          <p:cNvPr id="1394" name="Google Shape;1394;p75"/>
          <p:cNvCxnSpPr/>
          <p:nvPr/>
        </p:nvCxnSpPr>
        <p:spPr>
          <a:xfrm>
            <a:off x="6552475" y="4551175"/>
            <a:ext cx="0" cy="708600"/>
          </a:xfrm>
          <a:prstGeom prst="straightConnector1">
            <a:avLst/>
          </a:prstGeom>
          <a:noFill/>
          <a:ln cap="flat" cmpd="sng" w="19050">
            <a:solidFill>
              <a:schemeClr val="accent2"/>
            </a:solidFill>
            <a:prstDash val="solid"/>
            <a:round/>
            <a:headEnd len="sm" w="sm" type="triangle"/>
            <a:tailEnd len="sm" w="sm" type="triangle"/>
          </a:ln>
        </p:spPr>
      </p:cxnSp>
      <p:cxnSp>
        <p:nvCxnSpPr>
          <p:cNvPr id="1395" name="Google Shape;1395;p75"/>
          <p:cNvCxnSpPr/>
          <p:nvPr/>
        </p:nvCxnSpPr>
        <p:spPr>
          <a:xfrm>
            <a:off x="7439150" y="4551175"/>
            <a:ext cx="0" cy="708600"/>
          </a:xfrm>
          <a:prstGeom prst="straightConnector1">
            <a:avLst/>
          </a:prstGeom>
          <a:noFill/>
          <a:ln cap="flat" cmpd="sng" w="19050">
            <a:solidFill>
              <a:schemeClr val="accent2"/>
            </a:solidFill>
            <a:prstDash val="solid"/>
            <a:round/>
            <a:headEnd len="sm" w="sm" type="triangle"/>
            <a:tailEnd len="sm" w="sm" type="triangle"/>
          </a:ln>
        </p:spPr>
      </p:cxnSp>
      <p:sp>
        <p:nvSpPr>
          <p:cNvPr id="1384" name="Google Shape;1384;p75"/>
          <p:cNvSpPr/>
          <p:nvPr/>
        </p:nvSpPr>
        <p:spPr>
          <a:xfrm>
            <a:off x="2760114" y="3103425"/>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96" name="Google Shape;1396;p75"/>
          <p:cNvSpPr/>
          <p:nvPr/>
        </p:nvSpPr>
        <p:spPr>
          <a:xfrm>
            <a:off x="7850264" y="3892901"/>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97" name="Google Shape;1397;p75"/>
          <p:cNvSpPr/>
          <p:nvPr/>
        </p:nvSpPr>
        <p:spPr>
          <a:xfrm>
            <a:off x="7850264" y="4075278"/>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98" name="Google Shape;1398;p75"/>
          <p:cNvSpPr/>
          <p:nvPr/>
        </p:nvSpPr>
        <p:spPr>
          <a:xfrm>
            <a:off x="7850264" y="4257126"/>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99" name="Google Shape;1399;p75"/>
          <p:cNvSpPr/>
          <p:nvPr/>
        </p:nvSpPr>
        <p:spPr>
          <a:xfrm>
            <a:off x="5344109" y="4264673"/>
            <a:ext cx="24003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Lakebase Storage Service</a:t>
            </a:r>
            <a:endParaRPr sz="1200">
              <a:latin typeface="DM Sans"/>
              <a:ea typeface="DM Sans"/>
              <a:cs typeface="DM Sans"/>
              <a:sym typeface="DM Sans"/>
            </a:endParaRPr>
          </a:p>
        </p:txBody>
      </p:sp>
      <p:cxnSp>
        <p:nvCxnSpPr>
          <p:cNvPr id="1400" name="Google Shape;1400;p75"/>
          <p:cNvCxnSpPr>
            <a:stCxn id="1401" idx="1"/>
            <a:endCxn id="1402" idx="0"/>
          </p:cNvCxnSpPr>
          <p:nvPr/>
        </p:nvCxnSpPr>
        <p:spPr>
          <a:xfrm flipH="1">
            <a:off x="3018850" y="2436100"/>
            <a:ext cx="1351200" cy="667200"/>
          </a:xfrm>
          <a:prstGeom prst="bentConnector2">
            <a:avLst/>
          </a:prstGeom>
          <a:noFill/>
          <a:ln cap="flat" cmpd="sng" w="9525">
            <a:solidFill>
              <a:schemeClr val="accent1"/>
            </a:solidFill>
            <a:prstDash val="solid"/>
            <a:round/>
            <a:headEnd len="med" w="med" type="none"/>
            <a:tailEnd len="med" w="med" type="triangle"/>
          </a:ln>
        </p:spPr>
      </p:cxnSp>
      <p:sp>
        <p:nvSpPr>
          <p:cNvPr id="1403" name="Google Shape;1403;p75"/>
          <p:cNvSpPr/>
          <p:nvPr/>
        </p:nvSpPr>
        <p:spPr>
          <a:xfrm>
            <a:off x="6004212" y="3553596"/>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404" name="Google Shape;1404;p75"/>
          <p:cNvCxnSpPr>
            <a:stCxn id="1401" idx="3"/>
            <a:endCxn id="1380" idx="0"/>
          </p:cNvCxnSpPr>
          <p:nvPr/>
        </p:nvCxnSpPr>
        <p:spPr>
          <a:xfrm>
            <a:off x="4752651" y="2436100"/>
            <a:ext cx="1785900" cy="1123500"/>
          </a:xfrm>
          <a:prstGeom prst="bentConnector2">
            <a:avLst/>
          </a:prstGeom>
          <a:noFill/>
          <a:ln cap="flat" cmpd="sng" w="9525">
            <a:solidFill>
              <a:schemeClr val="accent1"/>
            </a:solidFill>
            <a:prstDash val="solid"/>
            <a:round/>
            <a:headEnd len="med" w="med" type="none"/>
            <a:tailEnd len="med" w="med" type="triangle"/>
          </a:ln>
        </p:spPr>
      </p:cxnSp>
      <p:sp>
        <p:nvSpPr>
          <p:cNvPr id="1405" name="Google Shape;1405;p75"/>
          <p:cNvSpPr txBox="1"/>
          <p:nvPr/>
        </p:nvSpPr>
        <p:spPr>
          <a:xfrm>
            <a:off x="5310511" y="2242289"/>
            <a:ext cx="517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000">
                <a:latin typeface="DM Sans"/>
                <a:ea typeface="DM Sans"/>
                <a:cs typeface="DM Sans"/>
                <a:sym typeface="DM Sans"/>
              </a:rPr>
              <a:t>native</a:t>
            </a:r>
            <a:endParaRPr i="1" sz="1000"/>
          </a:p>
        </p:txBody>
      </p:sp>
      <p:sp>
        <p:nvSpPr>
          <p:cNvPr id="1406" name="Google Shape;1406;p75"/>
          <p:cNvSpPr txBox="1"/>
          <p:nvPr/>
        </p:nvSpPr>
        <p:spPr>
          <a:xfrm>
            <a:off x="3482886" y="2255338"/>
            <a:ext cx="517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000">
                <a:latin typeface="DM Sans"/>
                <a:ea typeface="DM Sans"/>
                <a:cs typeface="DM Sans"/>
                <a:sym typeface="DM Sans"/>
              </a:rPr>
              <a:t>REST API</a:t>
            </a:r>
            <a:endParaRPr i="1" sz="1000"/>
          </a:p>
        </p:txBody>
      </p:sp>
      <p:pic>
        <p:nvPicPr>
          <p:cNvPr id="1407" name="Google Shape;1407;p75"/>
          <p:cNvPicPr preferRelativeResize="0"/>
          <p:nvPr/>
        </p:nvPicPr>
        <p:blipFill rotWithShape="1">
          <a:blip r:embed="rId3">
            <a:alphaModFix/>
          </a:blip>
          <a:srcRect b="0" l="0" r="82955" t="0"/>
          <a:stretch/>
        </p:blipFill>
        <p:spPr>
          <a:xfrm>
            <a:off x="1530800" y="3248442"/>
            <a:ext cx="245706" cy="226800"/>
          </a:xfrm>
          <a:prstGeom prst="rect">
            <a:avLst/>
          </a:prstGeom>
          <a:noFill/>
          <a:ln>
            <a:noFill/>
          </a:ln>
        </p:spPr>
      </p:pic>
      <p:sp>
        <p:nvSpPr>
          <p:cNvPr id="1408" name="Google Shape;1408;p75"/>
          <p:cNvSpPr/>
          <p:nvPr/>
        </p:nvSpPr>
        <p:spPr>
          <a:xfrm>
            <a:off x="1635650" y="3647875"/>
            <a:ext cx="2634900" cy="583500"/>
          </a:xfrm>
          <a:prstGeom prst="roundRect">
            <a:avLst>
              <a:gd fmla="val 11931"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Platform Services</a:t>
            </a:r>
            <a:br>
              <a:rPr lang="en" sz="16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(UI / REST API)</a:t>
            </a:r>
            <a:endParaRPr sz="1200">
              <a:solidFill>
                <a:schemeClr val="accent1"/>
              </a:solidFill>
              <a:latin typeface="DM Sans Medium"/>
              <a:ea typeface="DM Sans Medium"/>
              <a:cs typeface="DM Sans Medium"/>
              <a:sym typeface="DM Sans Medium"/>
            </a:endParaRPr>
          </a:p>
        </p:txBody>
      </p:sp>
      <p:sp>
        <p:nvSpPr>
          <p:cNvPr id="1409" name="Google Shape;1409;p75"/>
          <p:cNvSpPr/>
          <p:nvPr/>
        </p:nvSpPr>
        <p:spPr>
          <a:xfrm>
            <a:off x="1635650" y="4340275"/>
            <a:ext cx="976800" cy="554700"/>
          </a:xfrm>
          <a:prstGeom prst="roundRect">
            <a:avLst>
              <a:gd fmla="val 8689"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Unity Catalog</a:t>
            </a:r>
            <a:endParaRPr sz="1600">
              <a:solidFill>
                <a:schemeClr val="dk1"/>
              </a:solidFill>
              <a:latin typeface="DM Sans Medium"/>
              <a:ea typeface="DM Sans Medium"/>
              <a:cs typeface="DM Sans Medium"/>
              <a:sym typeface="DM Sans Medium"/>
            </a:endParaRPr>
          </a:p>
        </p:txBody>
      </p:sp>
      <p:grpSp>
        <p:nvGrpSpPr>
          <p:cNvPr id="1410" name="Google Shape;1410;p75"/>
          <p:cNvGrpSpPr/>
          <p:nvPr/>
        </p:nvGrpSpPr>
        <p:grpSpPr>
          <a:xfrm>
            <a:off x="4292875" y="2244800"/>
            <a:ext cx="517800" cy="557000"/>
            <a:chOff x="5054875" y="1940000"/>
            <a:chExt cx="517800" cy="557000"/>
          </a:xfrm>
        </p:grpSpPr>
        <p:sp>
          <p:nvSpPr>
            <p:cNvPr id="1411" name="Google Shape;1411;p75"/>
            <p:cNvSpPr txBox="1"/>
            <p:nvPr/>
          </p:nvSpPr>
          <p:spPr>
            <a:xfrm>
              <a:off x="5054875" y="2270200"/>
              <a:ext cx="517800" cy="22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Apps</a:t>
              </a:r>
              <a:endParaRPr sz="1200">
                <a:solidFill>
                  <a:schemeClr val="accent1"/>
                </a:solidFill>
                <a:latin typeface="DM Sans Medium"/>
                <a:ea typeface="DM Sans Medium"/>
                <a:cs typeface="DM Sans Medium"/>
                <a:sym typeface="DM Sans Medium"/>
              </a:endParaRPr>
            </a:p>
          </p:txBody>
        </p:sp>
        <p:pic>
          <p:nvPicPr>
            <p:cNvPr id="1401" name="Google Shape;1401;p75"/>
            <p:cNvPicPr preferRelativeResize="0"/>
            <p:nvPr/>
          </p:nvPicPr>
          <p:blipFill>
            <a:blip r:embed="rId4">
              <a:alphaModFix/>
            </a:blip>
            <a:stretch>
              <a:fillRect/>
            </a:stretch>
          </p:blipFill>
          <p:spPr>
            <a:xfrm>
              <a:off x="5132050" y="1940000"/>
              <a:ext cx="382600" cy="382600"/>
            </a:xfrm>
            <a:prstGeom prst="rect">
              <a:avLst/>
            </a:prstGeom>
            <a:noFill/>
            <a:ln>
              <a:noFill/>
            </a:ln>
          </p:spPr>
        </p:pic>
      </p:grpSp>
      <p:grpSp>
        <p:nvGrpSpPr>
          <p:cNvPr id="1412" name="Google Shape;1412;p75"/>
          <p:cNvGrpSpPr/>
          <p:nvPr/>
        </p:nvGrpSpPr>
        <p:grpSpPr>
          <a:xfrm>
            <a:off x="1569474" y="2247025"/>
            <a:ext cx="517800" cy="554775"/>
            <a:chOff x="4512849" y="2247025"/>
            <a:chExt cx="517800" cy="554775"/>
          </a:xfrm>
        </p:grpSpPr>
        <p:pic>
          <p:nvPicPr>
            <p:cNvPr id="1383" name="Google Shape;1383;p75"/>
            <p:cNvPicPr preferRelativeResize="0"/>
            <p:nvPr/>
          </p:nvPicPr>
          <p:blipFill>
            <a:blip r:embed="rId5">
              <a:alphaModFix/>
            </a:blip>
            <a:stretch>
              <a:fillRect/>
            </a:stretch>
          </p:blipFill>
          <p:spPr>
            <a:xfrm>
              <a:off x="4579713" y="2247025"/>
              <a:ext cx="382600" cy="382619"/>
            </a:xfrm>
            <a:prstGeom prst="rect">
              <a:avLst/>
            </a:prstGeom>
            <a:noFill/>
            <a:ln>
              <a:noFill/>
            </a:ln>
          </p:spPr>
        </p:pic>
        <p:sp>
          <p:nvSpPr>
            <p:cNvPr id="1413" name="Google Shape;1413;p75"/>
            <p:cNvSpPr txBox="1"/>
            <p:nvPr/>
          </p:nvSpPr>
          <p:spPr>
            <a:xfrm>
              <a:off x="4512849" y="2575000"/>
              <a:ext cx="517800" cy="22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Users</a:t>
              </a:r>
              <a:endParaRPr sz="1200">
                <a:solidFill>
                  <a:schemeClr val="accent1"/>
                </a:solidFill>
                <a:latin typeface="DM Sans Medium"/>
                <a:ea typeface="DM Sans Medium"/>
                <a:cs typeface="DM Sans Medium"/>
                <a:sym typeface="DM Sans Medium"/>
              </a:endParaRPr>
            </a:p>
          </p:txBody>
        </p:sp>
      </p:grpSp>
      <p:cxnSp>
        <p:nvCxnSpPr>
          <p:cNvPr id="1414" name="Google Shape;1414;p75"/>
          <p:cNvCxnSpPr>
            <a:endCxn id="1380" idx="1"/>
          </p:cNvCxnSpPr>
          <p:nvPr/>
        </p:nvCxnSpPr>
        <p:spPr>
          <a:xfrm>
            <a:off x="4378725" y="4115825"/>
            <a:ext cx="784800" cy="600"/>
          </a:xfrm>
          <a:prstGeom prst="bentConnector3">
            <a:avLst>
              <a:gd fmla="val 50000" name="adj1"/>
            </a:avLst>
          </a:prstGeom>
          <a:noFill/>
          <a:ln cap="flat" cmpd="sng" w="9525">
            <a:solidFill>
              <a:schemeClr val="accent1"/>
            </a:solidFill>
            <a:prstDash val="solid"/>
            <a:round/>
            <a:headEnd len="med" w="med" type="none"/>
            <a:tailEnd len="med" w="med" type="triangle"/>
          </a:ln>
        </p:spPr>
      </p:cxnSp>
      <p:sp>
        <p:nvSpPr>
          <p:cNvPr id="1415" name="Google Shape;1415;p75"/>
          <p:cNvSpPr/>
          <p:nvPr/>
        </p:nvSpPr>
        <p:spPr>
          <a:xfrm>
            <a:off x="1393375" y="1485900"/>
            <a:ext cx="82152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6" name="Google Shape;1416;p75"/>
          <p:cNvPicPr preferRelativeResize="0"/>
          <p:nvPr/>
        </p:nvPicPr>
        <p:blipFill rotWithShape="1">
          <a:blip r:embed="rId3">
            <a:alphaModFix/>
          </a:blip>
          <a:srcRect b="0" l="0" r="0" t="0"/>
          <a:stretch/>
        </p:blipFill>
        <p:spPr>
          <a:xfrm>
            <a:off x="4008755" y="1548143"/>
            <a:ext cx="2196331" cy="338050"/>
          </a:xfrm>
          <a:prstGeom prst="rect">
            <a:avLst/>
          </a:prstGeom>
          <a:noFill/>
          <a:ln>
            <a:noFill/>
          </a:ln>
        </p:spPr>
      </p:pic>
      <p:sp>
        <p:nvSpPr>
          <p:cNvPr id="1417" name="Google Shape;1417;p75"/>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Architecture</a:t>
            </a:r>
            <a:endParaRPr sz="3600"/>
          </a:p>
        </p:txBody>
      </p:sp>
      <p:sp>
        <p:nvSpPr>
          <p:cNvPr id="1418" name="Google Shape;1418;p75"/>
          <p:cNvSpPr txBox="1"/>
          <p:nvPr>
            <p:ph idx="1" type="subTitle"/>
          </p:nvPr>
        </p:nvSpPr>
        <p:spPr>
          <a:xfrm>
            <a:off x="764800" y="946100"/>
            <a:ext cx="111531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Lakebase</a:t>
            </a:r>
            <a:endParaRPr/>
          </a:p>
        </p:txBody>
      </p:sp>
      <p:sp>
        <p:nvSpPr>
          <p:cNvPr id="1402" name="Google Shape;1402;p75"/>
          <p:cNvSpPr/>
          <p:nvPr/>
        </p:nvSpPr>
        <p:spPr>
          <a:xfrm>
            <a:off x="2988714" y="3103425"/>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76"/>
          <p:cNvSpPr/>
          <p:nvPr/>
        </p:nvSpPr>
        <p:spPr>
          <a:xfrm>
            <a:off x="1237500" y="2908500"/>
            <a:ext cx="4931100" cy="1915800"/>
          </a:xfrm>
          <a:prstGeom prst="roundRect">
            <a:avLst>
              <a:gd fmla="val 5991" name="adj"/>
            </a:avLst>
          </a:prstGeom>
          <a:solidFill>
            <a:srgbClr val="FFFFFF"/>
          </a:solidFill>
          <a:ln cap="flat" cmpd="sng" w="9525">
            <a:solidFill>
              <a:schemeClr val="dk2"/>
            </a:solidFill>
            <a:prstDash val="solid"/>
            <a:round/>
            <a:headEnd len="sm" w="sm" type="none"/>
            <a:tailEnd len="sm" w="sm" type="none"/>
          </a:ln>
        </p:spPr>
        <p:txBody>
          <a:bodyPr anchorCtr="0" anchor="t" bIns="0" lIns="91425" spcFirstLastPara="1" rIns="91425" wrap="square" tIns="0">
            <a:noAutofit/>
          </a:bodyPr>
          <a:lstStyle/>
          <a:p>
            <a:pPr indent="0" lvl="0" marL="0" rtl="0" algn="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Serverless </a:t>
            </a:r>
            <a:br>
              <a:rPr lang="en" sz="2000">
                <a:solidFill>
                  <a:schemeClr val="accent1"/>
                </a:solidFill>
                <a:latin typeface="DM Sans Medium"/>
                <a:ea typeface="DM Sans Medium"/>
                <a:cs typeface="DM Sans Medium"/>
                <a:sym typeface="DM Sans Medium"/>
              </a:rPr>
            </a:br>
            <a:r>
              <a:rPr lang="en" sz="2000">
                <a:solidFill>
                  <a:schemeClr val="accent1"/>
                </a:solidFill>
                <a:latin typeface="DM Sans Medium"/>
                <a:ea typeface="DM Sans Medium"/>
                <a:cs typeface="DM Sans Medium"/>
                <a:sym typeface="DM Sans Medium"/>
              </a:rPr>
              <a:t>Comput</a:t>
            </a:r>
            <a:r>
              <a:rPr lang="en" sz="2000">
                <a:solidFill>
                  <a:schemeClr val="accent1"/>
                </a:solidFill>
                <a:latin typeface="DM Sans Medium"/>
                <a:ea typeface="DM Sans Medium"/>
                <a:cs typeface="DM Sans Medium"/>
                <a:sym typeface="DM Sans Medium"/>
              </a:rPr>
              <a:t>e</a:t>
            </a:r>
            <a:endParaRPr sz="2000">
              <a:solidFill>
                <a:schemeClr val="accent1"/>
              </a:solidFill>
              <a:latin typeface="DM Sans Medium"/>
              <a:ea typeface="DM Sans Medium"/>
              <a:cs typeface="DM Sans Medium"/>
              <a:sym typeface="DM Sans Medium"/>
            </a:endParaRPr>
          </a:p>
        </p:txBody>
      </p:sp>
      <p:sp>
        <p:nvSpPr>
          <p:cNvPr id="1424" name="Google Shape;1424;p76"/>
          <p:cNvSpPr/>
          <p:nvPr/>
        </p:nvSpPr>
        <p:spPr>
          <a:xfrm>
            <a:off x="1723450" y="3559475"/>
            <a:ext cx="2750100" cy="1113900"/>
          </a:xfrm>
          <a:prstGeom prst="roundRect">
            <a:avLst>
              <a:gd fmla="val 11732" name="adj"/>
            </a:avLst>
          </a:prstGeom>
          <a:noFill/>
          <a:ln cap="flat" cmpd="sng" w="9525">
            <a:solidFill>
              <a:schemeClr val="accent1"/>
            </a:solidFill>
            <a:prstDash val="solid"/>
            <a:round/>
            <a:headEnd len="sm" w="sm" type="none"/>
            <a:tailEnd len="sm" w="sm" type="none"/>
          </a:ln>
        </p:spPr>
        <p:txBody>
          <a:bodyPr anchorCtr="0" anchor="t" bIns="0" lIns="0" spcFirstLastPara="1" rIns="91425" wrap="square" tIns="0">
            <a:noAutofit/>
          </a:bodyPr>
          <a:lstStyle/>
          <a:p>
            <a:pPr indent="0" lvl="0" marL="0" rtl="0" algn="ctr">
              <a:lnSpc>
                <a:spcPct val="90000"/>
              </a:lnSpc>
              <a:spcBef>
                <a:spcPts val="0"/>
              </a:spcBef>
              <a:spcAft>
                <a:spcPts val="0"/>
              </a:spcAft>
              <a:buNone/>
            </a:pPr>
            <a:r>
              <a:rPr lang="en" sz="1300">
                <a:solidFill>
                  <a:schemeClr val="accent1"/>
                </a:solidFill>
                <a:latin typeface="DM Sans Medium"/>
                <a:ea typeface="DM Sans Medium"/>
                <a:cs typeface="DM Sans Medium"/>
                <a:sym typeface="DM Sans Medium"/>
              </a:rPr>
              <a:t>Lakebase (Postgres OLTP)</a:t>
            </a:r>
            <a:endParaRPr sz="1300">
              <a:solidFill>
                <a:schemeClr val="accent1"/>
              </a:solidFill>
              <a:latin typeface="DM Sans Medium"/>
              <a:ea typeface="DM Sans Medium"/>
              <a:cs typeface="DM Sans Medium"/>
              <a:sym typeface="DM Sans Medium"/>
            </a:endParaRPr>
          </a:p>
        </p:txBody>
      </p:sp>
      <p:sp>
        <p:nvSpPr>
          <p:cNvPr id="1425" name="Google Shape;1425;p76"/>
          <p:cNvSpPr/>
          <p:nvPr/>
        </p:nvSpPr>
        <p:spPr>
          <a:xfrm>
            <a:off x="1218825" y="1860475"/>
            <a:ext cx="2750100" cy="688500"/>
          </a:xfrm>
          <a:prstGeom prst="roundRect">
            <a:avLst>
              <a:gd fmla="val 11732" name="adj"/>
            </a:avLst>
          </a:prstGeom>
          <a:noFill/>
          <a:ln cap="flat" cmpd="sng" w="9525">
            <a:solidFill>
              <a:schemeClr val="accent1"/>
            </a:solidFill>
            <a:prstDash val="solid"/>
            <a:round/>
            <a:headEnd len="sm" w="sm" type="none"/>
            <a:tailEnd len="sm" w="sm" type="none"/>
          </a:ln>
        </p:spPr>
        <p:txBody>
          <a:bodyPr anchorCtr="0" anchor="t" bIns="0" lIns="0" spcFirstLastPara="1" rIns="91425" wrap="square" tIns="0">
            <a:noAutofit/>
          </a:bodyPr>
          <a:lstStyle/>
          <a:p>
            <a:pPr indent="0" lvl="0" marL="0" rtl="0" algn="ctr">
              <a:lnSpc>
                <a:spcPct val="90000"/>
              </a:lnSpc>
              <a:spcBef>
                <a:spcPts val="0"/>
              </a:spcBef>
              <a:spcAft>
                <a:spcPts val="0"/>
              </a:spcAft>
              <a:buNone/>
            </a:pPr>
            <a:r>
              <a:rPr lang="en" sz="1300">
                <a:solidFill>
                  <a:schemeClr val="accent1"/>
                </a:solidFill>
                <a:latin typeface="DM Sans Medium"/>
                <a:ea typeface="DM Sans Medium"/>
                <a:cs typeface="DM Sans Medium"/>
                <a:sym typeface="DM Sans Medium"/>
              </a:rPr>
              <a:t>Postgres drivers and ecosystem</a:t>
            </a:r>
            <a:endParaRPr sz="1300">
              <a:solidFill>
                <a:schemeClr val="accent1"/>
              </a:solidFill>
              <a:latin typeface="DM Sans Medium"/>
              <a:ea typeface="DM Sans Medium"/>
              <a:cs typeface="DM Sans Medium"/>
              <a:sym typeface="DM Sans Medium"/>
            </a:endParaRPr>
          </a:p>
        </p:txBody>
      </p:sp>
      <p:sp>
        <p:nvSpPr>
          <p:cNvPr id="1426" name="Google Shape;1426;p76"/>
          <p:cNvSpPr txBox="1"/>
          <p:nvPr/>
        </p:nvSpPr>
        <p:spPr>
          <a:xfrm>
            <a:off x="7073309" y="3863034"/>
            <a:ext cx="1071900" cy="36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200">
                <a:solidFill>
                  <a:srgbClr val="DD9312"/>
                </a:solidFill>
                <a:latin typeface="DM Sans Medium"/>
                <a:ea typeface="DM Sans Medium"/>
                <a:cs typeface="DM Sans Medium"/>
                <a:sym typeface="DM Sans Medium"/>
              </a:rPr>
              <a:t>… and read data via JDBC</a:t>
            </a:r>
            <a:endParaRPr sz="1200">
              <a:solidFill>
                <a:srgbClr val="DD9312"/>
              </a:solidFill>
              <a:latin typeface="DM Sans Medium"/>
              <a:ea typeface="DM Sans Medium"/>
              <a:cs typeface="DM Sans Medium"/>
              <a:sym typeface="DM Sans Medium"/>
            </a:endParaRPr>
          </a:p>
        </p:txBody>
      </p:sp>
      <p:sp>
        <p:nvSpPr>
          <p:cNvPr id="1427" name="Google Shape;1427;p7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Lakebase integration</a:t>
            </a:r>
            <a:endParaRPr/>
          </a:p>
        </p:txBody>
      </p:sp>
      <p:sp>
        <p:nvSpPr>
          <p:cNvPr id="1428" name="Google Shape;1428;p7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Separation of compute/storage for independent scaling</a:t>
            </a:r>
            <a:endParaRPr/>
          </a:p>
        </p:txBody>
      </p:sp>
      <p:sp>
        <p:nvSpPr>
          <p:cNvPr id="1429" name="Google Shape;1429;p76"/>
          <p:cNvSpPr/>
          <p:nvPr/>
        </p:nvSpPr>
        <p:spPr>
          <a:xfrm>
            <a:off x="8212225" y="1960525"/>
            <a:ext cx="2981100" cy="2067900"/>
          </a:xfrm>
          <a:prstGeom prst="roundRect">
            <a:avLst>
              <a:gd fmla="val 4218"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Control Plane</a:t>
            </a:r>
            <a:endParaRPr sz="2000">
              <a:solidFill>
                <a:schemeClr val="accent1"/>
              </a:solidFill>
              <a:latin typeface="DM Sans Medium"/>
              <a:ea typeface="DM Sans Medium"/>
              <a:cs typeface="DM Sans Medium"/>
              <a:sym typeface="DM Sans Medium"/>
            </a:endParaRPr>
          </a:p>
        </p:txBody>
      </p:sp>
      <p:pic>
        <p:nvPicPr>
          <p:cNvPr id="1430" name="Google Shape;1430;p76"/>
          <p:cNvPicPr preferRelativeResize="0"/>
          <p:nvPr/>
        </p:nvPicPr>
        <p:blipFill rotWithShape="1">
          <a:blip r:embed="rId3">
            <a:alphaModFix/>
          </a:blip>
          <a:srcRect b="0" l="0" r="82955" t="0"/>
          <a:stretch/>
        </p:blipFill>
        <p:spPr>
          <a:xfrm>
            <a:off x="8344600" y="2105442"/>
            <a:ext cx="245706" cy="226800"/>
          </a:xfrm>
          <a:prstGeom prst="rect">
            <a:avLst/>
          </a:prstGeom>
          <a:noFill/>
          <a:ln>
            <a:noFill/>
          </a:ln>
        </p:spPr>
      </p:pic>
      <p:sp>
        <p:nvSpPr>
          <p:cNvPr id="1431" name="Google Shape;1431;p76"/>
          <p:cNvSpPr/>
          <p:nvPr/>
        </p:nvSpPr>
        <p:spPr>
          <a:xfrm>
            <a:off x="8449450" y="2504875"/>
            <a:ext cx="2634900" cy="583500"/>
          </a:xfrm>
          <a:prstGeom prst="roundRect">
            <a:avLst>
              <a:gd fmla="val 11931"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Platform Services</a:t>
            </a:r>
            <a:br>
              <a:rPr lang="en" sz="16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(UI / REST API)</a:t>
            </a:r>
            <a:endParaRPr sz="1200">
              <a:solidFill>
                <a:schemeClr val="accent1"/>
              </a:solidFill>
              <a:latin typeface="DM Sans Medium"/>
              <a:ea typeface="DM Sans Medium"/>
              <a:cs typeface="DM Sans Medium"/>
              <a:sym typeface="DM Sans Medium"/>
            </a:endParaRPr>
          </a:p>
        </p:txBody>
      </p:sp>
      <p:sp>
        <p:nvSpPr>
          <p:cNvPr id="1432" name="Google Shape;1432;p76"/>
          <p:cNvSpPr/>
          <p:nvPr/>
        </p:nvSpPr>
        <p:spPr>
          <a:xfrm>
            <a:off x="8449450" y="3439075"/>
            <a:ext cx="976800" cy="521100"/>
          </a:xfrm>
          <a:prstGeom prst="roundRect">
            <a:avLst>
              <a:gd fmla="val 8689"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Unity Catalog</a:t>
            </a:r>
            <a:endParaRPr sz="1600">
              <a:solidFill>
                <a:schemeClr val="dk1"/>
              </a:solidFill>
              <a:latin typeface="DM Sans Medium"/>
              <a:ea typeface="DM Sans Medium"/>
              <a:cs typeface="DM Sans Medium"/>
              <a:sym typeface="DM Sans Medium"/>
            </a:endParaRPr>
          </a:p>
        </p:txBody>
      </p:sp>
      <p:pic>
        <p:nvPicPr>
          <p:cNvPr id="1433" name="Google Shape;1433;p76"/>
          <p:cNvPicPr preferRelativeResize="0"/>
          <p:nvPr/>
        </p:nvPicPr>
        <p:blipFill rotWithShape="1">
          <a:blip r:embed="rId3">
            <a:alphaModFix/>
          </a:blip>
          <a:srcRect b="0" l="0" r="82955" t="0"/>
          <a:stretch/>
        </p:blipFill>
        <p:spPr>
          <a:xfrm>
            <a:off x="1335200" y="3005247"/>
            <a:ext cx="245706" cy="226800"/>
          </a:xfrm>
          <a:prstGeom prst="rect">
            <a:avLst/>
          </a:prstGeom>
          <a:noFill/>
          <a:ln>
            <a:noFill/>
          </a:ln>
        </p:spPr>
      </p:pic>
      <p:cxnSp>
        <p:nvCxnSpPr>
          <p:cNvPr id="1434" name="Google Shape;1434;p76"/>
          <p:cNvCxnSpPr>
            <a:stCxn id="1425" idx="2"/>
            <a:endCxn id="1435" idx="0"/>
          </p:cNvCxnSpPr>
          <p:nvPr/>
        </p:nvCxnSpPr>
        <p:spPr>
          <a:xfrm flipH="1" rot="-5400000">
            <a:off x="2091825" y="3051025"/>
            <a:ext cx="1004700" cy="600"/>
          </a:xfrm>
          <a:prstGeom prst="bentConnector3">
            <a:avLst>
              <a:gd fmla="val 49996" name="adj1"/>
            </a:avLst>
          </a:prstGeom>
          <a:noFill/>
          <a:ln cap="flat" cmpd="sng" w="19050">
            <a:solidFill>
              <a:schemeClr val="accent1"/>
            </a:solidFill>
            <a:prstDash val="solid"/>
            <a:round/>
            <a:headEnd len="med" w="med" type="none"/>
            <a:tailEnd len="med" w="med" type="triangle"/>
          </a:ln>
        </p:spPr>
      </p:cxnSp>
      <p:sp>
        <p:nvSpPr>
          <p:cNvPr id="1436" name="Google Shape;1436;p76"/>
          <p:cNvSpPr/>
          <p:nvPr/>
        </p:nvSpPr>
        <p:spPr>
          <a:xfrm>
            <a:off x="1237500" y="5488225"/>
            <a:ext cx="9955800" cy="762900"/>
          </a:xfrm>
          <a:prstGeom prst="roundRect">
            <a:avLst>
              <a:gd fmla="val 11732"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cxnSp>
        <p:nvCxnSpPr>
          <p:cNvPr id="1437" name="Google Shape;1437;p76"/>
          <p:cNvCxnSpPr/>
          <p:nvPr/>
        </p:nvCxnSpPr>
        <p:spPr>
          <a:xfrm>
            <a:off x="2209475" y="4551175"/>
            <a:ext cx="0" cy="1062900"/>
          </a:xfrm>
          <a:prstGeom prst="straightConnector1">
            <a:avLst/>
          </a:prstGeom>
          <a:noFill/>
          <a:ln cap="flat" cmpd="sng" w="19050">
            <a:solidFill>
              <a:schemeClr val="accent2"/>
            </a:solidFill>
            <a:prstDash val="solid"/>
            <a:round/>
            <a:headEnd len="sm" w="sm" type="triangle"/>
            <a:tailEnd len="sm" w="sm" type="triangle"/>
          </a:ln>
        </p:spPr>
      </p:cxnSp>
      <p:grpSp>
        <p:nvGrpSpPr>
          <p:cNvPr id="1438" name="Google Shape;1438;p76"/>
          <p:cNvGrpSpPr/>
          <p:nvPr/>
        </p:nvGrpSpPr>
        <p:grpSpPr>
          <a:xfrm>
            <a:off x="6018900" y="5613807"/>
            <a:ext cx="712800" cy="323400"/>
            <a:chOff x="4837450" y="5550299"/>
            <a:chExt cx="712800" cy="323400"/>
          </a:xfrm>
        </p:grpSpPr>
        <p:sp>
          <p:nvSpPr>
            <p:cNvPr id="1439" name="Google Shape;1439;p76"/>
            <p:cNvSpPr/>
            <p:nvPr/>
          </p:nvSpPr>
          <p:spPr>
            <a:xfrm>
              <a:off x="4837450" y="5550299"/>
              <a:ext cx="712800" cy="32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45700" wrap="square" tIns="91425">
              <a:noAutofit/>
            </a:bodyPr>
            <a:lstStyle/>
            <a:p>
              <a:pPr indent="0" lvl="0" marL="0" marR="0" rtl="0" algn="l">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        Delta</a:t>
              </a:r>
              <a:endParaRPr sz="1100">
                <a:solidFill>
                  <a:schemeClr val="accent1"/>
                </a:solidFill>
                <a:latin typeface="DM Sans Medium"/>
                <a:ea typeface="DM Sans Medium"/>
                <a:cs typeface="DM Sans Medium"/>
                <a:sym typeface="DM Sans Medium"/>
              </a:endParaRPr>
            </a:p>
          </p:txBody>
        </p:sp>
        <p:pic>
          <p:nvPicPr>
            <p:cNvPr id="1440" name="Google Shape;1440;p76"/>
            <p:cNvPicPr preferRelativeResize="0"/>
            <p:nvPr/>
          </p:nvPicPr>
          <p:blipFill>
            <a:blip r:embed="rId4">
              <a:alphaModFix/>
            </a:blip>
            <a:stretch>
              <a:fillRect/>
            </a:stretch>
          </p:blipFill>
          <p:spPr>
            <a:xfrm>
              <a:off x="4877850" y="5614672"/>
              <a:ext cx="204300" cy="194646"/>
            </a:xfrm>
            <a:prstGeom prst="rect">
              <a:avLst/>
            </a:prstGeom>
            <a:noFill/>
            <a:ln>
              <a:noFill/>
            </a:ln>
          </p:spPr>
        </p:pic>
      </p:grpSp>
      <p:cxnSp>
        <p:nvCxnSpPr>
          <p:cNvPr id="1441" name="Google Shape;1441;p76"/>
          <p:cNvCxnSpPr>
            <a:stCxn id="1439" idx="0"/>
            <a:endCxn id="1442" idx="3"/>
          </p:cNvCxnSpPr>
          <p:nvPr/>
        </p:nvCxnSpPr>
        <p:spPr>
          <a:xfrm flipH="1" rot="5400000">
            <a:off x="5614500" y="4853007"/>
            <a:ext cx="1112100" cy="409500"/>
          </a:xfrm>
          <a:prstGeom prst="curvedConnector2">
            <a:avLst/>
          </a:prstGeom>
          <a:noFill/>
          <a:ln cap="flat" cmpd="sng" w="19050">
            <a:solidFill>
              <a:srgbClr val="4299E0"/>
            </a:solidFill>
            <a:prstDash val="solid"/>
            <a:round/>
            <a:headEnd len="sm" w="sm" type="none"/>
            <a:tailEnd len="sm" w="sm" type="triangle"/>
          </a:ln>
        </p:spPr>
      </p:cxnSp>
      <p:cxnSp>
        <p:nvCxnSpPr>
          <p:cNvPr id="1443" name="Google Shape;1443;p76"/>
          <p:cNvCxnSpPr>
            <a:stCxn id="1442" idx="1"/>
            <a:endCxn id="1444" idx="4"/>
          </p:cNvCxnSpPr>
          <p:nvPr/>
        </p:nvCxnSpPr>
        <p:spPr>
          <a:xfrm flipH="1">
            <a:off x="4415550" y="4501675"/>
            <a:ext cx="346500" cy="1273800"/>
          </a:xfrm>
          <a:prstGeom prst="curvedConnector3">
            <a:avLst>
              <a:gd fmla="val 49989" name="adj1"/>
            </a:avLst>
          </a:prstGeom>
          <a:noFill/>
          <a:ln cap="flat" cmpd="sng" w="19050">
            <a:solidFill>
              <a:srgbClr val="4299E0"/>
            </a:solidFill>
            <a:prstDash val="solid"/>
            <a:round/>
            <a:headEnd len="sm" w="sm" type="none"/>
            <a:tailEnd len="sm" w="sm" type="triangle"/>
          </a:ln>
        </p:spPr>
      </p:cxnSp>
      <p:sp>
        <p:nvSpPr>
          <p:cNvPr id="1445" name="Google Shape;1445;p76"/>
          <p:cNvSpPr txBox="1"/>
          <p:nvPr/>
        </p:nvSpPr>
        <p:spPr>
          <a:xfrm>
            <a:off x="4773600" y="4833933"/>
            <a:ext cx="1348500" cy="68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4299E0"/>
                </a:solidFill>
                <a:latin typeface="DM Sans Medium"/>
                <a:ea typeface="DM Sans Medium"/>
                <a:cs typeface="DM Sans Medium"/>
                <a:sym typeface="DM Sans Medium"/>
              </a:rPr>
              <a:t>Synch to postgres </a:t>
            </a:r>
            <a:br>
              <a:rPr lang="en" sz="1200">
                <a:solidFill>
                  <a:srgbClr val="4299E0"/>
                </a:solidFill>
                <a:latin typeface="DM Sans Medium"/>
                <a:ea typeface="DM Sans Medium"/>
                <a:cs typeface="DM Sans Medium"/>
                <a:sym typeface="DM Sans Medium"/>
              </a:rPr>
            </a:br>
            <a:r>
              <a:rPr lang="en" sz="1200">
                <a:solidFill>
                  <a:srgbClr val="4299E0"/>
                </a:solidFill>
                <a:latin typeface="DM Sans Medium"/>
                <a:ea typeface="DM Sans Medium"/>
                <a:cs typeface="DM Sans Medium"/>
                <a:sym typeface="DM Sans Medium"/>
              </a:rPr>
              <a:t>read-only table</a:t>
            </a:r>
            <a:endParaRPr sz="1200">
              <a:solidFill>
                <a:srgbClr val="4299E0"/>
              </a:solidFill>
              <a:latin typeface="DM Sans Medium"/>
              <a:ea typeface="DM Sans Medium"/>
              <a:cs typeface="DM Sans Medium"/>
              <a:sym typeface="DM Sans Medium"/>
            </a:endParaRPr>
          </a:p>
        </p:txBody>
      </p:sp>
      <p:grpSp>
        <p:nvGrpSpPr>
          <p:cNvPr id="1446" name="Google Shape;1446;p76"/>
          <p:cNvGrpSpPr/>
          <p:nvPr/>
        </p:nvGrpSpPr>
        <p:grpSpPr>
          <a:xfrm>
            <a:off x="6975697" y="5613957"/>
            <a:ext cx="1157400" cy="323100"/>
            <a:chOff x="5677050" y="6459115"/>
            <a:chExt cx="1157400" cy="323100"/>
          </a:xfrm>
        </p:grpSpPr>
        <p:sp>
          <p:nvSpPr>
            <p:cNvPr id="1447" name="Google Shape;1447;p76"/>
            <p:cNvSpPr/>
            <p:nvPr/>
          </p:nvSpPr>
          <p:spPr>
            <a:xfrm>
              <a:off x="5677050" y="6459115"/>
              <a:ext cx="1157400" cy="3231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45700" wrap="square" tIns="91425">
              <a:noAutofit/>
            </a:bodyPr>
            <a:lstStyle/>
            <a:p>
              <a:pPr indent="0" lvl="0" marL="0" marR="0" rtl="0" algn="l">
                <a:lnSpc>
                  <a:spcPct val="80000"/>
                </a:lnSpc>
                <a:spcBef>
                  <a:spcPts val="0"/>
                </a:spcBef>
                <a:spcAft>
                  <a:spcPts val="0"/>
                </a:spcAft>
                <a:buNone/>
              </a:pPr>
              <a:r>
                <a:rPr lang="en" sz="1100">
                  <a:solidFill>
                    <a:schemeClr val="accent1"/>
                  </a:solidFill>
                  <a:latin typeface="DM Sans Medium"/>
                  <a:ea typeface="DM Sans Medium"/>
                  <a:cs typeface="DM Sans Medium"/>
                  <a:sym typeface="DM Sans Medium"/>
                </a:rPr>
                <a:t>        Delta Strea-</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          ming table</a:t>
              </a:r>
              <a:endParaRPr sz="1100">
                <a:solidFill>
                  <a:schemeClr val="accent1"/>
                </a:solidFill>
                <a:latin typeface="DM Sans Medium"/>
                <a:ea typeface="DM Sans Medium"/>
                <a:cs typeface="DM Sans Medium"/>
                <a:sym typeface="DM Sans Medium"/>
              </a:endParaRPr>
            </a:p>
          </p:txBody>
        </p:sp>
        <p:pic>
          <p:nvPicPr>
            <p:cNvPr id="1448" name="Google Shape;1448;p76"/>
            <p:cNvPicPr preferRelativeResize="0"/>
            <p:nvPr/>
          </p:nvPicPr>
          <p:blipFill>
            <a:blip r:embed="rId4">
              <a:alphaModFix/>
            </a:blip>
            <a:stretch>
              <a:fillRect/>
            </a:stretch>
          </p:blipFill>
          <p:spPr>
            <a:xfrm>
              <a:off x="5731915" y="6521051"/>
              <a:ext cx="204300" cy="194646"/>
            </a:xfrm>
            <a:prstGeom prst="rect">
              <a:avLst/>
            </a:prstGeom>
            <a:noFill/>
            <a:ln>
              <a:noFill/>
            </a:ln>
          </p:spPr>
        </p:pic>
      </p:grpSp>
      <p:cxnSp>
        <p:nvCxnSpPr>
          <p:cNvPr id="1449" name="Google Shape;1449;p76"/>
          <p:cNvCxnSpPr>
            <a:stCxn id="1450" idx="3"/>
            <a:endCxn id="1447" idx="0"/>
          </p:cNvCxnSpPr>
          <p:nvPr/>
        </p:nvCxnSpPr>
        <p:spPr>
          <a:xfrm>
            <a:off x="4470189" y="4063926"/>
            <a:ext cx="3084300" cy="1550100"/>
          </a:xfrm>
          <a:prstGeom prst="curvedConnector2">
            <a:avLst/>
          </a:prstGeom>
          <a:noFill/>
          <a:ln cap="flat" cmpd="sng" w="19050">
            <a:solidFill>
              <a:schemeClr val="accent3"/>
            </a:solidFill>
            <a:prstDash val="solid"/>
            <a:round/>
            <a:headEnd len="sm" w="sm" type="none"/>
            <a:tailEnd len="sm" w="sm" type="triangle"/>
          </a:ln>
        </p:spPr>
      </p:cxnSp>
      <p:sp>
        <p:nvSpPr>
          <p:cNvPr id="1451" name="Google Shape;1451;p76"/>
          <p:cNvSpPr txBox="1"/>
          <p:nvPr/>
        </p:nvSpPr>
        <p:spPr>
          <a:xfrm>
            <a:off x="7558806" y="5001253"/>
            <a:ext cx="1203600" cy="36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200">
                <a:solidFill>
                  <a:schemeClr val="accent3"/>
                </a:solidFill>
                <a:latin typeface="DM Sans Medium"/>
                <a:ea typeface="DM Sans Medium"/>
                <a:cs typeface="DM Sans Medium"/>
                <a:sym typeface="DM Sans Medium"/>
              </a:rPr>
              <a:t>Synch from  postgres table*</a:t>
            </a:r>
            <a:endParaRPr sz="1200">
              <a:solidFill>
                <a:schemeClr val="accent3"/>
              </a:solidFill>
              <a:latin typeface="DM Sans Medium"/>
              <a:ea typeface="DM Sans Medium"/>
              <a:cs typeface="DM Sans Medium"/>
              <a:sym typeface="DM Sans Medium"/>
            </a:endParaRPr>
          </a:p>
        </p:txBody>
      </p:sp>
      <p:sp>
        <p:nvSpPr>
          <p:cNvPr id="1452" name="Google Shape;1452;p76"/>
          <p:cNvSpPr txBox="1"/>
          <p:nvPr/>
        </p:nvSpPr>
        <p:spPr>
          <a:xfrm>
            <a:off x="5327100" y="6470850"/>
            <a:ext cx="12267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1"/>
                </a:solidFill>
                <a:latin typeface="DM Sans"/>
                <a:ea typeface="DM Sans"/>
                <a:cs typeface="DM Sans"/>
                <a:sym typeface="DM Sans"/>
              </a:rPr>
              <a:t>* Private Preview</a:t>
            </a:r>
            <a:endParaRPr sz="1000">
              <a:solidFill>
                <a:schemeClr val="accent1"/>
              </a:solidFill>
              <a:latin typeface="DM Sans"/>
              <a:ea typeface="DM Sans"/>
              <a:cs typeface="DM Sans"/>
              <a:sym typeface="DM Sans"/>
            </a:endParaRPr>
          </a:p>
        </p:txBody>
      </p:sp>
      <p:cxnSp>
        <p:nvCxnSpPr>
          <p:cNvPr id="1453" name="Google Shape;1453;p76"/>
          <p:cNvCxnSpPr>
            <a:stCxn id="1454" idx="3"/>
            <a:endCxn id="1432" idx="1"/>
          </p:cNvCxnSpPr>
          <p:nvPr/>
        </p:nvCxnSpPr>
        <p:spPr>
          <a:xfrm>
            <a:off x="4470189" y="3699701"/>
            <a:ext cx="3979200" cy="600"/>
          </a:xfrm>
          <a:prstGeom prst="curvedConnector3">
            <a:avLst>
              <a:gd fmla="val 50001" name="adj1"/>
            </a:avLst>
          </a:prstGeom>
          <a:noFill/>
          <a:ln cap="flat" cmpd="sng" w="19050">
            <a:solidFill>
              <a:schemeClr val="accent4"/>
            </a:solidFill>
            <a:prstDash val="solid"/>
            <a:round/>
            <a:headEnd len="sm" w="sm" type="none"/>
            <a:tailEnd len="sm" w="sm" type="triangle"/>
          </a:ln>
        </p:spPr>
      </p:cxnSp>
      <p:sp>
        <p:nvSpPr>
          <p:cNvPr id="1455" name="Google Shape;1455;p76"/>
          <p:cNvSpPr txBox="1"/>
          <p:nvPr/>
        </p:nvSpPr>
        <p:spPr>
          <a:xfrm>
            <a:off x="6293575" y="3099925"/>
            <a:ext cx="1936800" cy="554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200">
                <a:solidFill>
                  <a:srgbClr val="DD9312"/>
                </a:solidFill>
                <a:latin typeface="DM Sans Medium"/>
                <a:ea typeface="DM Sans Medium"/>
                <a:cs typeface="DM Sans Medium"/>
                <a:sym typeface="DM Sans Medium"/>
              </a:rPr>
              <a:t>Register postgres table as catalog in Unity Catalog (Lakehouse Federation), …</a:t>
            </a:r>
            <a:endParaRPr sz="1200">
              <a:solidFill>
                <a:srgbClr val="DD9312"/>
              </a:solidFill>
              <a:latin typeface="DM Sans Medium"/>
              <a:ea typeface="DM Sans Medium"/>
              <a:cs typeface="DM Sans Medium"/>
              <a:sym typeface="DM Sans Medium"/>
            </a:endParaRPr>
          </a:p>
        </p:txBody>
      </p:sp>
      <p:sp>
        <p:nvSpPr>
          <p:cNvPr id="1456" name="Google Shape;1456;p76"/>
          <p:cNvSpPr/>
          <p:nvPr/>
        </p:nvSpPr>
        <p:spPr>
          <a:xfrm>
            <a:off x="4410200" y="4210375"/>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57" name="Google Shape;1457;p76"/>
          <p:cNvSpPr/>
          <p:nvPr/>
        </p:nvSpPr>
        <p:spPr>
          <a:xfrm>
            <a:off x="8212325" y="4097601"/>
            <a:ext cx="2981100" cy="502200"/>
          </a:xfrm>
          <a:prstGeom prst="roundRect">
            <a:avLst>
              <a:gd fmla="val 19559"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000">
                <a:solidFill>
                  <a:schemeClr val="accent1"/>
                </a:solidFill>
                <a:latin typeface="DM Sans Medium"/>
                <a:ea typeface="DM Sans Medium"/>
                <a:cs typeface="DM Sans Medium"/>
                <a:sym typeface="DM Sans Medium"/>
              </a:rPr>
              <a:t>Compute</a:t>
            </a:r>
            <a:br>
              <a:rPr lang="en" sz="2000">
                <a:solidFill>
                  <a:schemeClr val="accent1"/>
                </a:solidFill>
                <a:latin typeface="DM Sans Medium"/>
                <a:ea typeface="DM Sans Medium"/>
                <a:cs typeface="DM Sans Medium"/>
                <a:sym typeface="DM Sans Medium"/>
              </a:rPr>
            </a:br>
            <a:r>
              <a:rPr lang="en" sz="1200">
                <a:solidFill>
                  <a:schemeClr val="accent1"/>
                </a:solidFill>
                <a:latin typeface="DM Sans"/>
                <a:ea typeface="DM Sans"/>
                <a:cs typeface="DM Sans"/>
                <a:sym typeface="DM Sans"/>
              </a:rPr>
              <a:t>(classic or serverless)</a:t>
            </a:r>
            <a:endParaRPr sz="1200">
              <a:solidFill>
                <a:schemeClr val="accent1"/>
              </a:solidFill>
              <a:latin typeface="DM Sans"/>
              <a:ea typeface="DM Sans"/>
              <a:cs typeface="DM Sans"/>
              <a:sym typeface="DM Sans"/>
            </a:endParaRPr>
          </a:p>
        </p:txBody>
      </p:sp>
      <p:cxnSp>
        <p:nvCxnSpPr>
          <p:cNvPr id="1458" name="Google Shape;1458;p76"/>
          <p:cNvCxnSpPr>
            <a:stCxn id="1459" idx="3"/>
            <a:endCxn id="1457" idx="1"/>
          </p:cNvCxnSpPr>
          <p:nvPr/>
        </p:nvCxnSpPr>
        <p:spPr>
          <a:xfrm>
            <a:off x="4470189" y="3882078"/>
            <a:ext cx="3742200" cy="466500"/>
          </a:xfrm>
          <a:prstGeom prst="curvedConnector3">
            <a:avLst>
              <a:gd fmla="val 49999" name="adj1"/>
            </a:avLst>
          </a:prstGeom>
          <a:noFill/>
          <a:ln cap="flat" cmpd="sng" w="19050">
            <a:solidFill>
              <a:schemeClr val="accent4"/>
            </a:solidFill>
            <a:prstDash val="solid"/>
            <a:round/>
            <a:headEnd len="sm" w="sm" type="none"/>
            <a:tailEnd len="sm" w="sm" type="triangle"/>
          </a:ln>
        </p:spPr>
      </p:cxnSp>
      <p:sp>
        <p:nvSpPr>
          <p:cNvPr id="1460" name="Google Shape;1460;p76"/>
          <p:cNvSpPr/>
          <p:nvPr/>
        </p:nvSpPr>
        <p:spPr>
          <a:xfrm>
            <a:off x="1904000" y="3932150"/>
            <a:ext cx="7626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Postgres</a:t>
            </a:r>
            <a:endParaRPr sz="1200">
              <a:latin typeface="DM Sans"/>
              <a:ea typeface="DM Sans"/>
              <a:cs typeface="DM Sans"/>
              <a:sym typeface="DM Sans"/>
            </a:endParaRPr>
          </a:p>
        </p:txBody>
      </p:sp>
      <p:sp>
        <p:nvSpPr>
          <p:cNvPr id="1461" name="Google Shape;1461;p76"/>
          <p:cNvSpPr/>
          <p:nvPr/>
        </p:nvSpPr>
        <p:spPr>
          <a:xfrm>
            <a:off x="2730436" y="3932150"/>
            <a:ext cx="7626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Postgres</a:t>
            </a:r>
            <a:endParaRPr sz="1200">
              <a:latin typeface="DM Sans"/>
              <a:ea typeface="DM Sans"/>
              <a:cs typeface="DM Sans"/>
              <a:sym typeface="DM Sans"/>
            </a:endParaRPr>
          </a:p>
        </p:txBody>
      </p:sp>
      <p:sp>
        <p:nvSpPr>
          <p:cNvPr id="1462" name="Google Shape;1462;p76"/>
          <p:cNvSpPr/>
          <p:nvPr/>
        </p:nvSpPr>
        <p:spPr>
          <a:xfrm>
            <a:off x="3541999" y="3932150"/>
            <a:ext cx="7626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Postgres</a:t>
            </a:r>
            <a:endParaRPr sz="1200">
              <a:latin typeface="DM Sans"/>
              <a:ea typeface="DM Sans"/>
              <a:cs typeface="DM Sans"/>
              <a:sym typeface="DM Sans"/>
            </a:endParaRPr>
          </a:p>
        </p:txBody>
      </p:sp>
      <p:sp>
        <p:nvSpPr>
          <p:cNvPr id="1463" name="Google Shape;1463;p76"/>
          <p:cNvSpPr/>
          <p:nvPr/>
        </p:nvSpPr>
        <p:spPr>
          <a:xfrm>
            <a:off x="1792925" y="5613807"/>
            <a:ext cx="833100" cy="323400"/>
          </a:xfrm>
          <a:prstGeom prst="flowChartMagneticDisk">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Database</a:t>
            </a:r>
            <a:endParaRPr sz="1200">
              <a:latin typeface="DM Sans"/>
              <a:ea typeface="DM Sans"/>
              <a:cs typeface="DM Sans"/>
              <a:sym typeface="DM Sans"/>
            </a:endParaRPr>
          </a:p>
        </p:txBody>
      </p:sp>
      <p:sp>
        <p:nvSpPr>
          <p:cNvPr id="1464" name="Google Shape;1464;p76"/>
          <p:cNvSpPr/>
          <p:nvPr/>
        </p:nvSpPr>
        <p:spPr>
          <a:xfrm>
            <a:off x="2695850" y="5613807"/>
            <a:ext cx="833100" cy="323400"/>
          </a:xfrm>
          <a:prstGeom prst="flowChartMagneticDisk">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Database</a:t>
            </a:r>
            <a:endParaRPr sz="1200">
              <a:latin typeface="DM Sans"/>
              <a:ea typeface="DM Sans"/>
              <a:cs typeface="DM Sans"/>
              <a:sym typeface="DM Sans"/>
            </a:endParaRPr>
          </a:p>
        </p:txBody>
      </p:sp>
      <p:sp>
        <p:nvSpPr>
          <p:cNvPr id="1444" name="Google Shape;1444;p76"/>
          <p:cNvSpPr/>
          <p:nvPr/>
        </p:nvSpPr>
        <p:spPr>
          <a:xfrm>
            <a:off x="3582525" y="5613807"/>
            <a:ext cx="833100" cy="323400"/>
          </a:xfrm>
          <a:prstGeom prst="flowChartMagneticDisk">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Database</a:t>
            </a:r>
            <a:endParaRPr sz="1200">
              <a:latin typeface="DM Sans"/>
              <a:ea typeface="DM Sans"/>
              <a:cs typeface="DM Sans"/>
              <a:sym typeface="DM Sans"/>
            </a:endParaRPr>
          </a:p>
        </p:txBody>
      </p:sp>
      <p:cxnSp>
        <p:nvCxnSpPr>
          <p:cNvPr id="1465" name="Google Shape;1465;p76"/>
          <p:cNvCxnSpPr/>
          <p:nvPr/>
        </p:nvCxnSpPr>
        <p:spPr>
          <a:xfrm>
            <a:off x="3112400" y="4551175"/>
            <a:ext cx="0" cy="1062900"/>
          </a:xfrm>
          <a:prstGeom prst="straightConnector1">
            <a:avLst/>
          </a:prstGeom>
          <a:noFill/>
          <a:ln cap="flat" cmpd="sng" w="19050">
            <a:solidFill>
              <a:schemeClr val="accent2"/>
            </a:solidFill>
            <a:prstDash val="solid"/>
            <a:round/>
            <a:headEnd len="sm" w="sm" type="triangle"/>
            <a:tailEnd len="sm" w="sm" type="triangle"/>
          </a:ln>
        </p:spPr>
      </p:cxnSp>
      <p:cxnSp>
        <p:nvCxnSpPr>
          <p:cNvPr id="1466" name="Google Shape;1466;p76"/>
          <p:cNvCxnSpPr/>
          <p:nvPr/>
        </p:nvCxnSpPr>
        <p:spPr>
          <a:xfrm>
            <a:off x="3999075" y="4551175"/>
            <a:ext cx="0" cy="1062900"/>
          </a:xfrm>
          <a:prstGeom prst="straightConnector1">
            <a:avLst/>
          </a:prstGeom>
          <a:noFill/>
          <a:ln cap="flat" cmpd="sng" w="19050">
            <a:solidFill>
              <a:schemeClr val="accent2"/>
            </a:solidFill>
            <a:prstDash val="solid"/>
            <a:round/>
            <a:headEnd len="sm" w="sm" type="triangle"/>
            <a:tailEnd len="sm" w="sm" type="triangle"/>
          </a:ln>
        </p:spPr>
      </p:cxnSp>
      <p:sp>
        <p:nvSpPr>
          <p:cNvPr id="1467" name="Google Shape;1467;p76"/>
          <p:cNvSpPr/>
          <p:nvPr/>
        </p:nvSpPr>
        <p:spPr>
          <a:xfrm>
            <a:off x="4714989" y="4477100"/>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54" name="Google Shape;1454;p76"/>
          <p:cNvSpPr/>
          <p:nvPr/>
        </p:nvSpPr>
        <p:spPr>
          <a:xfrm>
            <a:off x="4410189" y="3664301"/>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59" name="Google Shape;1459;p76"/>
          <p:cNvSpPr/>
          <p:nvPr/>
        </p:nvSpPr>
        <p:spPr>
          <a:xfrm>
            <a:off x="4410189" y="3846678"/>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68" name="Google Shape;1468;p76"/>
          <p:cNvSpPr/>
          <p:nvPr/>
        </p:nvSpPr>
        <p:spPr>
          <a:xfrm>
            <a:off x="1319875" y="2160100"/>
            <a:ext cx="1001400" cy="273900"/>
          </a:xfrm>
          <a:prstGeom prst="rect">
            <a:avLst/>
          </a:prstGeom>
          <a:no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latin typeface="DM Sans"/>
                <a:ea typeface="DM Sans"/>
                <a:cs typeface="DM Sans"/>
                <a:sym typeface="DM Sans"/>
              </a:rPr>
              <a:t>JDBC/ODBC</a:t>
            </a:r>
            <a:endParaRPr sz="1200">
              <a:latin typeface="DM Sans"/>
              <a:ea typeface="DM Sans"/>
              <a:cs typeface="DM Sans"/>
              <a:sym typeface="DM Sans"/>
            </a:endParaRPr>
          </a:p>
        </p:txBody>
      </p:sp>
      <p:sp>
        <p:nvSpPr>
          <p:cNvPr id="1450" name="Google Shape;1450;p76"/>
          <p:cNvSpPr/>
          <p:nvPr/>
        </p:nvSpPr>
        <p:spPr>
          <a:xfrm>
            <a:off x="4410189" y="4028526"/>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69" name="Google Shape;1469;p76"/>
          <p:cNvSpPr/>
          <p:nvPr/>
        </p:nvSpPr>
        <p:spPr>
          <a:xfrm>
            <a:off x="3451314" y="2091265"/>
            <a:ext cx="270300" cy="2739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latin typeface="DM Sans"/>
                <a:ea typeface="DM Sans"/>
                <a:cs typeface="DM Sans"/>
                <a:sym typeface="DM Sans"/>
              </a:rPr>
              <a:t>…</a:t>
            </a:r>
            <a:endParaRPr>
              <a:latin typeface="DM Sans"/>
              <a:ea typeface="DM Sans"/>
              <a:cs typeface="DM Sans"/>
              <a:sym typeface="DM Sans"/>
            </a:endParaRPr>
          </a:p>
        </p:txBody>
      </p:sp>
      <p:sp>
        <p:nvSpPr>
          <p:cNvPr id="1470" name="Google Shape;1470;p76"/>
          <p:cNvSpPr txBox="1"/>
          <p:nvPr/>
        </p:nvSpPr>
        <p:spPr>
          <a:xfrm>
            <a:off x="2520586" y="5988828"/>
            <a:ext cx="1641000" cy="1662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200">
                <a:solidFill>
                  <a:schemeClr val="accent1"/>
                </a:solidFill>
                <a:latin typeface="DM Sans"/>
                <a:ea typeface="DM Sans"/>
                <a:cs typeface="DM Sans"/>
                <a:sym typeface="DM Sans"/>
              </a:rPr>
              <a:t>(row format)</a:t>
            </a:r>
            <a:endParaRPr sz="1800">
              <a:solidFill>
                <a:schemeClr val="accent1"/>
              </a:solidFill>
              <a:latin typeface="DM Sans Medium"/>
              <a:ea typeface="DM Sans Medium"/>
              <a:cs typeface="DM Sans Medium"/>
              <a:sym typeface="DM Sans Medium"/>
            </a:endParaRPr>
          </a:p>
        </p:txBody>
      </p:sp>
      <p:sp>
        <p:nvSpPr>
          <p:cNvPr id="1471" name="Google Shape;1471;p76"/>
          <p:cNvSpPr/>
          <p:nvPr/>
        </p:nvSpPr>
        <p:spPr>
          <a:xfrm>
            <a:off x="1904034" y="4264673"/>
            <a:ext cx="2400300" cy="275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spcBef>
                <a:spcPts val="0"/>
              </a:spcBef>
              <a:spcAft>
                <a:spcPts val="0"/>
              </a:spcAft>
              <a:buNone/>
            </a:pPr>
            <a:r>
              <a:rPr lang="en" sz="1200">
                <a:latin typeface="DM Sans"/>
                <a:ea typeface="DM Sans"/>
                <a:cs typeface="DM Sans"/>
                <a:sym typeface="DM Sans"/>
              </a:rPr>
              <a:t>Lakebase Storage Service</a:t>
            </a:r>
            <a:endParaRPr sz="1200">
              <a:latin typeface="DM Sans"/>
              <a:ea typeface="DM Sans"/>
              <a:cs typeface="DM Sans"/>
              <a:sym typeface="DM Sans"/>
            </a:endParaRPr>
          </a:p>
        </p:txBody>
      </p:sp>
      <p:sp>
        <p:nvSpPr>
          <p:cNvPr id="1472" name="Google Shape;1472;p76"/>
          <p:cNvSpPr txBox="1"/>
          <p:nvPr/>
        </p:nvSpPr>
        <p:spPr>
          <a:xfrm>
            <a:off x="6254386" y="5988828"/>
            <a:ext cx="1641000" cy="1662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200">
                <a:solidFill>
                  <a:schemeClr val="accent1"/>
                </a:solidFill>
                <a:latin typeface="DM Sans"/>
                <a:ea typeface="DM Sans"/>
                <a:cs typeface="DM Sans"/>
                <a:sym typeface="DM Sans"/>
              </a:rPr>
              <a:t>(columnar format)</a:t>
            </a:r>
            <a:endParaRPr sz="1800">
              <a:solidFill>
                <a:schemeClr val="accent1"/>
              </a:solidFill>
              <a:latin typeface="DM Sans Medium"/>
              <a:ea typeface="DM Sans Medium"/>
              <a:cs typeface="DM Sans Medium"/>
              <a:sym typeface="DM Sans Medium"/>
            </a:endParaRPr>
          </a:p>
        </p:txBody>
      </p:sp>
      <p:cxnSp>
        <p:nvCxnSpPr>
          <p:cNvPr id="1473" name="Google Shape;1473;p76"/>
          <p:cNvCxnSpPr>
            <a:stCxn id="1431" idx="1"/>
            <a:endCxn id="1424" idx="0"/>
          </p:cNvCxnSpPr>
          <p:nvPr/>
        </p:nvCxnSpPr>
        <p:spPr>
          <a:xfrm flipH="1">
            <a:off x="3098650" y="2796625"/>
            <a:ext cx="5350800" cy="762900"/>
          </a:xfrm>
          <a:prstGeom prst="bentConnector2">
            <a:avLst/>
          </a:prstGeom>
          <a:noFill/>
          <a:ln cap="flat" cmpd="sng" w="19050">
            <a:solidFill>
              <a:schemeClr val="accent1"/>
            </a:solidFill>
            <a:prstDash val="solid"/>
            <a:round/>
            <a:headEnd len="med" w="med" type="none"/>
            <a:tailEnd len="med" w="med" type="triangle"/>
          </a:ln>
        </p:spPr>
      </p:cxnSp>
      <p:sp>
        <p:nvSpPr>
          <p:cNvPr id="1442" name="Google Shape;1442;p76"/>
          <p:cNvSpPr/>
          <p:nvPr/>
        </p:nvSpPr>
        <p:spPr>
          <a:xfrm>
            <a:off x="4762050" y="4339975"/>
            <a:ext cx="1203600" cy="323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91425" wrap="square" tIns="91425">
            <a:noAutofit/>
          </a:bodyPr>
          <a:lstStyle/>
          <a:p>
            <a:pPr indent="0" lvl="0" marL="0" marR="0" rtl="0" algn="ctr">
              <a:lnSpc>
                <a:spcPct val="80000"/>
              </a:lnSpc>
              <a:spcBef>
                <a:spcPts val="0"/>
              </a:spcBef>
              <a:spcAft>
                <a:spcPts val="0"/>
              </a:spcAft>
              <a:buNone/>
            </a:pPr>
            <a:r>
              <a:rPr lang="en" sz="1200">
                <a:latin typeface="DM Sans"/>
                <a:ea typeface="DM Sans"/>
                <a:cs typeface="DM Sans"/>
                <a:sym typeface="DM Sans"/>
              </a:rPr>
              <a:t>Lakeflow Decla- rative Pipeline</a:t>
            </a:r>
            <a:endParaRPr sz="1200">
              <a:latin typeface="DM Sans"/>
              <a:ea typeface="DM Sans"/>
              <a:cs typeface="DM Sans"/>
              <a:sym typeface="DM Sans"/>
            </a:endParaRPr>
          </a:p>
        </p:txBody>
      </p:sp>
      <p:cxnSp>
        <p:nvCxnSpPr>
          <p:cNvPr id="1474" name="Google Shape;1474;p76"/>
          <p:cNvCxnSpPr>
            <a:stCxn id="1442" idx="1"/>
            <a:endCxn id="1456" idx="3"/>
          </p:cNvCxnSpPr>
          <p:nvPr/>
        </p:nvCxnSpPr>
        <p:spPr>
          <a:xfrm rot="10800000">
            <a:off x="4470150" y="4245775"/>
            <a:ext cx="291900" cy="255900"/>
          </a:xfrm>
          <a:prstGeom prst="curvedConnector3">
            <a:avLst>
              <a:gd fmla="val 49991" name="adj1"/>
            </a:avLst>
          </a:prstGeom>
          <a:noFill/>
          <a:ln cap="flat" cmpd="sng" w="19050">
            <a:solidFill>
              <a:srgbClr val="4299E0"/>
            </a:solidFill>
            <a:prstDash val="solid"/>
            <a:round/>
            <a:headEnd len="sm" w="sm" type="none"/>
            <a:tailEnd len="sm" w="sm" type="triangle"/>
          </a:ln>
        </p:spPr>
      </p:cxnSp>
      <p:sp>
        <p:nvSpPr>
          <p:cNvPr id="1435" name="Google Shape;1435;p76"/>
          <p:cNvSpPr/>
          <p:nvPr/>
        </p:nvSpPr>
        <p:spPr>
          <a:xfrm>
            <a:off x="2564137" y="3553596"/>
            <a:ext cx="60000" cy="7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75" name="Google Shape;1475;p76"/>
          <p:cNvSpPr txBox="1"/>
          <p:nvPr/>
        </p:nvSpPr>
        <p:spPr>
          <a:xfrm>
            <a:off x="5501000" y="2270200"/>
            <a:ext cx="517800" cy="22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Apps</a:t>
            </a:r>
            <a:endParaRPr sz="1200">
              <a:solidFill>
                <a:schemeClr val="accent1"/>
              </a:solidFill>
              <a:latin typeface="DM Sans Medium"/>
              <a:ea typeface="DM Sans Medium"/>
              <a:cs typeface="DM Sans Medium"/>
              <a:sym typeface="DM Sans Medium"/>
            </a:endParaRPr>
          </a:p>
        </p:txBody>
      </p:sp>
      <p:pic>
        <p:nvPicPr>
          <p:cNvPr id="1476" name="Google Shape;1476;p76"/>
          <p:cNvPicPr preferRelativeResize="0"/>
          <p:nvPr/>
        </p:nvPicPr>
        <p:blipFill>
          <a:blip r:embed="rId5">
            <a:alphaModFix/>
          </a:blip>
          <a:stretch>
            <a:fillRect/>
          </a:stretch>
        </p:blipFill>
        <p:spPr>
          <a:xfrm>
            <a:off x="5578175" y="1940000"/>
            <a:ext cx="382600" cy="382600"/>
          </a:xfrm>
          <a:prstGeom prst="rect">
            <a:avLst/>
          </a:prstGeom>
          <a:noFill/>
          <a:ln>
            <a:noFill/>
          </a:ln>
        </p:spPr>
      </p:pic>
      <p:pic>
        <p:nvPicPr>
          <p:cNvPr id="1477" name="Google Shape;1477;p76"/>
          <p:cNvPicPr preferRelativeResize="0"/>
          <p:nvPr/>
        </p:nvPicPr>
        <p:blipFill>
          <a:blip r:embed="rId6">
            <a:alphaModFix/>
          </a:blip>
          <a:stretch>
            <a:fillRect/>
          </a:stretch>
        </p:blipFill>
        <p:spPr>
          <a:xfrm>
            <a:off x="6473638" y="2170825"/>
            <a:ext cx="382600" cy="382619"/>
          </a:xfrm>
          <a:prstGeom prst="rect">
            <a:avLst/>
          </a:prstGeom>
          <a:noFill/>
          <a:ln>
            <a:noFill/>
          </a:ln>
        </p:spPr>
      </p:pic>
      <p:sp>
        <p:nvSpPr>
          <p:cNvPr id="1478" name="Google Shape;1478;p76"/>
          <p:cNvSpPr txBox="1"/>
          <p:nvPr/>
        </p:nvSpPr>
        <p:spPr>
          <a:xfrm>
            <a:off x="6406774" y="2498800"/>
            <a:ext cx="517800" cy="22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Users</a:t>
            </a:r>
            <a:endParaRPr sz="1200">
              <a:solidFill>
                <a:schemeClr val="accent1"/>
              </a:solidFill>
              <a:latin typeface="DM Sans Medium"/>
              <a:ea typeface="DM Sans Medium"/>
              <a:cs typeface="DM Sans Medium"/>
              <a:sym typeface="DM Sans Medium"/>
            </a:endParaRPr>
          </a:p>
        </p:txBody>
      </p:sp>
      <p:cxnSp>
        <p:nvCxnSpPr>
          <p:cNvPr id="1479" name="Google Shape;1479;p76"/>
          <p:cNvCxnSpPr>
            <a:stCxn id="1477" idx="3"/>
          </p:cNvCxnSpPr>
          <p:nvPr/>
        </p:nvCxnSpPr>
        <p:spPr>
          <a:xfrm>
            <a:off x="6856238" y="2362134"/>
            <a:ext cx="1351800" cy="600"/>
          </a:xfrm>
          <a:prstGeom prst="bentConnector3">
            <a:avLst>
              <a:gd fmla="val 50000" name="adj1"/>
            </a:avLst>
          </a:prstGeom>
          <a:noFill/>
          <a:ln cap="flat" cmpd="sng" w="9525">
            <a:solidFill>
              <a:schemeClr val="accent1"/>
            </a:solidFill>
            <a:prstDash val="dash"/>
            <a:round/>
            <a:headEnd len="med" w="med" type="none"/>
            <a:tailEnd len="med" w="med" type="triangle"/>
          </a:ln>
        </p:spPr>
      </p:cxnSp>
      <p:cxnSp>
        <p:nvCxnSpPr>
          <p:cNvPr id="1480" name="Google Shape;1480;p76"/>
          <p:cNvCxnSpPr>
            <a:stCxn id="1476" idx="3"/>
          </p:cNvCxnSpPr>
          <p:nvPr/>
        </p:nvCxnSpPr>
        <p:spPr>
          <a:xfrm>
            <a:off x="5960776" y="2131300"/>
            <a:ext cx="2260200" cy="600"/>
          </a:xfrm>
          <a:prstGeom prst="bentConnector3">
            <a:avLst>
              <a:gd fmla="val 50000" name="adj1"/>
            </a:avLst>
          </a:prstGeom>
          <a:noFill/>
          <a:ln cap="flat" cmpd="sng" w="9525">
            <a:solidFill>
              <a:schemeClr val="accent1"/>
            </a:solidFill>
            <a:prstDash val="dash"/>
            <a:round/>
            <a:headEnd len="med" w="med" type="none"/>
            <a:tailEnd len="med" w="med" type="triangle"/>
          </a:ln>
        </p:spPr>
      </p:cxnSp>
      <p:cxnSp>
        <p:nvCxnSpPr>
          <p:cNvPr id="1481" name="Google Shape;1481;p76"/>
          <p:cNvCxnSpPr>
            <a:stCxn id="1476" idx="1"/>
          </p:cNvCxnSpPr>
          <p:nvPr/>
        </p:nvCxnSpPr>
        <p:spPr>
          <a:xfrm flipH="1">
            <a:off x="3968075" y="2131300"/>
            <a:ext cx="1610100" cy="600"/>
          </a:xfrm>
          <a:prstGeom prst="bentConnector3">
            <a:avLst>
              <a:gd fmla="val 50000" name="adj1"/>
            </a:avLst>
          </a:prstGeom>
          <a:noFill/>
          <a:ln cap="flat" cmpd="sng" w="9525">
            <a:solidFill>
              <a:schemeClr val="accent1"/>
            </a:solidFill>
            <a:prstDash val="dash"/>
            <a:round/>
            <a:headEnd len="med" w="med" type="none"/>
            <a:tailEnd len="med" w="med" type="triangle"/>
          </a:ln>
        </p:spPr>
      </p:cxnSp>
      <p:sp>
        <p:nvSpPr>
          <p:cNvPr id="1482" name="Google Shape;1482;p76"/>
          <p:cNvSpPr/>
          <p:nvPr/>
        </p:nvSpPr>
        <p:spPr>
          <a:xfrm>
            <a:off x="2414737" y="2160100"/>
            <a:ext cx="1001400" cy="273900"/>
          </a:xfrm>
          <a:prstGeom prst="rect">
            <a:avLst/>
          </a:prstGeom>
          <a:no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latin typeface="DM Sans"/>
                <a:ea typeface="DM Sans"/>
                <a:cs typeface="DM Sans"/>
                <a:sym typeface="DM Sans"/>
              </a:rPr>
              <a:t>native drivers</a:t>
            </a:r>
            <a:endParaRPr sz="1200">
              <a:latin typeface="DM Sans"/>
              <a:ea typeface="DM Sans"/>
              <a:cs typeface="DM Sans"/>
              <a:sym typeface="DM Sans"/>
            </a:endParaRPr>
          </a:p>
        </p:txBody>
      </p:sp>
      <p:sp>
        <p:nvSpPr>
          <p:cNvPr id="1483" name="Google Shape;1483;p76"/>
          <p:cNvSpPr txBox="1"/>
          <p:nvPr/>
        </p:nvSpPr>
        <p:spPr>
          <a:xfrm>
            <a:off x="4545586" y="1950538"/>
            <a:ext cx="517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000">
                <a:latin typeface="DM Sans"/>
                <a:ea typeface="DM Sans"/>
                <a:cs typeface="DM Sans"/>
                <a:sym typeface="DM Sans"/>
              </a:rPr>
              <a:t>native</a:t>
            </a:r>
            <a:endParaRPr i="1" sz="1000"/>
          </a:p>
        </p:txBody>
      </p:sp>
      <p:sp>
        <p:nvSpPr>
          <p:cNvPr id="1484" name="Google Shape;1484;p76"/>
          <p:cNvSpPr txBox="1"/>
          <p:nvPr/>
        </p:nvSpPr>
        <p:spPr>
          <a:xfrm>
            <a:off x="6602986" y="1950538"/>
            <a:ext cx="517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000">
                <a:latin typeface="DM Sans"/>
                <a:ea typeface="DM Sans"/>
                <a:cs typeface="DM Sans"/>
                <a:sym typeface="DM Sans"/>
              </a:rPr>
              <a:t>REST API</a:t>
            </a:r>
            <a:endParaRPr i="1" sz="1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77"/>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Security High Level</a:t>
            </a:r>
            <a:br>
              <a:rPr lang="en"/>
            </a:br>
            <a:r>
              <a:rPr lang="en" sz="3600"/>
              <a:t>(Databricks Workspaces and Databricks SQL)</a:t>
            </a:r>
            <a:endParaRPr sz="3600"/>
          </a:p>
        </p:txBody>
      </p:sp>
      <p:sp>
        <p:nvSpPr>
          <p:cNvPr id="1490" name="Google Shape;1490;p7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78"/>
          <p:cNvSpPr/>
          <p:nvPr/>
        </p:nvSpPr>
        <p:spPr>
          <a:xfrm>
            <a:off x="1000363" y="3054825"/>
            <a:ext cx="5042700" cy="2528100"/>
          </a:xfrm>
          <a:prstGeom prst="roundRect">
            <a:avLst>
              <a:gd fmla="val 421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Control Plane</a:t>
            </a:r>
            <a:endParaRPr sz="1800">
              <a:solidFill>
                <a:schemeClr val="accent1"/>
              </a:solidFill>
              <a:latin typeface="DM Sans Medium"/>
              <a:ea typeface="DM Sans Medium"/>
              <a:cs typeface="DM Sans Medium"/>
              <a:sym typeface="DM Sans Medium"/>
            </a:endParaRPr>
          </a:p>
        </p:txBody>
      </p:sp>
      <p:sp>
        <p:nvSpPr>
          <p:cNvPr id="1496" name="Google Shape;1496;p78"/>
          <p:cNvSpPr/>
          <p:nvPr/>
        </p:nvSpPr>
        <p:spPr>
          <a:xfrm>
            <a:off x="6590900" y="2350850"/>
            <a:ext cx="2754000" cy="2261400"/>
          </a:xfrm>
          <a:prstGeom prst="roundRect">
            <a:avLst>
              <a:gd fmla="val 5209"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  Classic Compute</a:t>
            </a:r>
            <a:endParaRPr sz="1800">
              <a:solidFill>
                <a:schemeClr val="accent1"/>
              </a:solidFill>
              <a:latin typeface="DM Sans Medium"/>
              <a:ea typeface="DM Sans Medium"/>
              <a:cs typeface="DM Sans Medium"/>
              <a:sym typeface="DM Sans Medium"/>
            </a:endParaRPr>
          </a:p>
        </p:txBody>
      </p:sp>
      <p:sp>
        <p:nvSpPr>
          <p:cNvPr id="1497" name="Google Shape;1497;p78"/>
          <p:cNvSpPr/>
          <p:nvPr/>
        </p:nvSpPr>
        <p:spPr>
          <a:xfrm>
            <a:off x="6844625" y="3142300"/>
            <a:ext cx="1068300" cy="109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Cluster</a:t>
            </a:r>
            <a:endParaRPr>
              <a:solidFill>
                <a:schemeClr val="dk2"/>
              </a:solidFill>
              <a:latin typeface="DM Sans Medium"/>
              <a:ea typeface="DM Sans Medium"/>
              <a:cs typeface="DM Sans Medium"/>
              <a:sym typeface="DM Sans Medium"/>
            </a:endParaRPr>
          </a:p>
        </p:txBody>
      </p:sp>
      <p:sp>
        <p:nvSpPr>
          <p:cNvPr id="1498" name="Google Shape;1498;p78"/>
          <p:cNvSpPr/>
          <p:nvPr/>
        </p:nvSpPr>
        <p:spPr>
          <a:xfrm>
            <a:off x="8074259" y="3142300"/>
            <a:ext cx="1068300" cy="109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SQL</a:t>
            </a:r>
            <a:br>
              <a:rPr lang="en">
                <a:solidFill>
                  <a:schemeClr val="dk2"/>
                </a:solidFill>
                <a:latin typeface="DM Sans Medium"/>
                <a:ea typeface="DM Sans Medium"/>
                <a:cs typeface="DM Sans Medium"/>
                <a:sym typeface="DM Sans Medium"/>
              </a:rPr>
            </a:br>
            <a:r>
              <a:rPr lang="en">
                <a:solidFill>
                  <a:schemeClr val="dk2"/>
                </a:solidFill>
                <a:latin typeface="DM Sans Medium"/>
                <a:ea typeface="DM Sans Medium"/>
                <a:cs typeface="DM Sans Medium"/>
                <a:sym typeface="DM Sans Medium"/>
              </a:rPr>
              <a:t>Warehouse</a:t>
            </a:r>
            <a:endParaRPr>
              <a:solidFill>
                <a:schemeClr val="dk2"/>
              </a:solidFill>
              <a:latin typeface="DM Sans Medium"/>
              <a:ea typeface="DM Sans Medium"/>
              <a:cs typeface="DM Sans Medium"/>
              <a:sym typeface="DM Sans Medium"/>
            </a:endParaRPr>
          </a:p>
        </p:txBody>
      </p:sp>
      <p:sp>
        <p:nvSpPr>
          <p:cNvPr id="1499" name="Google Shape;1499;p7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500" name="Google Shape;1500;p78"/>
          <p:cNvSpPr txBox="1"/>
          <p:nvPr/>
        </p:nvSpPr>
        <p:spPr>
          <a:xfrm>
            <a:off x="3767382" y="6538791"/>
            <a:ext cx="27615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sz="1200">
                <a:solidFill>
                  <a:schemeClr val="dk1"/>
                </a:solidFill>
                <a:latin typeface="DM Sans"/>
                <a:ea typeface="DM Sans"/>
                <a:cs typeface="DM Sans"/>
                <a:sym typeface="DM Sans"/>
              </a:rPr>
              <a:t>* Secure Cluster Connectivity</a:t>
            </a:r>
            <a:endParaRPr i="1" sz="1200">
              <a:solidFill>
                <a:schemeClr val="dk1"/>
              </a:solidFill>
              <a:latin typeface="DM Sans"/>
              <a:ea typeface="DM Sans"/>
              <a:cs typeface="DM Sans"/>
              <a:sym typeface="DM Sans"/>
            </a:endParaRPr>
          </a:p>
        </p:txBody>
      </p:sp>
      <p:sp>
        <p:nvSpPr>
          <p:cNvPr id="1501" name="Google Shape;1501;p78"/>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Security</a:t>
            </a:r>
            <a:r>
              <a:rPr lang="en" sz="3600"/>
              <a:t> Highlights</a:t>
            </a:r>
            <a:endParaRPr sz="3600"/>
          </a:p>
        </p:txBody>
      </p:sp>
      <p:sp>
        <p:nvSpPr>
          <p:cNvPr id="1502" name="Google Shape;1502;p78"/>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Secure Cluster Connectivity (SCC), IP Access Lists, Single Sign On (SSO)</a:t>
            </a:r>
            <a:endParaRPr/>
          </a:p>
        </p:txBody>
      </p:sp>
      <p:sp>
        <p:nvSpPr>
          <p:cNvPr id="1503" name="Google Shape;1503;p78"/>
          <p:cNvSpPr txBox="1"/>
          <p:nvPr/>
        </p:nvSpPr>
        <p:spPr>
          <a:xfrm>
            <a:off x="6833851" y="6324600"/>
            <a:ext cx="732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sp>
        <p:nvSpPr>
          <p:cNvPr id="1504" name="Google Shape;1504;p78"/>
          <p:cNvSpPr/>
          <p:nvPr/>
        </p:nvSpPr>
        <p:spPr>
          <a:xfrm>
            <a:off x="6590900" y="4959525"/>
            <a:ext cx="2754000" cy="623400"/>
          </a:xfrm>
          <a:prstGeom prst="roundRect">
            <a:avLst>
              <a:gd fmla="val 145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Cloud Storage</a:t>
            </a:r>
            <a:endParaRPr sz="1800">
              <a:solidFill>
                <a:schemeClr val="accent1"/>
              </a:solidFill>
              <a:latin typeface="DM Sans Medium"/>
              <a:ea typeface="DM Sans Medium"/>
              <a:cs typeface="DM Sans Medium"/>
              <a:sym typeface="DM Sans Medium"/>
            </a:endParaRPr>
          </a:p>
        </p:txBody>
      </p:sp>
      <p:sp>
        <p:nvSpPr>
          <p:cNvPr id="1505" name="Google Shape;1505;p78"/>
          <p:cNvSpPr/>
          <p:nvPr/>
        </p:nvSpPr>
        <p:spPr>
          <a:xfrm>
            <a:off x="9690752" y="2349725"/>
            <a:ext cx="1195800" cy="2364600"/>
          </a:xfrm>
          <a:prstGeom prst="roundRect">
            <a:avLst>
              <a:gd fmla="val 10693"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Other data sources</a:t>
            </a:r>
            <a:endParaRPr sz="1800">
              <a:solidFill>
                <a:schemeClr val="accent1"/>
              </a:solidFill>
              <a:latin typeface="DM Sans Medium"/>
              <a:ea typeface="DM Sans Medium"/>
              <a:cs typeface="DM Sans Medium"/>
              <a:sym typeface="DM Sans Medium"/>
            </a:endParaRPr>
          </a:p>
        </p:txBody>
      </p:sp>
      <p:sp>
        <p:nvSpPr>
          <p:cNvPr id="1506" name="Google Shape;1506;p78"/>
          <p:cNvSpPr/>
          <p:nvPr/>
        </p:nvSpPr>
        <p:spPr>
          <a:xfrm>
            <a:off x="6359950" y="1714500"/>
            <a:ext cx="46647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1000">
              <a:solidFill>
                <a:schemeClr val="accent1"/>
              </a:solidFill>
              <a:latin typeface="DM Sans"/>
              <a:ea typeface="DM Sans"/>
              <a:cs typeface="DM Sans"/>
              <a:sym typeface="DM Sans"/>
            </a:endParaRPr>
          </a:p>
        </p:txBody>
      </p:sp>
      <p:sp>
        <p:nvSpPr>
          <p:cNvPr id="1507" name="Google Shape;1507;p78"/>
          <p:cNvSpPr/>
          <p:nvPr/>
        </p:nvSpPr>
        <p:spPr>
          <a:xfrm>
            <a:off x="929075" y="1714500"/>
            <a:ext cx="52356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8"/>
          <p:cNvSpPr/>
          <p:nvPr/>
        </p:nvSpPr>
        <p:spPr>
          <a:xfrm rot="-5393414">
            <a:off x="9431329" y="3746100"/>
            <a:ext cx="1566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9" name="Google Shape;1509;p78"/>
          <p:cNvPicPr preferRelativeResize="0"/>
          <p:nvPr/>
        </p:nvPicPr>
        <p:blipFill rotWithShape="1">
          <a:blip r:embed="rId3">
            <a:alphaModFix/>
          </a:blip>
          <a:srcRect b="0" l="0" r="0" t="0"/>
          <a:stretch/>
        </p:blipFill>
        <p:spPr>
          <a:xfrm>
            <a:off x="2305897" y="1776743"/>
            <a:ext cx="2149050" cy="338050"/>
          </a:xfrm>
          <a:prstGeom prst="rect">
            <a:avLst/>
          </a:prstGeom>
          <a:noFill/>
          <a:ln>
            <a:noFill/>
          </a:ln>
        </p:spPr>
      </p:pic>
      <p:sp>
        <p:nvSpPr>
          <p:cNvPr id="1510" name="Google Shape;1510;p78"/>
          <p:cNvSpPr/>
          <p:nvPr/>
        </p:nvSpPr>
        <p:spPr>
          <a:xfrm>
            <a:off x="9690450" y="4959525"/>
            <a:ext cx="1196400" cy="623400"/>
          </a:xfrm>
          <a:prstGeom prst="roundRect">
            <a:avLst>
              <a:gd fmla="val 145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ID Provider</a:t>
            </a:r>
            <a:endParaRPr sz="1800">
              <a:solidFill>
                <a:schemeClr val="accent1"/>
              </a:solidFill>
              <a:latin typeface="DM Sans Medium"/>
              <a:ea typeface="DM Sans Medium"/>
              <a:cs typeface="DM Sans Medium"/>
              <a:sym typeface="DM Sans Medium"/>
            </a:endParaRPr>
          </a:p>
        </p:txBody>
      </p:sp>
      <p:sp>
        <p:nvSpPr>
          <p:cNvPr id="1511" name="Google Shape;1511;p78"/>
          <p:cNvSpPr/>
          <p:nvPr/>
        </p:nvSpPr>
        <p:spPr>
          <a:xfrm>
            <a:off x="7842798" y="4671285"/>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78"/>
          <p:cNvSpPr/>
          <p:nvPr/>
        </p:nvSpPr>
        <p:spPr>
          <a:xfrm>
            <a:off x="1000363" y="2350850"/>
            <a:ext cx="5042700" cy="583500"/>
          </a:xfrm>
          <a:prstGeom prst="roundRect">
            <a:avLst>
              <a:gd fmla="val 16765" name="adj"/>
            </a:avLst>
          </a:prstGeom>
          <a:no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Account Console</a:t>
            </a:r>
            <a:endParaRPr sz="1800">
              <a:solidFill>
                <a:schemeClr val="accent1"/>
              </a:solidFill>
              <a:latin typeface="DM Sans Medium"/>
              <a:ea typeface="DM Sans Medium"/>
              <a:cs typeface="DM Sans Medium"/>
              <a:sym typeface="DM Sans Medium"/>
            </a:endParaRPr>
          </a:p>
        </p:txBody>
      </p:sp>
      <p:pic>
        <p:nvPicPr>
          <p:cNvPr id="1513" name="Google Shape;1513;p78"/>
          <p:cNvPicPr preferRelativeResize="0"/>
          <p:nvPr/>
        </p:nvPicPr>
        <p:blipFill>
          <a:blip r:embed="rId4">
            <a:alphaModFix/>
          </a:blip>
          <a:stretch>
            <a:fillRect/>
          </a:stretch>
        </p:blipFill>
        <p:spPr>
          <a:xfrm>
            <a:off x="6866500" y="5846389"/>
            <a:ext cx="666600" cy="666600"/>
          </a:xfrm>
          <a:prstGeom prst="rect">
            <a:avLst/>
          </a:prstGeom>
          <a:noFill/>
          <a:ln>
            <a:noFill/>
          </a:ln>
        </p:spPr>
      </p:pic>
      <p:cxnSp>
        <p:nvCxnSpPr>
          <p:cNvPr id="1514" name="Google Shape;1514;p78"/>
          <p:cNvCxnSpPr>
            <a:stCxn id="1513" idx="1"/>
            <a:endCxn id="1515" idx="2"/>
          </p:cNvCxnSpPr>
          <p:nvPr/>
        </p:nvCxnSpPr>
        <p:spPr>
          <a:xfrm rot="10800000">
            <a:off x="4290100" y="5419189"/>
            <a:ext cx="2576400" cy="760500"/>
          </a:xfrm>
          <a:prstGeom prst="bentConnector2">
            <a:avLst/>
          </a:prstGeom>
          <a:noFill/>
          <a:ln cap="flat" cmpd="sng" w="19050">
            <a:solidFill>
              <a:schemeClr val="accent2"/>
            </a:solidFill>
            <a:prstDash val="solid"/>
            <a:round/>
            <a:headEnd len="med" w="med" type="none"/>
            <a:tailEnd len="med" w="med" type="triangle"/>
          </a:ln>
        </p:spPr>
      </p:cxnSp>
      <p:sp>
        <p:nvSpPr>
          <p:cNvPr id="1516" name="Google Shape;1516;p78"/>
          <p:cNvSpPr txBox="1"/>
          <p:nvPr/>
        </p:nvSpPr>
        <p:spPr>
          <a:xfrm>
            <a:off x="5381116" y="6115802"/>
            <a:ext cx="12735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accent2"/>
                </a:solidFill>
                <a:latin typeface="DM Sans Medium"/>
                <a:ea typeface="DM Sans Medium"/>
                <a:cs typeface="DM Sans Medium"/>
                <a:sym typeface="DM Sans Medium"/>
              </a:rPr>
              <a:t>login</a:t>
            </a:r>
            <a:endParaRPr i="1" sz="1200">
              <a:solidFill>
                <a:schemeClr val="accent2"/>
              </a:solidFill>
              <a:latin typeface="DM Sans"/>
              <a:ea typeface="DM Sans"/>
              <a:cs typeface="DM Sans"/>
              <a:sym typeface="DM Sans"/>
            </a:endParaRPr>
          </a:p>
        </p:txBody>
      </p:sp>
      <p:grpSp>
        <p:nvGrpSpPr>
          <p:cNvPr id="1517" name="Google Shape;1517;p78"/>
          <p:cNvGrpSpPr/>
          <p:nvPr/>
        </p:nvGrpSpPr>
        <p:grpSpPr>
          <a:xfrm>
            <a:off x="7533100" y="5582989"/>
            <a:ext cx="2755500" cy="626354"/>
            <a:chOff x="7533100" y="5582989"/>
            <a:chExt cx="2755500" cy="626354"/>
          </a:xfrm>
        </p:grpSpPr>
        <p:sp>
          <p:nvSpPr>
            <p:cNvPr id="1518" name="Google Shape;1518;p78"/>
            <p:cNvSpPr txBox="1"/>
            <p:nvPr/>
          </p:nvSpPr>
          <p:spPr>
            <a:xfrm>
              <a:off x="7701613" y="5809143"/>
              <a:ext cx="2406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chemeClr val="accent2"/>
                  </a:solidFill>
                  <a:latin typeface="DM Sans Medium"/>
                  <a:ea typeface="DM Sans Medium"/>
                  <a:cs typeface="DM Sans Medium"/>
                  <a:sym typeface="DM Sans Medium"/>
                </a:rPr>
                <a:t>Single Sign On (SSO)</a:t>
              </a:r>
              <a:endParaRPr i="1">
                <a:solidFill>
                  <a:schemeClr val="accent2"/>
                </a:solidFill>
                <a:latin typeface="DM Sans"/>
                <a:ea typeface="DM Sans"/>
                <a:cs typeface="DM Sans"/>
                <a:sym typeface="DM Sans"/>
              </a:endParaRPr>
            </a:p>
          </p:txBody>
        </p:sp>
        <p:cxnSp>
          <p:nvCxnSpPr>
            <p:cNvPr id="1519" name="Google Shape;1519;p78"/>
            <p:cNvCxnSpPr>
              <a:stCxn id="1513" idx="3"/>
              <a:endCxn id="1510" idx="2"/>
            </p:cNvCxnSpPr>
            <p:nvPr/>
          </p:nvCxnSpPr>
          <p:spPr>
            <a:xfrm flipH="1" rot="10800000">
              <a:off x="7533100" y="5582989"/>
              <a:ext cx="2755500" cy="596700"/>
            </a:xfrm>
            <a:prstGeom prst="bentConnector2">
              <a:avLst/>
            </a:prstGeom>
            <a:noFill/>
            <a:ln cap="flat" cmpd="sng" w="19050">
              <a:solidFill>
                <a:schemeClr val="accent2"/>
              </a:solidFill>
              <a:prstDash val="solid"/>
              <a:round/>
              <a:headEnd len="med" w="med" type="none"/>
              <a:tailEnd len="med" w="med" type="triangle"/>
            </a:ln>
          </p:spPr>
        </p:cxnSp>
      </p:grpSp>
      <p:grpSp>
        <p:nvGrpSpPr>
          <p:cNvPr id="1520" name="Google Shape;1520;p78"/>
          <p:cNvGrpSpPr/>
          <p:nvPr/>
        </p:nvGrpSpPr>
        <p:grpSpPr>
          <a:xfrm>
            <a:off x="2546223" y="5563631"/>
            <a:ext cx="3027400" cy="666119"/>
            <a:chOff x="3536823" y="5563631"/>
            <a:chExt cx="3027400" cy="666119"/>
          </a:xfrm>
        </p:grpSpPr>
        <p:grpSp>
          <p:nvGrpSpPr>
            <p:cNvPr id="1521" name="Google Shape;1521;p78"/>
            <p:cNvGrpSpPr/>
            <p:nvPr/>
          </p:nvGrpSpPr>
          <p:grpSpPr>
            <a:xfrm>
              <a:off x="4955038" y="5563631"/>
              <a:ext cx="692100" cy="292800"/>
              <a:chOff x="4802638" y="5487431"/>
              <a:chExt cx="692100" cy="292800"/>
            </a:xfrm>
          </p:grpSpPr>
          <p:sp>
            <p:nvSpPr>
              <p:cNvPr id="1522" name="Google Shape;1522;p78"/>
              <p:cNvSpPr/>
              <p:nvPr/>
            </p:nvSpPr>
            <p:spPr>
              <a:xfrm rot="5400000">
                <a:off x="5002288" y="5287781"/>
                <a:ext cx="292800" cy="6921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accent2"/>
                  </a:highlight>
                </a:endParaRPr>
              </a:p>
            </p:txBody>
          </p:sp>
          <p:sp>
            <p:nvSpPr>
              <p:cNvPr id="1523" name="Google Shape;1523;p78"/>
              <p:cNvSpPr/>
              <p:nvPr/>
            </p:nvSpPr>
            <p:spPr>
              <a:xfrm rot="5439319">
                <a:off x="5192104" y="5543669"/>
                <a:ext cx="183612" cy="183612"/>
              </a:xfrm>
              <a:prstGeom prst="noSmoking">
                <a:avLst>
                  <a:gd fmla="val 13564" name="adj"/>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FF0000"/>
                  </a:highlight>
                </a:endParaRPr>
              </a:p>
            </p:txBody>
          </p:sp>
          <p:sp>
            <p:nvSpPr>
              <p:cNvPr id="1524" name="Google Shape;1524;p78"/>
              <p:cNvSpPr/>
              <p:nvPr/>
            </p:nvSpPr>
            <p:spPr>
              <a:xfrm>
                <a:off x="4915468" y="5561919"/>
                <a:ext cx="126248" cy="139537"/>
              </a:xfrm>
              <a:custGeom>
                <a:rect b="b" l="l" r="r" t="t"/>
                <a:pathLst>
                  <a:path extrusionOk="0" h="8001" w="7239">
                    <a:moveTo>
                      <a:pt x="0" y="4381"/>
                    </a:moveTo>
                    <a:lnTo>
                      <a:pt x="2667" y="8001"/>
                    </a:lnTo>
                    <a:lnTo>
                      <a:pt x="7239" y="0"/>
                    </a:lnTo>
                  </a:path>
                </a:pathLst>
              </a:custGeom>
              <a:noFill/>
              <a:ln cap="flat" cmpd="sng" w="38100">
                <a:solidFill>
                  <a:srgbClr val="00875C"/>
                </a:solidFill>
                <a:prstDash val="solid"/>
                <a:round/>
                <a:headEnd len="med" w="med" type="none"/>
                <a:tailEnd len="med" w="med" type="none"/>
              </a:ln>
            </p:spPr>
          </p:sp>
        </p:grpSp>
        <p:sp>
          <p:nvSpPr>
            <p:cNvPr id="1525" name="Google Shape;1525;p78"/>
            <p:cNvSpPr txBox="1"/>
            <p:nvPr/>
          </p:nvSpPr>
          <p:spPr>
            <a:xfrm>
              <a:off x="3536823" y="5606850"/>
              <a:ext cx="15033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i="1" lang="en">
                  <a:solidFill>
                    <a:schemeClr val="accent2"/>
                  </a:solidFill>
                  <a:latin typeface="DM Sans Medium"/>
                  <a:ea typeface="DM Sans Medium"/>
                  <a:cs typeface="DM Sans Medium"/>
                  <a:sym typeface="DM Sans Medium"/>
                </a:rPr>
                <a:t>IP Access Lists</a:t>
              </a:r>
              <a:endParaRPr i="1">
                <a:solidFill>
                  <a:schemeClr val="accent2"/>
                </a:solidFill>
                <a:latin typeface="DM Sans Medium"/>
                <a:ea typeface="DM Sans Medium"/>
                <a:cs typeface="DM Sans Medium"/>
                <a:sym typeface="DM Sans Medium"/>
              </a:endParaRPr>
            </a:p>
          </p:txBody>
        </p:sp>
        <p:sp>
          <p:nvSpPr>
            <p:cNvPr id="1526" name="Google Shape;1526;p78"/>
            <p:cNvSpPr txBox="1"/>
            <p:nvPr/>
          </p:nvSpPr>
          <p:spPr>
            <a:xfrm>
              <a:off x="5475222" y="5860450"/>
              <a:ext cx="10890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2"/>
                  </a:solidFill>
                  <a:latin typeface="DM Sans"/>
                  <a:ea typeface="DM Sans"/>
                  <a:cs typeface="DM Sans"/>
                  <a:sym typeface="DM Sans"/>
                </a:rPr>
                <a:t>(IP address)</a:t>
              </a:r>
              <a:endParaRPr sz="1200">
                <a:solidFill>
                  <a:schemeClr val="accent2"/>
                </a:solidFill>
                <a:latin typeface="DM Sans"/>
                <a:ea typeface="DM Sans"/>
                <a:cs typeface="DM Sans"/>
                <a:sym typeface="DM Sans"/>
              </a:endParaRPr>
            </a:p>
          </p:txBody>
        </p:sp>
      </p:grpSp>
      <p:grpSp>
        <p:nvGrpSpPr>
          <p:cNvPr id="1527" name="Google Shape;1527;p78"/>
          <p:cNvGrpSpPr/>
          <p:nvPr/>
        </p:nvGrpSpPr>
        <p:grpSpPr>
          <a:xfrm>
            <a:off x="4962349" y="3167418"/>
            <a:ext cx="1715751" cy="1306608"/>
            <a:chOff x="4962349" y="3167418"/>
            <a:chExt cx="1715751" cy="1306608"/>
          </a:xfrm>
        </p:grpSpPr>
        <p:sp>
          <p:nvSpPr>
            <p:cNvPr id="1528" name="Google Shape;1528;p78"/>
            <p:cNvSpPr/>
            <p:nvPr/>
          </p:nvSpPr>
          <p:spPr>
            <a:xfrm>
              <a:off x="5400896" y="3704143"/>
              <a:ext cx="480300" cy="480300"/>
            </a:xfrm>
            <a:prstGeom prst="flowChartSummingJunction">
              <a:avLst/>
            </a:prstGeom>
            <a:solidFill>
              <a:srgbClr val="FFFFFF"/>
            </a:solidFill>
            <a:ln cap="flat" cmpd="sng" w="9525">
              <a:solidFill>
                <a:srgbClr val="FF3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8"/>
            <p:cNvSpPr txBox="1"/>
            <p:nvPr/>
          </p:nvSpPr>
          <p:spPr>
            <a:xfrm>
              <a:off x="5170161" y="3167418"/>
              <a:ext cx="9072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SCC*</a:t>
              </a:r>
              <a:br>
                <a:rPr lang="en">
                  <a:solidFill>
                    <a:schemeClr val="dk2"/>
                  </a:solidFill>
                  <a:latin typeface="DM Sans Medium"/>
                  <a:ea typeface="DM Sans Medium"/>
                  <a:cs typeface="DM Sans Medium"/>
                  <a:sym typeface="DM Sans Medium"/>
                </a:rPr>
              </a:br>
              <a:r>
                <a:rPr lang="en">
                  <a:solidFill>
                    <a:schemeClr val="dk2"/>
                  </a:solidFill>
                  <a:latin typeface="DM Sans Medium"/>
                  <a:ea typeface="DM Sans Medium"/>
                  <a:cs typeface="DM Sans Medium"/>
                  <a:sym typeface="DM Sans Medium"/>
                </a:rPr>
                <a:t>Relay</a:t>
              </a:r>
              <a:endParaRPr>
                <a:solidFill>
                  <a:schemeClr val="dk2"/>
                </a:solidFill>
                <a:latin typeface="DM Sans Medium"/>
                <a:ea typeface="DM Sans Medium"/>
                <a:cs typeface="DM Sans Medium"/>
                <a:sym typeface="DM Sans Medium"/>
              </a:endParaRPr>
            </a:p>
          </p:txBody>
        </p:sp>
        <p:sp>
          <p:nvSpPr>
            <p:cNvPr id="1530" name="Google Shape;1530;p78"/>
            <p:cNvSpPr/>
            <p:nvPr/>
          </p:nvSpPr>
          <p:spPr>
            <a:xfrm rot="-5393414">
              <a:off x="5070750" y="3754825"/>
              <a:ext cx="156600" cy="3417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78"/>
            <p:cNvSpPr/>
            <p:nvPr/>
          </p:nvSpPr>
          <p:spPr>
            <a:xfrm rot="5393414">
              <a:off x="6226600" y="3552625"/>
              <a:ext cx="156600" cy="7461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78"/>
            <p:cNvSpPr/>
            <p:nvPr/>
          </p:nvSpPr>
          <p:spPr>
            <a:xfrm rot="-7404938">
              <a:off x="5102427" y="4082965"/>
              <a:ext cx="156344" cy="420022"/>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33" name="Google Shape;1533;p78"/>
          <p:cNvPicPr preferRelativeResize="0"/>
          <p:nvPr/>
        </p:nvPicPr>
        <p:blipFill rotWithShape="1">
          <a:blip r:embed="rId3">
            <a:alphaModFix/>
          </a:blip>
          <a:srcRect b="0" l="0" r="82955" t="0"/>
          <a:stretch/>
        </p:blipFill>
        <p:spPr>
          <a:xfrm>
            <a:off x="2332008" y="2530063"/>
            <a:ext cx="245706" cy="226800"/>
          </a:xfrm>
          <a:prstGeom prst="rect">
            <a:avLst/>
          </a:prstGeom>
          <a:noFill/>
          <a:ln>
            <a:noFill/>
          </a:ln>
        </p:spPr>
      </p:pic>
      <p:pic>
        <p:nvPicPr>
          <p:cNvPr id="1534" name="Google Shape;1534;p78"/>
          <p:cNvPicPr preferRelativeResize="0"/>
          <p:nvPr/>
        </p:nvPicPr>
        <p:blipFill rotWithShape="1">
          <a:blip r:embed="rId3">
            <a:alphaModFix/>
          </a:blip>
          <a:srcRect b="0" l="0" r="82955" t="0"/>
          <a:stretch/>
        </p:blipFill>
        <p:spPr>
          <a:xfrm>
            <a:off x="2501522" y="3175372"/>
            <a:ext cx="245706" cy="226800"/>
          </a:xfrm>
          <a:prstGeom prst="rect">
            <a:avLst/>
          </a:prstGeom>
          <a:noFill/>
          <a:ln>
            <a:noFill/>
          </a:ln>
        </p:spPr>
      </p:pic>
      <p:pic>
        <p:nvPicPr>
          <p:cNvPr id="1535" name="Google Shape;1535;p78"/>
          <p:cNvPicPr preferRelativeResize="0"/>
          <p:nvPr/>
        </p:nvPicPr>
        <p:blipFill rotWithShape="1">
          <a:blip r:embed="rId3">
            <a:alphaModFix/>
          </a:blip>
          <a:srcRect b="0" l="0" r="82955" t="0"/>
          <a:stretch/>
        </p:blipFill>
        <p:spPr>
          <a:xfrm>
            <a:off x="6809079" y="2483141"/>
            <a:ext cx="245706" cy="226800"/>
          </a:xfrm>
          <a:prstGeom prst="rect">
            <a:avLst/>
          </a:prstGeom>
          <a:noFill/>
          <a:ln>
            <a:noFill/>
          </a:ln>
        </p:spPr>
      </p:pic>
      <p:pic>
        <p:nvPicPr>
          <p:cNvPr id="1536" name="Google Shape;1536;p78"/>
          <p:cNvPicPr preferRelativeResize="0"/>
          <p:nvPr/>
        </p:nvPicPr>
        <p:blipFill>
          <a:blip r:embed="rId5">
            <a:alphaModFix/>
          </a:blip>
          <a:stretch>
            <a:fillRect/>
          </a:stretch>
        </p:blipFill>
        <p:spPr>
          <a:xfrm>
            <a:off x="7073244" y="3227380"/>
            <a:ext cx="611063" cy="611033"/>
          </a:xfrm>
          <a:prstGeom prst="rect">
            <a:avLst/>
          </a:prstGeom>
          <a:noFill/>
          <a:ln>
            <a:noFill/>
          </a:ln>
        </p:spPr>
      </p:pic>
      <p:pic>
        <p:nvPicPr>
          <p:cNvPr id="1537" name="Google Shape;1537;p78"/>
          <p:cNvPicPr preferRelativeResize="0"/>
          <p:nvPr/>
        </p:nvPicPr>
        <p:blipFill>
          <a:blip r:embed="rId6">
            <a:alphaModFix/>
          </a:blip>
          <a:stretch>
            <a:fillRect/>
          </a:stretch>
        </p:blipFill>
        <p:spPr>
          <a:xfrm>
            <a:off x="8275109" y="3158096"/>
            <a:ext cx="666600" cy="666570"/>
          </a:xfrm>
          <a:prstGeom prst="rect">
            <a:avLst/>
          </a:prstGeom>
          <a:noFill/>
          <a:ln>
            <a:noFill/>
          </a:ln>
        </p:spPr>
      </p:pic>
      <p:sp>
        <p:nvSpPr>
          <p:cNvPr id="1538" name="Google Shape;1538;p78"/>
          <p:cNvSpPr/>
          <p:nvPr/>
        </p:nvSpPr>
        <p:spPr>
          <a:xfrm>
            <a:off x="3678650" y="4269750"/>
            <a:ext cx="1222800" cy="522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Jobs</a:t>
            </a:r>
            <a:r>
              <a:rPr i="1" lang="en">
                <a:solidFill>
                  <a:schemeClr val="accent1"/>
                </a:solidFill>
                <a:latin typeface="DM Sans Medium"/>
                <a:ea typeface="DM Sans Medium"/>
                <a:cs typeface="DM Sans Medium"/>
                <a:sym typeface="DM Sans Medium"/>
              </a:rPr>
              <a:t> Manager</a:t>
            </a:r>
            <a:endParaRPr i="1">
              <a:solidFill>
                <a:schemeClr val="accent1"/>
              </a:solidFill>
              <a:latin typeface="DM Sans Medium"/>
              <a:ea typeface="DM Sans Medium"/>
              <a:cs typeface="DM Sans Medium"/>
              <a:sym typeface="DM Sans Medium"/>
            </a:endParaRPr>
          </a:p>
        </p:txBody>
      </p:sp>
      <p:sp>
        <p:nvSpPr>
          <p:cNvPr id="1539" name="Google Shape;1539;p78"/>
          <p:cNvSpPr/>
          <p:nvPr/>
        </p:nvSpPr>
        <p:spPr>
          <a:xfrm>
            <a:off x="3678650" y="3649138"/>
            <a:ext cx="1222800" cy="522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Cluster Manager</a:t>
            </a:r>
            <a:endParaRPr i="1">
              <a:solidFill>
                <a:schemeClr val="accent1"/>
              </a:solidFill>
              <a:latin typeface="DM Sans Medium"/>
              <a:ea typeface="DM Sans Medium"/>
              <a:cs typeface="DM Sans Medium"/>
              <a:sym typeface="DM Sans Medium"/>
            </a:endParaRPr>
          </a:p>
        </p:txBody>
      </p:sp>
      <p:sp>
        <p:nvSpPr>
          <p:cNvPr id="1515" name="Google Shape;1515;p78"/>
          <p:cNvSpPr/>
          <p:nvPr/>
        </p:nvSpPr>
        <p:spPr>
          <a:xfrm>
            <a:off x="3678650" y="4896299"/>
            <a:ext cx="1222800" cy="522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Web App</a:t>
            </a:r>
            <a:br>
              <a:rPr i="1" lang="en">
                <a:solidFill>
                  <a:schemeClr val="accent1"/>
                </a:solidFill>
                <a:latin typeface="DM Sans Medium"/>
                <a:ea typeface="DM Sans Medium"/>
                <a:cs typeface="DM Sans Medium"/>
                <a:sym typeface="DM Sans Medium"/>
              </a:rPr>
            </a:br>
            <a:r>
              <a:rPr i="1" lang="en" sz="1200">
                <a:solidFill>
                  <a:schemeClr val="accent1"/>
                </a:solidFill>
                <a:latin typeface="DM Sans"/>
                <a:ea typeface="DM Sans"/>
                <a:cs typeface="DM Sans"/>
                <a:sym typeface="DM Sans"/>
              </a:rPr>
              <a:t>Portal, REST API</a:t>
            </a:r>
            <a:endParaRPr i="1" sz="1200">
              <a:solidFill>
                <a:schemeClr val="accent1"/>
              </a:solidFill>
              <a:latin typeface="DM Sans"/>
              <a:ea typeface="DM Sans"/>
              <a:cs typeface="DM Sans"/>
              <a:sym typeface="DM Sans"/>
            </a:endParaRPr>
          </a:p>
        </p:txBody>
      </p:sp>
      <p:sp>
        <p:nvSpPr>
          <p:cNvPr id="1540" name="Google Shape;1540;p78"/>
          <p:cNvSpPr/>
          <p:nvPr/>
        </p:nvSpPr>
        <p:spPr>
          <a:xfrm>
            <a:off x="1133077" y="3648238"/>
            <a:ext cx="1222800" cy="524700"/>
          </a:xfrm>
          <a:prstGeom prst="roundRect">
            <a:avLst>
              <a:gd fmla="val 15352"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Metastore</a:t>
            </a:r>
            <a:br>
              <a:rPr lang="en">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(Catalogs)</a:t>
            </a:r>
            <a:endParaRPr sz="1800">
              <a:solidFill>
                <a:schemeClr val="dk1"/>
              </a:solidFill>
              <a:latin typeface="DM Sans Medium"/>
              <a:ea typeface="DM Sans Medium"/>
              <a:cs typeface="DM Sans Medium"/>
              <a:sym typeface="DM Sans Medium"/>
            </a:endParaRPr>
          </a:p>
        </p:txBody>
      </p:sp>
      <p:sp>
        <p:nvSpPr>
          <p:cNvPr id="1541" name="Google Shape;1541;p78"/>
          <p:cNvSpPr/>
          <p:nvPr/>
        </p:nvSpPr>
        <p:spPr>
          <a:xfrm>
            <a:off x="1133077" y="4268850"/>
            <a:ext cx="1222800" cy="524700"/>
          </a:xfrm>
          <a:prstGeom prst="roundRect">
            <a:avLst>
              <a:gd fmla="val 16490"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t>
            </a:r>
            <a:endParaRPr sz="1800">
              <a:solidFill>
                <a:schemeClr val="dk1"/>
              </a:solidFill>
              <a:latin typeface="DM Sans Medium"/>
              <a:ea typeface="DM Sans Medium"/>
              <a:cs typeface="DM Sans Medium"/>
              <a:sym typeface="DM Sans Medium"/>
            </a:endParaRPr>
          </a:p>
        </p:txBody>
      </p:sp>
      <p:sp>
        <p:nvSpPr>
          <p:cNvPr id="1542" name="Google Shape;1542;p78"/>
          <p:cNvSpPr/>
          <p:nvPr/>
        </p:nvSpPr>
        <p:spPr>
          <a:xfrm>
            <a:off x="2449213" y="4269750"/>
            <a:ext cx="1136100" cy="522900"/>
          </a:xfrm>
          <a:prstGeom prst="roundRect">
            <a:avLst>
              <a:gd fmla="val 15352" name="adj"/>
            </a:avLst>
          </a:prstGeom>
          <a:no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t>
            </a:r>
            <a:endParaRPr sz="1600">
              <a:solidFill>
                <a:schemeClr val="dk1"/>
              </a:solidFill>
              <a:latin typeface="DM Sans Medium"/>
              <a:ea typeface="DM Sans Medium"/>
              <a:cs typeface="DM Sans Medium"/>
              <a:sym typeface="DM Sans Medium"/>
            </a:endParaRPr>
          </a:p>
        </p:txBody>
      </p:sp>
      <p:sp>
        <p:nvSpPr>
          <p:cNvPr id="1543" name="Google Shape;1543;p78"/>
          <p:cNvSpPr/>
          <p:nvPr/>
        </p:nvSpPr>
        <p:spPr>
          <a:xfrm>
            <a:off x="2449213" y="3648238"/>
            <a:ext cx="1136100" cy="524700"/>
          </a:xfrm>
          <a:prstGeom prst="roundRect">
            <a:avLst>
              <a:gd fmla="val 16490" name="adj"/>
            </a:avLst>
          </a:prstGeom>
          <a:no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DatabricksIQ</a:t>
            </a:r>
            <a:endParaRPr sz="1800">
              <a:solidFill>
                <a:schemeClr val="dk1"/>
              </a:solidFill>
              <a:latin typeface="DM Sans Medium"/>
              <a:ea typeface="DM Sans Medium"/>
              <a:cs typeface="DM Sans Medium"/>
              <a:sym typeface="DM Sans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gtEl>
                                        <p:attrNameLst>
                                          <p:attrName>style.visibility</p:attrName>
                                        </p:attrNameLst>
                                      </p:cBhvr>
                                      <p:to>
                                        <p:strVal val="visible"/>
                                      </p:to>
                                    </p:set>
                                    <p:animEffect filter="fade" transition="in">
                                      <p:cBhvr>
                                        <p:cTn dur="1000"/>
                                        <p:tgtEl>
                                          <p:spTgt spid="15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7"/>
                                        </p:tgtEl>
                                        <p:attrNameLst>
                                          <p:attrName>style.visibility</p:attrName>
                                        </p:attrNameLst>
                                      </p:cBhvr>
                                      <p:to>
                                        <p:strVal val="visible"/>
                                      </p:to>
                                    </p:set>
                                    <p:animEffect filter="fade" transition="in">
                                      <p:cBhvr>
                                        <p:cTn dur="1000"/>
                                        <p:tgtEl>
                                          <p:spTgt spid="1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1000"/>
                                        <p:tgtEl>
                                          <p:spTgt spid="1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79"/>
          <p:cNvSpPr/>
          <p:nvPr/>
        </p:nvSpPr>
        <p:spPr>
          <a:xfrm>
            <a:off x="1000325" y="2720800"/>
            <a:ext cx="5042700" cy="3090600"/>
          </a:xfrm>
          <a:prstGeom prst="roundRect">
            <a:avLst>
              <a:gd fmla="val 421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Control Plane</a:t>
            </a:r>
            <a:endParaRPr sz="1800">
              <a:solidFill>
                <a:schemeClr val="accent1"/>
              </a:solidFill>
              <a:latin typeface="DM Sans Medium"/>
              <a:ea typeface="DM Sans Medium"/>
              <a:cs typeface="DM Sans Medium"/>
              <a:sym typeface="DM Sans Medium"/>
            </a:endParaRPr>
          </a:p>
        </p:txBody>
      </p:sp>
      <p:sp>
        <p:nvSpPr>
          <p:cNvPr id="1549" name="Google Shape;1549;p79"/>
          <p:cNvSpPr/>
          <p:nvPr/>
        </p:nvSpPr>
        <p:spPr>
          <a:xfrm>
            <a:off x="3678650" y="4498350"/>
            <a:ext cx="1222800" cy="522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Jobs</a:t>
            </a:r>
            <a:r>
              <a:rPr i="1" lang="en">
                <a:solidFill>
                  <a:schemeClr val="accent1"/>
                </a:solidFill>
                <a:latin typeface="DM Sans Medium"/>
                <a:ea typeface="DM Sans Medium"/>
                <a:cs typeface="DM Sans Medium"/>
                <a:sym typeface="DM Sans Medium"/>
              </a:rPr>
              <a:t> Manager</a:t>
            </a:r>
            <a:endParaRPr i="1">
              <a:solidFill>
                <a:schemeClr val="accent1"/>
              </a:solidFill>
              <a:latin typeface="DM Sans Medium"/>
              <a:ea typeface="DM Sans Medium"/>
              <a:cs typeface="DM Sans Medium"/>
              <a:sym typeface="DM Sans Medium"/>
            </a:endParaRPr>
          </a:p>
        </p:txBody>
      </p:sp>
      <p:sp>
        <p:nvSpPr>
          <p:cNvPr id="1550" name="Google Shape;1550;p79"/>
          <p:cNvSpPr/>
          <p:nvPr/>
        </p:nvSpPr>
        <p:spPr>
          <a:xfrm>
            <a:off x="3678650" y="3877738"/>
            <a:ext cx="1222800" cy="522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Cluster Manager</a:t>
            </a:r>
            <a:endParaRPr i="1">
              <a:solidFill>
                <a:schemeClr val="accent1"/>
              </a:solidFill>
              <a:latin typeface="DM Sans Medium"/>
              <a:ea typeface="DM Sans Medium"/>
              <a:cs typeface="DM Sans Medium"/>
              <a:sym typeface="DM Sans Medium"/>
            </a:endParaRPr>
          </a:p>
        </p:txBody>
      </p:sp>
      <p:sp>
        <p:nvSpPr>
          <p:cNvPr id="1551" name="Google Shape;1551;p79"/>
          <p:cNvSpPr/>
          <p:nvPr/>
        </p:nvSpPr>
        <p:spPr>
          <a:xfrm>
            <a:off x="7048100" y="2046050"/>
            <a:ext cx="2754000" cy="2794800"/>
          </a:xfrm>
          <a:prstGeom prst="roundRect">
            <a:avLst>
              <a:gd fmla="val 5209"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  Classic Compute</a:t>
            </a:r>
            <a:endParaRPr sz="1800">
              <a:solidFill>
                <a:schemeClr val="accent1"/>
              </a:solidFill>
              <a:latin typeface="DM Sans Medium"/>
              <a:ea typeface="DM Sans Medium"/>
              <a:cs typeface="DM Sans Medium"/>
              <a:sym typeface="DM Sans Medium"/>
            </a:endParaRPr>
          </a:p>
        </p:txBody>
      </p:sp>
      <p:sp>
        <p:nvSpPr>
          <p:cNvPr id="1552" name="Google Shape;1552;p79"/>
          <p:cNvSpPr/>
          <p:nvPr/>
        </p:nvSpPr>
        <p:spPr>
          <a:xfrm>
            <a:off x="8531459" y="3370900"/>
            <a:ext cx="1068300" cy="109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SQL</a:t>
            </a:r>
            <a:br>
              <a:rPr lang="en">
                <a:solidFill>
                  <a:schemeClr val="dk2"/>
                </a:solidFill>
                <a:latin typeface="DM Sans Medium"/>
                <a:ea typeface="DM Sans Medium"/>
                <a:cs typeface="DM Sans Medium"/>
                <a:sym typeface="DM Sans Medium"/>
              </a:rPr>
            </a:br>
            <a:r>
              <a:rPr lang="en">
                <a:solidFill>
                  <a:schemeClr val="dk2"/>
                </a:solidFill>
                <a:latin typeface="DM Sans Medium"/>
                <a:ea typeface="DM Sans Medium"/>
                <a:cs typeface="DM Sans Medium"/>
                <a:sym typeface="DM Sans Medium"/>
              </a:rPr>
              <a:t>Warehouse</a:t>
            </a:r>
            <a:endParaRPr>
              <a:solidFill>
                <a:schemeClr val="dk2"/>
              </a:solidFill>
              <a:latin typeface="DM Sans Medium"/>
              <a:ea typeface="DM Sans Medium"/>
              <a:cs typeface="DM Sans Medium"/>
              <a:sym typeface="DM Sans Medium"/>
            </a:endParaRPr>
          </a:p>
        </p:txBody>
      </p:sp>
      <p:sp>
        <p:nvSpPr>
          <p:cNvPr id="1553" name="Google Shape;1553;p79"/>
          <p:cNvSpPr/>
          <p:nvPr/>
        </p:nvSpPr>
        <p:spPr>
          <a:xfrm>
            <a:off x="7301825" y="3370900"/>
            <a:ext cx="1068300" cy="109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Cluster</a:t>
            </a:r>
            <a:endParaRPr>
              <a:solidFill>
                <a:schemeClr val="dk2"/>
              </a:solidFill>
              <a:latin typeface="DM Sans Medium"/>
              <a:ea typeface="DM Sans Medium"/>
              <a:cs typeface="DM Sans Medium"/>
              <a:sym typeface="DM Sans Medium"/>
            </a:endParaRPr>
          </a:p>
        </p:txBody>
      </p:sp>
      <p:sp>
        <p:nvSpPr>
          <p:cNvPr id="1554" name="Google Shape;1554;p79"/>
          <p:cNvSpPr/>
          <p:nvPr/>
        </p:nvSpPr>
        <p:spPr>
          <a:xfrm>
            <a:off x="3678650" y="5124899"/>
            <a:ext cx="1222800" cy="522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Web App</a:t>
            </a:r>
            <a:br>
              <a:rPr i="1" lang="en">
                <a:solidFill>
                  <a:schemeClr val="accent1"/>
                </a:solidFill>
                <a:latin typeface="DM Sans Medium"/>
                <a:ea typeface="DM Sans Medium"/>
                <a:cs typeface="DM Sans Medium"/>
                <a:sym typeface="DM Sans Medium"/>
              </a:rPr>
            </a:br>
            <a:r>
              <a:rPr i="1" lang="en" sz="1200">
                <a:solidFill>
                  <a:schemeClr val="accent1"/>
                </a:solidFill>
                <a:latin typeface="DM Sans"/>
                <a:ea typeface="DM Sans"/>
                <a:cs typeface="DM Sans"/>
                <a:sym typeface="DM Sans"/>
              </a:rPr>
              <a:t>Portal, REST API</a:t>
            </a:r>
            <a:endParaRPr i="1" sz="1200">
              <a:solidFill>
                <a:schemeClr val="accent1"/>
              </a:solidFill>
              <a:latin typeface="DM Sans"/>
              <a:ea typeface="DM Sans"/>
              <a:cs typeface="DM Sans"/>
              <a:sym typeface="DM Sans"/>
            </a:endParaRPr>
          </a:p>
        </p:txBody>
      </p:sp>
      <p:sp>
        <p:nvSpPr>
          <p:cNvPr id="1555" name="Google Shape;1555;p79"/>
          <p:cNvSpPr/>
          <p:nvPr/>
        </p:nvSpPr>
        <p:spPr>
          <a:xfrm>
            <a:off x="7048125" y="5188125"/>
            <a:ext cx="2754000" cy="623400"/>
          </a:xfrm>
          <a:prstGeom prst="roundRect">
            <a:avLst>
              <a:gd fmla="val 145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           Cloud Storage</a:t>
            </a:r>
            <a:endParaRPr sz="1800">
              <a:solidFill>
                <a:schemeClr val="accent1"/>
              </a:solidFill>
              <a:latin typeface="DM Sans Medium"/>
              <a:ea typeface="DM Sans Medium"/>
              <a:cs typeface="DM Sans Medium"/>
              <a:sym typeface="DM Sans Medium"/>
            </a:endParaRPr>
          </a:p>
        </p:txBody>
      </p:sp>
      <p:sp>
        <p:nvSpPr>
          <p:cNvPr id="1556" name="Google Shape;1556;p79"/>
          <p:cNvSpPr/>
          <p:nvPr/>
        </p:nvSpPr>
        <p:spPr>
          <a:xfrm>
            <a:off x="7273960" y="5271245"/>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root bucket</a:t>
            </a:r>
            <a:endParaRPr sz="1100">
              <a:solidFill>
                <a:schemeClr val="accent1"/>
              </a:solidFill>
              <a:latin typeface="DM Sans Medium"/>
              <a:ea typeface="DM Sans Medium"/>
              <a:cs typeface="DM Sans Medium"/>
              <a:sym typeface="DM Sans Medium"/>
            </a:endParaRPr>
          </a:p>
        </p:txBody>
      </p:sp>
      <p:sp>
        <p:nvSpPr>
          <p:cNvPr id="1557" name="Google Shape;1557;p7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558" name="Google Shape;1558;p79"/>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Secure Cluster Communication workspaces </a:t>
            </a:r>
            <a:endParaRPr sz="3600"/>
          </a:p>
        </p:txBody>
      </p:sp>
      <p:sp>
        <p:nvSpPr>
          <p:cNvPr id="1559" name="Google Shape;1559;p79"/>
          <p:cNvSpPr/>
          <p:nvPr/>
        </p:nvSpPr>
        <p:spPr>
          <a:xfrm>
            <a:off x="10147952" y="2578325"/>
            <a:ext cx="1195800" cy="2364600"/>
          </a:xfrm>
          <a:prstGeom prst="roundRect">
            <a:avLst>
              <a:gd fmla="val 10693"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Other data sources</a:t>
            </a:r>
            <a:endParaRPr sz="1800">
              <a:solidFill>
                <a:schemeClr val="accent1"/>
              </a:solidFill>
              <a:latin typeface="DM Sans Medium"/>
              <a:ea typeface="DM Sans Medium"/>
              <a:cs typeface="DM Sans Medium"/>
              <a:sym typeface="DM Sans Medium"/>
            </a:endParaRPr>
          </a:p>
        </p:txBody>
      </p:sp>
      <p:sp>
        <p:nvSpPr>
          <p:cNvPr id="1560" name="Google Shape;1560;p79"/>
          <p:cNvSpPr/>
          <p:nvPr/>
        </p:nvSpPr>
        <p:spPr>
          <a:xfrm rot="-5393414">
            <a:off x="9888529" y="3974700"/>
            <a:ext cx="1566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79"/>
          <p:cNvSpPr/>
          <p:nvPr/>
        </p:nvSpPr>
        <p:spPr>
          <a:xfrm>
            <a:off x="10147650" y="5188125"/>
            <a:ext cx="1196400" cy="623400"/>
          </a:xfrm>
          <a:prstGeom prst="roundRect">
            <a:avLst>
              <a:gd fmla="val 145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ID Provider</a:t>
            </a:r>
            <a:endParaRPr sz="1800">
              <a:solidFill>
                <a:schemeClr val="accent1"/>
              </a:solidFill>
              <a:latin typeface="DM Sans Medium"/>
              <a:ea typeface="DM Sans Medium"/>
              <a:cs typeface="DM Sans Medium"/>
              <a:sym typeface="DM Sans Medium"/>
            </a:endParaRPr>
          </a:p>
        </p:txBody>
      </p:sp>
      <p:sp>
        <p:nvSpPr>
          <p:cNvPr id="1562" name="Google Shape;1562;p79"/>
          <p:cNvSpPr/>
          <p:nvPr/>
        </p:nvSpPr>
        <p:spPr>
          <a:xfrm>
            <a:off x="8299998" y="4899885"/>
            <a:ext cx="156900" cy="226800"/>
          </a:xfrm>
          <a:prstGeom prst="down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79"/>
          <p:cNvSpPr/>
          <p:nvPr/>
        </p:nvSpPr>
        <p:spPr>
          <a:xfrm>
            <a:off x="5400896" y="3647783"/>
            <a:ext cx="480300" cy="480300"/>
          </a:xfrm>
          <a:prstGeom prst="flowChartSummingJunction">
            <a:avLst/>
          </a:prstGeom>
          <a:solidFill>
            <a:srgbClr val="FFFFFF"/>
          </a:solidFill>
          <a:ln cap="flat" cmpd="sng" w="9525">
            <a:solidFill>
              <a:srgbClr val="FF3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79"/>
          <p:cNvSpPr txBox="1"/>
          <p:nvPr/>
        </p:nvSpPr>
        <p:spPr>
          <a:xfrm>
            <a:off x="5188361" y="4100943"/>
            <a:ext cx="9072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SCC</a:t>
            </a:r>
            <a:br>
              <a:rPr lang="en">
                <a:solidFill>
                  <a:schemeClr val="dk2"/>
                </a:solidFill>
                <a:latin typeface="DM Sans Medium"/>
                <a:ea typeface="DM Sans Medium"/>
                <a:cs typeface="DM Sans Medium"/>
                <a:sym typeface="DM Sans Medium"/>
              </a:rPr>
            </a:br>
            <a:r>
              <a:rPr lang="en">
                <a:solidFill>
                  <a:schemeClr val="dk2"/>
                </a:solidFill>
                <a:latin typeface="DM Sans Medium"/>
                <a:ea typeface="DM Sans Medium"/>
                <a:cs typeface="DM Sans Medium"/>
                <a:sym typeface="DM Sans Medium"/>
              </a:rPr>
              <a:t>Relay</a:t>
            </a:r>
            <a:endParaRPr>
              <a:solidFill>
                <a:schemeClr val="dk2"/>
              </a:solidFill>
              <a:latin typeface="DM Sans Medium"/>
              <a:ea typeface="DM Sans Medium"/>
              <a:cs typeface="DM Sans Medium"/>
              <a:sym typeface="DM Sans Medium"/>
            </a:endParaRPr>
          </a:p>
        </p:txBody>
      </p:sp>
      <p:cxnSp>
        <p:nvCxnSpPr>
          <p:cNvPr id="1565" name="Google Shape;1565;p79"/>
          <p:cNvCxnSpPr>
            <a:stCxn id="1566" idx="3"/>
            <a:endCxn id="1567" idx="1"/>
          </p:cNvCxnSpPr>
          <p:nvPr/>
        </p:nvCxnSpPr>
        <p:spPr>
          <a:xfrm>
            <a:off x="4900300" y="4894648"/>
            <a:ext cx="2427300" cy="150300"/>
          </a:xfrm>
          <a:prstGeom prst="curvedConnector2">
            <a:avLst/>
          </a:prstGeom>
          <a:noFill/>
          <a:ln cap="flat" cmpd="sng" w="19050">
            <a:solidFill>
              <a:schemeClr val="accent3"/>
            </a:solidFill>
            <a:prstDash val="solid"/>
            <a:round/>
            <a:headEnd len="sm" w="sm" type="oval"/>
            <a:tailEnd len="sm" w="sm" type="triangle"/>
          </a:ln>
        </p:spPr>
      </p:cxnSp>
      <p:sp>
        <p:nvSpPr>
          <p:cNvPr id="1568" name="Google Shape;1568;p79"/>
          <p:cNvSpPr txBox="1"/>
          <p:nvPr/>
        </p:nvSpPr>
        <p:spPr>
          <a:xfrm>
            <a:off x="4847957" y="4597545"/>
            <a:ext cx="12735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accent3"/>
                </a:solidFill>
                <a:latin typeface="DM Sans"/>
                <a:ea typeface="DM Sans"/>
                <a:cs typeface="DM Sans"/>
                <a:sym typeface="DM Sans"/>
              </a:rPr>
              <a:t>full job results</a:t>
            </a:r>
            <a:endParaRPr i="1" sz="1200">
              <a:solidFill>
                <a:schemeClr val="accent3"/>
              </a:solidFill>
              <a:latin typeface="DM Sans"/>
              <a:ea typeface="DM Sans"/>
              <a:cs typeface="DM Sans"/>
              <a:sym typeface="DM Sans"/>
            </a:endParaRPr>
          </a:p>
        </p:txBody>
      </p:sp>
      <p:sp>
        <p:nvSpPr>
          <p:cNvPr id="1567" name="Google Shape;1567;p79"/>
          <p:cNvSpPr/>
          <p:nvPr/>
        </p:nvSpPr>
        <p:spPr>
          <a:xfrm>
            <a:off x="7240109" y="4995431"/>
            <a:ext cx="597600" cy="338100"/>
          </a:xfrm>
          <a:prstGeom prst="ellipse">
            <a:avLst/>
          </a:prstGeom>
          <a:solidFill>
            <a:srgbClr val="FFFFFF"/>
          </a:solid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3"/>
                </a:solidFill>
                <a:latin typeface="DM Sans Medium"/>
                <a:ea typeface="DM Sans Medium"/>
                <a:cs typeface="DM Sans Medium"/>
                <a:sym typeface="DM Sans Medium"/>
              </a:rPr>
              <a:t>443</a:t>
            </a:r>
            <a:endParaRPr>
              <a:solidFill>
                <a:schemeClr val="accent3"/>
              </a:solidFill>
              <a:latin typeface="DM Sans Medium"/>
              <a:ea typeface="DM Sans Medium"/>
              <a:cs typeface="DM Sans Medium"/>
              <a:sym typeface="DM Sans Medium"/>
            </a:endParaRPr>
          </a:p>
        </p:txBody>
      </p:sp>
      <p:cxnSp>
        <p:nvCxnSpPr>
          <p:cNvPr id="1569" name="Google Shape;1569;p79"/>
          <p:cNvCxnSpPr>
            <a:stCxn id="1570" idx="3"/>
            <a:endCxn id="1571" idx="3"/>
          </p:cNvCxnSpPr>
          <p:nvPr/>
        </p:nvCxnSpPr>
        <p:spPr>
          <a:xfrm flipH="1" rot="10800000">
            <a:off x="4900300" y="4019875"/>
            <a:ext cx="530400" cy="583200"/>
          </a:xfrm>
          <a:prstGeom prst="curvedConnector2">
            <a:avLst/>
          </a:prstGeom>
          <a:noFill/>
          <a:ln cap="flat" cmpd="sng" w="19050">
            <a:solidFill>
              <a:schemeClr val="accent2"/>
            </a:solidFill>
            <a:prstDash val="solid"/>
            <a:round/>
            <a:headEnd len="sm" w="sm" type="oval"/>
            <a:tailEnd len="sm" w="sm" type="triangle"/>
          </a:ln>
        </p:spPr>
      </p:cxnSp>
      <p:cxnSp>
        <p:nvCxnSpPr>
          <p:cNvPr id="1572" name="Google Shape;1572;p79"/>
          <p:cNvCxnSpPr>
            <a:stCxn id="1573" idx="3"/>
            <a:endCxn id="1571" idx="2"/>
          </p:cNvCxnSpPr>
          <p:nvPr/>
        </p:nvCxnSpPr>
        <p:spPr>
          <a:xfrm flipH="1" rot="10800000">
            <a:off x="4900300" y="3900475"/>
            <a:ext cx="442800" cy="245400"/>
          </a:xfrm>
          <a:prstGeom prst="curvedConnector3">
            <a:avLst>
              <a:gd fmla="val 50005" name="adj1"/>
            </a:avLst>
          </a:prstGeom>
          <a:noFill/>
          <a:ln cap="flat" cmpd="sng" w="19050">
            <a:solidFill>
              <a:schemeClr val="accent2"/>
            </a:solidFill>
            <a:prstDash val="solid"/>
            <a:round/>
            <a:headEnd len="sm" w="sm" type="oval"/>
            <a:tailEnd len="sm" w="sm" type="triangle"/>
          </a:ln>
        </p:spPr>
      </p:cxnSp>
      <p:cxnSp>
        <p:nvCxnSpPr>
          <p:cNvPr id="1574" name="Google Shape;1574;p79"/>
          <p:cNvCxnSpPr>
            <a:stCxn id="1575" idx="2"/>
            <a:endCxn id="1571" idx="6"/>
          </p:cNvCxnSpPr>
          <p:nvPr/>
        </p:nvCxnSpPr>
        <p:spPr>
          <a:xfrm flipH="1">
            <a:off x="5940867" y="3243780"/>
            <a:ext cx="2214900" cy="656700"/>
          </a:xfrm>
          <a:prstGeom prst="curvedConnector3">
            <a:avLst>
              <a:gd fmla="val 50003" name="adj1"/>
            </a:avLst>
          </a:prstGeom>
          <a:noFill/>
          <a:ln cap="flat" cmpd="sng" w="19050">
            <a:solidFill>
              <a:schemeClr val="accent2"/>
            </a:solidFill>
            <a:prstDash val="solid"/>
            <a:round/>
            <a:headEnd len="sm" w="sm" type="triangle"/>
            <a:tailEnd len="sm" w="sm" type="triangle"/>
          </a:ln>
        </p:spPr>
      </p:cxnSp>
      <p:sp>
        <p:nvSpPr>
          <p:cNvPr id="1576" name="Google Shape;1576;p79"/>
          <p:cNvSpPr txBox="1"/>
          <p:nvPr/>
        </p:nvSpPr>
        <p:spPr>
          <a:xfrm>
            <a:off x="6008218" y="3403433"/>
            <a:ext cx="1019100" cy="5541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i="1" lang="en" sz="1200">
                <a:solidFill>
                  <a:schemeClr val="accent2"/>
                </a:solidFill>
                <a:latin typeface="DM Sans"/>
                <a:ea typeface="DM Sans"/>
                <a:cs typeface="DM Sans"/>
                <a:sym typeface="DM Sans"/>
              </a:rPr>
              <a:t>main comm</a:t>
            </a:r>
            <a:br>
              <a:rPr i="1" lang="en" sz="1200">
                <a:solidFill>
                  <a:schemeClr val="accent2"/>
                </a:solidFill>
                <a:latin typeface="DM Sans"/>
                <a:ea typeface="DM Sans"/>
                <a:cs typeface="DM Sans"/>
                <a:sym typeface="DM Sans"/>
              </a:rPr>
            </a:br>
            <a:r>
              <a:rPr i="1" lang="en" sz="1200">
                <a:solidFill>
                  <a:schemeClr val="accent2"/>
                </a:solidFill>
                <a:latin typeface="DM Sans"/>
                <a:ea typeface="DM Sans"/>
                <a:cs typeface="DM Sans"/>
                <a:sym typeface="DM Sans"/>
              </a:rPr>
              <a:t>tunnel </a:t>
            </a:r>
            <a:endParaRPr i="1" sz="1200">
              <a:solidFill>
                <a:schemeClr val="accent2"/>
              </a:solidFill>
              <a:latin typeface="DM Sans"/>
              <a:ea typeface="DM Sans"/>
              <a:cs typeface="DM Sans"/>
              <a:sym typeface="DM Sans"/>
            </a:endParaRPr>
          </a:p>
        </p:txBody>
      </p:sp>
      <p:sp>
        <p:nvSpPr>
          <p:cNvPr id="1571" name="Google Shape;1571;p79"/>
          <p:cNvSpPr/>
          <p:nvPr/>
        </p:nvSpPr>
        <p:spPr>
          <a:xfrm>
            <a:off x="5343142" y="3731428"/>
            <a:ext cx="597600" cy="338100"/>
          </a:xfrm>
          <a:prstGeom prst="ellipse">
            <a:avLst/>
          </a:prstGeom>
          <a:solidFill>
            <a:srgbClr val="FFFFFF"/>
          </a:solidFill>
          <a:ln cap="flat" cmpd="sng" w="19050">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443</a:t>
            </a:r>
            <a:endParaRPr>
              <a:solidFill>
                <a:schemeClr val="accent2"/>
              </a:solidFill>
              <a:latin typeface="DM Sans Medium"/>
              <a:ea typeface="DM Sans Medium"/>
              <a:cs typeface="DM Sans Medium"/>
              <a:sym typeface="DM Sans Medium"/>
            </a:endParaRPr>
          </a:p>
        </p:txBody>
      </p:sp>
      <p:cxnSp>
        <p:nvCxnSpPr>
          <p:cNvPr id="1577" name="Google Shape;1577;p79"/>
          <p:cNvCxnSpPr>
            <a:stCxn id="1578" idx="0"/>
            <a:endCxn id="1571" idx="1"/>
          </p:cNvCxnSpPr>
          <p:nvPr/>
        </p:nvCxnSpPr>
        <p:spPr>
          <a:xfrm rot="-5400000">
            <a:off x="3539527" y="1985788"/>
            <a:ext cx="96000" cy="3686100"/>
          </a:xfrm>
          <a:prstGeom prst="curvedConnector3">
            <a:avLst>
              <a:gd fmla="val 259674" name="adj1"/>
            </a:avLst>
          </a:prstGeom>
          <a:noFill/>
          <a:ln cap="flat" cmpd="sng" w="19050">
            <a:solidFill>
              <a:schemeClr val="accent2"/>
            </a:solidFill>
            <a:prstDash val="solid"/>
            <a:round/>
            <a:headEnd len="sm" w="sm" type="triangle"/>
            <a:tailEnd len="sm" w="sm" type="oval"/>
          </a:ln>
        </p:spPr>
      </p:cxnSp>
      <p:cxnSp>
        <p:nvCxnSpPr>
          <p:cNvPr id="1579" name="Google Shape;1579;p79"/>
          <p:cNvCxnSpPr>
            <a:stCxn id="1580" idx="0"/>
            <a:endCxn id="1581" idx="0"/>
          </p:cNvCxnSpPr>
          <p:nvPr/>
        </p:nvCxnSpPr>
        <p:spPr>
          <a:xfrm>
            <a:off x="1336400" y="6035975"/>
            <a:ext cx="533400" cy="0"/>
          </a:xfrm>
          <a:prstGeom prst="straightConnector1">
            <a:avLst/>
          </a:prstGeom>
          <a:noFill/>
          <a:ln cap="flat" cmpd="sng" w="19050">
            <a:solidFill>
              <a:schemeClr val="accent5"/>
            </a:solidFill>
            <a:prstDash val="solid"/>
            <a:round/>
            <a:headEnd len="med" w="med" type="oval"/>
            <a:tailEnd len="med" w="med" type="triangle"/>
          </a:ln>
        </p:spPr>
      </p:cxnSp>
      <p:sp>
        <p:nvSpPr>
          <p:cNvPr id="1580" name="Google Shape;1580;p79"/>
          <p:cNvSpPr txBox="1"/>
          <p:nvPr/>
        </p:nvSpPr>
        <p:spPr>
          <a:xfrm>
            <a:off x="973550" y="6035975"/>
            <a:ext cx="725700" cy="35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from</a:t>
            </a:r>
            <a:endParaRPr>
              <a:latin typeface="DM Sans"/>
              <a:ea typeface="DM Sans"/>
              <a:cs typeface="DM Sans"/>
              <a:sym typeface="DM Sans"/>
            </a:endParaRPr>
          </a:p>
        </p:txBody>
      </p:sp>
      <p:sp>
        <p:nvSpPr>
          <p:cNvPr id="1581" name="Google Shape;1581;p79"/>
          <p:cNvSpPr txBox="1"/>
          <p:nvPr/>
        </p:nvSpPr>
        <p:spPr>
          <a:xfrm>
            <a:off x="1506950" y="6035975"/>
            <a:ext cx="725700" cy="35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DM Sans Medium"/>
                <a:ea typeface="DM Sans Medium"/>
                <a:cs typeface="DM Sans Medium"/>
                <a:sym typeface="DM Sans Medium"/>
              </a:rPr>
              <a:t>to</a:t>
            </a:r>
            <a:endParaRPr>
              <a:latin typeface="DM Sans"/>
              <a:ea typeface="DM Sans"/>
              <a:cs typeface="DM Sans"/>
              <a:sym typeface="DM Sans"/>
            </a:endParaRPr>
          </a:p>
        </p:txBody>
      </p:sp>
      <p:sp>
        <p:nvSpPr>
          <p:cNvPr id="1582" name="Google Shape;1582;p79"/>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Ports and communication for SCC on Azure and AWS *</a:t>
            </a:r>
            <a:endParaRPr/>
          </a:p>
        </p:txBody>
      </p:sp>
      <p:sp>
        <p:nvSpPr>
          <p:cNvPr id="1583" name="Google Shape;1583;p79"/>
          <p:cNvSpPr/>
          <p:nvPr/>
        </p:nvSpPr>
        <p:spPr>
          <a:xfrm>
            <a:off x="6970575" y="1485900"/>
            <a:ext cx="45114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584" name="Google Shape;1584;p79"/>
          <p:cNvSpPr/>
          <p:nvPr/>
        </p:nvSpPr>
        <p:spPr>
          <a:xfrm>
            <a:off x="984925" y="1485900"/>
            <a:ext cx="50736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5" name="Google Shape;1585;p79"/>
          <p:cNvPicPr preferRelativeResize="0"/>
          <p:nvPr/>
        </p:nvPicPr>
        <p:blipFill rotWithShape="1">
          <a:blip r:embed="rId3">
            <a:alphaModFix/>
          </a:blip>
          <a:srcRect b="0" l="0" r="0" t="0"/>
          <a:stretch/>
        </p:blipFill>
        <p:spPr>
          <a:xfrm>
            <a:off x="2305897" y="1548143"/>
            <a:ext cx="2149050" cy="338050"/>
          </a:xfrm>
          <a:prstGeom prst="rect">
            <a:avLst/>
          </a:prstGeom>
          <a:noFill/>
          <a:ln>
            <a:noFill/>
          </a:ln>
        </p:spPr>
      </p:pic>
      <p:cxnSp>
        <p:nvCxnSpPr>
          <p:cNvPr id="1586" name="Google Shape;1586;p79"/>
          <p:cNvCxnSpPr>
            <a:stCxn id="1587" idx="0"/>
            <a:endCxn id="1588" idx="4"/>
          </p:cNvCxnSpPr>
          <p:nvPr/>
        </p:nvCxnSpPr>
        <p:spPr>
          <a:xfrm rot="-5400000">
            <a:off x="5077771" y="5383652"/>
            <a:ext cx="109800" cy="600"/>
          </a:xfrm>
          <a:prstGeom prst="curvedConnector3">
            <a:avLst>
              <a:gd fmla="val 50024" name="adj1"/>
            </a:avLst>
          </a:prstGeom>
          <a:noFill/>
          <a:ln cap="flat" cmpd="sng" w="9525">
            <a:solidFill>
              <a:schemeClr val="accent4"/>
            </a:solidFill>
            <a:prstDash val="dash"/>
            <a:round/>
            <a:headEnd len="sm" w="sm" type="none"/>
            <a:tailEnd len="sm" w="sm" type="triangle"/>
          </a:ln>
        </p:spPr>
      </p:cxnSp>
      <p:sp>
        <p:nvSpPr>
          <p:cNvPr id="1588" name="Google Shape;1588;p79"/>
          <p:cNvSpPr/>
          <p:nvPr/>
        </p:nvSpPr>
        <p:spPr>
          <a:xfrm>
            <a:off x="4833571" y="4990899"/>
            <a:ext cx="597600" cy="3381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rgbClr val="F5A300"/>
                </a:solidFill>
                <a:latin typeface="DM Sans Medium"/>
                <a:ea typeface="DM Sans Medium"/>
                <a:cs typeface="DM Sans Medium"/>
                <a:sym typeface="DM Sans Medium"/>
              </a:rPr>
              <a:t>443</a:t>
            </a:r>
            <a:endParaRPr>
              <a:solidFill>
                <a:srgbClr val="F5A300"/>
              </a:solidFill>
              <a:latin typeface="DM Sans Medium"/>
              <a:ea typeface="DM Sans Medium"/>
              <a:cs typeface="DM Sans Medium"/>
              <a:sym typeface="DM Sans Medium"/>
            </a:endParaRPr>
          </a:p>
        </p:txBody>
      </p:sp>
      <p:sp>
        <p:nvSpPr>
          <p:cNvPr id="1587" name="Google Shape;1587;p79"/>
          <p:cNvSpPr/>
          <p:nvPr/>
        </p:nvSpPr>
        <p:spPr>
          <a:xfrm>
            <a:off x="4833571" y="5438852"/>
            <a:ext cx="597600" cy="338100"/>
          </a:xfrm>
          <a:prstGeom prst="ellipse">
            <a:avLst/>
          </a:prstGeom>
          <a:solidFill>
            <a:srgbClr val="FFFFFF"/>
          </a:solidFill>
          <a:ln cap="flat" cmpd="sng" w="9525">
            <a:solidFill>
              <a:schemeClr val="accent4"/>
            </a:solidFill>
            <a:prstDash val="dash"/>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rgbClr val="F5A300"/>
                </a:solidFill>
                <a:latin typeface="DM Sans Medium"/>
                <a:ea typeface="DM Sans Medium"/>
                <a:cs typeface="DM Sans Medium"/>
                <a:sym typeface="DM Sans Medium"/>
              </a:rPr>
              <a:t>80</a:t>
            </a:r>
            <a:endParaRPr>
              <a:solidFill>
                <a:srgbClr val="F5A300"/>
              </a:solidFill>
              <a:latin typeface="DM Sans Medium"/>
              <a:ea typeface="DM Sans Medium"/>
              <a:cs typeface="DM Sans Medium"/>
              <a:sym typeface="DM Sans Medium"/>
            </a:endParaRPr>
          </a:p>
        </p:txBody>
      </p:sp>
      <p:cxnSp>
        <p:nvCxnSpPr>
          <p:cNvPr id="1589" name="Google Shape;1589;p79"/>
          <p:cNvCxnSpPr>
            <a:stCxn id="1590" idx="1"/>
            <a:endCxn id="1588" idx="6"/>
          </p:cNvCxnSpPr>
          <p:nvPr/>
        </p:nvCxnSpPr>
        <p:spPr>
          <a:xfrm rot="10800000">
            <a:off x="5431300" y="5159989"/>
            <a:ext cx="1892400" cy="1019700"/>
          </a:xfrm>
          <a:prstGeom prst="curvedConnector3">
            <a:avLst>
              <a:gd fmla="val 50003" name="adj1"/>
            </a:avLst>
          </a:prstGeom>
          <a:noFill/>
          <a:ln cap="flat" cmpd="sng" w="19050">
            <a:solidFill>
              <a:schemeClr val="accent4"/>
            </a:solidFill>
            <a:prstDash val="solid"/>
            <a:round/>
            <a:headEnd len="sm" w="sm" type="oval"/>
            <a:tailEnd len="sm" w="sm" type="triangle"/>
          </a:ln>
        </p:spPr>
      </p:cxnSp>
      <p:cxnSp>
        <p:nvCxnSpPr>
          <p:cNvPr id="1591" name="Google Shape;1591;p79"/>
          <p:cNvCxnSpPr>
            <a:stCxn id="1590" idx="1"/>
            <a:endCxn id="1587" idx="4"/>
          </p:cNvCxnSpPr>
          <p:nvPr/>
        </p:nvCxnSpPr>
        <p:spPr>
          <a:xfrm rot="10800000">
            <a:off x="5132500" y="5777089"/>
            <a:ext cx="2191200" cy="402600"/>
          </a:xfrm>
          <a:prstGeom prst="curvedConnector2">
            <a:avLst/>
          </a:prstGeom>
          <a:noFill/>
          <a:ln cap="flat" cmpd="sng" w="9525">
            <a:solidFill>
              <a:schemeClr val="accent4"/>
            </a:solidFill>
            <a:prstDash val="dash"/>
            <a:round/>
            <a:headEnd len="sm" w="sm" type="oval"/>
            <a:tailEnd len="sm" w="sm" type="triangle"/>
          </a:ln>
        </p:spPr>
      </p:cxnSp>
      <p:sp>
        <p:nvSpPr>
          <p:cNvPr id="1592" name="Google Shape;1592;p79"/>
          <p:cNvSpPr txBox="1"/>
          <p:nvPr/>
        </p:nvSpPr>
        <p:spPr>
          <a:xfrm>
            <a:off x="6097342" y="5060373"/>
            <a:ext cx="1019100" cy="3510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300"/>
              </a:spcAft>
              <a:buNone/>
            </a:pPr>
            <a:r>
              <a:rPr i="1" lang="en" sz="1200">
                <a:solidFill>
                  <a:srgbClr val="F5A300"/>
                </a:solidFill>
                <a:latin typeface="DM Sans"/>
                <a:ea typeface="DM Sans"/>
                <a:cs typeface="DM Sans"/>
                <a:sym typeface="DM Sans"/>
              </a:rPr>
              <a:t>Interactive login / REST calls</a:t>
            </a:r>
            <a:endParaRPr i="1" sz="1200">
              <a:solidFill>
                <a:srgbClr val="F5A300"/>
              </a:solidFill>
              <a:latin typeface="DM Sans"/>
              <a:ea typeface="DM Sans"/>
              <a:cs typeface="DM Sans"/>
              <a:sym typeface="DM Sans"/>
            </a:endParaRPr>
          </a:p>
        </p:txBody>
      </p:sp>
      <p:sp>
        <p:nvSpPr>
          <p:cNvPr id="1593" name="Google Shape;1593;p79"/>
          <p:cNvSpPr txBox="1"/>
          <p:nvPr/>
        </p:nvSpPr>
        <p:spPr>
          <a:xfrm>
            <a:off x="3983617" y="5770200"/>
            <a:ext cx="1222800" cy="517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300"/>
              </a:spcAft>
              <a:buNone/>
            </a:pPr>
            <a:r>
              <a:rPr i="1" lang="en" sz="1200">
                <a:solidFill>
                  <a:srgbClr val="F5A300"/>
                </a:solidFill>
                <a:latin typeface="DM Sans"/>
                <a:ea typeface="DM Sans"/>
                <a:cs typeface="DM Sans"/>
                <a:sym typeface="DM Sans"/>
              </a:rPr>
              <a:t>Auto-redirect </a:t>
            </a:r>
            <a:br>
              <a:rPr i="1" lang="en" sz="1200">
                <a:solidFill>
                  <a:srgbClr val="F5A300"/>
                </a:solidFill>
                <a:latin typeface="DM Sans"/>
                <a:ea typeface="DM Sans"/>
                <a:cs typeface="DM Sans"/>
                <a:sym typeface="DM Sans"/>
              </a:rPr>
            </a:br>
            <a:r>
              <a:rPr i="1" lang="en" sz="1200">
                <a:solidFill>
                  <a:srgbClr val="F5A300"/>
                </a:solidFill>
                <a:latin typeface="DM Sans"/>
                <a:ea typeface="DM Sans"/>
                <a:cs typeface="DM Sans"/>
                <a:sym typeface="DM Sans"/>
              </a:rPr>
              <a:t>to 443</a:t>
            </a:r>
            <a:endParaRPr i="1" sz="1200">
              <a:solidFill>
                <a:srgbClr val="F5A300"/>
              </a:solidFill>
              <a:latin typeface="DM Sans"/>
              <a:ea typeface="DM Sans"/>
              <a:cs typeface="DM Sans"/>
              <a:sym typeface="DM Sans"/>
            </a:endParaRPr>
          </a:p>
        </p:txBody>
      </p:sp>
      <p:sp>
        <p:nvSpPr>
          <p:cNvPr id="1578" name="Google Shape;1578;p79"/>
          <p:cNvSpPr/>
          <p:nvPr/>
        </p:nvSpPr>
        <p:spPr>
          <a:xfrm>
            <a:off x="1133077" y="3876838"/>
            <a:ext cx="1222800" cy="524700"/>
          </a:xfrm>
          <a:prstGeom prst="roundRect">
            <a:avLst>
              <a:gd fmla="val 15352"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Metastore</a:t>
            </a:r>
            <a:br>
              <a:rPr lang="en">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(Catalogs)</a:t>
            </a:r>
            <a:endParaRPr sz="1800">
              <a:solidFill>
                <a:schemeClr val="dk1"/>
              </a:solidFill>
              <a:latin typeface="DM Sans Medium"/>
              <a:ea typeface="DM Sans Medium"/>
              <a:cs typeface="DM Sans Medium"/>
              <a:sym typeface="DM Sans Medium"/>
            </a:endParaRPr>
          </a:p>
        </p:txBody>
      </p:sp>
      <p:pic>
        <p:nvPicPr>
          <p:cNvPr id="1594" name="Google Shape;1594;p79"/>
          <p:cNvPicPr preferRelativeResize="0"/>
          <p:nvPr/>
        </p:nvPicPr>
        <p:blipFill>
          <a:blip r:embed="rId4">
            <a:alphaModFix/>
          </a:blip>
          <a:stretch>
            <a:fillRect/>
          </a:stretch>
        </p:blipFill>
        <p:spPr>
          <a:xfrm>
            <a:off x="7530444" y="3455980"/>
            <a:ext cx="611063" cy="611032"/>
          </a:xfrm>
          <a:prstGeom prst="rect">
            <a:avLst/>
          </a:prstGeom>
          <a:noFill/>
          <a:ln>
            <a:noFill/>
          </a:ln>
        </p:spPr>
      </p:pic>
      <p:pic>
        <p:nvPicPr>
          <p:cNvPr id="1595" name="Google Shape;1595;p79"/>
          <p:cNvPicPr preferRelativeResize="0"/>
          <p:nvPr/>
        </p:nvPicPr>
        <p:blipFill>
          <a:blip r:embed="rId5">
            <a:alphaModFix/>
          </a:blip>
          <a:stretch>
            <a:fillRect/>
          </a:stretch>
        </p:blipFill>
        <p:spPr>
          <a:xfrm>
            <a:off x="8732309" y="3386696"/>
            <a:ext cx="666600" cy="666570"/>
          </a:xfrm>
          <a:prstGeom prst="rect">
            <a:avLst/>
          </a:prstGeom>
          <a:noFill/>
          <a:ln>
            <a:noFill/>
          </a:ln>
        </p:spPr>
      </p:pic>
      <p:pic>
        <p:nvPicPr>
          <p:cNvPr id="1590" name="Google Shape;1590;p79"/>
          <p:cNvPicPr preferRelativeResize="0"/>
          <p:nvPr/>
        </p:nvPicPr>
        <p:blipFill>
          <a:blip r:embed="rId6">
            <a:alphaModFix/>
          </a:blip>
          <a:stretch>
            <a:fillRect/>
          </a:stretch>
        </p:blipFill>
        <p:spPr>
          <a:xfrm>
            <a:off x="7323700" y="5846389"/>
            <a:ext cx="666600" cy="666600"/>
          </a:xfrm>
          <a:prstGeom prst="rect">
            <a:avLst/>
          </a:prstGeom>
          <a:noFill/>
          <a:ln>
            <a:noFill/>
          </a:ln>
        </p:spPr>
      </p:pic>
      <p:sp>
        <p:nvSpPr>
          <p:cNvPr id="1596" name="Google Shape;1596;p79"/>
          <p:cNvSpPr txBox="1"/>
          <p:nvPr/>
        </p:nvSpPr>
        <p:spPr>
          <a:xfrm>
            <a:off x="7291051" y="6324600"/>
            <a:ext cx="732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sp>
        <p:nvSpPr>
          <p:cNvPr id="1597" name="Google Shape;1597;p79"/>
          <p:cNvSpPr/>
          <p:nvPr/>
        </p:nvSpPr>
        <p:spPr>
          <a:xfrm>
            <a:off x="1000363" y="2046050"/>
            <a:ext cx="5042700" cy="583500"/>
          </a:xfrm>
          <a:prstGeom prst="roundRect">
            <a:avLst>
              <a:gd fmla="val 16765" name="adj"/>
            </a:avLst>
          </a:prstGeom>
          <a:no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Account Console</a:t>
            </a:r>
            <a:endParaRPr sz="1800">
              <a:solidFill>
                <a:schemeClr val="accent1"/>
              </a:solidFill>
              <a:latin typeface="DM Sans Medium"/>
              <a:ea typeface="DM Sans Medium"/>
              <a:cs typeface="DM Sans Medium"/>
              <a:sym typeface="DM Sans Medium"/>
            </a:endParaRPr>
          </a:p>
        </p:txBody>
      </p:sp>
      <p:pic>
        <p:nvPicPr>
          <p:cNvPr id="1598" name="Google Shape;1598;p79"/>
          <p:cNvPicPr preferRelativeResize="0"/>
          <p:nvPr/>
        </p:nvPicPr>
        <p:blipFill rotWithShape="1">
          <a:blip r:embed="rId3">
            <a:alphaModFix/>
          </a:blip>
          <a:srcRect b="0" l="0" r="82955" t="0"/>
          <a:stretch/>
        </p:blipFill>
        <p:spPr>
          <a:xfrm>
            <a:off x="2332008" y="2225263"/>
            <a:ext cx="245706" cy="226800"/>
          </a:xfrm>
          <a:prstGeom prst="rect">
            <a:avLst/>
          </a:prstGeom>
          <a:noFill/>
          <a:ln>
            <a:noFill/>
          </a:ln>
        </p:spPr>
      </p:pic>
      <p:sp>
        <p:nvSpPr>
          <p:cNvPr id="1599" name="Google Shape;1599;p79"/>
          <p:cNvSpPr/>
          <p:nvPr/>
        </p:nvSpPr>
        <p:spPr>
          <a:xfrm>
            <a:off x="1133077" y="4497450"/>
            <a:ext cx="1222800" cy="524700"/>
          </a:xfrm>
          <a:prstGeom prst="roundRect">
            <a:avLst>
              <a:gd fmla="val 16490"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t>
            </a:r>
            <a:endParaRPr sz="1800">
              <a:solidFill>
                <a:schemeClr val="dk1"/>
              </a:solidFill>
              <a:latin typeface="DM Sans Medium"/>
              <a:ea typeface="DM Sans Medium"/>
              <a:cs typeface="DM Sans Medium"/>
              <a:sym typeface="DM Sans Medium"/>
            </a:endParaRPr>
          </a:p>
        </p:txBody>
      </p:sp>
      <p:sp>
        <p:nvSpPr>
          <p:cNvPr id="1600" name="Google Shape;1600;p79"/>
          <p:cNvSpPr/>
          <p:nvPr/>
        </p:nvSpPr>
        <p:spPr>
          <a:xfrm>
            <a:off x="2449213" y="4498350"/>
            <a:ext cx="1136100" cy="522900"/>
          </a:xfrm>
          <a:prstGeom prst="roundRect">
            <a:avLst>
              <a:gd fmla="val 15352" name="adj"/>
            </a:avLst>
          </a:prstGeom>
          <a:no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a:t>
            </a:r>
            <a:endParaRPr sz="1600">
              <a:solidFill>
                <a:schemeClr val="dk1"/>
              </a:solidFill>
              <a:latin typeface="DM Sans Medium"/>
              <a:ea typeface="DM Sans Medium"/>
              <a:cs typeface="DM Sans Medium"/>
              <a:sym typeface="DM Sans Medium"/>
            </a:endParaRPr>
          </a:p>
        </p:txBody>
      </p:sp>
      <p:sp>
        <p:nvSpPr>
          <p:cNvPr id="1601" name="Google Shape;1601;p79"/>
          <p:cNvSpPr/>
          <p:nvPr/>
        </p:nvSpPr>
        <p:spPr>
          <a:xfrm>
            <a:off x="2449213" y="3876838"/>
            <a:ext cx="1136100" cy="524700"/>
          </a:xfrm>
          <a:prstGeom prst="roundRect">
            <a:avLst>
              <a:gd fmla="val 16490" name="adj"/>
            </a:avLst>
          </a:prstGeom>
          <a:no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600"/>
              </a:spcBef>
              <a:spcAft>
                <a:spcPts val="600"/>
              </a:spcAft>
              <a:buNone/>
            </a:pPr>
            <a:r>
              <a:rPr lang="en">
                <a:solidFill>
                  <a:schemeClr val="accent1"/>
                </a:solidFill>
                <a:latin typeface="DM Sans"/>
                <a:ea typeface="DM Sans"/>
                <a:cs typeface="DM Sans"/>
                <a:sym typeface="DM Sans"/>
              </a:rPr>
              <a:t>DatabricksIQ</a:t>
            </a:r>
            <a:endParaRPr sz="1800">
              <a:solidFill>
                <a:schemeClr val="dk1"/>
              </a:solidFill>
              <a:latin typeface="DM Sans Medium"/>
              <a:ea typeface="DM Sans Medium"/>
              <a:cs typeface="DM Sans Medium"/>
              <a:sym typeface="DM Sans Medium"/>
            </a:endParaRPr>
          </a:p>
        </p:txBody>
      </p:sp>
      <p:pic>
        <p:nvPicPr>
          <p:cNvPr id="1602" name="Google Shape;1602;p79"/>
          <p:cNvPicPr preferRelativeResize="0"/>
          <p:nvPr/>
        </p:nvPicPr>
        <p:blipFill rotWithShape="1">
          <a:blip r:embed="rId3">
            <a:alphaModFix/>
          </a:blip>
          <a:srcRect b="0" l="0" r="82955" t="0"/>
          <a:stretch/>
        </p:blipFill>
        <p:spPr>
          <a:xfrm>
            <a:off x="2501522" y="2850732"/>
            <a:ext cx="245706" cy="226800"/>
          </a:xfrm>
          <a:prstGeom prst="rect">
            <a:avLst/>
          </a:prstGeom>
          <a:noFill/>
          <a:ln>
            <a:noFill/>
          </a:ln>
        </p:spPr>
      </p:pic>
      <p:pic>
        <p:nvPicPr>
          <p:cNvPr id="1603" name="Google Shape;1603;p79"/>
          <p:cNvPicPr preferRelativeResize="0"/>
          <p:nvPr/>
        </p:nvPicPr>
        <p:blipFill rotWithShape="1">
          <a:blip r:embed="rId3">
            <a:alphaModFix/>
          </a:blip>
          <a:srcRect b="0" l="0" r="82955" t="0"/>
          <a:stretch/>
        </p:blipFill>
        <p:spPr>
          <a:xfrm>
            <a:off x="7266279" y="2188991"/>
            <a:ext cx="245706" cy="226800"/>
          </a:xfrm>
          <a:prstGeom prst="rect">
            <a:avLst/>
          </a:prstGeom>
          <a:noFill/>
          <a:ln>
            <a:noFill/>
          </a:ln>
        </p:spPr>
      </p:pic>
      <p:sp>
        <p:nvSpPr>
          <p:cNvPr id="1575" name="Google Shape;1575;p79"/>
          <p:cNvSpPr/>
          <p:nvPr/>
        </p:nvSpPr>
        <p:spPr>
          <a:xfrm>
            <a:off x="8155767" y="3074730"/>
            <a:ext cx="597600" cy="338100"/>
          </a:xfrm>
          <a:prstGeom prst="ellipse">
            <a:avLst/>
          </a:prstGeom>
          <a:solidFill>
            <a:srgbClr val="FFFFFF"/>
          </a:solidFill>
          <a:ln cap="flat" cmpd="sng" w="19050">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443</a:t>
            </a:r>
            <a:endParaRPr>
              <a:solidFill>
                <a:schemeClr val="accent2"/>
              </a:solidFill>
              <a:latin typeface="DM Sans Medium"/>
              <a:ea typeface="DM Sans Medium"/>
              <a:cs typeface="DM Sans Medium"/>
              <a:sym typeface="DM Sans Medium"/>
            </a:endParaRPr>
          </a:p>
        </p:txBody>
      </p:sp>
      <p:sp>
        <p:nvSpPr>
          <p:cNvPr id="1604" name="Google Shape;1604;p79"/>
          <p:cNvSpPr txBox="1"/>
          <p:nvPr/>
        </p:nvSpPr>
        <p:spPr>
          <a:xfrm>
            <a:off x="7080275" y="2499533"/>
            <a:ext cx="2109900" cy="517200"/>
          </a:xfrm>
          <a:prstGeom prst="rect">
            <a:avLst/>
          </a:prstGeom>
          <a:noFill/>
          <a:ln>
            <a:noFill/>
          </a:ln>
        </p:spPr>
        <p:txBody>
          <a:bodyPr anchorCtr="0" anchor="t" bIns="91425" lIns="91425" spcFirstLastPara="1" rIns="0" wrap="square" tIns="91425">
            <a:spAutoFit/>
          </a:bodyPr>
          <a:lstStyle/>
          <a:p>
            <a:pPr indent="0" lvl="0" marL="0" rtl="0" algn="l">
              <a:lnSpc>
                <a:spcPct val="90000"/>
              </a:lnSpc>
              <a:spcBef>
                <a:spcPts val="0"/>
              </a:spcBef>
              <a:spcAft>
                <a:spcPts val="0"/>
              </a:spcAft>
              <a:buNone/>
            </a:pPr>
            <a:r>
              <a:rPr i="1" lang="en" sz="1200">
                <a:solidFill>
                  <a:schemeClr val="dk1"/>
                </a:solidFill>
                <a:latin typeface="DM Sans"/>
                <a:ea typeface="DM Sans"/>
                <a:cs typeface="DM Sans"/>
                <a:sym typeface="DM Sans"/>
              </a:rPr>
              <a:t>Internal calls (from compute </a:t>
            </a:r>
            <a:br>
              <a:rPr i="1" lang="en" sz="1200">
                <a:solidFill>
                  <a:schemeClr val="dk1"/>
                </a:solidFill>
                <a:latin typeface="DM Sans"/>
                <a:ea typeface="DM Sans"/>
                <a:cs typeface="DM Sans"/>
                <a:sym typeface="DM Sans"/>
              </a:rPr>
            </a:br>
            <a:r>
              <a:rPr i="1" lang="en" sz="1200">
                <a:solidFill>
                  <a:schemeClr val="dk1"/>
                </a:solidFill>
                <a:latin typeface="DM Sans"/>
                <a:ea typeface="DM Sans"/>
                <a:cs typeface="DM Sans"/>
                <a:sym typeface="DM Sans"/>
              </a:rPr>
              <a:t>plane to control plane only)</a:t>
            </a:r>
            <a:endParaRPr i="1" sz="1200">
              <a:solidFill>
                <a:schemeClr val="dk1"/>
              </a:solidFill>
              <a:latin typeface="DM Sans"/>
              <a:ea typeface="DM Sans"/>
              <a:cs typeface="DM Sans"/>
              <a:sym typeface="DM Sans"/>
            </a:endParaRPr>
          </a:p>
        </p:txBody>
      </p:sp>
      <p:sp>
        <p:nvSpPr>
          <p:cNvPr id="1605" name="Google Shape;1605;p79"/>
          <p:cNvSpPr/>
          <p:nvPr/>
        </p:nvSpPr>
        <p:spPr>
          <a:xfrm>
            <a:off x="4708963" y="2766255"/>
            <a:ext cx="1308000" cy="338100"/>
          </a:xfrm>
          <a:prstGeom prst="ellipse">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8443-8451</a:t>
            </a:r>
            <a:endParaRPr>
              <a:solidFill>
                <a:schemeClr val="accent1"/>
              </a:solidFill>
              <a:latin typeface="DM Sans Medium"/>
              <a:ea typeface="DM Sans Medium"/>
              <a:cs typeface="DM Sans Medium"/>
              <a:sym typeface="DM Sans Medium"/>
            </a:endParaRPr>
          </a:p>
        </p:txBody>
      </p:sp>
      <p:cxnSp>
        <p:nvCxnSpPr>
          <p:cNvPr id="1606" name="Google Shape;1606;p79"/>
          <p:cNvCxnSpPr>
            <a:stCxn id="1575" idx="0"/>
            <a:endCxn id="1605" idx="6"/>
          </p:cNvCxnSpPr>
          <p:nvPr/>
        </p:nvCxnSpPr>
        <p:spPr>
          <a:xfrm flipH="1" rot="5400000">
            <a:off x="7166067" y="1786230"/>
            <a:ext cx="139500" cy="2437500"/>
          </a:xfrm>
          <a:prstGeom prst="curvedConnector2">
            <a:avLst/>
          </a:prstGeom>
          <a:noFill/>
          <a:ln cap="flat" cmpd="sng" w="19050">
            <a:solidFill>
              <a:schemeClr val="accent1"/>
            </a:solidFill>
            <a:prstDash val="solid"/>
            <a:round/>
            <a:headEnd len="sm" w="sm" type="oval"/>
            <a:tailEnd len="sm" w="sm" type="triangle"/>
          </a:ln>
        </p:spPr>
      </p:cxnSp>
      <p:sp>
        <p:nvSpPr>
          <p:cNvPr id="1570" name="Google Shape;1570;p79"/>
          <p:cNvSpPr/>
          <p:nvPr/>
        </p:nvSpPr>
        <p:spPr>
          <a:xfrm>
            <a:off x="4814500" y="4566625"/>
            <a:ext cx="85800" cy="7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573" name="Google Shape;1573;p79"/>
          <p:cNvSpPr/>
          <p:nvPr/>
        </p:nvSpPr>
        <p:spPr>
          <a:xfrm>
            <a:off x="4814500" y="4109425"/>
            <a:ext cx="85800" cy="7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566" name="Google Shape;1566;p79"/>
          <p:cNvSpPr/>
          <p:nvPr/>
        </p:nvSpPr>
        <p:spPr>
          <a:xfrm>
            <a:off x="4814500" y="4858198"/>
            <a:ext cx="85800" cy="7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607" name="Google Shape;1607;p79"/>
          <p:cNvSpPr/>
          <p:nvPr/>
        </p:nvSpPr>
        <p:spPr>
          <a:xfrm>
            <a:off x="1133077" y="3102588"/>
            <a:ext cx="1222800" cy="524700"/>
          </a:xfrm>
          <a:prstGeom prst="roundRect">
            <a:avLst>
              <a:gd fmla="val 15352" name="adj"/>
            </a:avLst>
          </a:prstGeom>
          <a:noFill/>
          <a:ln cap="flat" cmpd="sng" w="19050">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600"/>
              </a:spcBef>
              <a:spcAft>
                <a:spcPts val="600"/>
              </a:spcAft>
              <a:buNone/>
            </a:pPr>
            <a:r>
              <a:rPr lang="en">
                <a:solidFill>
                  <a:srgbClr val="B7B7B7"/>
                </a:solidFill>
                <a:latin typeface="DM Sans"/>
                <a:ea typeface="DM Sans"/>
                <a:cs typeface="DM Sans"/>
                <a:sym typeface="DM Sans"/>
              </a:rPr>
              <a:t>Hive Metastore</a:t>
            </a:r>
            <a:endParaRPr sz="1800">
              <a:solidFill>
                <a:srgbClr val="B7B7B7"/>
              </a:solidFill>
              <a:latin typeface="DM Sans Medium"/>
              <a:ea typeface="DM Sans Medium"/>
              <a:cs typeface="DM Sans Medium"/>
              <a:sym typeface="DM Sans Medium"/>
            </a:endParaRPr>
          </a:p>
        </p:txBody>
      </p:sp>
      <p:sp>
        <p:nvSpPr>
          <p:cNvPr id="1608" name="Google Shape;1608;p79"/>
          <p:cNvSpPr/>
          <p:nvPr/>
        </p:nvSpPr>
        <p:spPr>
          <a:xfrm>
            <a:off x="2262926" y="3209647"/>
            <a:ext cx="666600" cy="338100"/>
          </a:xfrm>
          <a:prstGeom prst="ellipse">
            <a:avLst/>
          </a:prstGeom>
          <a:solidFill>
            <a:srgbClr val="FFFFFF"/>
          </a:solidFill>
          <a:ln cap="flat" cmpd="sng" w="19050">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rgbClr val="B7B7B7"/>
                </a:solidFill>
                <a:latin typeface="DM Sans Medium"/>
                <a:ea typeface="DM Sans Medium"/>
                <a:cs typeface="DM Sans Medium"/>
                <a:sym typeface="DM Sans Medium"/>
              </a:rPr>
              <a:t>3306</a:t>
            </a:r>
            <a:endParaRPr>
              <a:solidFill>
                <a:srgbClr val="B7B7B7"/>
              </a:solidFill>
              <a:latin typeface="DM Sans Medium"/>
              <a:ea typeface="DM Sans Medium"/>
              <a:cs typeface="DM Sans Medium"/>
              <a:sym typeface="DM Sans Medium"/>
            </a:endParaRPr>
          </a:p>
        </p:txBody>
      </p:sp>
      <p:cxnSp>
        <p:nvCxnSpPr>
          <p:cNvPr id="1609" name="Google Shape;1609;p79"/>
          <p:cNvCxnSpPr>
            <a:stCxn id="1575" idx="1"/>
            <a:endCxn id="1608" idx="6"/>
          </p:cNvCxnSpPr>
          <p:nvPr/>
        </p:nvCxnSpPr>
        <p:spPr>
          <a:xfrm rot="5400000">
            <a:off x="5459133" y="594493"/>
            <a:ext cx="254400" cy="5313900"/>
          </a:xfrm>
          <a:prstGeom prst="curvedConnector4">
            <a:avLst>
              <a:gd fmla="val -15328" name="adj1"/>
              <a:gd fmla="val 50822" name="adj2"/>
            </a:avLst>
          </a:prstGeom>
          <a:noFill/>
          <a:ln cap="flat" cmpd="sng" w="19050">
            <a:solidFill>
              <a:srgbClr val="B7B7B7"/>
            </a:solidFill>
            <a:prstDash val="solid"/>
            <a:round/>
            <a:headEnd len="sm" w="sm" type="oval"/>
            <a:tailEnd len="sm" w="sm"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sp>
        <p:nvSpPr>
          <p:cNvPr id="1614" name="Google Shape;1614;p80"/>
          <p:cNvSpPr/>
          <p:nvPr/>
        </p:nvSpPr>
        <p:spPr>
          <a:xfrm>
            <a:off x="6874000" y="3706050"/>
            <a:ext cx="1092900" cy="906300"/>
          </a:xfrm>
          <a:prstGeom prst="rect">
            <a:avLst/>
          </a:prstGeom>
          <a:noFill/>
          <a:ln cap="flat" cmpd="sng" w="9525">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Transit </a:t>
            </a:r>
            <a:br>
              <a:rPr lang="en">
                <a:solidFill>
                  <a:schemeClr val="accent2"/>
                </a:solidFill>
                <a:latin typeface="DM Sans Medium"/>
                <a:ea typeface="DM Sans Medium"/>
                <a:cs typeface="DM Sans Medium"/>
                <a:sym typeface="DM Sans Medium"/>
              </a:rPr>
            </a:br>
            <a:r>
              <a:rPr lang="en">
                <a:solidFill>
                  <a:schemeClr val="accent2"/>
                </a:solidFill>
                <a:latin typeface="DM Sans Medium"/>
                <a:ea typeface="DM Sans Medium"/>
                <a:cs typeface="DM Sans Medium"/>
                <a:sym typeface="DM Sans Medium"/>
              </a:rPr>
              <a:t>VNet/VPC</a:t>
            </a:r>
            <a:endParaRPr>
              <a:latin typeface="DM Sans"/>
              <a:ea typeface="DM Sans"/>
              <a:cs typeface="DM Sans"/>
              <a:sym typeface="DM Sans"/>
            </a:endParaRPr>
          </a:p>
        </p:txBody>
      </p:sp>
      <p:sp>
        <p:nvSpPr>
          <p:cNvPr id="1615" name="Google Shape;1615;p80"/>
          <p:cNvSpPr/>
          <p:nvPr/>
        </p:nvSpPr>
        <p:spPr>
          <a:xfrm>
            <a:off x="8509125" y="2350600"/>
            <a:ext cx="2377800" cy="2261400"/>
          </a:xfrm>
          <a:prstGeom prst="rect">
            <a:avLst/>
          </a:prstGeom>
          <a:noFill/>
          <a:ln cap="flat" cmpd="sng" w="9525">
            <a:solidFill>
              <a:schemeClr val="accent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Compute Plane VNet/VPC</a:t>
            </a:r>
            <a:endParaRPr>
              <a:solidFill>
                <a:schemeClr val="accent2"/>
              </a:solidFill>
              <a:latin typeface="DM Sans Medium"/>
              <a:ea typeface="DM Sans Medium"/>
              <a:cs typeface="DM Sans Medium"/>
              <a:sym typeface="DM Sans Medium"/>
            </a:endParaRPr>
          </a:p>
        </p:txBody>
      </p:sp>
      <p:sp>
        <p:nvSpPr>
          <p:cNvPr id="1616" name="Google Shape;1616;p80"/>
          <p:cNvSpPr/>
          <p:nvPr/>
        </p:nvSpPr>
        <p:spPr>
          <a:xfrm>
            <a:off x="6590925" y="5688575"/>
            <a:ext cx="2754000" cy="762300"/>
          </a:xfrm>
          <a:prstGeom prst="roundRect">
            <a:avLst>
              <a:gd fmla="val 10693"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857250" rtl="0" algn="ctr">
              <a:spcBef>
                <a:spcPts val="0"/>
              </a:spcBef>
              <a:spcAft>
                <a:spcPts val="0"/>
              </a:spcAft>
              <a:buNone/>
            </a:pPr>
            <a:r>
              <a:rPr lang="en" sz="2000">
                <a:solidFill>
                  <a:schemeClr val="accent1"/>
                </a:solidFill>
                <a:latin typeface="DM Sans Medium"/>
                <a:ea typeface="DM Sans Medium"/>
                <a:cs typeface="DM Sans Medium"/>
                <a:sym typeface="DM Sans Medium"/>
              </a:rPr>
              <a:t>Customer</a:t>
            </a:r>
            <a:br>
              <a:rPr lang="en" sz="2000">
                <a:solidFill>
                  <a:schemeClr val="accent1"/>
                </a:solidFill>
                <a:latin typeface="DM Sans Medium"/>
                <a:ea typeface="DM Sans Medium"/>
                <a:cs typeface="DM Sans Medium"/>
                <a:sym typeface="DM Sans Medium"/>
              </a:rPr>
            </a:br>
            <a:r>
              <a:rPr lang="en" sz="2000">
                <a:solidFill>
                  <a:schemeClr val="accent1"/>
                </a:solidFill>
                <a:latin typeface="DM Sans Medium"/>
                <a:ea typeface="DM Sans Medium"/>
                <a:cs typeface="DM Sans Medium"/>
                <a:sym typeface="DM Sans Medium"/>
              </a:rPr>
              <a:t>Corp. Network</a:t>
            </a:r>
            <a:endParaRPr sz="2000">
              <a:solidFill>
                <a:schemeClr val="accent1"/>
              </a:solidFill>
              <a:latin typeface="DM Sans Medium"/>
              <a:ea typeface="DM Sans Medium"/>
              <a:cs typeface="DM Sans Medium"/>
              <a:sym typeface="DM Sans Medium"/>
            </a:endParaRPr>
          </a:p>
        </p:txBody>
      </p:sp>
      <p:sp>
        <p:nvSpPr>
          <p:cNvPr id="1617" name="Google Shape;1617;p80"/>
          <p:cNvSpPr/>
          <p:nvPr/>
        </p:nvSpPr>
        <p:spPr>
          <a:xfrm>
            <a:off x="1235225" y="3054825"/>
            <a:ext cx="4807800" cy="1557300"/>
          </a:xfrm>
          <a:prstGeom prst="roundRect">
            <a:avLst>
              <a:gd fmla="val 7054"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Control Plane</a:t>
            </a:r>
            <a:endParaRPr sz="1800">
              <a:solidFill>
                <a:schemeClr val="accent1"/>
              </a:solidFill>
              <a:latin typeface="DM Sans Medium"/>
              <a:ea typeface="DM Sans Medium"/>
              <a:cs typeface="DM Sans Medium"/>
              <a:sym typeface="DM Sans Medium"/>
            </a:endParaRPr>
          </a:p>
        </p:txBody>
      </p:sp>
      <p:sp>
        <p:nvSpPr>
          <p:cNvPr id="1618" name="Google Shape;1618;p8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619" name="Google Shape;1619;p80"/>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Private Link for end-to-end private connectivity</a:t>
            </a:r>
            <a:endParaRPr sz="3600"/>
          </a:p>
        </p:txBody>
      </p:sp>
      <p:sp>
        <p:nvSpPr>
          <p:cNvPr id="1620" name="Google Shape;1620;p80"/>
          <p:cNvSpPr/>
          <p:nvPr/>
        </p:nvSpPr>
        <p:spPr>
          <a:xfrm>
            <a:off x="8616400" y="2791300"/>
            <a:ext cx="2148900" cy="1716600"/>
          </a:xfrm>
          <a:prstGeom prst="roundRect">
            <a:avLst>
              <a:gd fmla="val 5209"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Classic </a:t>
            </a:r>
            <a:br>
              <a:rPr lang="en" sz="1800">
                <a:solidFill>
                  <a:schemeClr val="accent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Compute</a:t>
            </a:r>
            <a:endParaRPr sz="1800">
              <a:solidFill>
                <a:schemeClr val="accent1"/>
              </a:solidFill>
              <a:latin typeface="DM Sans Medium"/>
              <a:ea typeface="DM Sans Medium"/>
              <a:cs typeface="DM Sans Medium"/>
              <a:sym typeface="DM Sans Medium"/>
            </a:endParaRPr>
          </a:p>
        </p:txBody>
      </p:sp>
      <p:sp>
        <p:nvSpPr>
          <p:cNvPr id="1621" name="Google Shape;1621;p80"/>
          <p:cNvSpPr/>
          <p:nvPr/>
        </p:nvSpPr>
        <p:spPr>
          <a:xfrm>
            <a:off x="1235225" y="2350850"/>
            <a:ext cx="4807800" cy="583500"/>
          </a:xfrm>
          <a:prstGeom prst="roundRect">
            <a:avLst>
              <a:gd fmla="val 16765" name="adj"/>
            </a:avLst>
          </a:prstGeom>
          <a:no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Account Console</a:t>
            </a:r>
            <a:endParaRPr sz="1800">
              <a:solidFill>
                <a:schemeClr val="accent1"/>
              </a:solidFill>
              <a:latin typeface="DM Sans Medium"/>
              <a:ea typeface="DM Sans Medium"/>
              <a:cs typeface="DM Sans Medium"/>
              <a:sym typeface="DM Sans Medium"/>
            </a:endParaRPr>
          </a:p>
        </p:txBody>
      </p:sp>
      <p:pic>
        <p:nvPicPr>
          <p:cNvPr id="1622" name="Google Shape;1622;p80"/>
          <p:cNvPicPr preferRelativeResize="0"/>
          <p:nvPr/>
        </p:nvPicPr>
        <p:blipFill rotWithShape="1">
          <a:blip r:embed="rId3">
            <a:alphaModFix/>
          </a:blip>
          <a:srcRect b="0" l="0" r="82955" t="0"/>
          <a:stretch/>
        </p:blipFill>
        <p:spPr>
          <a:xfrm>
            <a:off x="2408208" y="2530063"/>
            <a:ext cx="245706" cy="226800"/>
          </a:xfrm>
          <a:prstGeom prst="rect">
            <a:avLst/>
          </a:prstGeom>
          <a:noFill/>
          <a:ln>
            <a:noFill/>
          </a:ln>
        </p:spPr>
      </p:pic>
      <p:pic>
        <p:nvPicPr>
          <p:cNvPr id="1623" name="Google Shape;1623;p80"/>
          <p:cNvPicPr preferRelativeResize="0"/>
          <p:nvPr/>
        </p:nvPicPr>
        <p:blipFill rotWithShape="1">
          <a:blip r:embed="rId3">
            <a:alphaModFix/>
          </a:blip>
          <a:srcRect b="0" l="0" r="82955" t="0"/>
          <a:stretch/>
        </p:blipFill>
        <p:spPr>
          <a:xfrm>
            <a:off x="2622847" y="3199747"/>
            <a:ext cx="245706" cy="226800"/>
          </a:xfrm>
          <a:prstGeom prst="rect">
            <a:avLst/>
          </a:prstGeom>
          <a:noFill/>
          <a:ln>
            <a:noFill/>
          </a:ln>
        </p:spPr>
      </p:pic>
      <p:pic>
        <p:nvPicPr>
          <p:cNvPr id="1624" name="Google Shape;1624;p80"/>
          <p:cNvPicPr preferRelativeResize="0"/>
          <p:nvPr/>
        </p:nvPicPr>
        <p:blipFill rotWithShape="1">
          <a:blip r:embed="rId3">
            <a:alphaModFix/>
          </a:blip>
          <a:srcRect b="0" l="0" r="82955" t="0"/>
          <a:stretch/>
        </p:blipFill>
        <p:spPr>
          <a:xfrm>
            <a:off x="8937938" y="2934350"/>
            <a:ext cx="245706" cy="226800"/>
          </a:xfrm>
          <a:prstGeom prst="rect">
            <a:avLst/>
          </a:prstGeom>
          <a:noFill/>
          <a:ln>
            <a:noFill/>
          </a:ln>
        </p:spPr>
      </p:pic>
      <p:sp>
        <p:nvSpPr>
          <p:cNvPr id="1625" name="Google Shape;1625;p80"/>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Private connectivity between users, workloads and data</a:t>
            </a:r>
            <a:endParaRPr/>
          </a:p>
        </p:txBody>
      </p:sp>
      <p:sp>
        <p:nvSpPr>
          <p:cNvPr id="1626" name="Google Shape;1626;p80"/>
          <p:cNvSpPr/>
          <p:nvPr/>
        </p:nvSpPr>
        <p:spPr>
          <a:xfrm>
            <a:off x="6359950" y="1714500"/>
            <a:ext cx="46647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627" name="Google Shape;1627;p80"/>
          <p:cNvSpPr/>
          <p:nvPr/>
        </p:nvSpPr>
        <p:spPr>
          <a:xfrm>
            <a:off x="1091000" y="1714500"/>
            <a:ext cx="50736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8" name="Google Shape;1628;p80"/>
          <p:cNvPicPr preferRelativeResize="0"/>
          <p:nvPr/>
        </p:nvPicPr>
        <p:blipFill rotWithShape="1">
          <a:blip r:embed="rId3">
            <a:alphaModFix/>
          </a:blip>
          <a:srcRect b="0" l="0" r="0" t="0"/>
          <a:stretch/>
        </p:blipFill>
        <p:spPr>
          <a:xfrm>
            <a:off x="2305897" y="1776743"/>
            <a:ext cx="2149050" cy="338050"/>
          </a:xfrm>
          <a:prstGeom prst="rect">
            <a:avLst/>
          </a:prstGeom>
          <a:noFill/>
          <a:ln>
            <a:noFill/>
          </a:ln>
        </p:spPr>
      </p:pic>
      <p:pic>
        <p:nvPicPr>
          <p:cNvPr id="1629" name="Google Shape;1629;p80"/>
          <p:cNvPicPr preferRelativeResize="0"/>
          <p:nvPr/>
        </p:nvPicPr>
        <p:blipFill>
          <a:blip r:embed="rId4">
            <a:alphaModFix/>
          </a:blip>
          <a:stretch>
            <a:fillRect/>
          </a:stretch>
        </p:blipFill>
        <p:spPr>
          <a:xfrm>
            <a:off x="6790300" y="5634374"/>
            <a:ext cx="666600" cy="666600"/>
          </a:xfrm>
          <a:prstGeom prst="rect">
            <a:avLst/>
          </a:prstGeom>
          <a:noFill/>
          <a:ln>
            <a:noFill/>
          </a:ln>
        </p:spPr>
      </p:pic>
      <p:sp>
        <p:nvSpPr>
          <p:cNvPr id="1630" name="Google Shape;1630;p80"/>
          <p:cNvSpPr txBox="1"/>
          <p:nvPr/>
        </p:nvSpPr>
        <p:spPr>
          <a:xfrm>
            <a:off x="6757651" y="6112585"/>
            <a:ext cx="732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DM Sans Medium"/>
                <a:ea typeface="DM Sans Medium"/>
                <a:cs typeface="DM Sans Medium"/>
                <a:sym typeface="DM Sans Medium"/>
              </a:rPr>
              <a:t>Users</a:t>
            </a:r>
            <a:endParaRPr sz="1600">
              <a:solidFill>
                <a:schemeClr val="accent1"/>
              </a:solidFill>
              <a:latin typeface="DM Sans Medium"/>
              <a:ea typeface="DM Sans Medium"/>
              <a:cs typeface="DM Sans Medium"/>
              <a:sym typeface="DM Sans Medium"/>
            </a:endParaRPr>
          </a:p>
        </p:txBody>
      </p:sp>
      <p:cxnSp>
        <p:nvCxnSpPr>
          <p:cNvPr id="1631" name="Google Shape;1631;p80"/>
          <p:cNvCxnSpPr>
            <a:endCxn id="1614" idx="2"/>
          </p:cNvCxnSpPr>
          <p:nvPr/>
        </p:nvCxnSpPr>
        <p:spPr>
          <a:xfrm rot="-5400000">
            <a:off x="6878650" y="5152050"/>
            <a:ext cx="1081500" cy="2100"/>
          </a:xfrm>
          <a:prstGeom prst="bentConnector3">
            <a:avLst>
              <a:gd fmla="val 50000" name="adj1"/>
            </a:avLst>
          </a:prstGeom>
          <a:noFill/>
          <a:ln cap="flat" cmpd="sng" w="19050">
            <a:solidFill>
              <a:schemeClr val="accent2"/>
            </a:solidFill>
            <a:prstDash val="solid"/>
            <a:round/>
            <a:headEnd len="med" w="med" type="oval"/>
            <a:tailEnd len="med" w="med" type="triangle"/>
          </a:ln>
        </p:spPr>
      </p:cxnSp>
      <p:sp>
        <p:nvSpPr>
          <p:cNvPr id="1632" name="Google Shape;1632;p80"/>
          <p:cNvSpPr txBox="1"/>
          <p:nvPr/>
        </p:nvSpPr>
        <p:spPr>
          <a:xfrm>
            <a:off x="7353699" y="5102313"/>
            <a:ext cx="6666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VPN</a:t>
            </a:r>
            <a:endParaRPr b="1">
              <a:solidFill>
                <a:schemeClr val="accent2"/>
              </a:solidFill>
              <a:latin typeface="DM Sans"/>
              <a:ea typeface="DM Sans"/>
              <a:cs typeface="DM Sans"/>
              <a:sym typeface="DM Sans"/>
            </a:endParaRPr>
          </a:p>
        </p:txBody>
      </p:sp>
      <p:sp>
        <p:nvSpPr>
          <p:cNvPr id="1633" name="Google Shape;1633;p80"/>
          <p:cNvSpPr/>
          <p:nvPr/>
        </p:nvSpPr>
        <p:spPr>
          <a:xfrm>
            <a:off x="8616525" y="4959525"/>
            <a:ext cx="2148900" cy="623400"/>
          </a:xfrm>
          <a:prstGeom prst="roundRect">
            <a:avLst>
              <a:gd fmla="val 145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cxnSp>
        <p:nvCxnSpPr>
          <p:cNvPr id="1634" name="Google Shape;1634;p80"/>
          <p:cNvCxnSpPr>
            <a:stCxn id="1635" idx="2"/>
            <a:endCxn id="1614" idx="1"/>
          </p:cNvCxnSpPr>
          <p:nvPr/>
        </p:nvCxnSpPr>
        <p:spPr>
          <a:xfrm flipH="1" rot="-5400000">
            <a:off x="6048125" y="3333435"/>
            <a:ext cx="208500" cy="1443300"/>
          </a:xfrm>
          <a:prstGeom prst="bentConnector2">
            <a:avLst/>
          </a:prstGeom>
          <a:noFill/>
          <a:ln cap="flat" cmpd="sng" w="19050">
            <a:solidFill>
              <a:schemeClr val="accent2"/>
            </a:solidFill>
            <a:prstDash val="solid"/>
            <a:round/>
            <a:headEnd len="med" w="med" type="triangle"/>
            <a:tailEnd len="med" w="med" type="oval"/>
          </a:ln>
        </p:spPr>
      </p:cxnSp>
      <p:cxnSp>
        <p:nvCxnSpPr>
          <p:cNvPr id="1636" name="Google Shape;1636;p80"/>
          <p:cNvCxnSpPr>
            <a:endCxn id="1635" idx="0"/>
          </p:cNvCxnSpPr>
          <p:nvPr/>
        </p:nvCxnSpPr>
        <p:spPr>
          <a:xfrm flipH="1">
            <a:off x="5430725" y="3167835"/>
            <a:ext cx="3104100" cy="199500"/>
          </a:xfrm>
          <a:prstGeom prst="bentConnector2">
            <a:avLst/>
          </a:prstGeom>
          <a:noFill/>
          <a:ln cap="flat" cmpd="sng" w="19050">
            <a:solidFill>
              <a:schemeClr val="accent2"/>
            </a:solidFill>
            <a:prstDash val="solid"/>
            <a:round/>
            <a:headEnd len="med" w="med" type="oval"/>
            <a:tailEnd len="med" w="med" type="triangle"/>
          </a:ln>
        </p:spPr>
      </p:cxnSp>
      <p:cxnSp>
        <p:nvCxnSpPr>
          <p:cNvPr id="1637" name="Google Shape;1637;p80"/>
          <p:cNvCxnSpPr>
            <a:stCxn id="1620" idx="2"/>
            <a:endCxn id="1633" idx="0"/>
          </p:cNvCxnSpPr>
          <p:nvPr/>
        </p:nvCxnSpPr>
        <p:spPr>
          <a:xfrm flipH="1" rot="-5400000">
            <a:off x="9465400" y="4733350"/>
            <a:ext cx="451500" cy="600"/>
          </a:xfrm>
          <a:prstGeom prst="bentConnector3">
            <a:avLst>
              <a:gd fmla="val 50014" name="adj1"/>
            </a:avLst>
          </a:prstGeom>
          <a:noFill/>
          <a:ln cap="flat" cmpd="sng" w="19050">
            <a:solidFill>
              <a:schemeClr val="accent2"/>
            </a:solidFill>
            <a:prstDash val="solid"/>
            <a:round/>
            <a:headEnd len="med" w="med" type="oval"/>
            <a:tailEnd len="med" w="med" type="triangle"/>
          </a:ln>
        </p:spPr>
      </p:cxnSp>
      <p:sp>
        <p:nvSpPr>
          <p:cNvPr id="1638" name="Google Shape;1638;p80"/>
          <p:cNvSpPr txBox="1"/>
          <p:nvPr/>
        </p:nvSpPr>
        <p:spPr>
          <a:xfrm>
            <a:off x="6103314" y="3703521"/>
            <a:ext cx="666600" cy="431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Private</a:t>
            </a:r>
            <a:br>
              <a:rPr lang="en">
                <a:solidFill>
                  <a:schemeClr val="accent2"/>
                </a:solidFill>
                <a:latin typeface="DM Sans Medium"/>
                <a:ea typeface="DM Sans Medium"/>
                <a:cs typeface="DM Sans Medium"/>
                <a:sym typeface="DM Sans Medium"/>
              </a:rPr>
            </a:br>
            <a:r>
              <a:rPr lang="en">
                <a:solidFill>
                  <a:schemeClr val="accent2"/>
                </a:solidFill>
                <a:latin typeface="DM Sans Medium"/>
                <a:ea typeface="DM Sans Medium"/>
                <a:cs typeface="DM Sans Medium"/>
                <a:sym typeface="DM Sans Medium"/>
              </a:rPr>
              <a:t>Link</a:t>
            </a:r>
            <a:endParaRPr>
              <a:solidFill>
                <a:schemeClr val="accent2"/>
              </a:solidFill>
              <a:latin typeface="DM Sans Medium"/>
              <a:ea typeface="DM Sans Medium"/>
              <a:cs typeface="DM Sans Medium"/>
              <a:sym typeface="DM Sans Medium"/>
            </a:endParaRPr>
          </a:p>
        </p:txBody>
      </p:sp>
      <p:sp>
        <p:nvSpPr>
          <p:cNvPr id="1639" name="Google Shape;1639;p80"/>
          <p:cNvSpPr txBox="1"/>
          <p:nvPr/>
        </p:nvSpPr>
        <p:spPr>
          <a:xfrm>
            <a:off x="3902700" y="6586725"/>
            <a:ext cx="4734900" cy="15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accent2"/>
                </a:solidFill>
                <a:latin typeface="DM Sans"/>
                <a:ea typeface="DM Sans"/>
                <a:cs typeface="DM Sans"/>
                <a:sym typeface="DM Sans"/>
              </a:rPr>
              <a:t>VPN:   </a:t>
            </a:r>
            <a:r>
              <a:rPr lang="en" sz="1000">
                <a:solidFill>
                  <a:schemeClr val="accent2"/>
                </a:solidFill>
                <a:latin typeface="DM Sans"/>
                <a:ea typeface="DM Sans"/>
                <a:cs typeface="DM Sans"/>
                <a:sym typeface="DM Sans"/>
              </a:rPr>
              <a:t>Virtual Private Network (or similar cloud service)</a:t>
            </a:r>
            <a:endParaRPr sz="1000">
              <a:solidFill>
                <a:schemeClr val="accent2"/>
              </a:solidFill>
              <a:latin typeface="DM Sans"/>
              <a:ea typeface="DM Sans"/>
              <a:cs typeface="DM Sans"/>
              <a:sym typeface="DM Sans"/>
            </a:endParaRPr>
          </a:p>
        </p:txBody>
      </p:sp>
      <p:sp>
        <p:nvSpPr>
          <p:cNvPr id="1635" name="Google Shape;1635;p80"/>
          <p:cNvSpPr/>
          <p:nvPr/>
        </p:nvSpPr>
        <p:spPr>
          <a:xfrm>
            <a:off x="5009975" y="3367335"/>
            <a:ext cx="841500" cy="583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200">
                <a:solidFill>
                  <a:schemeClr val="accent2"/>
                </a:solidFill>
                <a:latin typeface="DM Sans Medium"/>
                <a:ea typeface="DM Sans Medium"/>
                <a:cs typeface="DM Sans Medium"/>
                <a:sym typeface="DM Sans Medium"/>
              </a:rPr>
              <a:t>Private Link Service</a:t>
            </a:r>
            <a:endParaRPr sz="1200">
              <a:solidFill>
                <a:schemeClr val="accent2"/>
              </a:solidFill>
              <a:latin typeface="DM Sans Medium"/>
              <a:ea typeface="DM Sans Medium"/>
              <a:cs typeface="DM Sans Medium"/>
              <a:sym typeface="DM Sans Medium"/>
            </a:endParaRPr>
          </a:p>
        </p:txBody>
      </p:sp>
      <p:sp>
        <p:nvSpPr>
          <p:cNvPr id="1640" name="Google Shape;1640;p80"/>
          <p:cNvSpPr txBox="1"/>
          <p:nvPr/>
        </p:nvSpPr>
        <p:spPr>
          <a:xfrm>
            <a:off x="7087150" y="2696336"/>
            <a:ext cx="666600" cy="431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Private</a:t>
            </a:r>
            <a:br>
              <a:rPr lang="en">
                <a:solidFill>
                  <a:schemeClr val="accent2"/>
                </a:solidFill>
                <a:latin typeface="DM Sans Medium"/>
                <a:ea typeface="DM Sans Medium"/>
                <a:cs typeface="DM Sans Medium"/>
                <a:sym typeface="DM Sans Medium"/>
              </a:rPr>
            </a:br>
            <a:r>
              <a:rPr lang="en">
                <a:solidFill>
                  <a:schemeClr val="accent2"/>
                </a:solidFill>
                <a:latin typeface="DM Sans Medium"/>
                <a:ea typeface="DM Sans Medium"/>
                <a:cs typeface="DM Sans Medium"/>
                <a:sym typeface="DM Sans Medium"/>
              </a:rPr>
              <a:t>Link</a:t>
            </a:r>
            <a:endParaRPr>
              <a:solidFill>
                <a:schemeClr val="accent2"/>
              </a:solidFill>
              <a:latin typeface="DM Sans Medium"/>
              <a:ea typeface="DM Sans Medium"/>
              <a:cs typeface="DM Sans Medium"/>
              <a:sym typeface="DM Sans Medium"/>
            </a:endParaRPr>
          </a:p>
        </p:txBody>
      </p:sp>
      <p:sp>
        <p:nvSpPr>
          <p:cNvPr id="1641" name="Google Shape;1641;p80"/>
          <p:cNvSpPr txBox="1"/>
          <p:nvPr/>
        </p:nvSpPr>
        <p:spPr>
          <a:xfrm>
            <a:off x="9598063" y="4638055"/>
            <a:ext cx="13269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Private Link</a:t>
            </a:r>
            <a:endParaRPr>
              <a:solidFill>
                <a:schemeClr val="accent2"/>
              </a:solidFill>
              <a:latin typeface="DM Sans Medium"/>
              <a:ea typeface="DM Sans Medium"/>
              <a:cs typeface="DM Sans Medium"/>
              <a:sym typeface="DM Sans Medium"/>
            </a:endParaRPr>
          </a:p>
        </p:txBody>
      </p:sp>
      <p:sp>
        <p:nvSpPr>
          <p:cNvPr id="1642" name="Google Shape;1642;p80"/>
          <p:cNvSpPr/>
          <p:nvPr/>
        </p:nvSpPr>
        <p:spPr>
          <a:xfrm>
            <a:off x="8749134" y="3538160"/>
            <a:ext cx="882300" cy="858900"/>
          </a:xfrm>
          <a:prstGeom prst="roundRect">
            <a:avLst>
              <a:gd fmla="val 12359" name="adj"/>
            </a:avLst>
          </a:prstGeom>
          <a:noFill/>
          <a:ln cap="flat" cmpd="sng" w="9525">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solidFill>
                  <a:schemeClr val="dk2"/>
                </a:solidFill>
                <a:latin typeface="DM Sans Medium"/>
                <a:ea typeface="DM Sans Medium"/>
                <a:cs typeface="DM Sans Medium"/>
                <a:sym typeface="DM Sans Medium"/>
              </a:rPr>
              <a:t>Cluster</a:t>
            </a:r>
            <a:endParaRPr sz="1200">
              <a:solidFill>
                <a:schemeClr val="dk2"/>
              </a:solidFill>
              <a:latin typeface="DM Sans Medium"/>
              <a:ea typeface="DM Sans Medium"/>
              <a:cs typeface="DM Sans Medium"/>
              <a:sym typeface="DM Sans Medium"/>
            </a:endParaRPr>
          </a:p>
        </p:txBody>
      </p:sp>
      <p:sp>
        <p:nvSpPr>
          <p:cNvPr id="1643" name="Google Shape;1643;p80"/>
          <p:cNvSpPr/>
          <p:nvPr/>
        </p:nvSpPr>
        <p:spPr>
          <a:xfrm>
            <a:off x="9764638" y="3538160"/>
            <a:ext cx="882300" cy="858900"/>
          </a:xfrm>
          <a:prstGeom prst="roundRect">
            <a:avLst>
              <a:gd fmla="val 12868" name="adj"/>
            </a:avLst>
          </a:prstGeom>
          <a:noFill/>
          <a:ln cap="flat" cmpd="sng" w="9525">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solidFill>
                  <a:schemeClr val="dk2"/>
                </a:solidFill>
                <a:latin typeface="DM Sans Medium"/>
                <a:ea typeface="DM Sans Medium"/>
                <a:cs typeface="DM Sans Medium"/>
                <a:sym typeface="DM Sans Medium"/>
              </a:rPr>
              <a:t>SQL</a:t>
            </a:r>
            <a:br>
              <a:rPr lang="en" sz="1200">
                <a:solidFill>
                  <a:schemeClr val="dk2"/>
                </a:solidFill>
                <a:latin typeface="DM Sans Medium"/>
                <a:ea typeface="DM Sans Medium"/>
                <a:cs typeface="DM Sans Medium"/>
                <a:sym typeface="DM Sans Medium"/>
              </a:rPr>
            </a:br>
            <a:r>
              <a:rPr lang="en" sz="1200">
                <a:solidFill>
                  <a:schemeClr val="dk2"/>
                </a:solidFill>
                <a:latin typeface="DM Sans Medium"/>
                <a:ea typeface="DM Sans Medium"/>
                <a:cs typeface="DM Sans Medium"/>
                <a:sym typeface="DM Sans Medium"/>
              </a:rPr>
              <a:t>Warehouse</a:t>
            </a:r>
            <a:endParaRPr sz="1200">
              <a:solidFill>
                <a:schemeClr val="dk2"/>
              </a:solidFill>
              <a:latin typeface="DM Sans Medium"/>
              <a:ea typeface="DM Sans Medium"/>
              <a:cs typeface="DM Sans Medium"/>
              <a:sym typeface="DM Sans Medium"/>
            </a:endParaRPr>
          </a:p>
        </p:txBody>
      </p:sp>
      <p:pic>
        <p:nvPicPr>
          <p:cNvPr id="1644" name="Google Shape;1644;p80"/>
          <p:cNvPicPr preferRelativeResize="0"/>
          <p:nvPr/>
        </p:nvPicPr>
        <p:blipFill>
          <a:blip r:embed="rId5">
            <a:alphaModFix/>
          </a:blip>
          <a:stretch>
            <a:fillRect/>
          </a:stretch>
        </p:blipFill>
        <p:spPr>
          <a:xfrm>
            <a:off x="8937941" y="3604741"/>
            <a:ext cx="504652" cy="478174"/>
          </a:xfrm>
          <a:prstGeom prst="rect">
            <a:avLst/>
          </a:prstGeom>
          <a:noFill/>
          <a:ln>
            <a:noFill/>
          </a:ln>
        </p:spPr>
      </p:pic>
      <p:pic>
        <p:nvPicPr>
          <p:cNvPr id="1645" name="Google Shape;1645;p80"/>
          <p:cNvPicPr preferRelativeResize="0"/>
          <p:nvPr/>
        </p:nvPicPr>
        <p:blipFill>
          <a:blip r:embed="rId6">
            <a:alphaModFix/>
          </a:blip>
          <a:stretch>
            <a:fillRect/>
          </a:stretch>
        </p:blipFill>
        <p:spPr>
          <a:xfrm>
            <a:off x="9930511" y="3550521"/>
            <a:ext cx="550519" cy="521632"/>
          </a:xfrm>
          <a:prstGeom prst="rect">
            <a:avLst/>
          </a:prstGeom>
          <a:noFill/>
          <a:ln>
            <a:noFill/>
          </a:ln>
        </p:spPr>
      </p:pic>
      <p:sp>
        <p:nvSpPr>
          <p:cNvPr id="1646" name="Google Shape;1646;p80"/>
          <p:cNvSpPr txBox="1"/>
          <p:nvPr/>
        </p:nvSpPr>
        <p:spPr>
          <a:xfrm>
            <a:off x="1006625" y="5113600"/>
            <a:ext cx="5124600" cy="648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434343"/>
              </a:buClr>
              <a:buSzPts val="1400"/>
              <a:buFont typeface="DM Sans"/>
              <a:buChar char="●"/>
            </a:pPr>
            <a:r>
              <a:rPr lang="en">
                <a:solidFill>
                  <a:srgbClr val="434343"/>
                </a:solidFill>
                <a:latin typeface="DM Sans"/>
                <a:ea typeface="DM Sans"/>
                <a:cs typeface="DM Sans"/>
                <a:sym typeface="DM Sans"/>
              </a:rPr>
              <a:t>Front-end: User to workspace</a:t>
            </a:r>
            <a:endParaRPr>
              <a:solidFill>
                <a:srgbClr val="434343"/>
              </a:solidFill>
              <a:latin typeface="DM Sans"/>
              <a:ea typeface="DM Sans"/>
              <a:cs typeface="DM Sans"/>
              <a:sym typeface="DM Sans"/>
            </a:endParaRPr>
          </a:p>
          <a:p>
            <a:pPr indent="-317500" lvl="0" marL="457200" rtl="0" algn="l">
              <a:lnSpc>
                <a:spcPct val="115000"/>
              </a:lnSpc>
              <a:spcBef>
                <a:spcPts val="0"/>
              </a:spcBef>
              <a:spcAft>
                <a:spcPts val="0"/>
              </a:spcAft>
              <a:buClr>
                <a:srgbClr val="434343"/>
              </a:buClr>
              <a:buSzPts val="1400"/>
              <a:buFont typeface="DM Sans"/>
              <a:buChar char="●"/>
            </a:pPr>
            <a:r>
              <a:rPr lang="en">
                <a:solidFill>
                  <a:srgbClr val="434343"/>
                </a:solidFill>
                <a:latin typeface="DM Sans"/>
                <a:ea typeface="DM Sans"/>
                <a:cs typeface="DM Sans"/>
                <a:sym typeface="DM Sans"/>
              </a:rPr>
              <a:t>Back-end: Compute Plane to Control Plane</a:t>
            </a:r>
            <a:endParaRPr>
              <a:solidFill>
                <a:srgbClr val="434343"/>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81"/>
          <p:cNvSpPr/>
          <p:nvPr/>
        </p:nvSpPr>
        <p:spPr>
          <a:xfrm>
            <a:off x="1235225" y="3054825"/>
            <a:ext cx="4807800" cy="1738200"/>
          </a:xfrm>
          <a:prstGeom prst="roundRect">
            <a:avLst>
              <a:gd fmla="val 7054" name="adj"/>
            </a:avLst>
          </a:prstGeom>
          <a:solidFill>
            <a:srgbClr val="FFFFFF"/>
          </a:solidFill>
          <a:ln cap="flat" cmpd="sng" w="19050">
            <a:solidFill>
              <a:srgbClr val="FF362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1800">
                <a:solidFill>
                  <a:srgbClr val="1B5162"/>
                </a:solidFill>
                <a:latin typeface="DM Sans Medium"/>
                <a:ea typeface="DM Sans Medium"/>
                <a:cs typeface="DM Sans Medium"/>
                <a:sym typeface="DM Sans Medium"/>
              </a:rPr>
              <a:t>Control Plane</a:t>
            </a:r>
            <a:endParaRPr sz="1800">
              <a:solidFill>
                <a:srgbClr val="1B5162"/>
              </a:solidFill>
              <a:latin typeface="DM Sans Medium"/>
              <a:ea typeface="DM Sans Medium"/>
              <a:cs typeface="DM Sans Medium"/>
              <a:sym typeface="DM Sans Medium"/>
            </a:endParaRPr>
          </a:p>
        </p:txBody>
      </p:sp>
      <p:sp>
        <p:nvSpPr>
          <p:cNvPr id="1652" name="Google Shape;1652;p81"/>
          <p:cNvSpPr/>
          <p:nvPr/>
        </p:nvSpPr>
        <p:spPr>
          <a:xfrm>
            <a:off x="2112975" y="3552900"/>
            <a:ext cx="3015600" cy="1055700"/>
          </a:xfrm>
          <a:prstGeom prst="rect">
            <a:avLst/>
          </a:prstGeom>
          <a:noFill/>
          <a:ln cap="flat" cmpd="sng" w="9525">
            <a:solidFill>
              <a:srgbClr val="00A97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A972"/>
              </a:solidFill>
              <a:latin typeface="DM Sans Medium"/>
              <a:ea typeface="DM Sans Medium"/>
              <a:cs typeface="DM Sans Medium"/>
              <a:sym typeface="DM Sans Medium"/>
            </a:endParaRPr>
          </a:p>
        </p:txBody>
      </p:sp>
      <p:pic>
        <p:nvPicPr>
          <p:cNvPr id="1653" name="Google Shape;1653;p81"/>
          <p:cNvPicPr preferRelativeResize="0"/>
          <p:nvPr/>
        </p:nvPicPr>
        <p:blipFill>
          <a:blip r:embed="rId3">
            <a:alphaModFix/>
          </a:blip>
          <a:stretch>
            <a:fillRect/>
          </a:stretch>
        </p:blipFill>
        <p:spPr>
          <a:xfrm>
            <a:off x="3413875" y="3580190"/>
            <a:ext cx="577626" cy="639310"/>
          </a:xfrm>
          <a:prstGeom prst="rect">
            <a:avLst/>
          </a:prstGeom>
          <a:noFill/>
          <a:ln>
            <a:noFill/>
          </a:ln>
        </p:spPr>
      </p:pic>
      <p:sp>
        <p:nvSpPr>
          <p:cNvPr id="1654" name="Google Shape;1654;p81"/>
          <p:cNvSpPr txBox="1"/>
          <p:nvPr/>
        </p:nvSpPr>
        <p:spPr>
          <a:xfrm>
            <a:off x="3254963" y="4180300"/>
            <a:ext cx="895500" cy="184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200">
                <a:solidFill>
                  <a:srgbClr val="00A972"/>
                </a:solidFill>
                <a:latin typeface="DM Sans Medium"/>
                <a:ea typeface="DM Sans Medium"/>
                <a:cs typeface="DM Sans Medium"/>
                <a:sym typeface="DM Sans Medium"/>
              </a:rPr>
              <a:t>DB SQL queries</a:t>
            </a:r>
            <a:endParaRPr sz="1200">
              <a:solidFill>
                <a:srgbClr val="00A972"/>
              </a:solidFill>
              <a:latin typeface="DM Sans Medium"/>
              <a:ea typeface="DM Sans Medium"/>
              <a:cs typeface="DM Sans Medium"/>
              <a:sym typeface="DM Sans Medium"/>
            </a:endParaRPr>
          </a:p>
        </p:txBody>
      </p:sp>
      <p:sp>
        <p:nvSpPr>
          <p:cNvPr id="1655" name="Google Shape;1655;p81"/>
          <p:cNvSpPr/>
          <p:nvPr/>
        </p:nvSpPr>
        <p:spPr>
          <a:xfrm>
            <a:off x="6536325" y="4959525"/>
            <a:ext cx="4229100" cy="1392000"/>
          </a:xfrm>
          <a:prstGeom prst="roundRect">
            <a:avLst>
              <a:gd fmla="val 14506" name="adj"/>
            </a:avLst>
          </a:prstGeom>
          <a:solidFill>
            <a:srgbClr val="FFFFFF"/>
          </a:solidFill>
          <a:ln cap="flat" cmpd="sng" w="19050">
            <a:solidFill>
              <a:schemeClr val="accent1"/>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Cloud Storage</a:t>
            </a:r>
            <a:endParaRPr sz="1800">
              <a:solidFill>
                <a:schemeClr val="accent1"/>
              </a:solidFill>
              <a:latin typeface="DM Sans Medium"/>
              <a:ea typeface="DM Sans Medium"/>
              <a:cs typeface="DM Sans Medium"/>
              <a:sym typeface="DM Sans Medium"/>
            </a:endParaRPr>
          </a:p>
        </p:txBody>
      </p:sp>
      <p:sp>
        <p:nvSpPr>
          <p:cNvPr id="1656" name="Google Shape;1656;p81"/>
          <p:cNvSpPr/>
          <p:nvPr/>
        </p:nvSpPr>
        <p:spPr>
          <a:xfrm>
            <a:off x="7340650" y="5080725"/>
            <a:ext cx="2620500" cy="787200"/>
          </a:xfrm>
          <a:prstGeom prst="rect">
            <a:avLst/>
          </a:prstGeom>
          <a:noFill/>
          <a:ln cap="flat" cmpd="sng" w="9525">
            <a:solidFill>
              <a:schemeClr val="accent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DM Sans Medium"/>
              <a:ea typeface="DM Sans Medium"/>
              <a:cs typeface="DM Sans Medium"/>
              <a:sym typeface="DM Sans Medium"/>
            </a:endParaRPr>
          </a:p>
        </p:txBody>
      </p:sp>
      <p:sp>
        <p:nvSpPr>
          <p:cNvPr id="1657" name="Google Shape;1657;p8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658" name="Google Shape;1658;p81"/>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Customer Managed Keys</a:t>
            </a:r>
            <a:endParaRPr sz="3600"/>
          </a:p>
        </p:txBody>
      </p:sp>
      <p:sp>
        <p:nvSpPr>
          <p:cNvPr id="1659" name="Google Shape;1659;p81"/>
          <p:cNvSpPr/>
          <p:nvPr/>
        </p:nvSpPr>
        <p:spPr>
          <a:xfrm>
            <a:off x="1235225" y="2350850"/>
            <a:ext cx="4807800" cy="583500"/>
          </a:xfrm>
          <a:prstGeom prst="roundRect">
            <a:avLst>
              <a:gd fmla="val 16765" name="adj"/>
            </a:avLst>
          </a:prstGeom>
          <a:no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Account Console</a:t>
            </a:r>
            <a:endParaRPr sz="1800">
              <a:solidFill>
                <a:schemeClr val="accent1"/>
              </a:solidFill>
              <a:latin typeface="DM Sans Medium"/>
              <a:ea typeface="DM Sans Medium"/>
              <a:cs typeface="DM Sans Medium"/>
              <a:sym typeface="DM Sans Medium"/>
            </a:endParaRPr>
          </a:p>
        </p:txBody>
      </p:sp>
      <p:pic>
        <p:nvPicPr>
          <p:cNvPr id="1660" name="Google Shape;1660;p81"/>
          <p:cNvPicPr preferRelativeResize="0"/>
          <p:nvPr/>
        </p:nvPicPr>
        <p:blipFill rotWithShape="1">
          <a:blip r:embed="rId4">
            <a:alphaModFix/>
          </a:blip>
          <a:srcRect b="0" l="0" r="82955" t="0"/>
          <a:stretch/>
        </p:blipFill>
        <p:spPr>
          <a:xfrm>
            <a:off x="2408208" y="2530063"/>
            <a:ext cx="245706" cy="226800"/>
          </a:xfrm>
          <a:prstGeom prst="rect">
            <a:avLst/>
          </a:prstGeom>
          <a:noFill/>
          <a:ln>
            <a:noFill/>
          </a:ln>
        </p:spPr>
      </p:pic>
      <p:pic>
        <p:nvPicPr>
          <p:cNvPr id="1661" name="Google Shape;1661;p81"/>
          <p:cNvPicPr preferRelativeResize="0"/>
          <p:nvPr/>
        </p:nvPicPr>
        <p:blipFill rotWithShape="1">
          <a:blip r:embed="rId4">
            <a:alphaModFix/>
          </a:blip>
          <a:srcRect b="0" l="0" r="82955" t="0"/>
          <a:stretch/>
        </p:blipFill>
        <p:spPr>
          <a:xfrm>
            <a:off x="2622847" y="3199747"/>
            <a:ext cx="245706" cy="226800"/>
          </a:xfrm>
          <a:prstGeom prst="rect">
            <a:avLst/>
          </a:prstGeom>
          <a:noFill/>
          <a:ln>
            <a:noFill/>
          </a:ln>
        </p:spPr>
      </p:pic>
      <p:sp>
        <p:nvSpPr>
          <p:cNvPr id="1662" name="Google Shape;1662;p81"/>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Encrypt data at rest with customer’s own encryption keys</a:t>
            </a:r>
            <a:endParaRPr/>
          </a:p>
        </p:txBody>
      </p:sp>
      <p:sp>
        <p:nvSpPr>
          <p:cNvPr id="1663" name="Google Shape;1663;p81"/>
          <p:cNvSpPr/>
          <p:nvPr/>
        </p:nvSpPr>
        <p:spPr>
          <a:xfrm>
            <a:off x="6359950" y="1714500"/>
            <a:ext cx="46647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664" name="Google Shape;1664;p81"/>
          <p:cNvSpPr/>
          <p:nvPr/>
        </p:nvSpPr>
        <p:spPr>
          <a:xfrm>
            <a:off x="1091000" y="1714500"/>
            <a:ext cx="50736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65" name="Google Shape;1665;p81"/>
          <p:cNvPicPr preferRelativeResize="0"/>
          <p:nvPr/>
        </p:nvPicPr>
        <p:blipFill rotWithShape="1">
          <a:blip r:embed="rId4">
            <a:alphaModFix/>
          </a:blip>
          <a:srcRect b="0" l="0" r="0" t="0"/>
          <a:stretch/>
        </p:blipFill>
        <p:spPr>
          <a:xfrm>
            <a:off x="2305897" y="1776743"/>
            <a:ext cx="2149050" cy="338050"/>
          </a:xfrm>
          <a:prstGeom prst="rect">
            <a:avLst/>
          </a:prstGeom>
          <a:noFill/>
          <a:ln>
            <a:noFill/>
          </a:ln>
        </p:spPr>
      </p:pic>
      <p:sp>
        <p:nvSpPr>
          <p:cNvPr id="1666" name="Google Shape;1666;p81"/>
          <p:cNvSpPr txBox="1"/>
          <p:nvPr/>
        </p:nvSpPr>
        <p:spPr>
          <a:xfrm>
            <a:off x="2237275" y="4180300"/>
            <a:ext cx="895500" cy="18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2"/>
                </a:solidFill>
                <a:latin typeface="DM Sans Medium"/>
                <a:ea typeface="DM Sans Medium"/>
                <a:cs typeface="DM Sans Medium"/>
                <a:sym typeface="DM Sans Medium"/>
              </a:rPr>
              <a:t>Notebooks</a:t>
            </a:r>
            <a:endParaRPr sz="1200">
              <a:solidFill>
                <a:schemeClr val="accent2"/>
              </a:solidFill>
              <a:latin typeface="DM Sans Medium"/>
              <a:ea typeface="DM Sans Medium"/>
              <a:cs typeface="DM Sans Medium"/>
              <a:sym typeface="DM Sans Medium"/>
            </a:endParaRPr>
          </a:p>
        </p:txBody>
      </p:sp>
      <p:sp>
        <p:nvSpPr>
          <p:cNvPr id="1667" name="Google Shape;1667;p81"/>
          <p:cNvSpPr/>
          <p:nvPr/>
        </p:nvSpPr>
        <p:spPr>
          <a:xfrm>
            <a:off x="7340650" y="2807800"/>
            <a:ext cx="2620500" cy="15573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Key Management</a:t>
            </a:r>
            <a:br>
              <a:rPr lang="en">
                <a:solidFill>
                  <a:schemeClr val="accent2"/>
                </a:solidFill>
                <a:latin typeface="DM Sans Medium"/>
                <a:ea typeface="DM Sans Medium"/>
                <a:cs typeface="DM Sans Medium"/>
                <a:sym typeface="DM Sans Medium"/>
              </a:rPr>
            </a:br>
            <a:r>
              <a:rPr lang="en">
                <a:solidFill>
                  <a:schemeClr val="accent2"/>
                </a:solidFill>
                <a:latin typeface="DM Sans Medium"/>
                <a:ea typeface="DM Sans Medium"/>
                <a:cs typeface="DM Sans Medium"/>
                <a:sym typeface="DM Sans Medium"/>
              </a:rPr>
              <a:t>(KMS, AKV, …)</a:t>
            </a:r>
            <a:endParaRPr>
              <a:solidFill>
                <a:schemeClr val="accent2"/>
              </a:solidFill>
              <a:latin typeface="DM Sans Medium"/>
              <a:ea typeface="DM Sans Medium"/>
              <a:cs typeface="DM Sans Medium"/>
              <a:sym typeface="DM Sans Medium"/>
            </a:endParaRPr>
          </a:p>
        </p:txBody>
      </p:sp>
      <p:pic>
        <p:nvPicPr>
          <p:cNvPr id="1668" name="Google Shape;1668;p81"/>
          <p:cNvPicPr preferRelativeResize="0"/>
          <p:nvPr/>
        </p:nvPicPr>
        <p:blipFill>
          <a:blip r:embed="rId5">
            <a:alphaModFix/>
          </a:blip>
          <a:stretch>
            <a:fillRect/>
          </a:stretch>
        </p:blipFill>
        <p:spPr>
          <a:xfrm>
            <a:off x="8317575" y="3552900"/>
            <a:ext cx="666600" cy="666600"/>
          </a:xfrm>
          <a:prstGeom prst="rect">
            <a:avLst/>
          </a:prstGeom>
          <a:noFill/>
          <a:ln>
            <a:noFill/>
          </a:ln>
        </p:spPr>
      </p:pic>
      <p:cxnSp>
        <p:nvCxnSpPr>
          <p:cNvPr id="1669" name="Google Shape;1669;p81"/>
          <p:cNvCxnSpPr>
            <a:stCxn id="1668" idx="2"/>
            <a:endCxn id="1656" idx="0"/>
          </p:cNvCxnSpPr>
          <p:nvPr/>
        </p:nvCxnSpPr>
        <p:spPr>
          <a:xfrm>
            <a:off x="8650875" y="4219500"/>
            <a:ext cx="0" cy="861300"/>
          </a:xfrm>
          <a:prstGeom prst="straightConnector1">
            <a:avLst/>
          </a:prstGeom>
          <a:noFill/>
          <a:ln cap="flat" cmpd="sng" w="28575">
            <a:solidFill>
              <a:schemeClr val="accent2"/>
            </a:solidFill>
            <a:prstDash val="solid"/>
            <a:round/>
            <a:headEnd len="med" w="med" type="none"/>
            <a:tailEnd len="med" w="med" type="none"/>
          </a:ln>
        </p:spPr>
      </p:cxnSp>
      <p:pic>
        <p:nvPicPr>
          <p:cNvPr id="1670" name="Google Shape;1670;p81"/>
          <p:cNvPicPr preferRelativeResize="0"/>
          <p:nvPr/>
        </p:nvPicPr>
        <p:blipFill>
          <a:blip r:embed="rId6">
            <a:alphaModFix/>
          </a:blip>
          <a:stretch>
            <a:fillRect/>
          </a:stretch>
        </p:blipFill>
        <p:spPr>
          <a:xfrm>
            <a:off x="2396206" y="3580200"/>
            <a:ext cx="577626" cy="639310"/>
          </a:xfrm>
          <a:prstGeom prst="rect">
            <a:avLst/>
          </a:prstGeom>
          <a:noFill/>
          <a:ln>
            <a:noFill/>
          </a:ln>
        </p:spPr>
      </p:pic>
      <p:grpSp>
        <p:nvGrpSpPr>
          <p:cNvPr id="1671" name="Google Shape;1671;p81"/>
          <p:cNvGrpSpPr/>
          <p:nvPr/>
        </p:nvGrpSpPr>
        <p:grpSpPr>
          <a:xfrm>
            <a:off x="4431561" y="3580245"/>
            <a:ext cx="577672" cy="639227"/>
            <a:chOff x="5580426" y="3129802"/>
            <a:chExt cx="1066800" cy="1066800"/>
          </a:xfrm>
        </p:grpSpPr>
        <p:pic>
          <p:nvPicPr>
            <p:cNvPr id="1672" name="Google Shape;1672;p81"/>
            <p:cNvPicPr preferRelativeResize="0"/>
            <p:nvPr/>
          </p:nvPicPr>
          <p:blipFill>
            <a:blip r:embed="rId7">
              <a:alphaModFix/>
            </a:blip>
            <a:stretch>
              <a:fillRect/>
            </a:stretch>
          </p:blipFill>
          <p:spPr>
            <a:xfrm>
              <a:off x="5580426" y="3129802"/>
              <a:ext cx="1066800" cy="1066800"/>
            </a:xfrm>
            <a:prstGeom prst="rect">
              <a:avLst/>
            </a:prstGeom>
            <a:noFill/>
            <a:ln>
              <a:noFill/>
            </a:ln>
          </p:spPr>
        </p:pic>
        <p:sp>
          <p:nvSpPr>
            <p:cNvPr id="1673" name="Google Shape;1673;p81"/>
            <p:cNvSpPr/>
            <p:nvPr/>
          </p:nvSpPr>
          <p:spPr>
            <a:xfrm>
              <a:off x="5831375" y="3380175"/>
              <a:ext cx="567600" cy="547200"/>
            </a:xfrm>
            <a:prstGeom prst="triangle">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4" name="Google Shape;1674;p81"/>
            <p:cNvPicPr preferRelativeResize="0"/>
            <p:nvPr/>
          </p:nvPicPr>
          <p:blipFill>
            <a:blip r:embed="rId8">
              <a:alphaModFix/>
            </a:blip>
            <a:stretch>
              <a:fillRect/>
            </a:stretch>
          </p:blipFill>
          <p:spPr>
            <a:xfrm>
              <a:off x="5832507" y="3470350"/>
              <a:ext cx="567600" cy="567600"/>
            </a:xfrm>
            <a:prstGeom prst="rect">
              <a:avLst/>
            </a:prstGeom>
            <a:noFill/>
            <a:ln>
              <a:noFill/>
            </a:ln>
          </p:spPr>
        </p:pic>
      </p:grpSp>
      <p:sp>
        <p:nvSpPr>
          <p:cNvPr id="1675" name="Google Shape;1675;p81"/>
          <p:cNvSpPr txBox="1"/>
          <p:nvPr/>
        </p:nvSpPr>
        <p:spPr>
          <a:xfrm>
            <a:off x="4269797" y="4180300"/>
            <a:ext cx="895500" cy="18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2"/>
                </a:solidFill>
                <a:latin typeface="DM Sans Medium"/>
                <a:ea typeface="DM Sans Medium"/>
                <a:cs typeface="DM Sans Medium"/>
                <a:sym typeface="DM Sans Medium"/>
              </a:rPr>
              <a:t>Secrets</a:t>
            </a:r>
            <a:endParaRPr sz="1200">
              <a:solidFill>
                <a:schemeClr val="accent2"/>
              </a:solidFill>
              <a:latin typeface="DM Sans Medium"/>
              <a:ea typeface="DM Sans Medium"/>
              <a:cs typeface="DM Sans Medium"/>
              <a:sym typeface="DM Sans Medium"/>
            </a:endParaRPr>
          </a:p>
        </p:txBody>
      </p:sp>
      <p:cxnSp>
        <p:nvCxnSpPr>
          <p:cNvPr id="1676" name="Google Shape;1676;p81"/>
          <p:cNvCxnSpPr>
            <a:stCxn id="1668" idx="1"/>
          </p:cNvCxnSpPr>
          <p:nvPr/>
        </p:nvCxnSpPr>
        <p:spPr>
          <a:xfrm rot="10800000">
            <a:off x="5134875" y="3886200"/>
            <a:ext cx="3182700" cy="0"/>
          </a:xfrm>
          <a:prstGeom prst="straightConnector1">
            <a:avLst/>
          </a:prstGeom>
          <a:noFill/>
          <a:ln cap="flat" cmpd="sng" w="28575">
            <a:solidFill>
              <a:schemeClr val="accent2"/>
            </a:solidFill>
            <a:prstDash val="solid"/>
            <a:round/>
            <a:headEnd len="med" w="med" type="none"/>
            <a:tailEnd len="med" w="med" type="none"/>
          </a:ln>
        </p:spPr>
      </p:cxnSp>
      <p:sp>
        <p:nvSpPr>
          <p:cNvPr id="1677" name="Google Shape;1677;p81"/>
          <p:cNvSpPr txBox="1"/>
          <p:nvPr/>
        </p:nvSpPr>
        <p:spPr>
          <a:xfrm>
            <a:off x="8984175" y="3619532"/>
            <a:ext cx="895500" cy="55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2"/>
                </a:solidFill>
                <a:latin typeface="DM Sans Medium"/>
                <a:ea typeface="DM Sans Medium"/>
                <a:cs typeface="DM Sans Medium"/>
                <a:sym typeface="DM Sans Medium"/>
              </a:rPr>
              <a:t>Customer</a:t>
            </a:r>
            <a:br>
              <a:rPr lang="en" sz="1200">
                <a:solidFill>
                  <a:schemeClr val="accent2"/>
                </a:solidFill>
                <a:latin typeface="DM Sans Medium"/>
                <a:ea typeface="DM Sans Medium"/>
                <a:cs typeface="DM Sans Medium"/>
                <a:sym typeface="DM Sans Medium"/>
              </a:rPr>
            </a:br>
            <a:r>
              <a:rPr lang="en" sz="1200">
                <a:solidFill>
                  <a:schemeClr val="accent2"/>
                </a:solidFill>
                <a:latin typeface="DM Sans Medium"/>
                <a:ea typeface="DM Sans Medium"/>
                <a:cs typeface="DM Sans Medium"/>
                <a:sym typeface="DM Sans Medium"/>
              </a:rPr>
              <a:t>Managed</a:t>
            </a:r>
            <a:br>
              <a:rPr lang="en" sz="1200">
                <a:solidFill>
                  <a:schemeClr val="accent2"/>
                </a:solidFill>
                <a:latin typeface="DM Sans Medium"/>
                <a:ea typeface="DM Sans Medium"/>
                <a:cs typeface="DM Sans Medium"/>
                <a:sym typeface="DM Sans Medium"/>
              </a:rPr>
            </a:br>
            <a:r>
              <a:rPr lang="en" sz="1200">
                <a:solidFill>
                  <a:schemeClr val="accent2"/>
                </a:solidFill>
                <a:latin typeface="DM Sans Medium"/>
                <a:ea typeface="DM Sans Medium"/>
                <a:cs typeface="DM Sans Medium"/>
                <a:sym typeface="DM Sans Medium"/>
              </a:rPr>
              <a:t>Key</a:t>
            </a:r>
            <a:endParaRPr sz="1200">
              <a:solidFill>
                <a:schemeClr val="accent2"/>
              </a:solidFill>
              <a:latin typeface="DM Sans Medium"/>
              <a:ea typeface="DM Sans Medium"/>
              <a:cs typeface="DM Sans Medium"/>
              <a:sym typeface="DM Sans Medium"/>
            </a:endParaRPr>
          </a:p>
        </p:txBody>
      </p:sp>
      <p:pic>
        <p:nvPicPr>
          <p:cNvPr id="1678" name="Google Shape;1678;p81"/>
          <p:cNvPicPr preferRelativeResize="0"/>
          <p:nvPr/>
        </p:nvPicPr>
        <p:blipFill>
          <a:blip r:embed="rId9">
            <a:alphaModFix/>
          </a:blip>
          <a:stretch>
            <a:fillRect/>
          </a:stretch>
        </p:blipFill>
        <p:spPr>
          <a:xfrm>
            <a:off x="7739950" y="5097330"/>
            <a:ext cx="577625" cy="577625"/>
          </a:xfrm>
          <a:prstGeom prst="rect">
            <a:avLst/>
          </a:prstGeom>
          <a:noFill/>
          <a:ln>
            <a:noFill/>
          </a:ln>
        </p:spPr>
      </p:pic>
      <p:sp>
        <p:nvSpPr>
          <p:cNvPr id="1679" name="Google Shape;1679;p81"/>
          <p:cNvSpPr txBox="1"/>
          <p:nvPr/>
        </p:nvSpPr>
        <p:spPr>
          <a:xfrm>
            <a:off x="7472993" y="5610130"/>
            <a:ext cx="1128000" cy="18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2"/>
                </a:solidFill>
                <a:latin typeface="DM Sans Medium"/>
                <a:ea typeface="DM Sans Medium"/>
                <a:cs typeface="DM Sans Medium"/>
                <a:sym typeface="DM Sans Medium"/>
              </a:rPr>
              <a:t>Cluster disks</a:t>
            </a:r>
            <a:endParaRPr sz="1200">
              <a:solidFill>
                <a:schemeClr val="accent2"/>
              </a:solidFill>
              <a:latin typeface="DM Sans Medium"/>
              <a:ea typeface="DM Sans Medium"/>
              <a:cs typeface="DM Sans Medium"/>
              <a:sym typeface="DM Sans Medium"/>
            </a:endParaRPr>
          </a:p>
        </p:txBody>
      </p:sp>
      <p:pic>
        <p:nvPicPr>
          <p:cNvPr id="1680" name="Google Shape;1680;p81"/>
          <p:cNvPicPr preferRelativeResize="0"/>
          <p:nvPr/>
        </p:nvPicPr>
        <p:blipFill>
          <a:blip r:embed="rId9">
            <a:alphaModFix/>
          </a:blip>
          <a:stretch>
            <a:fillRect/>
          </a:stretch>
        </p:blipFill>
        <p:spPr>
          <a:xfrm>
            <a:off x="9035350" y="5097330"/>
            <a:ext cx="577625" cy="577625"/>
          </a:xfrm>
          <a:prstGeom prst="rect">
            <a:avLst/>
          </a:prstGeom>
          <a:noFill/>
          <a:ln>
            <a:noFill/>
          </a:ln>
        </p:spPr>
      </p:pic>
      <p:sp>
        <p:nvSpPr>
          <p:cNvPr id="1681" name="Google Shape;1681;p81"/>
          <p:cNvSpPr txBox="1"/>
          <p:nvPr/>
        </p:nvSpPr>
        <p:spPr>
          <a:xfrm>
            <a:off x="8768393" y="5610130"/>
            <a:ext cx="1128000" cy="18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200">
                <a:solidFill>
                  <a:schemeClr val="accent2"/>
                </a:solidFill>
                <a:latin typeface="DM Sans Medium"/>
                <a:ea typeface="DM Sans Medium"/>
                <a:cs typeface="DM Sans Medium"/>
                <a:sym typeface="DM Sans Medium"/>
              </a:rPr>
              <a:t>DBFS</a:t>
            </a:r>
            <a:endParaRPr sz="1200">
              <a:solidFill>
                <a:schemeClr val="accent2"/>
              </a:solidFill>
              <a:latin typeface="DM Sans Medium"/>
              <a:ea typeface="DM Sans Medium"/>
              <a:cs typeface="DM Sans Medium"/>
              <a:sym typeface="DM Sans Medium"/>
            </a:endParaRPr>
          </a:p>
        </p:txBody>
      </p:sp>
      <p:sp>
        <p:nvSpPr>
          <p:cNvPr id="1682" name="Google Shape;1682;p81"/>
          <p:cNvSpPr txBox="1"/>
          <p:nvPr/>
        </p:nvSpPr>
        <p:spPr>
          <a:xfrm>
            <a:off x="1006625" y="5113600"/>
            <a:ext cx="5124600" cy="648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434343"/>
              </a:buClr>
              <a:buSzPts val="1400"/>
              <a:buFont typeface="DM Sans"/>
              <a:buChar char="●"/>
            </a:pPr>
            <a:r>
              <a:rPr lang="en">
                <a:solidFill>
                  <a:srgbClr val="434343"/>
                </a:solidFill>
                <a:latin typeface="DM Sans"/>
                <a:ea typeface="DM Sans"/>
                <a:cs typeface="DM Sans"/>
                <a:sym typeface="DM Sans"/>
              </a:rPr>
              <a:t>Integrates with cloud native key management services </a:t>
            </a:r>
            <a:endParaRPr>
              <a:solidFill>
                <a:srgbClr val="434343"/>
              </a:solidFill>
              <a:latin typeface="DM Sans"/>
              <a:ea typeface="DM Sans"/>
              <a:cs typeface="DM Sans"/>
              <a:sym typeface="DM Sans"/>
            </a:endParaRPr>
          </a:p>
          <a:p>
            <a:pPr indent="-317500" lvl="0" marL="457200" rtl="0" algn="l">
              <a:lnSpc>
                <a:spcPct val="115000"/>
              </a:lnSpc>
              <a:spcBef>
                <a:spcPts val="0"/>
              </a:spcBef>
              <a:spcAft>
                <a:spcPts val="0"/>
              </a:spcAft>
              <a:buClr>
                <a:srgbClr val="434343"/>
              </a:buClr>
              <a:buSzPts val="1400"/>
              <a:buFont typeface="DM Sans"/>
              <a:buChar char="●"/>
            </a:pPr>
            <a:r>
              <a:rPr lang="en">
                <a:solidFill>
                  <a:srgbClr val="434343"/>
                </a:solidFill>
                <a:latin typeface="DM Sans"/>
                <a:ea typeface="DM Sans"/>
                <a:cs typeface="DM Sans"/>
                <a:sym typeface="DM Sans"/>
              </a:rPr>
              <a:t>Key rotation enables periodic rotation of root keys</a:t>
            </a:r>
            <a:endParaRPr>
              <a:solidFill>
                <a:srgbClr val="434343"/>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6" name="Shape 1686"/>
        <p:cNvGrpSpPr/>
        <p:nvPr/>
      </p:nvGrpSpPr>
      <p:grpSpPr>
        <a:xfrm>
          <a:off x="0" y="0"/>
          <a:ext cx="0" cy="0"/>
          <a:chOff x="0" y="0"/>
          <a:chExt cx="0" cy="0"/>
        </a:xfrm>
      </p:grpSpPr>
      <p:sp>
        <p:nvSpPr>
          <p:cNvPr id="1687" name="Google Shape;1687;p8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Lakebase </a:t>
            </a:r>
            <a:r>
              <a:rPr lang="en"/>
              <a:t>security highlights</a:t>
            </a:r>
            <a:endParaRPr/>
          </a:p>
        </p:txBody>
      </p:sp>
      <p:sp>
        <p:nvSpPr>
          <p:cNvPr id="1688" name="Google Shape;1688;p82"/>
          <p:cNvSpPr/>
          <p:nvPr/>
        </p:nvSpPr>
        <p:spPr>
          <a:xfrm>
            <a:off x="3109213" y="3496500"/>
            <a:ext cx="3416400" cy="1714500"/>
          </a:xfrm>
          <a:prstGeom prst="roundRect">
            <a:avLst>
              <a:gd fmla="val 421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 Serverless </a:t>
            </a:r>
            <a:br>
              <a:rPr lang="en" sz="1800">
                <a:solidFill>
                  <a:schemeClr val="accent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 Compute</a:t>
            </a:r>
            <a:endParaRPr sz="1800">
              <a:solidFill>
                <a:schemeClr val="accent1"/>
              </a:solidFill>
              <a:latin typeface="DM Sans Medium"/>
              <a:ea typeface="DM Sans Medium"/>
              <a:cs typeface="DM Sans Medium"/>
              <a:sym typeface="DM Sans Medium"/>
            </a:endParaRPr>
          </a:p>
        </p:txBody>
      </p:sp>
      <p:pic>
        <p:nvPicPr>
          <p:cNvPr id="1689" name="Google Shape;1689;p82"/>
          <p:cNvPicPr preferRelativeResize="0"/>
          <p:nvPr/>
        </p:nvPicPr>
        <p:blipFill rotWithShape="1">
          <a:blip r:embed="rId3">
            <a:alphaModFix/>
          </a:blip>
          <a:srcRect b="0" l="0" r="82955" t="0"/>
          <a:stretch/>
        </p:blipFill>
        <p:spPr>
          <a:xfrm>
            <a:off x="5002125" y="3615279"/>
            <a:ext cx="245706" cy="226800"/>
          </a:xfrm>
          <a:prstGeom prst="rect">
            <a:avLst/>
          </a:prstGeom>
          <a:noFill/>
          <a:ln>
            <a:noFill/>
          </a:ln>
        </p:spPr>
      </p:pic>
      <p:cxnSp>
        <p:nvCxnSpPr>
          <p:cNvPr id="1690" name="Google Shape;1690;p82"/>
          <p:cNvCxnSpPr>
            <a:stCxn id="1691" idx="2"/>
            <a:endCxn id="1692" idx="0"/>
          </p:cNvCxnSpPr>
          <p:nvPr/>
        </p:nvCxnSpPr>
        <p:spPr>
          <a:xfrm flipH="1" rot="-5400000">
            <a:off x="2694176" y="2905425"/>
            <a:ext cx="1530900" cy="1022700"/>
          </a:xfrm>
          <a:prstGeom prst="curvedConnector3">
            <a:avLst>
              <a:gd fmla="val 50001" name="adj1"/>
            </a:avLst>
          </a:prstGeom>
          <a:noFill/>
          <a:ln cap="flat" cmpd="sng" w="19050">
            <a:solidFill>
              <a:schemeClr val="accent1"/>
            </a:solidFill>
            <a:prstDash val="solid"/>
            <a:round/>
            <a:headEnd len="sm" w="sm" type="none"/>
            <a:tailEnd len="sm" w="sm" type="triangle"/>
          </a:ln>
        </p:spPr>
      </p:cxnSp>
      <p:sp>
        <p:nvSpPr>
          <p:cNvPr id="1693" name="Google Shape;1693;p82"/>
          <p:cNvSpPr/>
          <p:nvPr/>
        </p:nvSpPr>
        <p:spPr>
          <a:xfrm>
            <a:off x="4704763" y="5390400"/>
            <a:ext cx="1821000" cy="558900"/>
          </a:xfrm>
          <a:prstGeom prst="roundRect">
            <a:avLst>
              <a:gd fmla="val 20062"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Cloud Storage</a:t>
            </a:r>
            <a:endParaRPr sz="1800">
              <a:solidFill>
                <a:schemeClr val="accent1"/>
              </a:solidFill>
              <a:latin typeface="DM Sans Medium"/>
              <a:ea typeface="DM Sans Medium"/>
              <a:cs typeface="DM Sans Medium"/>
              <a:sym typeface="DM Sans Medium"/>
            </a:endParaRPr>
          </a:p>
          <a:p>
            <a:pPr indent="0" lvl="0" marL="0" rtl="0" algn="ctr">
              <a:spcBef>
                <a:spcPts val="0"/>
              </a:spcBef>
              <a:spcAft>
                <a:spcPts val="300"/>
              </a:spcAft>
              <a:buNone/>
            </a:pPr>
            <a:r>
              <a:rPr lang="en" sz="1200">
                <a:solidFill>
                  <a:schemeClr val="accent1"/>
                </a:solidFill>
                <a:latin typeface="DM Sans Medium"/>
                <a:ea typeface="DM Sans Medium"/>
                <a:cs typeface="DM Sans Medium"/>
                <a:sym typeface="DM Sans Medium"/>
              </a:rPr>
              <a:t>(long term storage)</a:t>
            </a:r>
            <a:endParaRPr sz="1800">
              <a:solidFill>
                <a:schemeClr val="accent1"/>
              </a:solidFill>
              <a:latin typeface="DM Sans Medium"/>
              <a:ea typeface="DM Sans Medium"/>
              <a:cs typeface="DM Sans Medium"/>
              <a:sym typeface="DM Sans Medium"/>
            </a:endParaRPr>
          </a:p>
        </p:txBody>
      </p:sp>
      <p:cxnSp>
        <p:nvCxnSpPr>
          <p:cNvPr id="1694" name="Google Shape;1694;p82"/>
          <p:cNvCxnSpPr>
            <a:stCxn id="1695" idx="2"/>
            <a:endCxn id="1693" idx="0"/>
          </p:cNvCxnSpPr>
          <p:nvPr/>
        </p:nvCxnSpPr>
        <p:spPr>
          <a:xfrm>
            <a:off x="5615263" y="5030300"/>
            <a:ext cx="0" cy="360000"/>
          </a:xfrm>
          <a:prstGeom prst="straightConnector1">
            <a:avLst/>
          </a:prstGeom>
          <a:noFill/>
          <a:ln cap="flat" cmpd="sng" w="19050">
            <a:solidFill>
              <a:schemeClr val="accent1"/>
            </a:solidFill>
            <a:prstDash val="solid"/>
            <a:round/>
            <a:headEnd len="sm" w="sm" type="triangle"/>
            <a:tailEnd len="sm" w="sm" type="triangle"/>
          </a:ln>
        </p:spPr>
      </p:cxnSp>
      <p:sp>
        <p:nvSpPr>
          <p:cNvPr id="1692" name="Google Shape;1692;p82"/>
          <p:cNvSpPr/>
          <p:nvPr/>
        </p:nvSpPr>
        <p:spPr>
          <a:xfrm>
            <a:off x="3284588" y="4182250"/>
            <a:ext cx="1372800" cy="848100"/>
          </a:xfrm>
          <a:prstGeom prst="roundRect">
            <a:avLst>
              <a:gd fmla="val 6143"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Lakebase</a:t>
            </a:r>
            <a:endParaRPr>
              <a:solidFill>
                <a:schemeClr val="accent1"/>
              </a:solidFill>
              <a:latin typeface="DM Sans Medium"/>
              <a:ea typeface="DM Sans Medium"/>
              <a:cs typeface="DM Sans Medium"/>
              <a:sym typeface="DM Sans Medium"/>
            </a:endParaRPr>
          </a:p>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(Managed Postgres)</a:t>
            </a:r>
            <a:endParaRPr>
              <a:solidFill>
                <a:schemeClr val="accent1"/>
              </a:solidFill>
              <a:latin typeface="DM Sans Medium"/>
              <a:ea typeface="DM Sans Medium"/>
              <a:cs typeface="DM Sans Medium"/>
              <a:sym typeface="DM Sans Medium"/>
            </a:endParaRPr>
          </a:p>
        </p:txBody>
      </p:sp>
      <p:sp>
        <p:nvSpPr>
          <p:cNvPr id="1696" name="Google Shape;1696;p82"/>
          <p:cNvSpPr txBox="1"/>
          <p:nvPr/>
        </p:nvSpPr>
        <p:spPr>
          <a:xfrm>
            <a:off x="7480700" y="3679400"/>
            <a:ext cx="4342800" cy="2747700"/>
          </a:xfrm>
          <a:prstGeom prst="rect">
            <a:avLst/>
          </a:prstGeom>
          <a:noFill/>
          <a:ln>
            <a:noFill/>
          </a:ln>
        </p:spPr>
        <p:txBody>
          <a:bodyPr anchorCtr="0" anchor="ctr" bIns="0" lIns="91425" spcFirstLastPara="1" rIns="0" wrap="square" tIns="0">
            <a:noAutofit/>
          </a:bodyPr>
          <a:lstStyle/>
          <a:p>
            <a:pPr indent="0" lvl="0" marL="0" rtl="0" algn="l">
              <a:spcBef>
                <a:spcPts val="0"/>
              </a:spcBef>
              <a:spcAft>
                <a:spcPts val="0"/>
              </a:spcAft>
              <a:buNone/>
            </a:pPr>
            <a:r>
              <a:rPr lang="en" sz="1300">
                <a:solidFill>
                  <a:schemeClr val="accent1"/>
                </a:solidFill>
                <a:latin typeface="DM Sans Medium"/>
                <a:ea typeface="DM Sans Medium"/>
                <a:cs typeface="DM Sans Medium"/>
                <a:sym typeface="DM Sans Medium"/>
              </a:rPr>
              <a:t>Databricks-managed and PostgreSQL native </a:t>
            </a:r>
            <a:r>
              <a:rPr lang="en" sz="1300">
                <a:solidFill>
                  <a:schemeClr val="accent2"/>
                </a:solidFill>
                <a:latin typeface="DM Sans Medium"/>
                <a:ea typeface="DM Sans Medium"/>
                <a:cs typeface="DM Sans Medium"/>
                <a:sym typeface="DM Sans Medium"/>
              </a:rPr>
              <a:t>authentication</a:t>
            </a:r>
            <a:r>
              <a:rPr lang="en" sz="1300">
                <a:solidFill>
                  <a:schemeClr val="accent1"/>
                </a:solidFill>
                <a:latin typeface="DM Sans Medium"/>
                <a:ea typeface="DM Sans Medium"/>
                <a:cs typeface="DM Sans Medium"/>
                <a:sym typeface="DM Sans Medium"/>
              </a:rPr>
              <a:t> options:</a:t>
            </a:r>
            <a:endParaRPr sz="1300">
              <a:solidFill>
                <a:schemeClr val="accent1"/>
              </a:solidFill>
              <a:latin typeface="DM Sans Medium"/>
              <a:ea typeface="DM Sans Medium"/>
              <a:cs typeface="DM Sans Medium"/>
              <a:sym typeface="DM Sans Medium"/>
            </a:endParaRPr>
          </a:p>
          <a:p>
            <a:pPr indent="-311150" lvl="0" marL="457200" rtl="0" algn="l">
              <a:spcBef>
                <a:spcPts val="600"/>
              </a:spcBef>
              <a:spcAft>
                <a:spcPts val="0"/>
              </a:spcAft>
              <a:buClr>
                <a:schemeClr val="accent1"/>
              </a:buClr>
              <a:buSzPts val="1300"/>
              <a:buFont typeface="DM Sans"/>
              <a:buChar char="●"/>
            </a:pPr>
            <a:r>
              <a:rPr lang="en" sz="1300">
                <a:solidFill>
                  <a:schemeClr val="accent1"/>
                </a:solidFill>
                <a:latin typeface="DM Sans"/>
                <a:ea typeface="DM Sans"/>
                <a:cs typeface="DM Sans"/>
                <a:sym typeface="DM Sans"/>
              </a:rPr>
              <a:t>OAuth for service principals (OAuth M2M)</a:t>
            </a:r>
            <a:endParaRPr sz="1300">
              <a:solidFill>
                <a:schemeClr val="accent1"/>
              </a:solidFill>
              <a:latin typeface="DM Sans"/>
              <a:ea typeface="DM Sans"/>
              <a:cs typeface="DM Sans"/>
              <a:sym typeface="DM Sans"/>
            </a:endParaRPr>
          </a:p>
          <a:p>
            <a:pPr indent="-311150" lvl="0" marL="457200" rtl="0" algn="l">
              <a:spcBef>
                <a:spcPts val="600"/>
              </a:spcBef>
              <a:spcAft>
                <a:spcPts val="0"/>
              </a:spcAft>
              <a:buClr>
                <a:schemeClr val="accent1"/>
              </a:buClr>
              <a:buSzPts val="1300"/>
              <a:buFont typeface="DM Sans"/>
              <a:buChar char="●"/>
            </a:pPr>
            <a:r>
              <a:rPr lang="en" sz="1300">
                <a:solidFill>
                  <a:schemeClr val="accent1"/>
                </a:solidFill>
                <a:latin typeface="DM Sans"/>
                <a:ea typeface="DM Sans"/>
                <a:cs typeface="DM Sans"/>
                <a:sym typeface="DM Sans"/>
              </a:rPr>
              <a:t>OAuth for users (OAuth U2M)</a:t>
            </a:r>
            <a:endParaRPr sz="1300">
              <a:solidFill>
                <a:schemeClr val="accent1"/>
              </a:solidFill>
              <a:latin typeface="DM Sans"/>
              <a:ea typeface="DM Sans"/>
              <a:cs typeface="DM Sans"/>
              <a:sym typeface="DM Sans"/>
            </a:endParaRPr>
          </a:p>
          <a:p>
            <a:pPr indent="-311150" lvl="0" marL="457200" rtl="0" algn="l">
              <a:spcBef>
                <a:spcPts val="600"/>
              </a:spcBef>
              <a:spcAft>
                <a:spcPts val="0"/>
              </a:spcAft>
              <a:buClr>
                <a:schemeClr val="accent1"/>
              </a:buClr>
              <a:buSzPts val="1300"/>
              <a:buFont typeface="DM Sans"/>
              <a:buChar char="●"/>
            </a:pPr>
            <a:r>
              <a:rPr lang="en" sz="1300">
                <a:solidFill>
                  <a:schemeClr val="accent1"/>
                </a:solidFill>
                <a:latin typeface="DM Sans"/>
                <a:ea typeface="DM Sans"/>
                <a:cs typeface="DM Sans"/>
                <a:sym typeface="DM Sans"/>
              </a:rPr>
              <a:t>PostgreSQL username &amp; password</a:t>
            </a:r>
            <a:endParaRPr sz="1300">
              <a:solidFill>
                <a:schemeClr val="accent1"/>
              </a:solidFill>
              <a:latin typeface="DM Sans"/>
              <a:ea typeface="DM Sans"/>
              <a:cs typeface="DM Sans"/>
              <a:sym typeface="DM Sans"/>
            </a:endParaRPr>
          </a:p>
          <a:p>
            <a:pPr indent="0" lvl="0" marL="0" rtl="0" algn="l">
              <a:spcBef>
                <a:spcPts val="600"/>
              </a:spcBef>
              <a:spcAft>
                <a:spcPts val="0"/>
              </a:spcAft>
              <a:buNone/>
            </a:pPr>
            <a:r>
              <a:t/>
            </a:r>
            <a:endParaRPr sz="1300">
              <a:solidFill>
                <a:schemeClr val="accent1"/>
              </a:solidFill>
              <a:latin typeface="DM Sans Medium"/>
              <a:ea typeface="DM Sans Medium"/>
              <a:cs typeface="DM Sans Medium"/>
              <a:sym typeface="DM Sans Medium"/>
            </a:endParaRPr>
          </a:p>
          <a:p>
            <a:pPr indent="0" lvl="0" marL="0" rtl="0" algn="l">
              <a:spcBef>
                <a:spcPts val="600"/>
              </a:spcBef>
              <a:spcAft>
                <a:spcPts val="0"/>
              </a:spcAft>
              <a:buNone/>
            </a:pPr>
            <a:r>
              <a:rPr lang="en" sz="1300">
                <a:solidFill>
                  <a:schemeClr val="accent1"/>
                </a:solidFill>
                <a:latin typeface="DM Sans Medium"/>
                <a:ea typeface="DM Sans Medium"/>
                <a:cs typeface="DM Sans Medium"/>
                <a:sym typeface="DM Sans Medium"/>
              </a:rPr>
              <a:t>PostgreSQL native and UC-managed governance </a:t>
            </a:r>
            <a:r>
              <a:rPr lang="en" sz="1300">
                <a:solidFill>
                  <a:schemeClr val="accent2"/>
                </a:solidFill>
                <a:latin typeface="DM Sans Medium"/>
                <a:ea typeface="DM Sans Medium"/>
                <a:cs typeface="DM Sans Medium"/>
                <a:sym typeface="DM Sans Medium"/>
              </a:rPr>
              <a:t>authorization</a:t>
            </a:r>
            <a:r>
              <a:rPr lang="en" sz="1300">
                <a:solidFill>
                  <a:schemeClr val="accent1"/>
                </a:solidFill>
                <a:latin typeface="DM Sans Medium"/>
                <a:ea typeface="DM Sans Medium"/>
                <a:cs typeface="DM Sans Medium"/>
                <a:sym typeface="DM Sans Medium"/>
              </a:rPr>
              <a:t> options:</a:t>
            </a:r>
            <a:endParaRPr sz="1300">
              <a:solidFill>
                <a:schemeClr val="accent1"/>
              </a:solidFill>
              <a:latin typeface="DM Sans Medium"/>
              <a:ea typeface="DM Sans Medium"/>
              <a:cs typeface="DM Sans Medium"/>
              <a:sym typeface="DM Sans Medium"/>
            </a:endParaRPr>
          </a:p>
          <a:p>
            <a:pPr indent="-311150" lvl="0" marL="457200" rtl="0" algn="l">
              <a:spcBef>
                <a:spcPts val="600"/>
              </a:spcBef>
              <a:spcAft>
                <a:spcPts val="0"/>
              </a:spcAft>
              <a:buClr>
                <a:schemeClr val="accent1"/>
              </a:buClr>
              <a:buSzPts val="1300"/>
              <a:buFont typeface="DM Sans"/>
              <a:buChar char="●"/>
            </a:pPr>
            <a:r>
              <a:rPr lang="en" sz="1300">
                <a:solidFill>
                  <a:schemeClr val="accent1"/>
                </a:solidFill>
                <a:latin typeface="DM Sans"/>
                <a:ea typeface="DM Sans"/>
                <a:cs typeface="DM Sans"/>
                <a:sym typeface="DM Sans"/>
              </a:rPr>
              <a:t>Native PostgreSQL permissions and privileges </a:t>
            </a:r>
            <a:endParaRPr sz="1300">
              <a:solidFill>
                <a:schemeClr val="accent1"/>
              </a:solidFill>
              <a:latin typeface="DM Sans"/>
              <a:ea typeface="DM Sans"/>
              <a:cs typeface="DM Sans"/>
              <a:sym typeface="DM Sans"/>
            </a:endParaRPr>
          </a:p>
          <a:p>
            <a:pPr indent="-311150" lvl="0" marL="457200" rtl="0" algn="l">
              <a:spcBef>
                <a:spcPts val="600"/>
              </a:spcBef>
              <a:spcAft>
                <a:spcPts val="600"/>
              </a:spcAft>
              <a:buClr>
                <a:schemeClr val="accent1"/>
              </a:buClr>
              <a:buSzPts val="1300"/>
              <a:buFont typeface="DM Sans"/>
              <a:buChar char="●"/>
            </a:pPr>
            <a:r>
              <a:rPr lang="en" sz="1300">
                <a:solidFill>
                  <a:schemeClr val="accent1"/>
                </a:solidFill>
                <a:latin typeface="DM Sans"/>
                <a:ea typeface="DM Sans"/>
                <a:cs typeface="DM Sans"/>
                <a:sym typeface="DM Sans"/>
              </a:rPr>
              <a:t>UC-managed governance for native services such as Notebooks, REST API, DB SQL, Model Serving </a:t>
            </a:r>
            <a:endParaRPr sz="1300">
              <a:solidFill>
                <a:schemeClr val="accent1"/>
              </a:solidFill>
              <a:latin typeface="DM Sans"/>
              <a:ea typeface="DM Sans"/>
              <a:cs typeface="DM Sans"/>
              <a:sym typeface="DM Sans"/>
            </a:endParaRPr>
          </a:p>
        </p:txBody>
      </p:sp>
      <p:sp>
        <p:nvSpPr>
          <p:cNvPr id="1691" name="Google Shape;1691;p82"/>
          <p:cNvSpPr/>
          <p:nvPr/>
        </p:nvSpPr>
        <p:spPr>
          <a:xfrm>
            <a:off x="1198826" y="2067825"/>
            <a:ext cx="3498900" cy="583500"/>
          </a:xfrm>
          <a:prstGeom prst="roundRect">
            <a:avLst>
              <a:gd fmla="val 16667" name="adj"/>
            </a:avLst>
          </a:prstGeom>
          <a:solidFill>
            <a:srgbClr val="FFFFFF"/>
          </a:solidFill>
          <a:ln cap="flat" cmpd="sng" w="19050">
            <a:solidFill>
              <a:schemeClr val="accent2"/>
            </a:solidFill>
            <a:prstDash val="solid"/>
            <a:round/>
            <a:headEnd len="sm" w="sm" type="none"/>
            <a:tailEnd len="sm" w="sm" type="none"/>
          </a:ln>
        </p:spPr>
        <p:txBody>
          <a:bodyPr anchorCtr="0" anchor="t" bIns="0" lIns="91425" spcFirstLastPara="1" rIns="91425" wrap="square" tIns="0">
            <a:noAutofit/>
          </a:bodyPr>
          <a:lstStyle/>
          <a:p>
            <a:pPr indent="0" lvl="0" marL="0" marR="0" rtl="0" algn="ctr">
              <a:lnSpc>
                <a:spcPct val="100000"/>
              </a:lnSpc>
              <a:spcBef>
                <a:spcPts val="0"/>
              </a:spcBef>
              <a:spcAft>
                <a:spcPts val="0"/>
              </a:spcAft>
              <a:buNone/>
            </a:pPr>
            <a:r>
              <a:rPr lang="en" sz="1800">
                <a:solidFill>
                  <a:schemeClr val="accent2"/>
                </a:solidFill>
                <a:latin typeface="DM Sans Medium"/>
                <a:ea typeface="DM Sans Medium"/>
                <a:cs typeface="DM Sans Medium"/>
                <a:sym typeface="DM Sans Medium"/>
              </a:rPr>
              <a:t>Ingress Security</a:t>
            </a:r>
            <a:endParaRPr sz="1800">
              <a:solidFill>
                <a:schemeClr val="accent2"/>
              </a:solidFill>
              <a:latin typeface="DM Sans Medium"/>
              <a:ea typeface="DM Sans Medium"/>
              <a:cs typeface="DM Sans Medium"/>
              <a:sym typeface="DM Sans Medium"/>
            </a:endParaRPr>
          </a:p>
          <a:p>
            <a:pPr indent="0" lvl="0" marL="0" marR="0" rtl="0" algn="ctr">
              <a:lnSpc>
                <a:spcPct val="100000"/>
              </a:lnSpc>
              <a:spcBef>
                <a:spcPts val="300"/>
              </a:spcBef>
              <a:spcAft>
                <a:spcPts val="300"/>
              </a:spcAft>
              <a:buNone/>
            </a:pPr>
            <a:r>
              <a:rPr lang="en" sz="1200">
                <a:solidFill>
                  <a:schemeClr val="accent1"/>
                </a:solidFill>
                <a:latin typeface="DM Sans Medium"/>
                <a:ea typeface="DM Sans Medium"/>
                <a:cs typeface="DM Sans Medium"/>
                <a:sym typeface="DM Sans Medium"/>
              </a:rPr>
              <a:t>(IP ACLs / Private Link / DDOS protection)</a:t>
            </a:r>
            <a:endParaRPr sz="1000">
              <a:solidFill>
                <a:srgbClr val="1B5162"/>
              </a:solidFill>
              <a:latin typeface="DM Sans Medium"/>
              <a:ea typeface="DM Sans Medium"/>
              <a:cs typeface="DM Sans Medium"/>
              <a:sym typeface="DM Sans Medium"/>
            </a:endParaRPr>
          </a:p>
        </p:txBody>
      </p:sp>
      <p:cxnSp>
        <p:nvCxnSpPr>
          <p:cNvPr id="1697" name="Google Shape;1697;p82"/>
          <p:cNvCxnSpPr>
            <a:stCxn id="1698" idx="1"/>
            <a:endCxn id="1691" idx="3"/>
          </p:cNvCxnSpPr>
          <p:nvPr/>
        </p:nvCxnSpPr>
        <p:spPr>
          <a:xfrm rot="10800000">
            <a:off x="4697650" y="2359500"/>
            <a:ext cx="2191500" cy="333900"/>
          </a:xfrm>
          <a:prstGeom prst="curvedConnector3">
            <a:avLst>
              <a:gd fmla="val 49998" name="adj1"/>
            </a:avLst>
          </a:prstGeom>
          <a:noFill/>
          <a:ln cap="flat" cmpd="sng" w="19050">
            <a:solidFill>
              <a:schemeClr val="accent1"/>
            </a:solidFill>
            <a:prstDash val="solid"/>
            <a:round/>
            <a:headEnd len="sm" w="sm" type="none"/>
            <a:tailEnd len="sm" w="sm" type="triangle"/>
          </a:ln>
        </p:spPr>
      </p:cxnSp>
      <p:sp>
        <p:nvSpPr>
          <p:cNvPr id="1699" name="Google Shape;1699;p82"/>
          <p:cNvSpPr/>
          <p:nvPr/>
        </p:nvSpPr>
        <p:spPr>
          <a:xfrm>
            <a:off x="632825" y="3496500"/>
            <a:ext cx="2169900" cy="1714500"/>
          </a:xfrm>
          <a:prstGeom prst="roundRect">
            <a:avLst>
              <a:gd fmla="val 4218" name="adj"/>
            </a:avLst>
          </a:prstGeom>
          <a:solidFill>
            <a:srgbClr val="FFFF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    Control </a:t>
            </a:r>
            <a:br>
              <a:rPr lang="en" sz="1800">
                <a:solidFill>
                  <a:schemeClr val="accent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    Plane</a:t>
            </a:r>
            <a:endParaRPr sz="1800">
              <a:solidFill>
                <a:schemeClr val="accent1"/>
              </a:solidFill>
              <a:latin typeface="DM Sans Medium"/>
              <a:ea typeface="DM Sans Medium"/>
              <a:cs typeface="DM Sans Medium"/>
              <a:sym typeface="DM Sans Medium"/>
            </a:endParaRPr>
          </a:p>
        </p:txBody>
      </p:sp>
      <p:pic>
        <p:nvPicPr>
          <p:cNvPr id="1700" name="Google Shape;1700;p82"/>
          <p:cNvPicPr preferRelativeResize="0"/>
          <p:nvPr/>
        </p:nvPicPr>
        <p:blipFill rotWithShape="1">
          <a:blip r:embed="rId3">
            <a:alphaModFix/>
          </a:blip>
          <a:srcRect b="0" l="0" r="82955" t="0"/>
          <a:stretch/>
        </p:blipFill>
        <p:spPr>
          <a:xfrm>
            <a:off x="704354" y="3615279"/>
            <a:ext cx="245706" cy="226800"/>
          </a:xfrm>
          <a:prstGeom prst="rect">
            <a:avLst/>
          </a:prstGeom>
          <a:noFill/>
          <a:ln>
            <a:noFill/>
          </a:ln>
        </p:spPr>
      </p:pic>
      <p:sp>
        <p:nvSpPr>
          <p:cNvPr id="1701" name="Google Shape;1701;p82"/>
          <p:cNvSpPr/>
          <p:nvPr/>
        </p:nvSpPr>
        <p:spPr>
          <a:xfrm>
            <a:off x="1759750" y="4182150"/>
            <a:ext cx="888000" cy="848100"/>
          </a:xfrm>
          <a:prstGeom prst="roundRect">
            <a:avLst>
              <a:gd fmla="val 6143"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UI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REST API</a:t>
            </a:r>
            <a:endParaRPr>
              <a:solidFill>
                <a:schemeClr val="accent1"/>
              </a:solidFill>
              <a:latin typeface="DM Sans Medium"/>
              <a:ea typeface="DM Sans Medium"/>
              <a:cs typeface="DM Sans Medium"/>
              <a:sym typeface="DM Sans Medium"/>
            </a:endParaRPr>
          </a:p>
        </p:txBody>
      </p:sp>
      <p:cxnSp>
        <p:nvCxnSpPr>
          <p:cNvPr id="1702" name="Google Shape;1702;p82"/>
          <p:cNvCxnSpPr>
            <a:stCxn id="1691" idx="2"/>
          </p:cNvCxnSpPr>
          <p:nvPr/>
        </p:nvCxnSpPr>
        <p:spPr>
          <a:xfrm rot="5400000">
            <a:off x="2191676" y="2732625"/>
            <a:ext cx="837900" cy="675300"/>
          </a:xfrm>
          <a:prstGeom prst="curvedConnector3">
            <a:avLst>
              <a:gd fmla="val 50000" name="adj1"/>
            </a:avLst>
          </a:prstGeom>
          <a:noFill/>
          <a:ln cap="flat" cmpd="sng" w="19050">
            <a:solidFill>
              <a:schemeClr val="accent1"/>
            </a:solidFill>
            <a:prstDash val="solid"/>
            <a:round/>
            <a:headEnd len="sm" w="sm" type="none"/>
            <a:tailEnd len="sm" w="sm" type="triangle"/>
          </a:ln>
        </p:spPr>
      </p:cxnSp>
      <p:cxnSp>
        <p:nvCxnSpPr>
          <p:cNvPr id="1703" name="Google Shape;1703;p82"/>
          <p:cNvCxnSpPr>
            <a:endCxn id="1692" idx="1"/>
          </p:cNvCxnSpPr>
          <p:nvPr/>
        </p:nvCxnSpPr>
        <p:spPr>
          <a:xfrm>
            <a:off x="2794388" y="4605700"/>
            <a:ext cx="490200" cy="600"/>
          </a:xfrm>
          <a:prstGeom prst="curvedConnector3">
            <a:avLst>
              <a:gd fmla="val 50000" name="adj1"/>
            </a:avLst>
          </a:prstGeom>
          <a:noFill/>
          <a:ln cap="flat" cmpd="sng" w="19050">
            <a:solidFill>
              <a:schemeClr val="accent1"/>
            </a:solidFill>
            <a:prstDash val="solid"/>
            <a:round/>
            <a:headEnd len="sm" w="sm" type="none"/>
            <a:tailEnd len="sm" w="sm" type="triangle"/>
          </a:ln>
        </p:spPr>
      </p:cxnSp>
      <p:cxnSp>
        <p:nvCxnSpPr>
          <p:cNvPr id="1704" name="Google Shape;1704;p82"/>
          <p:cNvCxnSpPr>
            <a:stCxn id="1705" idx="1"/>
            <a:endCxn id="1691" idx="3"/>
          </p:cNvCxnSpPr>
          <p:nvPr/>
        </p:nvCxnSpPr>
        <p:spPr>
          <a:xfrm flipH="1">
            <a:off x="4697650" y="2078650"/>
            <a:ext cx="2191500" cy="280800"/>
          </a:xfrm>
          <a:prstGeom prst="curvedConnector3">
            <a:avLst>
              <a:gd fmla="val 49998" name="adj1"/>
            </a:avLst>
          </a:prstGeom>
          <a:noFill/>
          <a:ln cap="flat" cmpd="sng" w="19050">
            <a:solidFill>
              <a:schemeClr val="accent1"/>
            </a:solidFill>
            <a:prstDash val="solid"/>
            <a:round/>
            <a:headEnd len="sm" w="sm" type="none"/>
            <a:tailEnd len="sm" w="sm" type="triangle"/>
          </a:ln>
        </p:spPr>
      </p:cxnSp>
      <p:sp>
        <p:nvSpPr>
          <p:cNvPr id="1695" name="Google Shape;1695;p82"/>
          <p:cNvSpPr/>
          <p:nvPr/>
        </p:nvSpPr>
        <p:spPr>
          <a:xfrm>
            <a:off x="4928863" y="4182200"/>
            <a:ext cx="1372800" cy="848100"/>
          </a:xfrm>
          <a:prstGeom prst="roundRect">
            <a:avLst>
              <a:gd fmla="val 6143"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Lakebase Storage Service</a:t>
            </a:r>
            <a:endParaRPr>
              <a:solidFill>
                <a:schemeClr val="accent1"/>
              </a:solidFill>
              <a:latin typeface="DM Sans Medium"/>
              <a:ea typeface="DM Sans Medium"/>
              <a:cs typeface="DM Sans Medium"/>
              <a:sym typeface="DM Sans Medium"/>
            </a:endParaRPr>
          </a:p>
        </p:txBody>
      </p:sp>
      <p:cxnSp>
        <p:nvCxnSpPr>
          <p:cNvPr id="1706" name="Google Shape;1706;p82"/>
          <p:cNvCxnSpPr>
            <a:stCxn id="1692" idx="3"/>
            <a:endCxn id="1695" idx="1"/>
          </p:cNvCxnSpPr>
          <p:nvPr/>
        </p:nvCxnSpPr>
        <p:spPr>
          <a:xfrm>
            <a:off x="4657388" y="4606300"/>
            <a:ext cx="271500" cy="600"/>
          </a:xfrm>
          <a:prstGeom prst="curvedConnector3">
            <a:avLst>
              <a:gd fmla="val 49995" name="adj1"/>
            </a:avLst>
          </a:prstGeom>
          <a:noFill/>
          <a:ln cap="flat" cmpd="sng" w="19050">
            <a:solidFill>
              <a:schemeClr val="accent1"/>
            </a:solidFill>
            <a:prstDash val="solid"/>
            <a:round/>
            <a:headEnd len="sm" w="sm" type="triangle"/>
            <a:tailEnd len="sm" w="sm" type="triangle"/>
          </a:ln>
        </p:spPr>
      </p:cxnSp>
      <p:sp>
        <p:nvSpPr>
          <p:cNvPr id="1707" name="Google Shape;1707;p82"/>
          <p:cNvSpPr/>
          <p:nvPr/>
        </p:nvSpPr>
        <p:spPr>
          <a:xfrm>
            <a:off x="6735550" y="1333500"/>
            <a:ext cx="42891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708" name="Google Shape;1708;p82"/>
          <p:cNvSpPr/>
          <p:nvPr/>
        </p:nvSpPr>
        <p:spPr>
          <a:xfrm>
            <a:off x="632825" y="1333500"/>
            <a:ext cx="5892900" cy="468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9" name="Google Shape;1709;p82"/>
          <p:cNvPicPr preferRelativeResize="0"/>
          <p:nvPr/>
        </p:nvPicPr>
        <p:blipFill rotWithShape="1">
          <a:blip r:embed="rId3">
            <a:alphaModFix/>
          </a:blip>
          <a:srcRect b="0" l="0" r="0" t="0"/>
          <a:stretch/>
        </p:blipFill>
        <p:spPr>
          <a:xfrm>
            <a:off x="2305897" y="1395743"/>
            <a:ext cx="2149050" cy="338050"/>
          </a:xfrm>
          <a:prstGeom prst="rect">
            <a:avLst/>
          </a:prstGeom>
          <a:noFill/>
          <a:ln>
            <a:noFill/>
          </a:ln>
        </p:spPr>
      </p:pic>
      <p:pic>
        <p:nvPicPr>
          <p:cNvPr id="1705" name="Google Shape;1705;p82"/>
          <p:cNvPicPr preferRelativeResize="0"/>
          <p:nvPr/>
        </p:nvPicPr>
        <p:blipFill>
          <a:blip r:embed="rId4">
            <a:alphaModFix/>
          </a:blip>
          <a:stretch>
            <a:fillRect/>
          </a:stretch>
        </p:blipFill>
        <p:spPr>
          <a:xfrm>
            <a:off x="6889150" y="1844200"/>
            <a:ext cx="468900" cy="468900"/>
          </a:xfrm>
          <a:prstGeom prst="rect">
            <a:avLst/>
          </a:prstGeom>
          <a:noFill/>
          <a:ln>
            <a:noFill/>
          </a:ln>
        </p:spPr>
      </p:pic>
      <p:sp>
        <p:nvSpPr>
          <p:cNvPr id="1710" name="Google Shape;1710;p82"/>
          <p:cNvSpPr/>
          <p:nvPr/>
        </p:nvSpPr>
        <p:spPr>
          <a:xfrm>
            <a:off x="7506925" y="1971375"/>
            <a:ext cx="692400" cy="280800"/>
          </a:xfrm>
          <a:prstGeom prst="roundRect">
            <a:avLst>
              <a:gd fmla="val 18974" name="adj"/>
            </a:avLst>
          </a:prstGeom>
          <a:solidFill>
            <a:srgbClr val="FFFFFF"/>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800">
                <a:solidFill>
                  <a:schemeClr val="accent1"/>
                </a:solidFill>
                <a:latin typeface="DM Sans Medium"/>
                <a:ea typeface="DM Sans Medium"/>
                <a:cs typeface="DM Sans Medium"/>
                <a:sym typeface="DM Sans Medium"/>
              </a:rPr>
              <a:t>Users</a:t>
            </a:r>
            <a:endParaRPr sz="1800">
              <a:solidFill>
                <a:schemeClr val="accent1"/>
              </a:solidFill>
              <a:latin typeface="DM Sans Medium"/>
              <a:ea typeface="DM Sans Medium"/>
              <a:cs typeface="DM Sans Medium"/>
              <a:sym typeface="DM Sans Medium"/>
            </a:endParaRPr>
          </a:p>
        </p:txBody>
      </p:sp>
      <p:pic>
        <p:nvPicPr>
          <p:cNvPr id="1698" name="Google Shape;1698;p82"/>
          <p:cNvPicPr preferRelativeResize="0"/>
          <p:nvPr/>
        </p:nvPicPr>
        <p:blipFill>
          <a:blip r:embed="rId5">
            <a:alphaModFix/>
          </a:blip>
          <a:stretch>
            <a:fillRect/>
          </a:stretch>
        </p:blipFill>
        <p:spPr>
          <a:xfrm>
            <a:off x="6889150" y="2458950"/>
            <a:ext cx="468900" cy="468900"/>
          </a:xfrm>
          <a:prstGeom prst="rect">
            <a:avLst/>
          </a:prstGeom>
          <a:noFill/>
          <a:ln>
            <a:noFill/>
          </a:ln>
        </p:spPr>
      </p:pic>
      <p:sp>
        <p:nvSpPr>
          <p:cNvPr id="1711" name="Google Shape;1711;p82"/>
          <p:cNvSpPr/>
          <p:nvPr/>
        </p:nvSpPr>
        <p:spPr>
          <a:xfrm>
            <a:off x="7506925" y="2504775"/>
            <a:ext cx="2542800" cy="280800"/>
          </a:xfrm>
          <a:prstGeom prst="roundRect">
            <a:avLst>
              <a:gd fmla="val 18974" name="adj"/>
            </a:avLst>
          </a:prstGeom>
          <a:solidFill>
            <a:srgbClr val="FFFFFF"/>
          </a:solid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sz="1800">
                <a:solidFill>
                  <a:schemeClr val="accent1"/>
                </a:solidFill>
                <a:latin typeface="DM Sans Medium"/>
                <a:ea typeface="DM Sans Medium"/>
                <a:cs typeface="DM Sans Medium"/>
                <a:sym typeface="DM Sans Medium"/>
              </a:rPr>
              <a:t>Apps</a:t>
            </a:r>
            <a:endParaRPr sz="1800">
              <a:solidFill>
                <a:schemeClr val="accent1"/>
              </a:solidFill>
              <a:latin typeface="DM Sans Medium"/>
              <a:ea typeface="DM Sans Medium"/>
              <a:cs typeface="DM Sans Medium"/>
              <a:sym typeface="DM Sans Medium"/>
            </a:endParaRPr>
          </a:p>
        </p:txBody>
      </p:sp>
      <p:sp>
        <p:nvSpPr>
          <p:cNvPr id="1712" name="Google Shape;1712;p82"/>
          <p:cNvSpPr txBox="1"/>
          <p:nvPr/>
        </p:nvSpPr>
        <p:spPr>
          <a:xfrm>
            <a:off x="7414300" y="269714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1"/>
                </a:solidFill>
                <a:latin typeface="DM Sans Medium"/>
                <a:ea typeface="DM Sans Medium"/>
                <a:cs typeface="DM Sans Medium"/>
                <a:sym typeface="DM Sans Medium"/>
              </a:rPr>
              <a:t>(Postgres drivers and ecosystem)</a:t>
            </a:r>
            <a:endParaRPr/>
          </a:p>
        </p:txBody>
      </p:sp>
      <p:sp>
        <p:nvSpPr>
          <p:cNvPr id="1713" name="Google Shape;1713;p82"/>
          <p:cNvSpPr txBox="1"/>
          <p:nvPr/>
        </p:nvSpPr>
        <p:spPr>
          <a:xfrm>
            <a:off x="1278154" y="2715220"/>
            <a:ext cx="152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DM Sans"/>
                <a:ea typeface="DM Sans"/>
                <a:cs typeface="DM Sans"/>
                <a:sym typeface="DM Sans"/>
              </a:rPr>
              <a:t>Databricks Web UI and REST API</a:t>
            </a:r>
            <a:endParaRPr i="1" sz="1200"/>
          </a:p>
        </p:txBody>
      </p:sp>
      <p:sp>
        <p:nvSpPr>
          <p:cNvPr id="1714" name="Google Shape;1714;p82"/>
          <p:cNvSpPr txBox="1"/>
          <p:nvPr/>
        </p:nvSpPr>
        <p:spPr>
          <a:xfrm>
            <a:off x="3111257" y="2698770"/>
            <a:ext cx="152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DM Sans"/>
                <a:ea typeface="DM Sans"/>
                <a:cs typeface="DM Sans"/>
                <a:sym typeface="DM Sans"/>
              </a:rPr>
              <a:t>PostgreSQL Wire Protocol (native)</a:t>
            </a:r>
            <a:endParaRPr i="1" sz="1200"/>
          </a:p>
        </p:txBody>
      </p:sp>
      <p:sp>
        <p:nvSpPr>
          <p:cNvPr id="1715" name="Google Shape;1715;p82"/>
          <p:cNvSpPr/>
          <p:nvPr/>
        </p:nvSpPr>
        <p:spPr>
          <a:xfrm>
            <a:off x="749250" y="4182550"/>
            <a:ext cx="888000" cy="848100"/>
          </a:xfrm>
          <a:prstGeom prst="roundRect">
            <a:avLst>
              <a:gd fmla="val 6143"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Unity Catalog</a:t>
            </a:r>
            <a:endParaRPr>
              <a:solidFill>
                <a:schemeClr val="accent1"/>
              </a:solidFill>
              <a:latin typeface="DM Sans Medium"/>
              <a:ea typeface="DM Sans Medium"/>
              <a:cs typeface="DM Sans Medium"/>
              <a:sym typeface="DM Sa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9" name="Shape 1719"/>
        <p:cNvGrpSpPr/>
        <p:nvPr/>
      </p:nvGrpSpPr>
      <p:grpSpPr>
        <a:xfrm>
          <a:off x="0" y="0"/>
          <a:ext cx="0" cy="0"/>
          <a:chOff x="0" y="0"/>
          <a:chExt cx="0" cy="0"/>
        </a:xfrm>
      </p:grpSpPr>
      <p:sp>
        <p:nvSpPr>
          <p:cNvPr id="1720" name="Google Shape;1720;p83"/>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Scaling</a:t>
            </a:r>
            <a:r>
              <a:rPr lang="en"/>
              <a:t> Databricks</a:t>
            </a:r>
            <a:endParaRPr/>
          </a:p>
        </p:txBody>
      </p:sp>
      <p:sp>
        <p:nvSpPr>
          <p:cNvPr id="1721" name="Google Shape;1721;p8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8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Scaling Databricks Compute</a:t>
            </a:r>
            <a:endParaRPr sz="3600"/>
          </a:p>
        </p:txBody>
      </p:sp>
      <p:sp>
        <p:nvSpPr>
          <p:cNvPr id="1727" name="Google Shape;1727;p8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728" name="Google Shape;1728;p84"/>
          <p:cNvSpPr/>
          <p:nvPr/>
        </p:nvSpPr>
        <p:spPr>
          <a:xfrm>
            <a:off x="1116650" y="1280025"/>
            <a:ext cx="3577200" cy="16989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84"/>
          <p:cNvSpPr/>
          <p:nvPr/>
        </p:nvSpPr>
        <p:spPr>
          <a:xfrm>
            <a:off x="1116650" y="3530450"/>
            <a:ext cx="3577200" cy="2104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84"/>
          <p:cNvSpPr/>
          <p:nvPr/>
        </p:nvSpPr>
        <p:spPr>
          <a:xfrm>
            <a:off x="4951125" y="1280025"/>
            <a:ext cx="6115800" cy="16989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84"/>
          <p:cNvSpPr/>
          <p:nvPr/>
        </p:nvSpPr>
        <p:spPr>
          <a:xfrm>
            <a:off x="4951125" y="3531856"/>
            <a:ext cx="6115800" cy="2104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2" name="Google Shape;1732;p84"/>
          <p:cNvGrpSpPr/>
          <p:nvPr/>
        </p:nvGrpSpPr>
        <p:grpSpPr>
          <a:xfrm>
            <a:off x="1735850" y="3988532"/>
            <a:ext cx="1713000" cy="1091700"/>
            <a:chOff x="9593195" y="315332"/>
            <a:chExt cx="1713000" cy="1091700"/>
          </a:xfrm>
        </p:grpSpPr>
        <p:sp>
          <p:nvSpPr>
            <p:cNvPr id="1733" name="Google Shape;1733;p84"/>
            <p:cNvSpPr/>
            <p:nvPr/>
          </p:nvSpPr>
          <p:spPr>
            <a:xfrm>
              <a:off x="9593195" y="315332"/>
              <a:ext cx="1713000" cy="1091700"/>
            </a:xfrm>
            <a:prstGeom prst="rect">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84"/>
            <p:cNvSpPr/>
            <p:nvPr/>
          </p:nvSpPr>
          <p:spPr>
            <a:xfrm>
              <a:off x="9693075" y="5042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Barlow Medium"/>
                  <a:ea typeface="Barlow Medium"/>
                  <a:cs typeface="Barlow Medium"/>
                  <a:sym typeface="Barlow Medium"/>
                </a:rPr>
                <a:t>Driver</a:t>
              </a:r>
              <a:endParaRPr sz="1100">
                <a:solidFill>
                  <a:schemeClr val="accent1"/>
                </a:solidFill>
                <a:latin typeface="Barlow Medium"/>
                <a:ea typeface="Barlow Medium"/>
                <a:cs typeface="Barlow Medium"/>
                <a:sym typeface="Barlow Medium"/>
              </a:endParaRPr>
            </a:p>
          </p:txBody>
        </p:sp>
        <p:sp>
          <p:nvSpPr>
            <p:cNvPr id="1735" name="Google Shape;1735;p84"/>
            <p:cNvSpPr/>
            <p:nvPr/>
          </p:nvSpPr>
          <p:spPr>
            <a:xfrm>
              <a:off x="10379300" y="5042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736" name="Google Shape;1736;p84"/>
            <p:cNvSpPr/>
            <p:nvPr/>
          </p:nvSpPr>
          <p:spPr>
            <a:xfrm>
              <a:off x="10531700" y="656688"/>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37" name="Google Shape;1737;p84"/>
            <p:cNvSpPr/>
            <p:nvPr/>
          </p:nvSpPr>
          <p:spPr>
            <a:xfrm>
              <a:off x="10684100" y="809088"/>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Barlow Medium"/>
                  <a:ea typeface="Barlow Medium"/>
                  <a:cs typeface="Barlow Medium"/>
                  <a:sym typeface="Barlow Medium"/>
                </a:rPr>
                <a:t>worker</a:t>
              </a:r>
              <a:endParaRPr sz="1100">
                <a:latin typeface="Barlow Medium"/>
                <a:ea typeface="Barlow Medium"/>
                <a:cs typeface="Barlow Medium"/>
                <a:sym typeface="Barlow Medium"/>
              </a:endParaRPr>
            </a:p>
          </p:txBody>
        </p:sp>
        <p:pic>
          <p:nvPicPr>
            <p:cNvPr id="1738" name="Google Shape;1738;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grpSp>
        <p:nvGrpSpPr>
          <p:cNvPr id="1739" name="Google Shape;1739;p84"/>
          <p:cNvGrpSpPr/>
          <p:nvPr/>
        </p:nvGrpSpPr>
        <p:grpSpPr>
          <a:xfrm>
            <a:off x="2040650" y="4217132"/>
            <a:ext cx="1713000" cy="1091700"/>
            <a:chOff x="9593195" y="315332"/>
            <a:chExt cx="1713000" cy="1091700"/>
          </a:xfrm>
        </p:grpSpPr>
        <p:sp>
          <p:nvSpPr>
            <p:cNvPr id="1740" name="Google Shape;1740;p84"/>
            <p:cNvSpPr/>
            <p:nvPr/>
          </p:nvSpPr>
          <p:spPr>
            <a:xfrm>
              <a:off x="9593195" y="315332"/>
              <a:ext cx="1713000" cy="1091700"/>
            </a:xfrm>
            <a:prstGeom prst="rect">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84"/>
            <p:cNvSpPr/>
            <p:nvPr/>
          </p:nvSpPr>
          <p:spPr>
            <a:xfrm>
              <a:off x="9693075" y="5042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Barlow Medium"/>
                  <a:ea typeface="Barlow Medium"/>
                  <a:cs typeface="Barlow Medium"/>
                  <a:sym typeface="Barlow Medium"/>
                </a:rPr>
                <a:t>Driver</a:t>
              </a:r>
              <a:endParaRPr sz="1100">
                <a:solidFill>
                  <a:schemeClr val="accent1"/>
                </a:solidFill>
                <a:latin typeface="Barlow Medium"/>
                <a:ea typeface="Barlow Medium"/>
                <a:cs typeface="Barlow Medium"/>
                <a:sym typeface="Barlow Medium"/>
              </a:endParaRPr>
            </a:p>
          </p:txBody>
        </p:sp>
        <p:sp>
          <p:nvSpPr>
            <p:cNvPr id="1742" name="Google Shape;1742;p84"/>
            <p:cNvSpPr/>
            <p:nvPr/>
          </p:nvSpPr>
          <p:spPr>
            <a:xfrm>
              <a:off x="10379300" y="5042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743" name="Google Shape;1743;p84"/>
            <p:cNvSpPr/>
            <p:nvPr/>
          </p:nvSpPr>
          <p:spPr>
            <a:xfrm>
              <a:off x="10531700" y="656688"/>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44" name="Google Shape;1744;p84"/>
            <p:cNvSpPr/>
            <p:nvPr/>
          </p:nvSpPr>
          <p:spPr>
            <a:xfrm>
              <a:off x="10684100" y="809088"/>
              <a:ext cx="506700" cy="480300"/>
            </a:xfrm>
            <a:prstGeom prst="roundRect">
              <a:avLst>
                <a:gd fmla="val 16667" name="adj"/>
              </a:avLst>
            </a:prstGeom>
            <a:solidFill>
              <a:srgbClr val="FFFFFF"/>
            </a:solidFill>
            <a:ln cap="flat" cmpd="sng" w="9525">
              <a:solidFill>
                <a:srgbClr val="1B516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Barlow Medium"/>
                  <a:ea typeface="Barlow Medium"/>
                  <a:cs typeface="Barlow Medium"/>
                  <a:sym typeface="Barlow Medium"/>
                </a:rPr>
                <a:t>worker</a:t>
              </a:r>
              <a:endParaRPr sz="1100">
                <a:latin typeface="Barlow Medium"/>
                <a:ea typeface="Barlow Medium"/>
                <a:cs typeface="Barlow Medium"/>
                <a:sym typeface="Barlow Medium"/>
              </a:endParaRPr>
            </a:p>
          </p:txBody>
        </p:sp>
        <p:pic>
          <p:nvPicPr>
            <p:cNvPr id="1745" name="Google Shape;1745;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sp>
        <p:nvSpPr>
          <p:cNvPr id="1746" name="Google Shape;1746;p84"/>
          <p:cNvSpPr txBox="1"/>
          <p:nvPr/>
        </p:nvSpPr>
        <p:spPr>
          <a:xfrm>
            <a:off x="889250" y="1280025"/>
            <a:ext cx="40158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Barlow Medium"/>
                <a:ea typeface="Barlow Medium"/>
                <a:cs typeface="Barlow Medium"/>
                <a:sym typeface="Barlow Medium"/>
              </a:rPr>
              <a:t>Autoscaling (Horizontal)</a:t>
            </a:r>
            <a:r>
              <a:rPr b="1" lang="en" sz="1600">
                <a:solidFill>
                  <a:schemeClr val="accent1"/>
                </a:solidFill>
                <a:latin typeface="Barlow"/>
                <a:ea typeface="Barlow"/>
                <a:cs typeface="Barlow"/>
                <a:sym typeface="Barlow"/>
              </a:rPr>
              <a:t> </a:t>
            </a:r>
            <a:r>
              <a:rPr lang="en" sz="1100">
                <a:solidFill>
                  <a:schemeClr val="accent1"/>
                </a:solidFill>
                <a:latin typeface="Barlow"/>
                <a:ea typeface="Barlow"/>
                <a:cs typeface="Barlow"/>
                <a:sym typeface="Barlow"/>
              </a:rPr>
              <a:t>Clusters Only</a:t>
            </a:r>
            <a:endParaRPr sz="1100">
              <a:solidFill>
                <a:schemeClr val="accent1"/>
              </a:solidFill>
              <a:latin typeface="Barlow"/>
              <a:ea typeface="Barlow"/>
              <a:cs typeface="Barlow"/>
              <a:sym typeface="Barlow"/>
            </a:endParaRPr>
          </a:p>
        </p:txBody>
      </p:sp>
      <p:sp>
        <p:nvSpPr>
          <p:cNvPr id="1747" name="Google Shape;1747;p84"/>
          <p:cNvSpPr txBox="1"/>
          <p:nvPr/>
        </p:nvSpPr>
        <p:spPr>
          <a:xfrm>
            <a:off x="6776975" y="1280025"/>
            <a:ext cx="26538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Barlow Medium"/>
                <a:ea typeface="Barlow Medium"/>
                <a:cs typeface="Barlow Medium"/>
                <a:sym typeface="Barlow Medium"/>
              </a:rPr>
              <a:t>Bigger Nodes (Vertical)</a:t>
            </a:r>
            <a:endParaRPr sz="1600">
              <a:solidFill>
                <a:schemeClr val="accent1"/>
              </a:solidFill>
              <a:latin typeface="Barlow Medium"/>
              <a:ea typeface="Barlow Medium"/>
              <a:cs typeface="Barlow Medium"/>
              <a:sym typeface="Barlow Medium"/>
            </a:endParaRPr>
          </a:p>
        </p:txBody>
      </p:sp>
      <p:sp>
        <p:nvSpPr>
          <p:cNvPr id="1748" name="Google Shape;1748;p84"/>
          <p:cNvSpPr txBox="1"/>
          <p:nvPr/>
        </p:nvSpPr>
        <p:spPr>
          <a:xfrm>
            <a:off x="1182950" y="3530450"/>
            <a:ext cx="34284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Barlow Medium"/>
                <a:ea typeface="Barlow Medium"/>
                <a:cs typeface="Barlow Medium"/>
                <a:sym typeface="Barlow Medium"/>
              </a:rPr>
              <a:t>Multiple Clusters</a:t>
            </a:r>
            <a:endParaRPr sz="1600">
              <a:solidFill>
                <a:schemeClr val="accent1"/>
              </a:solidFill>
              <a:latin typeface="Barlow Medium"/>
              <a:ea typeface="Barlow Medium"/>
              <a:cs typeface="Barlow Medium"/>
              <a:sym typeface="Barlow Medium"/>
            </a:endParaRPr>
          </a:p>
        </p:txBody>
      </p:sp>
      <p:sp>
        <p:nvSpPr>
          <p:cNvPr id="1749" name="Google Shape;1749;p84"/>
          <p:cNvSpPr txBox="1"/>
          <p:nvPr/>
        </p:nvSpPr>
        <p:spPr>
          <a:xfrm>
            <a:off x="5598275" y="3530450"/>
            <a:ext cx="50112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Barlow Medium"/>
                <a:ea typeface="Barlow Medium"/>
                <a:cs typeface="Barlow Medium"/>
                <a:sym typeface="Barlow Medium"/>
              </a:rPr>
              <a:t>Multiple Clusters - Load Balanced</a:t>
            </a:r>
            <a:r>
              <a:rPr b="1" lang="en" sz="1600">
                <a:solidFill>
                  <a:schemeClr val="accent1"/>
                </a:solidFill>
                <a:latin typeface="Barlow"/>
                <a:ea typeface="Barlow"/>
                <a:cs typeface="Barlow"/>
                <a:sym typeface="Barlow"/>
              </a:rPr>
              <a:t> </a:t>
            </a:r>
            <a:r>
              <a:rPr lang="en" sz="1000">
                <a:solidFill>
                  <a:schemeClr val="accent1"/>
                </a:solidFill>
                <a:latin typeface="Barlow"/>
                <a:ea typeface="Barlow"/>
                <a:cs typeface="Barlow"/>
                <a:sym typeface="Barlow"/>
              </a:rPr>
              <a:t>SQL Warehouses only</a:t>
            </a:r>
            <a:endParaRPr sz="1000">
              <a:solidFill>
                <a:schemeClr val="accent1"/>
              </a:solidFill>
              <a:latin typeface="Barlow"/>
              <a:ea typeface="Barlow"/>
              <a:cs typeface="Barlow"/>
              <a:sym typeface="Barlow"/>
            </a:endParaRPr>
          </a:p>
        </p:txBody>
      </p:sp>
      <p:sp>
        <p:nvSpPr>
          <p:cNvPr id="1750" name="Google Shape;1750;p84"/>
          <p:cNvSpPr txBox="1"/>
          <p:nvPr/>
        </p:nvSpPr>
        <p:spPr>
          <a:xfrm>
            <a:off x="1284350" y="2957275"/>
            <a:ext cx="3225600" cy="3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Barlow"/>
                <a:ea typeface="Barlow"/>
                <a:cs typeface="Barlow"/>
                <a:sym typeface="Barlow"/>
              </a:rPr>
              <a:t>WHY? Changing query and data volumes</a:t>
            </a:r>
            <a:endParaRPr sz="1300">
              <a:solidFill>
                <a:schemeClr val="accent1"/>
              </a:solidFill>
              <a:latin typeface="Barlow"/>
              <a:ea typeface="Barlow"/>
              <a:cs typeface="Barlow"/>
              <a:sym typeface="Barlow"/>
            </a:endParaRPr>
          </a:p>
        </p:txBody>
      </p:sp>
      <p:sp>
        <p:nvSpPr>
          <p:cNvPr id="1751" name="Google Shape;1751;p84"/>
          <p:cNvSpPr txBox="1"/>
          <p:nvPr/>
        </p:nvSpPr>
        <p:spPr>
          <a:xfrm>
            <a:off x="4772525" y="2957275"/>
            <a:ext cx="6510300" cy="3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Barlow"/>
                <a:ea typeface="Barlow"/>
                <a:cs typeface="Barlow"/>
                <a:sym typeface="Barlow"/>
              </a:rPr>
              <a:t>WHY? Performance and working with larger data in single node DS and with pandas udfs</a:t>
            </a:r>
            <a:endParaRPr sz="1300">
              <a:solidFill>
                <a:schemeClr val="accent1"/>
              </a:solidFill>
              <a:latin typeface="Barlow"/>
              <a:ea typeface="Barlow"/>
              <a:cs typeface="Barlow"/>
              <a:sym typeface="Barlow"/>
            </a:endParaRPr>
          </a:p>
        </p:txBody>
      </p:sp>
      <p:sp>
        <p:nvSpPr>
          <p:cNvPr id="1752" name="Google Shape;1752;p84"/>
          <p:cNvSpPr txBox="1"/>
          <p:nvPr/>
        </p:nvSpPr>
        <p:spPr>
          <a:xfrm>
            <a:off x="970100" y="5636148"/>
            <a:ext cx="3854100" cy="58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Barlow"/>
                <a:ea typeface="Barlow"/>
                <a:cs typeface="Barlow"/>
                <a:sym typeface="Barlow"/>
              </a:rPr>
              <a:t>WHY? 	Separate workloads (i.e. ETL, DS, BI).</a:t>
            </a:r>
            <a:endParaRPr sz="1300">
              <a:solidFill>
                <a:schemeClr val="accent1"/>
              </a:solidFill>
              <a:latin typeface="Barlow"/>
              <a:ea typeface="Barlow"/>
              <a:cs typeface="Barlow"/>
              <a:sym typeface="Barlow"/>
            </a:endParaRPr>
          </a:p>
          <a:p>
            <a:pPr indent="0" lvl="0" marL="0" rtl="0" algn="ctr">
              <a:spcBef>
                <a:spcPts val="0"/>
              </a:spcBef>
              <a:spcAft>
                <a:spcPts val="0"/>
              </a:spcAft>
              <a:buNone/>
            </a:pPr>
            <a:r>
              <a:rPr lang="en" sz="1300">
                <a:solidFill>
                  <a:schemeClr val="accent1"/>
                </a:solidFill>
                <a:latin typeface="Barlow"/>
                <a:ea typeface="Barlow"/>
                <a:cs typeface="Barlow"/>
                <a:sym typeface="Barlow"/>
              </a:rPr>
              <a:t>Dedicated, temporary clusters for jobs</a:t>
            </a:r>
            <a:endParaRPr sz="1300">
              <a:solidFill>
                <a:schemeClr val="accent1"/>
              </a:solidFill>
              <a:latin typeface="Barlow"/>
              <a:ea typeface="Barlow"/>
              <a:cs typeface="Barlow"/>
              <a:sym typeface="Barlow"/>
            </a:endParaRPr>
          </a:p>
        </p:txBody>
      </p:sp>
      <p:sp>
        <p:nvSpPr>
          <p:cNvPr id="1753" name="Google Shape;1753;p84"/>
          <p:cNvSpPr txBox="1"/>
          <p:nvPr/>
        </p:nvSpPr>
        <p:spPr>
          <a:xfrm>
            <a:off x="6437825" y="5636148"/>
            <a:ext cx="3332100" cy="3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Barlow"/>
                <a:ea typeface="Barlow"/>
                <a:cs typeface="Barlow"/>
                <a:sym typeface="Barlow"/>
              </a:rPr>
              <a:t>WHY? Support more simultaneous queries </a:t>
            </a:r>
            <a:endParaRPr sz="1300">
              <a:solidFill>
                <a:schemeClr val="accent1"/>
              </a:solidFill>
              <a:latin typeface="Barlow"/>
              <a:ea typeface="Barlow"/>
              <a:cs typeface="Barlow"/>
              <a:sym typeface="Barlow"/>
            </a:endParaRPr>
          </a:p>
        </p:txBody>
      </p:sp>
      <p:grpSp>
        <p:nvGrpSpPr>
          <p:cNvPr id="1754" name="Google Shape;1754;p84"/>
          <p:cNvGrpSpPr/>
          <p:nvPr/>
        </p:nvGrpSpPr>
        <p:grpSpPr>
          <a:xfrm>
            <a:off x="1284350" y="1725975"/>
            <a:ext cx="3225600" cy="1091700"/>
            <a:chOff x="1131875" y="1954575"/>
            <a:chExt cx="3225600" cy="1091700"/>
          </a:xfrm>
        </p:grpSpPr>
        <p:grpSp>
          <p:nvGrpSpPr>
            <p:cNvPr id="1755" name="Google Shape;1755;p84"/>
            <p:cNvGrpSpPr/>
            <p:nvPr/>
          </p:nvGrpSpPr>
          <p:grpSpPr>
            <a:xfrm>
              <a:off x="1131875" y="1954575"/>
              <a:ext cx="3225600" cy="1091700"/>
              <a:chOff x="5475275" y="2259375"/>
              <a:chExt cx="3225600" cy="1091700"/>
            </a:xfrm>
          </p:grpSpPr>
          <p:grpSp>
            <p:nvGrpSpPr>
              <p:cNvPr id="1756" name="Google Shape;1756;p84"/>
              <p:cNvGrpSpPr/>
              <p:nvPr/>
            </p:nvGrpSpPr>
            <p:grpSpPr>
              <a:xfrm>
                <a:off x="5475275" y="2259375"/>
                <a:ext cx="3225600" cy="1091700"/>
                <a:chOff x="9593200" y="315325"/>
                <a:chExt cx="3225600" cy="1091700"/>
              </a:xfrm>
            </p:grpSpPr>
            <p:sp>
              <p:nvSpPr>
                <p:cNvPr id="1757" name="Google Shape;1757;p84"/>
                <p:cNvSpPr/>
                <p:nvPr/>
              </p:nvSpPr>
              <p:spPr>
                <a:xfrm>
                  <a:off x="9593200" y="315325"/>
                  <a:ext cx="3225600" cy="1091700"/>
                </a:xfrm>
                <a:prstGeom prst="rect">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84"/>
                <p:cNvSpPr/>
                <p:nvPr/>
              </p:nvSpPr>
              <p:spPr>
                <a:xfrm>
                  <a:off x="9693075" y="5042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Barlow Medium"/>
                      <a:ea typeface="Barlow Medium"/>
                      <a:cs typeface="Barlow Medium"/>
                      <a:sym typeface="Barlow Medium"/>
                    </a:rPr>
                    <a:t>Driver</a:t>
                  </a:r>
                  <a:endParaRPr sz="1100">
                    <a:solidFill>
                      <a:schemeClr val="accent1"/>
                    </a:solidFill>
                    <a:latin typeface="Barlow Medium"/>
                    <a:ea typeface="Barlow Medium"/>
                    <a:cs typeface="Barlow Medium"/>
                    <a:sym typeface="Barlow Medium"/>
                  </a:endParaRPr>
                </a:p>
              </p:txBody>
            </p:sp>
            <p:sp>
              <p:nvSpPr>
                <p:cNvPr id="1759" name="Google Shape;1759;p84"/>
                <p:cNvSpPr/>
                <p:nvPr/>
              </p:nvSpPr>
              <p:spPr>
                <a:xfrm>
                  <a:off x="10379300" y="5042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60" name="Google Shape;1760;p84"/>
                <p:cNvSpPr/>
                <p:nvPr/>
              </p:nvSpPr>
              <p:spPr>
                <a:xfrm>
                  <a:off x="10531700" y="6566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61" name="Google Shape;1761;p84"/>
                <p:cNvSpPr/>
                <p:nvPr/>
              </p:nvSpPr>
              <p:spPr>
                <a:xfrm>
                  <a:off x="10684100" y="809088"/>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Barlow Medium"/>
                      <a:ea typeface="Barlow Medium"/>
                      <a:cs typeface="Barlow Medium"/>
                      <a:sym typeface="Barlow Medium"/>
                    </a:rPr>
                    <a:t>worker</a:t>
                  </a:r>
                  <a:endParaRPr sz="1100">
                    <a:solidFill>
                      <a:schemeClr val="accent1"/>
                    </a:solidFill>
                    <a:latin typeface="Barlow Medium"/>
                    <a:ea typeface="Barlow Medium"/>
                    <a:cs typeface="Barlow Medium"/>
                    <a:sym typeface="Barlow Medium"/>
                  </a:endParaRPr>
                </a:p>
              </p:txBody>
            </p:sp>
            <p:pic>
              <p:nvPicPr>
                <p:cNvPr id="1762" name="Google Shape;1762;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grpSp>
            <p:nvGrpSpPr>
              <p:cNvPr id="1763" name="Google Shape;1763;p84"/>
              <p:cNvGrpSpPr/>
              <p:nvPr/>
            </p:nvGrpSpPr>
            <p:grpSpPr>
              <a:xfrm>
                <a:off x="7594525" y="2448338"/>
                <a:ext cx="811500" cy="785100"/>
                <a:chOff x="10607900" y="504288"/>
                <a:chExt cx="811500" cy="785100"/>
              </a:xfrm>
            </p:grpSpPr>
            <p:sp>
              <p:nvSpPr>
                <p:cNvPr id="1764" name="Google Shape;1764;p84"/>
                <p:cNvSpPr/>
                <p:nvPr/>
              </p:nvSpPr>
              <p:spPr>
                <a:xfrm>
                  <a:off x="10607900"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65" name="Google Shape;1765;p84"/>
                <p:cNvSpPr/>
                <p:nvPr/>
              </p:nvSpPr>
              <p:spPr>
                <a:xfrm>
                  <a:off x="10760300" y="6566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66" name="Google Shape;1766;p84"/>
                <p:cNvSpPr/>
                <p:nvPr/>
              </p:nvSpPr>
              <p:spPr>
                <a:xfrm>
                  <a:off x="10912700" y="8090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dk2"/>
                      </a:solidFill>
                      <a:latin typeface="Barlow Medium"/>
                      <a:ea typeface="Barlow Medium"/>
                      <a:cs typeface="Barlow Medium"/>
                      <a:sym typeface="Barlow Medium"/>
                    </a:rPr>
                    <a:t>New worker</a:t>
                  </a:r>
                  <a:endParaRPr sz="1100">
                    <a:solidFill>
                      <a:schemeClr val="dk2"/>
                    </a:solidFill>
                    <a:latin typeface="Barlow Medium"/>
                    <a:ea typeface="Barlow Medium"/>
                    <a:cs typeface="Barlow Medium"/>
                    <a:sym typeface="Barlow Medium"/>
                  </a:endParaRPr>
                </a:p>
              </p:txBody>
            </p:sp>
          </p:grpSp>
        </p:grpSp>
        <p:grpSp>
          <p:nvGrpSpPr>
            <p:cNvPr id="1767" name="Google Shape;1767;p84"/>
            <p:cNvGrpSpPr/>
            <p:nvPr/>
          </p:nvGrpSpPr>
          <p:grpSpPr>
            <a:xfrm>
              <a:off x="2827105" y="2318880"/>
              <a:ext cx="355399" cy="411642"/>
              <a:chOff x="6065455" y="6576055"/>
              <a:chExt cx="355399" cy="411642"/>
            </a:xfrm>
          </p:grpSpPr>
          <p:sp>
            <p:nvSpPr>
              <p:cNvPr id="1768" name="Google Shape;1768;p84"/>
              <p:cNvSpPr/>
              <p:nvPr/>
            </p:nvSpPr>
            <p:spPr>
              <a:xfrm>
                <a:off x="6065455" y="6576055"/>
                <a:ext cx="206400" cy="272700"/>
              </a:xfrm>
              <a:prstGeom prst="upArrow">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84"/>
              <p:cNvSpPr/>
              <p:nvPr/>
            </p:nvSpPr>
            <p:spPr>
              <a:xfrm rot="10800000">
                <a:off x="6214455" y="6714998"/>
                <a:ext cx="206400" cy="272700"/>
              </a:xfrm>
              <a:prstGeom prst="upArrow">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70" name="Google Shape;1770;p84"/>
          <p:cNvGrpSpPr/>
          <p:nvPr/>
        </p:nvGrpSpPr>
        <p:grpSpPr>
          <a:xfrm>
            <a:off x="5911175" y="3988525"/>
            <a:ext cx="4385400" cy="1548900"/>
            <a:chOff x="5832325" y="4217125"/>
            <a:chExt cx="4385400" cy="1548900"/>
          </a:xfrm>
        </p:grpSpPr>
        <p:sp>
          <p:nvSpPr>
            <p:cNvPr id="1771" name="Google Shape;1771;p84"/>
            <p:cNvSpPr/>
            <p:nvPr/>
          </p:nvSpPr>
          <p:spPr>
            <a:xfrm>
              <a:off x="5832325" y="4217125"/>
              <a:ext cx="4385400" cy="15489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2"/>
                  </a:solidFill>
                </a:rPr>
                <a:t>SQL Warehouses in Databricks SQL</a:t>
              </a:r>
              <a:endParaRPr sz="900">
                <a:solidFill>
                  <a:schemeClr val="dk2"/>
                </a:solidFill>
              </a:endParaRPr>
            </a:p>
          </p:txBody>
        </p:sp>
        <p:grpSp>
          <p:nvGrpSpPr>
            <p:cNvPr id="1772" name="Google Shape;1772;p84"/>
            <p:cNvGrpSpPr/>
            <p:nvPr/>
          </p:nvGrpSpPr>
          <p:grpSpPr>
            <a:xfrm>
              <a:off x="6061670" y="4572407"/>
              <a:ext cx="1713000" cy="1091700"/>
              <a:chOff x="9593195" y="315332"/>
              <a:chExt cx="1713000" cy="1091700"/>
            </a:xfrm>
          </p:grpSpPr>
          <p:sp>
            <p:nvSpPr>
              <p:cNvPr id="1773" name="Google Shape;1773;p84"/>
              <p:cNvSpPr/>
              <p:nvPr/>
            </p:nvSpPr>
            <p:spPr>
              <a:xfrm>
                <a:off x="9593195" y="315332"/>
                <a:ext cx="1713000" cy="109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84"/>
              <p:cNvSpPr/>
              <p:nvPr/>
            </p:nvSpPr>
            <p:spPr>
              <a:xfrm>
                <a:off x="9693075"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Barlow Medium"/>
                    <a:ea typeface="Barlow Medium"/>
                    <a:cs typeface="Barlow Medium"/>
                    <a:sym typeface="Barlow Medium"/>
                  </a:rPr>
                  <a:t>Driver</a:t>
                </a:r>
                <a:endParaRPr sz="1100">
                  <a:latin typeface="Barlow Medium"/>
                  <a:ea typeface="Barlow Medium"/>
                  <a:cs typeface="Barlow Medium"/>
                  <a:sym typeface="Barlow Medium"/>
                </a:endParaRPr>
              </a:p>
            </p:txBody>
          </p:sp>
          <p:sp>
            <p:nvSpPr>
              <p:cNvPr id="1775" name="Google Shape;1775;p84"/>
              <p:cNvSpPr/>
              <p:nvPr/>
            </p:nvSpPr>
            <p:spPr>
              <a:xfrm>
                <a:off x="10379300"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76" name="Google Shape;1776;p84"/>
              <p:cNvSpPr/>
              <p:nvPr/>
            </p:nvSpPr>
            <p:spPr>
              <a:xfrm>
                <a:off x="10531700" y="6566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777" name="Google Shape;1777;p84"/>
              <p:cNvSpPr/>
              <p:nvPr/>
            </p:nvSpPr>
            <p:spPr>
              <a:xfrm>
                <a:off x="10684100" y="8090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latin typeface="Barlow Medium"/>
                    <a:ea typeface="Barlow Medium"/>
                    <a:cs typeface="Barlow Medium"/>
                    <a:sym typeface="Barlow Medium"/>
                  </a:rPr>
                  <a:t>worker</a:t>
                </a:r>
                <a:endParaRPr sz="1100">
                  <a:latin typeface="Barlow Medium"/>
                  <a:ea typeface="Barlow Medium"/>
                  <a:cs typeface="Barlow Medium"/>
                  <a:sym typeface="Barlow Medium"/>
                </a:endParaRPr>
              </a:p>
            </p:txBody>
          </p:sp>
          <p:pic>
            <p:nvPicPr>
              <p:cNvPr id="1778" name="Google Shape;1778;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grpSp>
          <p:nvGrpSpPr>
            <p:cNvPr id="1779" name="Google Shape;1779;p84"/>
            <p:cNvGrpSpPr/>
            <p:nvPr/>
          </p:nvGrpSpPr>
          <p:grpSpPr>
            <a:xfrm>
              <a:off x="8275370" y="4572407"/>
              <a:ext cx="1713000" cy="1091700"/>
              <a:chOff x="9593195" y="315332"/>
              <a:chExt cx="1713000" cy="1091700"/>
            </a:xfrm>
          </p:grpSpPr>
          <p:sp>
            <p:nvSpPr>
              <p:cNvPr id="1780" name="Google Shape;1780;p84"/>
              <p:cNvSpPr/>
              <p:nvPr/>
            </p:nvSpPr>
            <p:spPr>
              <a:xfrm>
                <a:off x="9593195" y="315332"/>
                <a:ext cx="1713000" cy="109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84"/>
              <p:cNvSpPr/>
              <p:nvPr/>
            </p:nvSpPr>
            <p:spPr>
              <a:xfrm>
                <a:off x="9693075"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FF3620"/>
                    </a:solidFill>
                    <a:latin typeface="Barlow Medium"/>
                    <a:ea typeface="Barlow Medium"/>
                    <a:cs typeface="Barlow Medium"/>
                    <a:sym typeface="Barlow Medium"/>
                  </a:rPr>
                  <a:t>Driver</a:t>
                </a:r>
                <a:endParaRPr sz="1100">
                  <a:solidFill>
                    <a:srgbClr val="FF3620"/>
                  </a:solidFill>
                  <a:latin typeface="Barlow Medium"/>
                  <a:ea typeface="Barlow Medium"/>
                  <a:cs typeface="Barlow Medium"/>
                  <a:sym typeface="Barlow Medium"/>
                </a:endParaRPr>
              </a:p>
            </p:txBody>
          </p:sp>
          <p:sp>
            <p:nvSpPr>
              <p:cNvPr id="1782" name="Google Shape;1782;p84"/>
              <p:cNvSpPr/>
              <p:nvPr/>
            </p:nvSpPr>
            <p:spPr>
              <a:xfrm>
                <a:off x="10379300"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rgbClr val="FF3620"/>
                  </a:solidFill>
                  <a:latin typeface="Barlow Medium"/>
                  <a:ea typeface="Barlow Medium"/>
                  <a:cs typeface="Barlow Medium"/>
                  <a:sym typeface="Barlow Medium"/>
                </a:endParaRPr>
              </a:p>
            </p:txBody>
          </p:sp>
          <p:sp>
            <p:nvSpPr>
              <p:cNvPr id="1783" name="Google Shape;1783;p84"/>
              <p:cNvSpPr/>
              <p:nvPr/>
            </p:nvSpPr>
            <p:spPr>
              <a:xfrm>
                <a:off x="10531700" y="6566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rgbClr val="FF3620"/>
                  </a:solidFill>
                  <a:latin typeface="Barlow Medium"/>
                  <a:ea typeface="Barlow Medium"/>
                  <a:cs typeface="Barlow Medium"/>
                  <a:sym typeface="Barlow Medium"/>
                </a:endParaRPr>
              </a:p>
            </p:txBody>
          </p:sp>
          <p:sp>
            <p:nvSpPr>
              <p:cNvPr id="1784" name="Google Shape;1784;p84"/>
              <p:cNvSpPr/>
              <p:nvPr/>
            </p:nvSpPr>
            <p:spPr>
              <a:xfrm>
                <a:off x="10684100" y="8090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FF3620"/>
                    </a:solidFill>
                    <a:latin typeface="Barlow Medium"/>
                    <a:ea typeface="Barlow Medium"/>
                    <a:cs typeface="Barlow Medium"/>
                    <a:sym typeface="Barlow Medium"/>
                  </a:rPr>
                  <a:t>worker</a:t>
                </a:r>
                <a:endParaRPr sz="1100">
                  <a:solidFill>
                    <a:srgbClr val="FF3620"/>
                  </a:solidFill>
                  <a:latin typeface="Barlow Medium"/>
                  <a:ea typeface="Barlow Medium"/>
                  <a:cs typeface="Barlow Medium"/>
                  <a:sym typeface="Barlow Medium"/>
                </a:endParaRPr>
              </a:p>
            </p:txBody>
          </p:sp>
          <p:pic>
            <p:nvPicPr>
              <p:cNvPr id="1785" name="Google Shape;1785;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grpSp>
          <p:nvGrpSpPr>
            <p:cNvPr id="1786" name="Google Shape;1786;p84"/>
            <p:cNvGrpSpPr/>
            <p:nvPr/>
          </p:nvGrpSpPr>
          <p:grpSpPr>
            <a:xfrm>
              <a:off x="7847330" y="4938155"/>
              <a:ext cx="355399" cy="411642"/>
              <a:chOff x="6065455" y="6576055"/>
              <a:chExt cx="355399" cy="411642"/>
            </a:xfrm>
          </p:grpSpPr>
          <p:sp>
            <p:nvSpPr>
              <p:cNvPr id="1787" name="Google Shape;1787;p84"/>
              <p:cNvSpPr/>
              <p:nvPr/>
            </p:nvSpPr>
            <p:spPr>
              <a:xfrm>
                <a:off x="6065455" y="6576055"/>
                <a:ext cx="206400" cy="272700"/>
              </a:xfrm>
              <a:prstGeom prst="upArrow">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84"/>
              <p:cNvSpPr/>
              <p:nvPr/>
            </p:nvSpPr>
            <p:spPr>
              <a:xfrm rot="10800000">
                <a:off x="6214455" y="6714998"/>
                <a:ext cx="206400" cy="272700"/>
              </a:xfrm>
              <a:prstGeom prst="upArrow">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89" name="Google Shape;1789;p84"/>
          <p:cNvGrpSpPr/>
          <p:nvPr/>
        </p:nvGrpSpPr>
        <p:grpSpPr>
          <a:xfrm>
            <a:off x="5110736" y="1754075"/>
            <a:ext cx="5853212" cy="1133461"/>
            <a:chOff x="5356950" y="1982675"/>
            <a:chExt cx="5853212" cy="1133461"/>
          </a:xfrm>
        </p:grpSpPr>
        <p:grpSp>
          <p:nvGrpSpPr>
            <p:cNvPr id="1790" name="Google Shape;1790;p84"/>
            <p:cNvGrpSpPr/>
            <p:nvPr/>
          </p:nvGrpSpPr>
          <p:grpSpPr>
            <a:xfrm>
              <a:off x="5356950" y="1982675"/>
              <a:ext cx="3759900" cy="1091700"/>
              <a:chOff x="9593200" y="315325"/>
              <a:chExt cx="3759900" cy="1091700"/>
            </a:xfrm>
          </p:grpSpPr>
          <p:sp>
            <p:nvSpPr>
              <p:cNvPr id="1791" name="Google Shape;1791;p84"/>
              <p:cNvSpPr/>
              <p:nvPr/>
            </p:nvSpPr>
            <p:spPr>
              <a:xfrm>
                <a:off x="9593200" y="315325"/>
                <a:ext cx="3759900" cy="1091700"/>
              </a:xfrm>
              <a:prstGeom prst="rect">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84"/>
              <p:cNvSpPr/>
              <p:nvPr/>
            </p:nvSpPr>
            <p:spPr>
              <a:xfrm>
                <a:off x="9693064" y="504300"/>
                <a:ext cx="421500" cy="4212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Barlow Medium"/>
                    <a:ea typeface="Barlow Medium"/>
                    <a:cs typeface="Barlow Medium"/>
                    <a:sym typeface="Barlow Medium"/>
                  </a:rPr>
                  <a:t>Driver</a:t>
                </a:r>
                <a:endParaRPr sz="1100">
                  <a:solidFill>
                    <a:schemeClr val="accent1"/>
                  </a:solidFill>
                  <a:latin typeface="Barlow Medium"/>
                  <a:ea typeface="Barlow Medium"/>
                  <a:cs typeface="Barlow Medium"/>
                  <a:sym typeface="Barlow Medium"/>
                </a:endParaRPr>
              </a:p>
            </p:txBody>
          </p:sp>
          <p:sp>
            <p:nvSpPr>
              <p:cNvPr id="1793" name="Google Shape;1793;p84"/>
              <p:cNvSpPr/>
              <p:nvPr/>
            </p:nvSpPr>
            <p:spPr>
              <a:xfrm>
                <a:off x="10228489" y="500875"/>
                <a:ext cx="421500" cy="4212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794" name="Google Shape;1794;p84"/>
              <p:cNvSpPr/>
              <p:nvPr/>
            </p:nvSpPr>
            <p:spPr>
              <a:xfrm>
                <a:off x="10329589" y="601950"/>
                <a:ext cx="421500" cy="4212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Barlow Medium"/>
                  <a:ea typeface="Barlow Medium"/>
                  <a:cs typeface="Barlow Medium"/>
                  <a:sym typeface="Barlow Medium"/>
                </a:endParaRPr>
              </a:p>
            </p:txBody>
          </p:sp>
          <p:sp>
            <p:nvSpPr>
              <p:cNvPr id="1795" name="Google Shape;1795;p84"/>
              <p:cNvSpPr/>
              <p:nvPr/>
            </p:nvSpPr>
            <p:spPr>
              <a:xfrm>
                <a:off x="10430664" y="703050"/>
                <a:ext cx="421500" cy="4212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1"/>
                    </a:solidFill>
                    <a:latin typeface="Barlow Medium"/>
                    <a:ea typeface="Barlow Medium"/>
                    <a:cs typeface="Barlow Medium"/>
                    <a:sym typeface="Barlow Medium"/>
                  </a:rPr>
                  <a:t>worker</a:t>
                </a:r>
                <a:endParaRPr sz="900">
                  <a:solidFill>
                    <a:schemeClr val="accent1"/>
                  </a:solidFill>
                  <a:latin typeface="Barlow Medium"/>
                  <a:ea typeface="Barlow Medium"/>
                  <a:cs typeface="Barlow Medium"/>
                  <a:sym typeface="Barlow Medium"/>
                </a:endParaRPr>
              </a:p>
            </p:txBody>
          </p:sp>
          <p:pic>
            <p:nvPicPr>
              <p:cNvPr id="1796" name="Google Shape;1796;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grpSp>
          <p:nvGrpSpPr>
            <p:cNvPr id="1797" name="Google Shape;1797;p84"/>
            <p:cNvGrpSpPr/>
            <p:nvPr/>
          </p:nvGrpSpPr>
          <p:grpSpPr>
            <a:xfrm>
              <a:off x="7049800" y="2045975"/>
              <a:ext cx="1962365" cy="986866"/>
              <a:chOff x="9228650" y="302425"/>
              <a:chExt cx="1962365" cy="986866"/>
            </a:xfrm>
          </p:grpSpPr>
          <p:sp>
            <p:nvSpPr>
              <p:cNvPr id="1798" name="Google Shape;1798;p84"/>
              <p:cNvSpPr/>
              <p:nvPr/>
            </p:nvSpPr>
            <p:spPr>
              <a:xfrm>
                <a:off x="9228650" y="302425"/>
                <a:ext cx="688500" cy="621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dk2"/>
                    </a:solidFill>
                    <a:latin typeface="Barlow Medium"/>
                    <a:ea typeface="Barlow Medium"/>
                    <a:cs typeface="Barlow Medium"/>
                    <a:sym typeface="Barlow Medium"/>
                  </a:rPr>
                  <a:t>Driver</a:t>
                </a:r>
                <a:endParaRPr sz="1100">
                  <a:solidFill>
                    <a:schemeClr val="dk2"/>
                  </a:solidFill>
                  <a:latin typeface="Barlow Medium"/>
                  <a:ea typeface="Barlow Medium"/>
                  <a:cs typeface="Barlow Medium"/>
                  <a:sym typeface="Barlow Medium"/>
                </a:endParaRPr>
              </a:p>
            </p:txBody>
          </p:sp>
          <p:sp>
            <p:nvSpPr>
              <p:cNvPr id="1799" name="Google Shape;1799;p84"/>
              <p:cNvSpPr/>
              <p:nvPr/>
            </p:nvSpPr>
            <p:spPr>
              <a:xfrm>
                <a:off x="10045238" y="315325"/>
                <a:ext cx="715500" cy="5958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2"/>
                  </a:solidFill>
                  <a:latin typeface="Barlow Medium"/>
                  <a:ea typeface="Barlow Medium"/>
                  <a:cs typeface="Barlow Medium"/>
                  <a:sym typeface="Barlow Medium"/>
                </a:endParaRPr>
              </a:p>
            </p:txBody>
          </p:sp>
          <p:sp>
            <p:nvSpPr>
              <p:cNvPr id="1800" name="Google Shape;1800;p84"/>
              <p:cNvSpPr/>
              <p:nvPr/>
            </p:nvSpPr>
            <p:spPr>
              <a:xfrm>
                <a:off x="10260377" y="504408"/>
                <a:ext cx="715500" cy="5958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2"/>
                  </a:solidFill>
                  <a:latin typeface="Barlow Medium"/>
                  <a:ea typeface="Barlow Medium"/>
                  <a:cs typeface="Barlow Medium"/>
                  <a:sym typeface="Barlow Medium"/>
                </a:endParaRPr>
              </a:p>
            </p:txBody>
          </p:sp>
          <p:sp>
            <p:nvSpPr>
              <p:cNvPr id="1801" name="Google Shape;1801;p84"/>
              <p:cNvSpPr/>
              <p:nvPr/>
            </p:nvSpPr>
            <p:spPr>
              <a:xfrm>
                <a:off x="10475515" y="693491"/>
                <a:ext cx="715500" cy="5958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dk2"/>
                    </a:solidFill>
                    <a:latin typeface="Barlow Medium"/>
                    <a:ea typeface="Barlow Medium"/>
                    <a:cs typeface="Barlow Medium"/>
                    <a:sym typeface="Barlow Medium"/>
                  </a:rPr>
                  <a:t>worker</a:t>
                </a:r>
                <a:endParaRPr sz="1100">
                  <a:solidFill>
                    <a:schemeClr val="dk2"/>
                  </a:solidFill>
                  <a:latin typeface="Barlow Medium"/>
                  <a:ea typeface="Barlow Medium"/>
                  <a:cs typeface="Barlow Medium"/>
                  <a:sym typeface="Barlow Medium"/>
                </a:endParaRPr>
              </a:p>
            </p:txBody>
          </p:sp>
        </p:grpSp>
        <p:sp>
          <p:nvSpPr>
            <p:cNvPr id="1802" name="Google Shape;1802;p84"/>
            <p:cNvSpPr/>
            <p:nvPr/>
          </p:nvSpPr>
          <p:spPr>
            <a:xfrm>
              <a:off x="6698000" y="2392100"/>
              <a:ext cx="291300" cy="192300"/>
            </a:xfrm>
            <a:prstGeom prst="righ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803" name="Google Shape;1803;p84"/>
            <p:cNvGrpSpPr/>
            <p:nvPr/>
          </p:nvGrpSpPr>
          <p:grpSpPr>
            <a:xfrm>
              <a:off x="9298138" y="1982675"/>
              <a:ext cx="1879500" cy="1091700"/>
              <a:chOff x="11131438" y="3177050"/>
              <a:chExt cx="1879500" cy="1091700"/>
            </a:xfrm>
          </p:grpSpPr>
          <p:sp>
            <p:nvSpPr>
              <p:cNvPr id="1804" name="Google Shape;1804;p84"/>
              <p:cNvSpPr/>
              <p:nvPr/>
            </p:nvSpPr>
            <p:spPr>
              <a:xfrm>
                <a:off x="11131438" y="3177050"/>
                <a:ext cx="1879500" cy="1091700"/>
              </a:xfrm>
              <a:prstGeom prst="rect">
                <a:avLst/>
              </a:prstGeom>
              <a:solidFill>
                <a:srgbClr val="FFFFFF"/>
              </a:solid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84"/>
              <p:cNvSpPr/>
              <p:nvPr/>
            </p:nvSpPr>
            <p:spPr>
              <a:xfrm>
                <a:off x="11231300" y="3366013"/>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Barlow Medium"/>
                    <a:ea typeface="Barlow Medium"/>
                    <a:cs typeface="Barlow Medium"/>
                    <a:sym typeface="Barlow Medium"/>
                  </a:rPr>
                  <a:t>Driver</a:t>
                </a:r>
                <a:endParaRPr sz="1100">
                  <a:solidFill>
                    <a:schemeClr val="accent1"/>
                  </a:solidFill>
                  <a:latin typeface="Barlow Medium"/>
                  <a:ea typeface="Barlow Medium"/>
                  <a:cs typeface="Barlow Medium"/>
                  <a:sym typeface="Barlow Medium"/>
                </a:endParaRPr>
              </a:p>
            </p:txBody>
          </p:sp>
          <p:sp>
            <p:nvSpPr>
              <p:cNvPr id="1806" name="Google Shape;1806;p84"/>
              <p:cNvSpPr/>
              <p:nvPr/>
            </p:nvSpPr>
            <p:spPr>
              <a:xfrm>
                <a:off x="12202300" y="3240363"/>
                <a:ext cx="688500" cy="621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dk2"/>
                    </a:solidFill>
                    <a:latin typeface="Barlow Medium"/>
                    <a:ea typeface="Barlow Medium"/>
                    <a:cs typeface="Barlow Medium"/>
                    <a:sym typeface="Barlow Medium"/>
                  </a:rPr>
                  <a:t>Driver</a:t>
                </a:r>
                <a:endParaRPr sz="1100">
                  <a:solidFill>
                    <a:schemeClr val="dk2"/>
                  </a:solidFill>
                  <a:latin typeface="Barlow Medium"/>
                  <a:ea typeface="Barlow Medium"/>
                  <a:cs typeface="Barlow Medium"/>
                  <a:sym typeface="Barlow Medium"/>
                </a:endParaRPr>
              </a:p>
            </p:txBody>
          </p:sp>
          <p:sp>
            <p:nvSpPr>
              <p:cNvPr id="1807" name="Google Shape;1807;p84"/>
              <p:cNvSpPr/>
              <p:nvPr/>
            </p:nvSpPr>
            <p:spPr>
              <a:xfrm>
                <a:off x="11824500" y="3524200"/>
                <a:ext cx="291300" cy="192300"/>
              </a:xfrm>
              <a:prstGeom prst="righ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pic>
            <p:nvPicPr>
              <p:cNvPr id="1808" name="Google Shape;1808;p84"/>
              <p:cNvPicPr preferRelativeResize="0"/>
              <p:nvPr/>
            </p:nvPicPr>
            <p:blipFill rotWithShape="1">
              <a:blip r:embed="rId4">
                <a:alphaModFix/>
              </a:blip>
              <a:srcRect b="0" l="0" r="0" t="0"/>
              <a:stretch/>
            </p:blipFill>
            <p:spPr>
              <a:xfrm>
                <a:off x="11384745" y="3912336"/>
                <a:ext cx="243196" cy="243196"/>
              </a:xfrm>
              <a:prstGeom prst="rect">
                <a:avLst/>
              </a:prstGeom>
              <a:noFill/>
              <a:ln>
                <a:noFill/>
              </a:ln>
            </p:spPr>
          </p:pic>
        </p:grpSp>
        <p:sp>
          <p:nvSpPr>
            <p:cNvPr id="1809" name="Google Shape;1809;p84"/>
            <p:cNvSpPr txBox="1"/>
            <p:nvPr/>
          </p:nvSpPr>
          <p:spPr>
            <a:xfrm>
              <a:off x="10194962" y="2777436"/>
              <a:ext cx="10152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Barlow"/>
                  <a:ea typeface="Barlow"/>
                  <a:cs typeface="Barlow"/>
                  <a:sym typeface="Barlow"/>
                </a:rPr>
                <a:t>Single node DS</a:t>
              </a:r>
              <a:endParaRPr i="1" sz="1000">
                <a:latin typeface="Barlow"/>
                <a:ea typeface="Barlow"/>
                <a:cs typeface="Barlow"/>
                <a:sym typeface="Barlow"/>
              </a:endParaRPr>
            </a:p>
          </p:txBody>
        </p:sp>
      </p:grpSp>
      <p:grpSp>
        <p:nvGrpSpPr>
          <p:cNvPr id="1810" name="Google Shape;1810;p84"/>
          <p:cNvGrpSpPr/>
          <p:nvPr/>
        </p:nvGrpSpPr>
        <p:grpSpPr>
          <a:xfrm>
            <a:off x="2345450" y="4445732"/>
            <a:ext cx="1713000" cy="1091700"/>
            <a:chOff x="9593195" y="315332"/>
            <a:chExt cx="1713000" cy="1091700"/>
          </a:xfrm>
        </p:grpSpPr>
        <p:sp>
          <p:nvSpPr>
            <p:cNvPr id="1811" name="Google Shape;1811;p84"/>
            <p:cNvSpPr/>
            <p:nvPr/>
          </p:nvSpPr>
          <p:spPr>
            <a:xfrm>
              <a:off x="9593195" y="315332"/>
              <a:ext cx="1713000" cy="109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84"/>
            <p:cNvSpPr/>
            <p:nvPr/>
          </p:nvSpPr>
          <p:spPr>
            <a:xfrm>
              <a:off x="9693075"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FF3620"/>
                  </a:solidFill>
                  <a:latin typeface="Barlow Medium"/>
                  <a:ea typeface="Barlow Medium"/>
                  <a:cs typeface="Barlow Medium"/>
                  <a:sym typeface="Barlow Medium"/>
                </a:rPr>
                <a:t>Driver</a:t>
              </a:r>
              <a:endParaRPr sz="1100">
                <a:solidFill>
                  <a:srgbClr val="FF3620"/>
                </a:solidFill>
                <a:latin typeface="Barlow Medium"/>
                <a:ea typeface="Barlow Medium"/>
                <a:cs typeface="Barlow Medium"/>
                <a:sym typeface="Barlow Medium"/>
              </a:endParaRPr>
            </a:p>
          </p:txBody>
        </p:sp>
        <p:sp>
          <p:nvSpPr>
            <p:cNvPr id="1813" name="Google Shape;1813;p84"/>
            <p:cNvSpPr/>
            <p:nvPr/>
          </p:nvSpPr>
          <p:spPr>
            <a:xfrm>
              <a:off x="10379300" y="5042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814" name="Google Shape;1814;p84"/>
            <p:cNvSpPr/>
            <p:nvPr/>
          </p:nvSpPr>
          <p:spPr>
            <a:xfrm>
              <a:off x="10531700" y="6566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Barlow Medium"/>
                <a:ea typeface="Barlow Medium"/>
                <a:cs typeface="Barlow Medium"/>
                <a:sym typeface="Barlow Medium"/>
              </a:endParaRPr>
            </a:p>
          </p:txBody>
        </p:sp>
        <p:sp>
          <p:nvSpPr>
            <p:cNvPr id="1815" name="Google Shape;1815;p84"/>
            <p:cNvSpPr/>
            <p:nvPr/>
          </p:nvSpPr>
          <p:spPr>
            <a:xfrm>
              <a:off x="10684100" y="809088"/>
              <a:ext cx="506700" cy="480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rgbClr val="FF3620"/>
                  </a:solidFill>
                  <a:latin typeface="Barlow Medium"/>
                  <a:ea typeface="Barlow Medium"/>
                  <a:cs typeface="Barlow Medium"/>
                  <a:sym typeface="Barlow Medium"/>
                </a:rPr>
                <a:t>worker</a:t>
              </a:r>
              <a:endParaRPr sz="1100">
                <a:solidFill>
                  <a:srgbClr val="FF3620"/>
                </a:solidFill>
                <a:latin typeface="Barlow Medium"/>
                <a:ea typeface="Barlow Medium"/>
                <a:cs typeface="Barlow Medium"/>
                <a:sym typeface="Barlow Medium"/>
              </a:endParaRPr>
            </a:p>
          </p:txBody>
        </p:sp>
        <p:pic>
          <p:nvPicPr>
            <p:cNvPr id="1816" name="Google Shape;1816;p84"/>
            <p:cNvPicPr preferRelativeResize="0"/>
            <p:nvPr/>
          </p:nvPicPr>
          <p:blipFill rotWithShape="1">
            <a:blip r:embed="rId3">
              <a:alphaModFix/>
            </a:blip>
            <a:srcRect b="0" l="0" r="0" t="0"/>
            <a:stretch/>
          </p:blipFill>
          <p:spPr>
            <a:xfrm>
              <a:off x="9693073" y="1102440"/>
              <a:ext cx="506699" cy="263160"/>
            </a:xfrm>
            <a:prstGeom prst="rect">
              <a:avLst/>
            </a:prstGeom>
            <a:noFill/>
            <a:ln>
              <a:noFill/>
            </a:ln>
          </p:spPr>
        </p:pic>
      </p:grpSp>
      <p:sp>
        <p:nvSpPr>
          <p:cNvPr id="1817" name="Google Shape;1817;p84"/>
          <p:cNvSpPr txBox="1"/>
          <p:nvPr/>
        </p:nvSpPr>
        <p:spPr>
          <a:xfrm>
            <a:off x="4509950" y="6137725"/>
            <a:ext cx="5970000" cy="6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DM Sans Medium"/>
                <a:ea typeface="DM Sans Medium"/>
                <a:cs typeface="DM Sans Medium"/>
                <a:sym typeface="DM Sans Medium"/>
              </a:rPr>
              <a:t>Note: The easiest way to scale compute in Databricks is to use serverless services (Serverless SQL Warehouses and Model Serving)</a:t>
            </a:r>
            <a:endParaRPr>
              <a:latin typeface="DM Sans Medium"/>
              <a:ea typeface="DM Sans Medium"/>
              <a:cs typeface="DM Sans Medium"/>
              <a:sym typeface="DM Sans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85"/>
          <p:cNvSpPr txBox="1"/>
          <p:nvPr/>
        </p:nvSpPr>
        <p:spPr>
          <a:xfrm>
            <a:off x="3006720" y="5088125"/>
            <a:ext cx="27567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lang="en" sz="1300">
                <a:solidFill>
                  <a:schemeClr val="accent1"/>
                </a:solidFill>
                <a:latin typeface="DM Sans Medium"/>
                <a:ea typeface="DM Sans Medium"/>
                <a:cs typeface="DM Sans Medium"/>
                <a:sym typeface="DM Sans Medium"/>
              </a:rPr>
              <a:t>Shared Control Plane services</a:t>
            </a:r>
            <a:endParaRPr sz="1300">
              <a:solidFill>
                <a:schemeClr val="accent1"/>
              </a:solidFill>
              <a:latin typeface="DM Sans"/>
              <a:ea typeface="DM Sans"/>
              <a:cs typeface="DM Sans"/>
              <a:sym typeface="DM Sans"/>
            </a:endParaRPr>
          </a:p>
        </p:txBody>
      </p:sp>
      <p:sp>
        <p:nvSpPr>
          <p:cNvPr id="1823" name="Google Shape;1823;p85"/>
          <p:cNvSpPr/>
          <p:nvPr/>
        </p:nvSpPr>
        <p:spPr>
          <a:xfrm>
            <a:off x="6623250" y="1900225"/>
            <a:ext cx="2862300" cy="2730000"/>
          </a:xfrm>
          <a:prstGeom prst="roundRect">
            <a:avLst>
              <a:gd fmla="val 5209"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4570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   Compute Plane</a:t>
            </a:r>
            <a:endParaRPr sz="1600">
              <a:solidFill>
                <a:schemeClr val="accent1"/>
              </a:solidFill>
              <a:latin typeface="DM Sans Medium"/>
              <a:ea typeface="DM Sans Medium"/>
              <a:cs typeface="DM Sans Medium"/>
              <a:sym typeface="DM Sans Medium"/>
            </a:endParaRPr>
          </a:p>
        </p:txBody>
      </p:sp>
      <p:sp>
        <p:nvSpPr>
          <p:cNvPr id="1824" name="Google Shape;1824;p85"/>
          <p:cNvSpPr/>
          <p:nvPr/>
        </p:nvSpPr>
        <p:spPr>
          <a:xfrm>
            <a:off x="6744913" y="2811450"/>
            <a:ext cx="1175700" cy="1162200"/>
          </a:xfrm>
          <a:prstGeom prst="rect">
            <a:avLst/>
          </a:prstGeom>
          <a:noFill/>
          <a:ln cap="flat" cmpd="sng" w="9525">
            <a:solidFill>
              <a:schemeClr val="accent1"/>
            </a:solidFill>
            <a:prstDash val="solid"/>
            <a:round/>
            <a:headEnd len="sm" w="sm" type="none"/>
            <a:tailEnd len="sm" w="sm" type="none"/>
          </a:ln>
        </p:spPr>
        <p:txBody>
          <a:bodyPr anchorCtr="0" anchor="t" bIns="91425" lIns="0" spcFirstLastPara="1" rIns="0" wrap="square" tIns="4570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Workspace</a:t>
            </a:r>
            <a:endParaRPr>
              <a:solidFill>
                <a:schemeClr val="accent1"/>
              </a:solidFill>
              <a:latin typeface="DM Sans Medium"/>
              <a:ea typeface="DM Sans Medium"/>
              <a:cs typeface="DM Sans Medium"/>
              <a:sym typeface="DM Sans Medium"/>
            </a:endParaRPr>
          </a:p>
        </p:txBody>
      </p:sp>
      <p:sp>
        <p:nvSpPr>
          <p:cNvPr id="1825" name="Google Shape;1825;p85"/>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Multi Workspace Architecture</a:t>
            </a:r>
            <a:endParaRPr sz="3600"/>
          </a:p>
        </p:txBody>
      </p:sp>
      <p:sp>
        <p:nvSpPr>
          <p:cNvPr id="1826" name="Google Shape;1826;p8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827" name="Google Shape;1827;p85"/>
          <p:cNvSpPr/>
          <p:nvPr/>
        </p:nvSpPr>
        <p:spPr>
          <a:xfrm>
            <a:off x="9925650" y="1900225"/>
            <a:ext cx="1175700" cy="1245900"/>
          </a:xfrm>
          <a:prstGeom prst="roundRect">
            <a:avLst>
              <a:gd fmla="val 1081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Cloud Storage</a:t>
            </a:r>
            <a:endParaRPr sz="1600">
              <a:solidFill>
                <a:schemeClr val="accent1"/>
              </a:solidFill>
              <a:latin typeface="DM Sans Medium"/>
              <a:ea typeface="DM Sans Medium"/>
              <a:cs typeface="DM Sans Medium"/>
              <a:sym typeface="DM Sans Medium"/>
            </a:endParaRPr>
          </a:p>
        </p:txBody>
      </p:sp>
      <p:sp>
        <p:nvSpPr>
          <p:cNvPr id="1828" name="Google Shape;1828;p85"/>
          <p:cNvSpPr/>
          <p:nvPr/>
        </p:nvSpPr>
        <p:spPr>
          <a:xfrm>
            <a:off x="2768063" y="1900225"/>
            <a:ext cx="3220200" cy="2730000"/>
          </a:xfrm>
          <a:prstGeom prst="roundRect">
            <a:avLst>
              <a:gd fmla="val 4237" name="adj"/>
            </a:avLst>
          </a:prstGeom>
          <a:solidFill>
            <a:srgbClr val="FFFFFF"/>
          </a:solidFill>
          <a:ln cap="flat" cmpd="sng" w="19050">
            <a:solidFill>
              <a:schemeClr val="dk2"/>
            </a:solidFill>
            <a:prstDash val="solid"/>
            <a:round/>
            <a:headEnd len="sm" w="sm" type="none"/>
            <a:tailEnd len="sm" w="sm" type="none"/>
          </a:ln>
        </p:spPr>
        <p:txBody>
          <a:bodyPr anchorCtr="0" anchor="t" bIns="91425" lIns="0" spcFirstLastPara="1" rIns="0" wrap="square" tIns="4570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     </a:t>
            </a:r>
            <a:r>
              <a:rPr lang="en" sz="1600">
                <a:solidFill>
                  <a:schemeClr val="accent1"/>
                </a:solidFill>
                <a:latin typeface="DM Sans Medium"/>
                <a:ea typeface="DM Sans Medium"/>
                <a:cs typeface="DM Sans Medium"/>
                <a:sym typeface="DM Sans Medium"/>
              </a:rPr>
              <a:t>Control Plane</a:t>
            </a:r>
            <a:endParaRPr sz="1600">
              <a:solidFill>
                <a:schemeClr val="accent1"/>
              </a:solidFill>
              <a:latin typeface="DM Sans Medium"/>
              <a:ea typeface="DM Sans Medium"/>
              <a:cs typeface="DM Sans Medium"/>
              <a:sym typeface="DM Sans Medium"/>
            </a:endParaRPr>
          </a:p>
        </p:txBody>
      </p:sp>
      <p:sp>
        <p:nvSpPr>
          <p:cNvPr id="1829" name="Google Shape;1829;p85"/>
          <p:cNvSpPr/>
          <p:nvPr/>
        </p:nvSpPr>
        <p:spPr>
          <a:xfrm rot="-5393414">
            <a:off x="9627289" y="2384416"/>
            <a:ext cx="156600" cy="198300"/>
          </a:xfrm>
          <a:prstGeom prst="downArrow">
            <a:avLst>
              <a:gd fmla="val 50000" name="adj1"/>
              <a:gd fmla="val 50000" name="adj2"/>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85"/>
          <p:cNvSpPr/>
          <p:nvPr/>
        </p:nvSpPr>
        <p:spPr>
          <a:xfrm rot="5400000">
            <a:off x="7976000" y="3503025"/>
            <a:ext cx="164100" cy="2863500"/>
          </a:xfrm>
          <a:prstGeom prst="rightBrace">
            <a:avLst>
              <a:gd fmla="val 50000" name="adj1"/>
              <a:gd fmla="val 50000" name="adj2"/>
            </a:avLst>
          </a:prstGeom>
          <a:no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85"/>
          <p:cNvSpPr txBox="1"/>
          <p:nvPr/>
        </p:nvSpPr>
        <p:spPr>
          <a:xfrm>
            <a:off x="6685493" y="5088125"/>
            <a:ext cx="4873800" cy="11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DM Sans Medium"/>
                <a:ea typeface="DM Sans Medium"/>
                <a:cs typeface="DM Sans Medium"/>
                <a:sym typeface="DM Sans Medium"/>
              </a:rPr>
              <a:t>Split Workspaces</a:t>
            </a:r>
            <a:r>
              <a:rPr lang="en" sz="1300">
                <a:solidFill>
                  <a:schemeClr val="accent1"/>
                </a:solidFill>
                <a:latin typeface="DM Sans"/>
                <a:ea typeface="DM Sans"/>
                <a:cs typeface="DM Sans"/>
                <a:sym typeface="DM Sans"/>
              </a:rPr>
              <a:t>, e.g.</a:t>
            </a:r>
            <a:endParaRPr sz="1300">
              <a:solidFill>
                <a:schemeClr val="accent1"/>
              </a:solidFill>
              <a:latin typeface="DM Sans"/>
              <a:ea typeface="DM Sans"/>
              <a:cs typeface="DM Sans"/>
              <a:sym typeface="DM Sans"/>
            </a:endParaRPr>
          </a:p>
          <a:p>
            <a:pPr indent="-196850" lvl="0" marL="228600" rtl="0" algn="l">
              <a:spcBef>
                <a:spcPts val="300"/>
              </a:spcBef>
              <a:spcAft>
                <a:spcPts val="0"/>
              </a:spcAft>
              <a:buClr>
                <a:schemeClr val="accent1"/>
              </a:buClr>
              <a:buSzPts val="1300"/>
              <a:buFont typeface="DM Sans"/>
              <a:buChar char="-"/>
            </a:pPr>
            <a:r>
              <a:rPr lang="en" sz="1300">
                <a:solidFill>
                  <a:schemeClr val="accent1"/>
                </a:solidFill>
                <a:latin typeface="DM Sans"/>
                <a:ea typeface="DM Sans"/>
                <a:cs typeface="DM Sans"/>
                <a:sym typeface="DM Sans"/>
              </a:rPr>
              <a:t>along dev process stages (DEV, STG, PROD)</a:t>
            </a:r>
            <a:endParaRPr sz="1300">
              <a:solidFill>
                <a:schemeClr val="accent1"/>
              </a:solidFill>
              <a:latin typeface="DM Sans"/>
              <a:ea typeface="DM Sans"/>
              <a:cs typeface="DM Sans"/>
              <a:sym typeface="DM Sans"/>
            </a:endParaRPr>
          </a:p>
          <a:p>
            <a:pPr indent="-196850" lvl="0" marL="228600" rtl="0" algn="l">
              <a:spcBef>
                <a:spcPts val="300"/>
              </a:spcBef>
              <a:spcAft>
                <a:spcPts val="0"/>
              </a:spcAft>
              <a:buClr>
                <a:schemeClr val="accent1"/>
              </a:buClr>
              <a:buSzPts val="1300"/>
              <a:buFont typeface="DM Sans"/>
              <a:buChar char="-"/>
            </a:pPr>
            <a:r>
              <a:rPr lang="en" sz="1300">
                <a:solidFill>
                  <a:schemeClr val="accent1"/>
                </a:solidFill>
                <a:latin typeface="DM Sans"/>
                <a:ea typeface="DM Sans"/>
                <a:cs typeface="DM Sans"/>
                <a:sym typeface="DM Sans"/>
              </a:rPr>
              <a:t>along business units</a:t>
            </a:r>
            <a:endParaRPr sz="1300">
              <a:solidFill>
                <a:schemeClr val="accent1"/>
              </a:solidFill>
              <a:latin typeface="DM Sans"/>
              <a:ea typeface="DM Sans"/>
              <a:cs typeface="DM Sans"/>
              <a:sym typeface="DM Sans"/>
            </a:endParaRPr>
          </a:p>
          <a:p>
            <a:pPr indent="-196850" lvl="0" marL="228600" rtl="0" algn="l">
              <a:spcBef>
                <a:spcPts val="300"/>
              </a:spcBef>
              <a:spcAft>
                <a:spcPts val="300"/>
              </a:spcAft>
              <a:buClr>
                <a:schemeClr val="accent1"/>
              </a:buClr>
              <a:buSzPts val="1300"/>
              <a:buFont typeface="DM Sans"/>
              <a:buChar char="-"/>
            </a:pPr>
            <a:r>
              <a:rPr lang="en" sz="1300">
                <a:solidFill>
                  <a:schemeClr val="accent1"/>
                </a:solidFill>
                <a:latin typeface="DM Sans"/>
                <a:ea typeface="DM Sans"/>
                <a:cs typeface="DM Sans"/>
                <a:sym typeface="DM Sans"/>
              </a:rPr>
              <a:t>to overcome resource limits (cloud account/subscription)</a:t>
            </a:r>
            <a:endParaRPr sz="1300">
              <a:solidFill>
                <a:schemeClr val="accent1"/>
              </a:solidFill>
              <a:latin typeface="DM Sans"/>
              <a:ea typeface="DM Sans"/>
              <a:cs typeface="DM Sans"/>
              <a:sym typeface="DM Sans"/>
            </a:endParaRPr>
          </a:p>
        </p:txBody>
      </p:sp>
      <p:sp>
        <p:nvSpPr>
          <p:cNvPr id="1832" name="Google Shape;1832;p85"/>
          <p:cNvSpPr/>
          <p:nvPr/>
        </p:nvSpPr>
        <p:spPr>
          <a:xfrm>
            <a:off x="2953925" y="3346289"/>
            <a:ext cx="1365300" cy="1162200"/>
          </a:xfrm>
          <a:prstGeom prst="roundRect">
            <a:avLst>
              <a:gd fmla="val 9989" name="adj"/>
            </a:avLst>
          </a:prstGeom>
          <a:noFill/>
          <a:ln cap="flat" cmpd="sng" w="19050">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Account Console</a:t>
            </a:r>
            <a:endParaRPr>
              <a:solidFill>
                <a:schemeClr val="accent1"/>
              </a:solidFill>
              <a:latin typeface="DM Sans Medium"/>
              <a:ea typeface="DM Sans Medium"/>
              <a:cs typeface="DM Sans Medium"/>
              <a:sym typeface="DM Sans Medium"/>
            </a:endParaRPr>
          </a:p>
          <a:p>
            <a:pPr indent="0" lvl="0" marL="0" rtl="0" algn="ctr">
              <a:lnSpc>
                <a:spcPct val="100000"/>
              </a:lnSpc>
              <a:spcBef>
                <a:spcPts val="0"/>
              </a:spcBef>
              <a:spcAft>
                <a:spcPts val="0"/>
              </a:spcAft>
              <a:buNone/>
            </a:pPr>
            <a:br>
              <a:rPr lang="en">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User Management</a:t>
            </a:r>
            <a:endParaRPr sz="1600">
              <a:solidFill>
                <a:schemeClr val="dk1"/>
              </a:solidFill>
              <a:latin typeface="DM Sans Medium"/>
              <a:ea typeface="DM Sans Medium"/>
              <a:cs typeface="DM Sans Medium"/>
              <a:sym typeface="DM Sans Medium"/>
            </a:endParaRPr>
          </a:p>
        </p:txBody>
      </p:sp>
      <p:sp>
        <p:nvSpPr>
          <p:cNvPr id="1833" name="Google Shape;1833;p85"/>
          <p:cNvSpPr/>
          <p:nvPr/>
        </p:nvSpPr>
        <p:spPr>
          <a:xfrm rot="-5400788">
            <a:off x="747802" y="3424675"/>
            <a:ext cx="1309200" cy="636600"/>
          </a:xfrm>
          <a:prstGeom prst="roundRect">
            <a:avLst>
              <a:gd fmla="val 14212"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ID Provider</a:t>
            </a:r>
            <a:endParaRPr sz="1800">
              <a:solidFill>
                <a:schemeClr val="accent1"/>
              </a:solidFill>
              <a:latin typeface="DM Sans Medium"/>
              <a:ea typeface="DM Sans Medium"/>
              <a:cs typeface="DM Sans Medium"/>
              <a:sym typeface="DM Sans Medium"/>
            </a:endParaRPr>
          </a:p>
        </p:txBody>
      </p:sp>
      <p:sp>
        <p:nvSpPr>
          <p:cNvPr id="1834" name="Google Shape;1834;p85"/>
          <p:cNvSpPr/>
          <p:nvPr/>
        </p:nvSpPr>
        <p:spPr>
          <a:xfrm rot="-5393414">
            <a:off x="2250951" y="2432176"/>
            <a:ext cx="156600" cy="198300"/>
          </a:xfrm>
          <a:prstGeom prst="downArrow">
            <a:avLst>
              <a:gd fmla="val 50000" name="adj1"/>
              <a:gd fmla="val 50000" name="adj2"/>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5" name="Google Shape;1835;p85"/>
          <p:cNvPicPr preferRelativeResize="0"/>
          <p:nvPr/>
        </p:nvPicPr>
        <p:blipFill rotWithShape="1">
          <a:blip r:embed="rId3">
            <a:alphaModFix/>
          </a:blip>
          <a:srcRect b="0" l="0" r="82955" t="0"/>
          <a:stretch/>
        </p:blipFill>
        <p:spPr>
          <a:xfrm>
            <a:off x="3552574" y="1980741"/>
            <a:ext cx="245706" cy="226800"/>
          </a:xfrm>
          <a:prstGeom prst="rect">
            <a:avLst/>
          </a:prstGeom>
          <a:noFill/>
          <a:ln>
            <a:noFill/>
          </a:ln>
        </p:spPr>
      </p:pic>
      <p:sp>
        <p:nvSpPr>
          <p:cNvPr id="1836" name="Google Shape;1836;p85"/>
          <p:cNvSpPr txBox="1"/>
          <p:nvPr/>
        </p:nvSpPr>
        <p:spPr>
          <a:xfrm>
            <a:off x="1962487" y="3744000"/>
            <a:ext cx="733500" cy="67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F5A300"/>
                </a:solidFill>
                <a:latin typeface="DM Sans Medium"/>
                <a:ea typeface="DM Sans Medium"/>
                <a:cs typeface="DM Sans Medium"/>
                <a:sym typeface="DM Sans Medium"/>
              </a:rPr>
              <a:t>synch </a:t>
            </a:r>
            <a:r>
              <a:rPr lang="en" sz="1200">
                <a:solidFill>
                  <a:srgbClr val="F5A300"/>
                </a:solidFill>
                <a:latin typeface="DM Sans Medium"/>
                <a:ea typeface="DM Sans Medium"/>
                <a:cs typeface="DM Sans Medium"/>
                <a:sym typeface="DM Sans Medium"/>
              </a:rPr>
              <a:t>users &amp;</a:t>
            </a:r>
            <a:br>
              <a:rPr lang="en" sz="1200">
                <a:solidFill>
                  <a:srgbClr val="F5A300"/>
                </a:solidFill>
                <a:latin typeface="DM Sans Medium"/>
                <a:ea typeface="DM Sans Medium"/>
                <a:cs typeface="DM Sans Medium"/>
                <a:sym typeface="DM Sans Medium"/>
              </a:rPr>
            </a:br>
            <a:r>
              <a:rPr lang="en" sz="1200">
                <a:solidFill>
                  <a:srgbClr val="F5A300"/>
                </a:solidFill>
                <a:latin typeface="DM Sans Medium"/>
                <a:ea typeface="DM Sans Medium"/>
                <a:cs typeface="DM Sans Medium"/>
                <a:sym typeface="DM Sans Medium"/>
              </a:rPr>
              <a:t>groups</a:t>
            </a:r>
            <a:endParaRPr sz="1200">
              <a:solidFill>
                <a:srgbClr val="F5A300"/>
              </a:solidFill>
              <a:latin typeface="DM Sans Medium"/>
              <a:ea typeface="DM Sans Medium"/>
              <a:cs typeface="DM Sans Medium"/>
              <a:sym typeface="DM Sans Medium"/>
            </a:endParaRPr>
          </a:p>
          <a:p>
            <a:pPr indent="0" lvl="0" marL="0" rtl="0" algn="ctr">
              <a:spcBef>
                <a:spcPts val="0"/>
              </a:spcBef>
              <a:spcAft>
                <a:spcPts val="0"/>
              </a:spcAft>
              <a:buNone/>
            </a:pPr>
            <a:r>
              <a:t/>
            </a:r>
            <a:endParaRPr i="1" sz="1200">
              <a:solidFill>
                <a:srgbClr val="F5A300"/>
              </a:solidFill>
              <a:latin typeface="DM Sans Medium"/>
              <a:ea typeface="DM Sans Medium"/>
              <a:cs typeface="DM Sans Medium"/>
              <a:sym typeface="DM Sans Medium"/>
            </a:endParaRPr>
          </a:p>
        </p:txBody>
      </p:sp>
      <p:sp>
        <p:nvSpPr>
          <p:cNvPr id="1837" name="Google Shape;1837;p85"/>
          <p:cNvSpPr txBox="1"/>
          <p:nvPr/>
        </p:nvSpPr>
        <p:spPr>
          <a:xfrm>
            <a:off x="7607174" y="4065350"/>
            <a:ext cx="922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3"/>
                </a:solidFill>
                <a:latin typeface="DM Sans"/>
                <a:ea typeface="DM Sans"/>
                <a:cs typeface="DM Sans"/>
                <a:sym typeface="DM Sans"/>
              </a:rPr>
              <a:t>Isolation / scaling</a:t>
            </a:r>
            <a:endParaRPr sz="1200">
              <a:solidFill>
                <a:schemeClr val="accent3"/>
              </a:solidFill>
              <a:latin typeface="DM Sans"/>
              <a:ea typeface="DM Sans"/>
              <a:cs typeface="DM Sans"/>
              <a:sym typeface="DM Sans"/>
            </a:endParaRPr>
          </a:p>
        </p:txBody>
      </p:sp>
      <p:cxnSp>
        <p:nvCxnSpPr>
          <p:cNvPr id="1838" name="Google Shape;1838;p85"/>
          <p:cNvCxnSpPr/>
          <p:nvPr/>
        </p:nvCxnSpPr>
        <p:spPr>
          <a:xfrm rot="10800000">
            <a:off x="8057575" y="2630555"/>
            <a:ext cx="0" cy="1486500"/>
          </a:xfrm>
          <a:prstGeom prst="straightConnector1">
            <a:avLst/>
          </a:prstGeom>
          <a:noFill/>
          <a:ln cap="flat" cmpd="sng" w="9525">
            <a:solidFill>
              <a:schemeClr val="accent3"/>
            </a:solidFill>
            <a:prstDash val="dash"/>
            <a:round/>
            <a:headEnd len="med" w="med" type="none"/>
            <a:tailEnd len="med" w="med" type="none"/>
          </a:ln>
        </p:spPr>
      </p:cxnSp>
      <p:sp>
        <p:nvSpPr>
          <p:cNvPr id="1839" name="Google Shape;1839;p85"/>
          <p:cNvSpPr/>
          <p:nvPr/>
        </p:nvSpPr>
        <p:spPr>
          <a:xfrm>
            <a:off x="4450600" y="3346289"/>
            <a:ext cx="1365300" cy="1162200"/>
          </a:xfrm>
          <a:prstGeom prst="roundRect">
            <a:avLst>
              <a:gd fmla="val 10511" name="adj"/>
            </a:avLst>
          </a:prstGeom>
          <a:noFill/>
          <a:ln cap="flat" cmpd="sng" w="19050">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Unity Catalog</a:t>
            </a:r>
            <a:endParaRPr>
              <a:solidFill>
                <a:schemeClr val="accent1"/>
              </a:solidFill>
              <a:latin typeface="DM Sans Medium"/>
              <a:ea typeface="DM Sans Medium"/>
              <a:cs typeface="DM Sans Medium"/>
              <a:sym typeface="DM Sans Medium"/>
            </a:endParaRPr>
          </a:p>
          <a:p>
            <a:pPr indent="0" lvl="0" marL="0" rtl="0" algn="ctr">
              <a:lnSpc>
                <a:spcPct val="100000"/>
              </a:lnSpc>
              <a:spcBef>
                <a:spcPts val="0"/>
              </a:spcBef>
              <a:spcAft>
                <a:spcPts val="0"/>
              </a:spcAft>
              <a:buNone/>
            </a:pPr>
            <a:r>
              <a:t/>
            </a:r>
            <a:endParaRPr sz="1200">
              <a:solidFill>
                <a:schemeClr val="accent1"/>
              </a:solidFill>
              <a:latin typeface="DM Sans Medium"/>
              <a:ea typeface="DM Sans Medium"/>
              <a:cs typeface="DM Sans Medium"/>
              <a:sym typeface="DM Sans Medium"/>
            </a:endParaRPr>
          </a:p>
          <a:p>
            <a:pPr indent="0" lvl="0" marL="0" rtl="0" algn="ctr">
              <a:lnSpc>
                <a:spcPct val="135000"/>
              </a:lnSpc>
              <a:spcBef>
                <a:spcPts val="0"/>
              </a:spcBef>
              <a:spcAft>
                <a:spcPts val="0"/>
              </a:spcAft>
              <a:buNone/>
            </a:pPr>
            <a:r>
              <a:rPr lang="en" sz="1200">
                <a:solidFill>
                  <a:schemeClr val="accent1"/>
                </a:solidFill>
                <a:latin typeface="DM Sans Medium"/>
                <a:ea typeface="DM Sans Medium"/>
                <a:cs typeface="DM Sans Medium"/>
                <a:sym typeface="DM Sans Medium"/>
              </a:rPr>
              <a:t>Metastore</a:t>
            </a:r>
            <a:endParaRPr sz="1200">
              <a:solidFill>
                <a:schemeClr val="accent1"/>
              </a:solidFill>
              <a:latin typeface="DM Sans Medium"/>
              <a:ea typeface="DM Sans Medium"/>
              <a:cs typeface="DM Sans Medium"/>
              <a:sym typeface="DM Sans Medium"/>
            </a:endParaRPr>
          </a:p>
          <a:p>
            <a:pPr indent="0" lvl="0" marL="0" rtl="0" algn="ctr">
              <a:lnSpc>
                <a:spcPct val="135000"/>
              </a:lnSpc>
              <a:spcBef>
                <a:spcPts val="0"/>
              </a:spcBef>
              <a:spcAft>
                <a:spcPts val="0"/>
              </a:spcAft>
              <a:buNone/>
            </a:pPr>
            <a:r>
              <a:rPr lang="en" sz="1200">
                <a:solidFill>
                  <a:schemeClr val="accent1"/>
                </a:solidFill>
                <a:latin typeface="DM Sans Medium"/>
                <a:ea typeface="DM Sans Medium"/>
                <a:cs typeface="DM Sans Medium"/>
                <a:sym typeface="DM Sans Medium"/>
              </a:rPr>
              <a:t>Model Registry</a:t>
            </a:r>
            <a:endParaRPr sz="1200">
              <a:solidFill>
                <a:schemeClr val="accent1"/>
              </a:solidFill>
              <a:latin typeface="DM Sans Medium"/>
              <a:ea typeface="DM Sans Medium"/>
              <a:cs typeface="DM Sans Medium"/>
              <a:sym typeface="DM Sans Medium"/>
            </a:endParaRPr>
          </a:p>
          <a:p>
            <a:pPr indent="0" lvl="0" marL="0" rtl="0" algn="ctr">
              <a:lnSpc>
                <a:spcPct val="135000"/>
              </a:lnSpc>
              <a:spcBef>
                <a:spcPts val="0"/>
              </a:spcBef>
              <a:spcAft>
                <a:spcPts val="0"/>
              </a:spcAft>
              <a:buNone/>
            </a:pPr>
            <a:r>
              <a:rPr lang="en" sz="1200">
                <a:solidFill>
                  <a:schemeClr val="accent1"/>
                </a:solidFill>
                <a:latin typeface="DM Sans Medium"/>
                <a:ea typeface="DM Sans Medium"/>
                <a:cs typeface="DM Sans Medium"/>
                <a:sym typeface="DM Sans Medium"/>
              </a:rPr>
              <a:t>Feature Store</a:t>
            </a:r>
            <a:endParaRPr sz="1200">
              <a:solidFill>
                <a:schemeClr val="accent1"/>
              </a:solidFill>
              <a:latin typeface="DM Sans Medium"/>
              <a:ea typeface="DM Sans Medium"/>
              <a:cs typeface="DM Sans Medium"/>
              <a:sym typeface="DM Sans Medium"/>
            </a:endParaRPr>
          </a:p>
        </p:txBody>
      </p:sp>
      <p:sp>
        <p:nvSpPr>
          <p:cNvPr id="1840" name="Google Shape;1840;p85"/>
          <p:cNvSpPr/>
          <p:nvPr/>
        </p:nvSpPr>
        <p:spPr>
          <a:xfrm>
            <a:off x="2953925" y="2331237"/>
            <a:ext cx="2862300" cy="400200"/>
          </a:xfrm>
          <a:prstGeom prst="roundRect">
            <a:avLst>
              <a:gd fmla="val 20861" name="adj"/>
            </a:avLst>
          </a:prstGeom>
          <a:noFill/>
          <a:ln cap="flat" cmpd="sng" w="19050">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Web App</a:t>
            </a:r>
            <a:br>
              <a:rPr i="1" lang="en">
                <a:solidFill>
                  <a:schemeClr val="accent1"/>
                </a:solidFill>
                <a:latin typeface="DM Sans Medium"/>
                <a:ea typeface="DM Sans Medium"/>
                <a:cs typeface="DM Sans Medium"/>
                <a:sym typeface="DM Sans Medium"/>
              </a:rPr>
            </a:br>
            <a:r>
              <a:rPr i="1" lang="en" sz="1200">
                <a:solidFill>
                  <a:schemeClr val="accent1"/>
                </a:solidFill>
                <a:latin typeface="DM Sans"/>
                <a:ea typeface="DM Sans"/>
                <a:cs typeface="DM Sans"/>
                <a:sym typeface="DM Sans"/>
              </a:rPr>
              <a:t>Portal, REST API</a:t>
            </a:r>
            <a:endParaRPr i="1" sz="1200">
              <a:solidFill>
                <a:schemeClr val="accent1"/>
              </a:solidFill>
              <a:latin typeface="DM Sans"/>
              <a:ea typeface="DM Sans"/>
              <a:cs typeface="DM Sans"/>
              <a:sym typeface="DM Sans"/>
            </a:endParaRPr>
          </a:p>
        </p:txBody>
      </p:sp>
      <p:sp>
        <p:nvSpPr>
          <p:cNvPr id="1841" name="Google Shape;1841;p85"/>
          <p:cNvSpPr txBox="1"/>
          <p:nvPr/>
        </p:nvSpPr>
        <p:spPr>
          <a:xfrm>
            <a:off x="7082220" y="3187056"/>
            <a:ext cx="6978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chemeClr val="dk2"/>
                </a:solidFill>
                <a:latin typeface="DM Sans"/>
                <a:ea typeface="DM Sans"/>
                <a:cs typeface="DM Sans"/>
                <a:sym typeface="DM Sans"/>
              </a:rPr>
              <a:t>Clusters</a:t>
            </a:r>
            <a:endParaRPr i="1" sz="1000">
              <a:solidFill>
                <a:schemeClr val="dk2"/>
              </a:solidFill>
              <a:latin typeface="DM Sans"/>
              <a:ea typeface="DM Sans"/>
              <a:cs typeface="DM Sans"/>
              <a:sym typeface="DM Sans"/>
            </a:endParaRPr>
          </a:p>
        </p:txBody>
      </p:sp>
      <p:sp>
        <p:nvSpPr>
          <p:cNvPr id="1842" name="Google Shape;1842;p85"/>
          <p:cNvSpPr txBox="1"/>
          <p:nvPr/>
        </p:nvSpPr>
        <p:spPr>
          <a:xfrm>
            <a:off x="7040070" y="3513405"/>
            <a:ext cx="782100" cy="3693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i="1" lang="en" sz="1000">
                <a:solidFill>
                  <a:schemeClr val="dk2"/>
                </a:solidFill>
                <a:latin typeface="DM Sans"/>
                <a:ea typeface="DM Sans"/>
                <a:cs typeface="DM Sans"/>
                <a:sym typeface="DM Sans"/>
              </a:rPr>
              <a:t>SQL Ware</a:t>
            </a:r>
            <a:br>
              <a:rPr i="1" lang="en" sz="1000">
                <a:solidFill>
                  <a:schemeClr val="dk2"/>
                </a:solidFill>
                <a:latin typeface="DM Sans"/>
                <a:ea typeface="DM Sans"/>
                <a:cs typeface="DM Sans"/>
                <a:sym typeface="DM Sans"/>
              </a:rPr>
            </a:br>
            <a:r>
              <a:rPr i="1" lang="en" sz="1000">
                <a:solidFill>
                  <a:schemeClr val="dk2"/>
                </a:solidFill>
                <a:latin typeface="DM Sans"/>
                <a:ea typeface="DM Sans"/>
                <a:cs typeface="DM Sans"/>
                <a:sym typeface="DM Sans"/>
              </a:rPr>
              <a:t>houses</a:t>
            </a:r>
            <a:endParaRPr i="1" sz="1000">
              <a:solidFill>
                <a:schemeClr val="dk2"/>
              </a:solidFill>
              <a:latin typeface="DM Sans"/>
              <a:ea typeface="DM Sans"/>
              <a:cs typeface="DM Sans"/>
              <a:sym typeface="DM Sans"/>
            </a:endParaRPr>
          </a:p>
        </p:txBody>
      </p:sp>
      <p:pic>
        <p:nvPicPr>
          <p:cNvPr id="1843" name="Google Shape;1843;p85"/>
          <p:cNvPicPr preferRelativeResize="0"/>
          <p:nvPr/>
        </p:nvPicPr>
        <p:blipFill>
          <a:blip r:embed="rId4">
            <a:alphaModFix/>
          </a:blip>
          <a:stretch>
            <a:fillRect/>
          </a:stretch>
        </p:blipFill>
        <p:spPr>
          <a:xfrm>
            <a:off x="6889777" y="3222882"/>
            <a:ext cx="272200" cy="272200"/>
          </a:xfrm>
          <a:prstGeom prst="rect">
            <a:avLst/>
          </a:prstGeom>
          <a:noFill/>
          <a:ln>
            <a:noFill/>
          </a:ln>
        </p:spPr>
      </p:pic>
      <p:pic>
        <p:nvPicPr>
          <p:cNvPr id="1844" name="Google Shape;1844;p85"/>
          <p:cNvPicPr preferRelativeResize="0"/>
          <p:nvPr/>
        </p:nvPicPr>
        <p:blipFill>
          <a:blip r:embed="rId5">
            <a:alphaModFix/>
          </a:blip>
          <a:stretch>
            <a:fillRect/>
          </a:stretch>
        </p:blipFill>
        <p:spPr>
          <a:xfrm>
            <a:off x="6858653" y="3538035"/>
            <a:ext cx="320040" cy="320040"/>
          </a:xfrm>
          <a:prstGeom prst="rect">
            <a:avLst/>
          </a:prstGeom>
          <a:noFill/>
          <a:ln>
            <a:noFill/>
          </a:ln>
        </p:spPr>
      </p:pic>
      <p:sp>
        <p:nvSpPr>
          <p:cNvPr id="1845" name="Google Shape;1845;p85"/>
          <p:cNvSpPr/>
          <p:nvPr/>
        </p:nvSpPr>
        <p:spPr>
          <a:xfrm>
            <a:off x="2773950" y="1239425"/>
            <a:ext cx="3220200" cy="400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85"/>
          <p:cNvSpPr/>
          <p:nvPr/>
        </p:nvSpPr>
        <p:spPr>
          <a:xfrm>
            <a:off x="6623250" y="1239425"/>
            <a:ext cx="4478100" cy="400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pic>
        <p:nvPicPr>
          <p:cNvPr id="1847" name="Google Shape;1847;p85"/>
          <p:cNvPicPr preferRelativeResize="0"/>
          <p:nvPr/>
        </p:nvPicPr>
        <p:blipFill rotWithShape="1">
          <a:blip r:embed="rId3">
            <a:alphaModFix/>
          </a:blip>
          <a:srcRect b="0" l="0" r="0" t="0"/>
          <a:stretch/>
        </p:blipFill>
        <p:spPr>
          <a:xfrm>
            <a:off x="3403914" y="1307815"/>
            <a:ext cx="1775100" cy="279227"/>
          </a:xfrm>
          <a:prstGeom prst="rect">
            <a:avLst/>
          </a:prstGeom>
          <a:noFill/>
          <a:ln>
            <a:noFill/>
          </a:ln>
        </p:spPr>
      </p:pic>
      <p:sp>
        <p:nvSpPr>
          <p:cNvPr id="1848" name="Google Shape;1848;p85"/>
          <p:cNvSpPr/>
          <p:nvPr/>
        </p:nvSpPr>
        <p:spPr>
          <a:xfrm>
            <a:off x="713925" y="1239425"/>
            <a:ext cx="1542900" cy="400200"/>
          </a:xfrm>
          <a:prstGeom prst="rect">
            <a:avLst/>
          </a:prstGeom>
          <a:solidFill>
            <a:srgbClr val="EFEFEF"/>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2400">
                <a:solidFill>
                  <a:schemeClr val="accent1"/>
                </a:solidFill>
                <a:latin typeface="DM Sans Medium"/>
                <a:ea typeface="DM Sans Medium"/>
                <a:cs typeface="DM Sans Medium"/>
                <a:sym typeface="DM Sans Medium"/>
              </a:rPr>
              <a:t>Customer</a:t>
            </a:r>
            <a:endParaRPr sz="2400">
              <a:solidFill>
                <a:schemeClr val="accent1"/>
              </a:solidFill>
              <a:latin typeface="DM Sans"/>
              <a:ea typeface="DM Sans"/>
              <a:cs typeface="DM Sans"/>
              <a:sym typeface="DM Sans"/>
            </a:endParaRPr>
          </a:p>
        </p:txBody>
      </p:sp>
      <p:sp>
        <p:nvSpPr>
          <p:cNvPr id="1849" name="Google Shape;1849;p85"/>
          <p:cNvSpPr/>
          <p:nvPr/>
        </p:nvSpPr>
        <p:spPr>
          <a:xfrm rot="-5393414">
            <a:off x="6197088" y="2432182"/>
            <a:ext cx="156600" cy="198300"/>
          </a:xfrm>
          <a:prstGeom prst="downArrow">
            <a:avLst>
              <a:gd fmla="val 50000" name="adj1"/>
              <a:gd fmla="val 50000" name="adj2"/>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85"/>
          <p:cNvSpPr txBox="1"/>
          <p:nvPr/>
        </p:nvSpPr>
        <p:spPr>
          <a:xfrm>
            <a:off x="1083950" y="2566483"/>
            <a:ext cx="636900" cy="156900"/>
          </a:xfrm>
          <a:prstGeom prst="rect">
            <a:avLst/>
          </a:prstGeom>
          <a:noFill/>
          <a:ln>
            <a:noFill/>
          </a:ln>
        </p:spPr>
        <p:txBody>
          <a:bodyPr anchorCtr="0" anchor="t" bIns="0" lIns="91425" spcFirstLastPara="1" rIns="91425" wrap="square" tIns="0">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Users</a:t>
            </a:r>
            <a:endParaRPr sz="1200">
              <a:solidFill>
                <a:schemeClr val="accent1"/>
              </a:solidFill>
              <a:latin typeface="DM Sans Medium"/>
              <a:ea typeface="DM Sans Medium"/>
              <a:cs typeface="DM Sans Medium"/>
              <a:sym typeface="DM Sans Medium"/>
            </a:endParaRPr>
          </a:p>
        </p:txBody>
      </p:sp>
      <p:grpSp>
        <p:nvGrpSpPr>
          <p:cNvPr id="1851" name="Google Shape;1851;p85"/>
          <p:cNvGrpSpPr/>
          <p:nvPr/>
        </p:nvGrpSpPr>
        <p:grpSpPr>
          <a:xfrm>
            <a:off x="1202302" y="2156711"/>
            <a:ext cx="400200" cy="400200"/>
            <a:chOff x="2293696" y="4563335"/>
            <a:chExt cx="400200" cy="400200"/>
          </a:xfrm>
        </p:grpSpPr>
        <p:grpSp>
          <p:nvGrpSpPr>
            <p:cNvPr id="1852" name="Google Shape;1852;p85"/>
            <p:cNvGrpSpPr/>
            <p:nvPr/>
          </p:nvGrpSpPr>
          <p:grpSpPr>
            <a:xfrm>
              <a:off x="2321700" y="4651200"/>
              <a:ext cx="345300" cy="236300"/>
              <a:chOff x="2321700" y="4651200"/>
              <a:chExt cx="345300" cy="236300"/>
            </a:xfrm>
          </p:grpSpPr>
          <p:sp>
            <p:nvSpPr>
              <p:cNvPr id="1853" name="Google Shape;1853;p85"/>
              <p:cNvSpPr/>
              <p:nvPr/>
            </p:nvSpPr>
            <p:spPr>
              <a:xfrm>
                <a:off x="2321700" y="4793000"/>
                <a:ext cx="345300" cy="94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85"/>
              <p:cNvSpPr/>
              <p:nvPr/>
            </p:nvSpPr>
            <p:spPr>
              <a:xfrm>
                <a:off x="2336150" y="4719275"/>
                <a:ext cx="62700" cy="69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85"/>
              <p:cNvSpPr/>
              <p:nvPr/>
            </p:nvSpPr>
            <p:spPr>
              <a:xfrm>
                <a:off x="2589500" y="4719275"/>
                <a:ext cx="62700" cy="69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85"/>
              <p:cNvSpPr/>
              <p:nvPr/>
            </p:nvSpPr>
            <p:spPr>
              <a:xfrm>
                <a:off x="2453100" y="4651200"/>
                <a:ext cx="82200" cy="858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85"/>
              <p:cNvSpPr/>
              <p:nvPr/>
            </p:nvSpPr>
            <p:spPr>
              <a:xfrm>
                <a:off x="2424325" y="4746075"/>
                <a:ext cx="139500" cy="768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58" name="Google Shape;1858;p85"/>
            <p:cNvPicPr preferRelativeResize="0"/>
            <p:nvPr/>
          </p:nvPicPr>
          <p:blipFill>
            <a:blip r:embed="rId6">
              <a:alphaModFix/>
            </a:blip>
            <a:stretch>
              <a:fillRect/>
            </a:stretch>
          </p:blipFill>
          <p:spPr>
            <a:xfrm>
              <a:off x="2293696" y="4563335"/>
              <a:ext cx="400200" cy="400200"/>
            </a:xfrm>
            <a:prstGeom prst="rect">
              <a:avLst/>
            </a:prstGeom>
            <a:noFill/>
            <a:ln>
              <a:noFill/>
            </a:ln>
          </p:spPr>
        </p:pic>
      </p:grpSp>
      <p:sp>
        <p:nvSpPr>
          <p:cNvPr id="1859" name="Google Shape;1859;p85"/>
          <p:cNvSpPr/>
          <p:nvPr/>
        </p:nvSpPr>
        <p:spPr>
          <a:xfrm rot="5393414">
            <a:off x="6197088" y="3635335"/>
            <a:ext cx="156600" cy="198300"/>
          </a:xfrm>
          <a:prstGeom prst="downArrow">
            <a:avLst>
              <a:gd fmla="val 50000" name="adj1"/>
              <a:gd fmla="val 50000" name="adj2"/>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85"/>
          <p:cNvSpPr/>
          <p:nvPr/>
        </p:nvSpPr>
        <p:spPr>
          <a:xfrm>
            <a:off x="8192713" y="2811450"/>
            <a:ext cx="1175700" cy="1162200"/>
          </a:xfrm>
          <a:prstGeom prst="rect">
            <a:avLst/>
          </a:prstGeom>
          <a:noFill/>
          <a:ln cap="flat" cmpd="sng" w="9525">
            <a:solidFill>
              <a:schemeClr val="accent1"/>
            </a:solidFill>
            <a:prstDash val="solid"/>
            <a:round/>
            <a:headEnd len="sm" w="sm" type="none"/>
            <a:tailEnd len="sm" w="sm" type="none"/>
          </a:ln>
        </p:spPr>
        <p:txBody>
          <a:bodyPr anchorCtr="0" anchor="t" bIns="91425" lIns="0" spcFirstLastPara="1" rIns="0" wrap="square" tIns="4570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Workspace</a:t>
            </a:r>
            <a:endParaRPr>
              <a:solidFill>
                <a:schemeClr val="accent1"/>
              </a:solidFill>
              <a:latin typeface="DM Sans Medium"/>
              <a:ea typeface="DM Sans Medium"/>
              <a:cs typeface="DM Sans Medium"/>
              <a:sym typeface="DM Sans Medium"/>
            </a:endParaRPr>
          </a:p>
        </p:txBody>
      </p:sp>
      <p:sp>
        <p:nvSpPr>
          <p:cNvPr id="1861" name="Google Shape;1861;p85"/>
          <p:cNvSpPr txBox="1"/>
          <p:nvPr/>
        </p:nvSpPr>
        <p:spPr>
          <a:xfrm>
            <a:off x="8530020" y="3187056"/>
            <a:ext cx="6978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chemeClr val="dk2"/>
                </a:solidFill>
                <a:latin typeface="DM Sans"/>
                <a:ea typeface="DM Sans"/>
                <a:cs typeface="DM Sans"/>
                <a:sym typeface="DM Sans"/>
              </a:rPr>
              <a:t>Clusters</a:t>
            </a:r>
            <a:endParaRPr i="1" sz="1000">
              <a:solidFill>
                <a:schemeClr val="dk2"/>
              </a:solidFill>
              <a:latin typeface="DM Sans"/>
              <a:ea typeface="DM Sans"/>
              <a:cs typeface="DM Sans"/>
              <a:sym typeface="DM Sans"/>
            </a:endParaRPr>
          </a:p>
        </p:txBody>
      </p:sp>
      <p:sp>
        <p:nvSpPr>
          <p:cNvPr id="1862" name="Google Shape;1862;p85"/>
          <p:cNvSpPr txBox="1"/>
          <p:nvPr/>
        </p:nvSpPr>
        <p:spPr>
          <a:xfrm>
            <a:off x="8487870" y="3513405"/>
            <a:ext cx="782100" cy="3693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i="1" lang="en" sz="1000">
                <a:solidFill>
                  <a:schemeClr val="dk2"/>
                </a:solidFill>
                <a:latin typeface="DM Sans"/>
                <a:ea typeface="DM Sans"/>
                <a:cs typeface="DM Sans"/>
                <a:sym typeface="DM Sans"/>
              </a:rPr>
              <a:t>SQL Ware</a:t>
            </a:r>
            <a:br>
              <a:rPr i="1" lang="en" sz="1000">
                <a:solidFill>
                  <a:schemeClr val="dk2"/>
                </a:solidFill>
                <a:latin typeface="DM Sans"/>
                <a:ea typeface="DM Sans"/>
                <a:cs typeface="DM Sans"/>
                <a:sym typeface="DM Sans"/>
              </a:rPr>
            </a:br>
            <a:r>
              <a:rPr i="1" lang="en" sz="1000">
                <a:solidFill>
                  <a:schemeClr val="dk2"/>
                </a:solidFill>
                <a:latin typeface="DM Sans"/>
                <a:ea typeface="DM Sans"/>
                <a:cs typeface="DM Sans"/>
                <a:sym typeface="DM Sans"/>
              </a:rPr>
              <a:t>houses</a:t>
            </a:r>
            <a:endParaRPr i="1" sz="1000">
              <a:solidFill>
                <a:schemeClr val="dk2"/>
              </a:solidFill>
              <a:latin typeface="DM Sans"/>
              <a:ea typeface="DM Sans"/>
              <a:cs typeface="DM Sans"/>
              <a:sym typeface="DM Sans"/>
            </a:endParaRPr>
          </a:p>
        </p:txBody>
      </p:sp>
      <p:pic>
        <p:nvPicPr>
          <p:cNvPr id="1863" name="Google Shape;1863;p85"/>
          <p:cNvPicPr preferRelativeResize="0"/>
          <p:nvPr/>
        </p:nvPicPr>
        <p:blipFill>
          <a:blip r:embed="rId4">
            <a:alphaModFix/>
          </a:blip>
          <a:stretch>
            <a:fillRect/>
          </a:stretch>
        </p:blipFill>
        <p:spPr>
          <a:xfrm>
            <a:off x="8337577" y="3222882"/>
            <a:ext cx="272200" cy="272200"/>
          </a:xfrm>
          <a:prstGeom prst="rect">
            <a:avLst/>
          </a:prstGeom>
          <a:noFill/>
          <a:ln>
            <a:noFill/>
          </a:ln>
        </p:spPr>
      </p:pic>
      <p:pic>
        <p:nvPicPr>
          <p:cNvPr id="1864" name="Google Shape;1864;p85"/>
          <p:cNvPicPr preferRelativeResize="0"/>
          <p:nvPr/>
        </p:nvPicPr>
        <p:blipFill>
          <a:blip r:embed="rId5">
            <a:alphaModFix/>
          </a:blip>
          <a:stretch>
            <a:fillRect/>
          </a:stretch>
        </p:blipFill>
        <p:spPr>
          <a:xfrm>
            <a:off x="8306453" y="3538035"/>
            <a:ext cx="320040" cy="320040"/>
          </a:xfrm>
          <a:prstGeom prst="rect">
            <a:avLst/>
          </a:prstGeom>
          <a:noFill/>
          <a:ln>
            <a:noFill/>
          </a:ln>
        </p:spPr>
      </p:pic>
      <p:sp>
        <p:nvSpPr>
          <p:cNvPr id="1865" name="Google Shape;1865;p85"/>
          <p:cNvSpPr/>
          <p:nvPr/>
        </p:nvSpPr>
        <p:spPr>
          <a:xfrm rot="-5393414">
            <a:off x="2250951" y="3634923"/>
            <a:ext cx="156600" cy="198300"/>
          </a:xfrm>
          <a:prstGeom prst="upDownArrow">
            <a:avLst>
              <a:gd fmla="val 50000" name="adj1"/>
              <a:gd fmla="val 50000" name="adj2"/>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85"/>
          <p:cNvSpPr/>
          <p:nvPr/>
        </p:nvSpPr>
        <p:spPr>
          <a:xfrm rot="5400000">
            <a:off x="4302700" y="3332550"/>
            <a:ext cx="156900" cy="3226200"/>
          </a:xfrm>
          <a:prstGeom prst="rightBrace">
            <a:avLst>
              <a:gd fmla="val 50000" name="adj1"/>
              <a:gd fmla="val 50000" name="adj2"/>
            </a:avLst>
          </a:prstGeom>
          <a:noFill/>
          <a:ln cap="flat" cmpd="sng" w="9525">
            <a:solidFill>
              <a:srgbClr val="1B51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85"/>
          <p:cNvSpPr/>
          <p:nvPr/>
        </p:nvSpPr>
        <p:spPr>
          <a:xfrm>
            <a:off x="9935675" y="3384325"/>
            <a:ext cx="1175700" cy="1245900"/>
          </a:xfrm>
          <a:prstGeom prst="roundRect">
            <a:avLst>
              <a:gd fmla="val 1081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Cloud Storage</a:t>
            </a:r>
            <a:endParaRPr sz="1600">
              <a:solidFill>
                <a:schemeClr val="accent1"/>
              </a:solidFill>
              <a:latin typeface="DM Sans Medium"/>
              <a:ea typeface="DM Sans Medium"/>
              <a:cs typeface="DM Sans Medium"/>
              <a:sym typeface="DM Sans Medium"/>
            </a:endParaRPr>
          </a:p>
        </p:txBody>
      </p:sp>
      <p:cxnSp>
        <p:nvCxnSpPr>
          <p:cNvPr id="1868" name="Google Shape;1868;p85"/>
          <p:cNvCxnSpPr/>
          <p:nvPr/>
        </p:nvCxnSpPr>
        <p:spPr>
          <a:xfrm>
            <a:off x="9920938" y="3258263"/>
            <a:ext cx="1312500" cy="0"/>
          </a:xfrm>
          <a:prstGeom prst="straightConnector1">
            <a:avLst/>
          </a:prstGeom>
          <a:noFill/>
          <a:ln cap="flat" cmpd="sng" w="9525">
            <a:solidFill>
              <a:schemeClr val="accent3"/>
            </a:solidFill>
            <a:prstDash val="dash"/>
            <a:round/>
            <a:headEnd len="med" w="med" type="none"/>
            <a:tailEnd len="med" w="med" type="none"/>
          </a:ln>
        </p:spPr>
      </p:cxnSp>
      <p:sp>
        <p:nvSpPr>
          <p:cNvPr id="1869" name="Google Shape;1869;p85"/>
          <p:cNvSpPr txBox="1"/>
          <p:nvPr/>
        </p:nvSpPr>
        <p:spPr>
          <a:xfrm>
            <a:off x="11198499" y="3072625"/>
            <a:ext cx="9228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3"/>
                </a:solidFill>
                <a:latin typeface="DM Sans"/>
                <a:ea typeface="DM Sans"/>
                <a:cs typeface="DM Sans"/>
                <a:sym typeface="DM Sans"/>
              </a:rPr>
              <a:t>isolation / scaling</a:t>
            </a:r>
            <a:endParaRPr sz="1200">
              <a:solidFill>
                <a:schemeClr val="accent3"/>
              </a:solidFill>
              <a:latin typeface="DM Sans"/>
              <a:ea typeface="DM Sans"/>
              <a:cs typeface="DM Sans"/>
              <a:sym typeface="DM Sans"/>
            </a:endParaRPr>
          </a:p>
        </p:txBody>
      </p:sp>
      <p:sp>
        <p:nvSpPr>
          <p:cNvPr id="1870" name="Google Shape;1870;p85"/>
          <p:cNvSpPr/>
          <p:nvPr/>
        </p:nvSpPr>
        <p:spPr>
          <a:xfrm rot="-5393414">
            <a:off x="9632301" y="3789445"/>
            <a:ext cx="156600" cy="198300"/>
          </a:xfrm>
          <a:prstGeom prst="downArrow">
            <a:avLst>
              <a:gd fmla="val 50000" name="adj1"/>
              <a:gd fmla="val 50000" name="adj2"/>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85"/>
          <p:cNvSpPr/>
          <p:nvPr/>
        </p:nvSpPr>
        <p:spPr>
          <a:xfrm>
            <a:off x="2953925" y="2838763"/>
            <a:ext cx="2862300" cy="400200"/>
          </a:xfrm>
          <a:prstGeom prst="roundRect">
            <a:avLst>
              <a:gd fmla="val 20861" name="adj"/>
            </a:avLst>
          </a:prstGeom>
          <a:no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i="1" lang="en">
                <a:solidFill>
                  <a:schemeClr val="accent1"/>
                </a:solidFill>
                <a:latin typeface="DM Sans Medium"/>
                <a:ea typeface="DM Sans Medium"/>
                <a:cs typeface="DM Sans Medium"/>
                <a:sym typeface="DM Sans Medium"/>
              </a:rPr>
              <a:t>Intelligence Engine</a:t>
            </a:r>
            <a:endParaRPr i="1" sz="1200">
              <a:solidFill>
                <a:schemeClr val="accent1"/>
              </a:solidFill>
              <a:latin typeface="DM Sans"/>
              <a:ea typeface="DM Sans"/>
              <a:cs typeface="DM Sans"/>
              <a:sym typeface="DM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86"/>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High Level </a:t>
            </a:r>
            <a:br>
              <a:rPr lang="en"/>
            </a:br>
            <a:r>
              <a:rPr lang="en"/>
              <a:t>Data Architecture</a:t>
            </a:r>
            <a:endParaRPr/>
          </a:p>
          <a:p>
            <a:pPr indent="0" lvl="0" marL="0" rtl="0" algn="l">
              <a:spcBef>
                <a:spcPts val="0"/>
              </a:spcBef>
              <a:spcAft>
                <a:spcPts val="0"/>
              </a:spcAft>
              <a:buNone/>
            </a:pPr>
            <a:r>
              <a:t/>
            </a:r>
            <a:endParaRPr/>
          </a:p>
        </p:txBody>
      </p:sp>
      <p:sp>
        <p:nvSpPr>
          <p:cNvPr id="1877" name="Google Shape;1877;p8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87"/>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architecture</a:t>
            </a:r>
            <a:endParaRPr/>
          </a:p>
        </p:txBody>
      </p:sp>
      <p:sp>
        <p:nvSpPr>
          <p:cNvPr id="1883" name="Google Shape;1883;p8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88"/>
          <p:cNvSpPr/>
          <p:nvPr/>
        </p:nvSpPr>
        <p:spPr>
          <a:xfrm>
            <a:off x="8917300" y="1891225"/>
            <a:ext cx="2558400" cy="2760300"/>
          </a:xfrm>
          <a:prstGeom prst="roundRect">
            <a:avLst>
              <a:gd fmla="val 7348" name="adj"/>
            </a:avLst>
          </a:prstGeom>
          <a:noFill/>
          <a:ln cap="flat" cmpd="sng" w="28575">
            <a:solidFill>
              <a:srgbClr val="D4AF37"/>
            </a:solidFill>
            <a:prstDash val="solid"/>
            <a:round/>
            <a:headEnd len="sm" w="sm" type="none"/>
            <a:tailEnd len="sm" w="sm" type="none"/>
          </a:ln>
        </p:spPr>
        <p:txBody>
          <a:bodyPr anchorCtr="0" anchor="b" bIns="0" lIns="91425" spcFirstLastPara="1" rIns="91425" wrap="square" tIns="0">
            <a:noAutofit/>
          </a:bodyPr>
          <a:lstStyle/>
          <a:p>
            <a:pPr indent="0" lvl="0" marL="0" rtl="0" algn="ctr">
              <a:spcBef>
                <a:spcPts val="0"/>
              </a:spcBef>
              <a:spcAft>
                <a:spcPts val="0"/>
              </a:spcAft>
              <a:buNone/>
            </a:pPr>
            <a:r>
              <a:rPr lang="en" sz="1800">
                <a:solidFill>
                  <a:srgbClr val="D4AF37"/>
                </a:solidFill>
                <a:latin typeface="DM Sans Medium"/>
                <a:ea typeface="DM Sans Medium"/>
                <a:cs typeface="DM Sans Medium"/>
                <a:sym typeface="DM Sans Medium"/>
              </a:rPr>
              <a:t>Final</a:t>
            </a:r>
            <a:endParaRPr>
              <a:solidFill>
                <a:srgbClr val="D4AF37"/>
              </a:solidFill>
            </a:endParaRPr>
          </a:p>
        </p:txBody>
      </p:sp>
      <p:sp>
        <p:nvSpPr>
          <p:cNvPr id="1889" name="Google Shape;1889;p8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Medallion, the best practice pipeline</a:t>
            </a:r>
            <a:endParaRPr sz="3600"/>
          </a:p>
        </p:txBody>
      </p:sp>
      <p:sp>
        <p:nvSpPr>
          <p:cNvPr id="1890" name="Google Shape;1890;p88"/>
          <p:cNvSpPr/>
          <p:nvPr/>
        </p:nvSpPr>
        <p:spPr>
          <a:xfrm rot="-502">
            <a:off x="5117247" y="2382438"/>
            <a:ext cx="2055600" cy="1802700"/>
          </a:xfrm>
          <a:prstGeom prst="roundRect">
            <a:avLst>
              <a:gd fmla="val 7348" name="adj"/>
            </a:avLst>
          </a:prstGeom>
          <a:noFill/>
          <a:ln cap="flat" cmpd="sng" w="28575">
            <a:solidFill>
              <a:srgbClr val="C0C0C0"/>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sz="1800">
                <a:solidFill>
                  <a:srgbClr val="C0C0C0"/>
                </a:solidFill>
                <a:latin typeface="DM Sans Medium"/>
                <a:ea typeface="DM Sans Medium"/>
                <a:cs typeface="DM Sans Medium"/>
                <a:sym typeface="DM Sans Medium"/>
              </a:rPr>
              <a:t>Curated</a:t>
            </a:r>
            <a:endParaRPr>
              <a:solidFill>
                <a:srgbClr val="C0C0C0"/>
              </a:solidFill>
            </a:endParaRPr>
          </a:p>
        </p:txBody>
      </p:sp>
      <p:sp>
        <p:nvSpPr>
          <p:cNvPr id="1891" name="Google Shape;1891;p88"/>
          <p:cNvSpPr/>
          <p:nvPr/>
        </p:nvSpPr>
        <p:spPr>
          <a:xfrm>
            <a:off x="771750" y="2377624"/>
            <a:ext cx="2055900" cy="1828500"/>
          </a:xfrm>
          <a:prstGeom prst="roundRect">
            <a:avLst>
              <a:gd fmla="val 7348" name="adj"/>
            </a:avLst>
          </a:prstGeom>
          <a:noFill/>
          <a:ln cap="flat" cmpd="sng" w="28575">
            <a:solidFill>
              <a:srgbClr val="BF8970"/>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sz="1800">
                <a:solidFill>
                  <a:srgbClr val="BF8970"/>
                </a:solidFill>
                <a:latin typeface="DM Sans Medium"/>
                <a:ea typeface="DM Sans Medium"/>
                <a:cs typeface="DM Sans Medium"/>
                <a:sym typeface="DM Sans Medium"/>
              </a:rPr>
              <a:t>Ingestion</a:t>
            </a:r>
            <a:endParaRPr>
              <a:solidFill>
                <a:srgbClr val="BF8970"/>
              </a:solidFill>
            </a:endParaRPr>
          </a:p>
        </p:txBody>
      </p:sp>
      <p:sp>
        <p:nvSpPr>
          <p:cNvPr id="1892" name="Google Shape;1892;p88"/>
          <p:cNvSpPr/>
          <p:nvPr/>
        </p:nvSpPr>
        <p:spPr>
          <a:xfrm>
            <a:off x="964922" y="1382701"/>
            <a:ext cx="1733100" cy="4380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2133">
                <a:solidFill>
                  <a:srgbClr val="BF8970"/>
                </a:solidFill>
                <a:latin typeface="DM Sans"/>
                <a:ea typeface="DM Sans"/>
                <a:cs typeface="DM Sans"/>
                <a:sym typeface="DM Sans"/>
              </a:rPr>
              <a:t>Bronze</a:t>
            </a:r>
            <a:endParaRPr b="1" sz="2133">
              <a:solidFill>
                <a:srgbClr val="BF8970"/>
              </a:solidFill>
              <a:latin typeface="DM Sans"/>
              <a:ea typeface="DM Sans"/>
              <a:cs typeface="DM Sans"/>
              <a:sym typeface="DM Sans"/>
            </a:endParaRPr>
          </a:p>
        </p:txBody>
      </p:sp>
      <p:cxnSp>
        <p:nvCxnSpPr>
          <p:cNvPr id="1893" name="Google Shape;1893;p88"/>
          <p:cNvCxnSpPr/>
          <p:nvPr/>
        </p:nvCxnSpPr>
        <p:spPr>
          <a:xfrm>
            <a:off x="3041900" y="3251725"/>
            <a:ext cx="1955400" cy="0"/>
          </a:xfrm>
          <a:prstGeom prst="straightConnector1">
            <a:avLst/>
          </a:prstGeom>
          <a:noFill/>
          <a:ln cap="flat" cmpd="sng" w="31750">
            <a:solidFill>
              <a:schemeClr val="accent1"/>
            </a:solidFill>
            <a:prstDash val="solid"/>
            <a:round/>
            <a:headEnd len="sm" w="sm" type="none"/>
            <a:tailEnd len="lg" w="lg" type="triangle"/>
          </a:ln>
        </p:spPr>
      </p:cxnSp>
      <p:sp>
        <p:nvSpPr>
          <p:cNvPr id="1894" name="Google Shape;1894;p88"/>
          <p:cNvSpPr/>
          <p:nvPr/>
        </p:nvSpPr>
        <p:spPr>
          <a:xfrm>
            <a:off x="5382131" y="1382701"/>
            <a:ext cx="1491000" cy="4380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2133">
                <a:solidFill>
                  <a:srgbClr val="C0C0C0"/>
                </a:solidFill>
                <a:latin typeface="DM Sans"/>
                <a:ea typeface="DM Sans"/>
                <a:cs typeface="DM Sans"/>
                <a:sym typeface="DM Sans"/>
              </a:rPr>
              <a:t>Silver</a:t>
            </a:r>
            <a:endParaRPr b="1" sz="2133">
              <a:solidFill>
                <a:srgbClr val="C0C0C0"/>
              </a:solidFill>
              <a:latin typeface="DM Sans"/>
              <a:ea typeface="DM Sans"/>
              <a:cs typeface="DM Sans"/>
              <a:sym typeface="DM Sans"/>
            </a:endParaRPr>
          </a:p>
        </p:txBody>
      </p:sp>
      <p:sp>
        <p:nvSpPr>
          <p:cNvPr id="1895" name="Google Shape;1895;p88"/>
          <p:cNvSpPr/>
          <p:nvPr/>
        </p:nvSpPr>
        <p:spPr>
          <a:xfrm>
            <a:off x="2966450" y="2871226"/>
            <a:ext cx="2172300" cy="267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Spark stream</a:t>
            </a:r>
            <a:endParaRPr>
              <a:solidFill>
                <a:schemeClr val="accent1"/>
              </a:solidFill>
              <a:latin typeface="DM Sans Medium"/>
              <a:ea typeface="DM Sans Medium"/>
              <a:cs typeface="DM Sans Medium"/>
              <a:sym typeface="DM Sans Medium"/>
            </a:endParaRPr>
          </a:p>
        </p:txBody>
      </p:sp>
      <p:sp>
        <p:nvSpPr>
          <p:cNvPr id="1896" name="Google Shape;1896;p88"/>
          <p:cNvSpPr/>
          <p:nvPr/>
        </p:nvSpPr>
        <p:spPr>
          <a:xfrm>
            <a:off x="9224475" y="2073700"/>
            <a:ext cx="1737300" cy="610800"/>
          </a:xfrm>
          <a:prstGeom prst="roundRect">
            <a:avLst>
              <a:gd fmla="val 7348" name="adj"/>
            </a:avLst>
          </a:prstGeom>
          <a:noFill/>
          <a:ln cap="flat" cmpd="sng" w="9525">
            <a:solidFill>
              <a:srgbClr val="D4AF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200"/>
              <a:buFont typeface="Arial"/>
              <a:buNone/>
            </a:pPr>
            <a:r>
              <a:t/>
            </a:r>
            <a:endParaRPr b="1" sz="1200">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FFFFFF"/>
              </a:solidFill>
              <a:latin typeface="Source Sans Pro"/>
              <a:ea typeface="Source Sans Pro"/>
              <a:cs typeface="Source Sans Pro"/>
              <a:sym typeface="Source Sans Pro"/>
            </a:endParaRPr>
          </a:p>
        </p:txBody>
      </p:sp>
      <p:sp>
        <p:nvSpPr>
          <p:cNvPr id="1897" name="Google Shape;1897;p88"/>
          <p:cNvSpPr/>
          <p:nvPr/>
        </p:nvSpPr>
        <p:spPr>
          <a:xfrm>
            <a:off x="9419471" y="1382701"/>
            <a:ext cx="1491000" cy="4380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2133">
                <a:solidFill>
                  <a:srgbClr val="D4AF37"/>
                </a:solidFill>
                <a:latin typeface="DM Sans"/>
                <a:ea typeface="DM Sans"/>
                <a:cs typeface="DM Sans"/>
                <a:sym typeface="DM Sans"/>
              </a:rPr>
              <a:t>Gold</a:t>
            </a:r>
            <a:endParaRPr b="1" sz="2133">
              <a:solidFill>
                <a:srgbClr val="D4AF37"/>
              </a:solidFill>
              <a:latin typeface="DM Sans"/>
              <a:ea typeface="DM Sans"/>
              <a:cs typeface="DM Sans"/>
              <a:sym typeface="DM Sans"/>
            </a:endParaRPr>
          </a:p>
        </p:txBody>
      </p:sp>
      <p:sp>
        <p:nvSpPr>
          <p:cNvPr id="1898" name="Google Shape;1898;p88"/>
          <p:cNvSpPr/>
          <p:nvPr/>
        </p:nvSpPr>
        <p:spPr>
          <a:xfrm>
            <a:off x="9235325" y="3513311"/>
            <a:ext cx="1737300" cy="695100"/>
          </a:xfrm>
          <a:prstGeom prst="roundRect">
            <a:avLst>
              <a:gd fmla="val 7348" name="adj"/>
            </a:avLst>
          </a:prstGeom>
          <a:noFill/>
          <a:ln cap="flat" cmpd="sng" w="9525">
            <a:solidFill>
              <a:srgbClr val="D4AF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FFFFFF"/>
              </a:solidFill>
              <a:latin typeface="Source Sans Pro"/>
              <a:ea typeface="Source Sans Pro"/>
              <a:cs typeface="Source Sans Pro"/>
              <a:sym typeface="Source Sans Pro"/>
            </a:endParaRPr>
          </a:p>
        </p:txBody>
      </p:sp>
      <p:sp>
        <p:nvSpPr>
          <p:cNvPr id="1899" name="Google Shape;1899;p88"/>
          <p:cNvSpPr/>
          <p:nvPr/>
        </p:nvSpPr>
        <p:spPr>
          <a:xfrm>
            <a:off x="9235325" y="2749313"/>
            <a:ext cx="1737300" cy="695100"/>
          </a:xfrm>
          <a:prstGeom prst="roundRect">
            <a:avLst>
              <a:gd fmla="val 7348" name="adj"/>
            </a:avLst>
          </a:prstGeom>
          <a:noFill/>
          <a:ln cap="flat" cmpd="sng" w="9525">
            <a:solidFill>
              <a:srgbClr val="D4AF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200"/>
              <a:buFont typeface="Arial"/>
              <a:buNone/>
            </a:pPr>
            <a:r>
              <a:t/>
            </a:r>
            <a:endParaRPr b="1" sz="1200">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FFFFFF"/>
              </a:solidFill>
              <a:latin typeface="Source Sans Pro"/>
              <a:ea typeface="Source Sans Pro"/>
              <a:cs typeface="Source Sans Pro"/>
              <a:sym typeface="Source Sans Pro"/>
            </a:endParaRPr>
          </a:p>
        </p:txBody>
      </p:sp>
      <p:cxnSp>
        <p:nvCxnSpPr>
          <p:cNvPr id="1900" name="Google Shape;1900;p88"/>
          <p:cNvCxnSpPr/>
          <p:nvPr/>
        </p:nvCxnSpPr>
        <p:spPr>
          <a:xfrm flipH="1" rot="10800000">
            <a:off x="7358502" y="2358495"/>
            <a:ext cx="1297200" cy="424500"/>
          </a:xfrm>
          <a:prstGeom prst="straightConnector1">
            <a:avLst/>
          </a:prstGeom>
          <a:noFill/>
          <a:ln cap="flat" cmpd="sng" w="31750">
            <a:solidFill>
              <a:schemeClr val="accent1"/>
            </a:solidFill>
            <a:prstDash val="solid"/>
            <a:round/>
            <a:headEnd len="sm" w="sm" type="none"/>
            <a:tailEnd len="lg" w="lg" type="triangle"/>
          </a:ln>
        </p:spPr>
      </p:cxnSp>
      <p:cxnSp>
        <p:nvCxnSpPr>
          <p:cNvPr id="1901" name="Google Shape;1901;p88"/>
          <p:cNvCxnSpPr/>
          <p:nvPr/>
        </p:nvCxnSpPr>
        <p:spPr>
          <a:xfrm>
            <a:off x="7366379" y="3236875"/>
            <a:ext cx="1292700" cy="29700"/>
          </a:xfrm>
          <a:prstGeom prst="straightConnector1">
            <a:avLst/>
          </a:prstGeom>
          <a:noFill/>
          <a:ln cap="flat" cmpd="sng" w="31750">
            <a:solidFill>
              <a:schemeClr val="accent1"/>
            </a:solidFill>
            <a:prstDash val="solid"/>
            <a:round/>
            <a:headEnd len="sm" w="sm" type="none"/>
            <a:tailEnd len="lg" w="lg" type="triangle"/>
          </a:ln>
        </p:spPr>
      </p:cxnSp>
      <p:sp>
        <p:nvSpPr>
          <p:cNvPr id="1902" name="Google Shape;1902;p88"/>
          <p:cNvSpPr/>
          <p:nvPr/>
        </p:nvSpPr>
        <p:spPr>
          <a:xfrm>
            <a:off x="9728925" y="2031600"/>
            <a:ext cx="1300500" cy="695100"/>
          </a:xfrm>
          <a:prstGeom prst="rect">
            <a:avLst/>
          </a:prstGeom>
          <a:noFill/>
          <a:ln>
            <a:noFill/>
          </a:ln>
        </p:spPr>
        <p:txBody>
          <a:bodyPr anchorCtr="0" anchor="ctr" bIns="60925" lIns="121900" spcFirstLastPara="1" rIns="121900" wrap="square" tIns="60925">
            <a:noAutofit/>
          </a:bodyPr>
          <a:lstStyle/>
          <a:p>
            <a:pPr indent="0" lvl="0" marL="0" rtl="0" algn="ctr">
              <a:spcBef>
                <a:spcPts val="0"/>
              </a:spcBef>
              <a:spcAft>
                <a:spcPts val="0"/>
              </a:spcAft>
              <a:buNone/>
            </a:pPr>
            <a:r>
              <a:rPr lang="en" sz="1200">
                <a:solidFill>
                  <a:schemeClr val="accent1"/>
                </a:solidFill>
                <a:latin typeface="DM Sans"/>
                <a:ea typeface="DM Sans"/>
                <a:cs typeface="DM Sans"/>
                <a:sym typeface="DM Sans"/>
              </a:rPr>
              <a:t>Time series resampled &amp; interpolated</a:t>
            </a:r>
            <a:endParaRPr sz="1200">
              <a:solidFill>
                <a:schemeClr val="accent1"/>
              </a:solidFill>
              <a:latin typeface="DM Sans"/>
              <a:ea typeface="DM Sans"/>
              <a:cs typeface="DM Sans"/>
              <a:sym typeface="DM Sans"/>
            </a:endParaRPr>
          </a:p>
        </p:txBody>
      </p:sp>
      <p:sp>
        <p:nvSpPr>
          <p:cNvPr id="1903" name="Google Shape;1903;p88"/>
          <p:cNvSpPr/>
          <p:nvPr/>
        </p:nvSpPr>
        <p:spPr>
          <a:xfrm>
            <a:off x="9728925" y="3568511"/>
            <a:ext cx="1227900" cy="583500"/>
          </a:xfrm>
          <a:prstGeom prst="rect">
            <a:avLst/>
          </a:prstGeom>
          <a:noFill/>
          <a:ln>
            <a:noFill/>
          </a:ln>
        </p:spPr>
        <p:txBody>
          <a:bodyPr anchorCtr="0" anchor="ctr" bIns="60925" lIns="121900" spcFirstLastPara="1" rIns="121900" wrap="square" tIns="60925">
            <a:noAutofit/>
          </a:bodyPr>
          <a:lstStyle/>
          <a:p>
            <a:pPr indent="0" lvl="0" marL="0" rtl="0" algn="ctr">
              <a:spcBef>
                <a:spcPts val="0"/>
              </a:spcBef>
              <a:spcAft>
                <a:spcPts val="0"/>
              </a:spcAft>
              <a:buNone/>
            </a:pPr>
            <a:r>
              <a:rPr lang="en" sz="1200">
                <a:solidFill>
                  <a:schemeClr val="accent1"/>
                </a:solidFill>
                <a:latin typeface="DM Sans"/>
                <a:ea typeface="DM Sans"/>
                <a:cs typeface="DM Sans"/>
                <a:sym typeface="DM Sans"/>
              </a:rPr>
              <a:t>Feature enhanced</a:t>
            </a:r>
            <a:endParaRPr sz="1200">
              <a:solidFill>
                <a:schemeClr val="accent1"/>
              </a:solidFill>
              <a:latin typeface="DM Sans"/>
              <a:ea typeface="DM Sans"/>
              <a:cs typeface="DM Sans"/>
              <a:sym typeface="DM Sans"/>
            </a:endParaRPr>
          </a:p>
        </p:txBody>
      </p:sp>
      <p:sp>
        <p:nvSpPr>
          <p:cNvPr id="1904" name="Google Shape;1904;p88"/>
          <p:cNvSpPr/>
          <p:nvPr/>
        </p:nvSpPr>
        <p:spPr>
          <a:xfrm>
            <a:off x="9755000" y="2805137"/>
            <a:ext cx="1227900" cy="583500"/>
          </a:xfrm>
          <a:prstGeom prst="rect">
            <a:avLst/>
          </a:prstGeom>
          <a:noFill/>
          <a:ln>
            <a:noFill/>
          </a:ln>
        </p:spPr>
        <p:txBody>
          <a:bodyPr anchorCtr="0" anchor="ctr" bIns="60925" lIns="121900" spcFirstLastPara="1" rIns="121900" wrap="square" tIns="60925">
            <a:noAutofit/>
          </a:bodyPr>
          <a:lstStyle/>
          <a:p>
            <a:pPr indent="0" lvl="0" marL="0" rtl="0" algn="ctr">
              <a:spcBef>
                <a:spcPts val="0"/>
              </a:spcBef>
              <a:spcAft>
                <a:spcPts val="0"/>
              </a:spcAft>
              <a:buNone/>
            </a:pPr>
            <a:r>
              <a:rPr lang="en" sz="1200">
                <a:solidFill>
                  <a:schemeClr val="accent1"/>
                </a:solidFill>
                <a:latin typeface="DM Sans"/>
                <a:ea typeface="DM Sans"/>
                <a:cs typeface="DM Sans"/>
                <a:sym typeface="DM Sans"/>
              </a:rPr>
              <a:t>Feature reduction</a:t>
            </a:r>
            <a:endParaRPr sz="1200">
              <a:solidFill>
                <a:schemeClr val="accent1"/>
              </a:solidFill>
              <a:latin typeface="DM Sans"/>
              <a:ea typeface="DM Sans"/>
              <a:cs typeface="DM Sans"/>
              <a:sym typeface="DM Sans"/>
            </a:endParaRPr>
          </a:p>
        </p:txBody>
      </p:sp>
      <p:cxnSp>
        <p:nvCxnSpPr>
          <p:cNvPr id="1905" name="Google Shape;1905;p88"/>
          <p:cNvCxnSpPr/>
          <p:nvPr/>
        </p:nvCxnSpPr>
        <p:spPr>
          <a:xfrm>
            <a:off x="7358502" y="3668980"/>
            <a:ext cx="1297200" cy="389700"/>
          </a:xfrm>
          <a:prstGeom prst="straightConnector1">
            <a:avLst/>
          </a:prstGeom>
          <a:noFill/>
          <a:ln cap="flat" cmpd="sng" w="31750">
            <a:solidFill>
              <a:schemeClr val="accent1"/>
            </a:solidFill>
            <a:prstDash val="solid"/>
            <a:round/>
            <a:headEnd len="sm" w="sm" type="none"/>
            <a:tailEnd len="lg" w="lg" type="triangle"/>
          </a:ln>
        </p:spPr>
      </p:cxnSp>
      <p:sp>
        <p:nvSpPr>
          <p:cNvPr id="1906" name="Google Shape;1906;p88"/>
          <p:cNvSpPr txBox="1"/>
          <p:nvPr/>
        </p:nvSpPr>
        <p:spPr>
          <a:xfrm>
            <a:off x="258575" y="4686900"/>
            <a:ext cx="3623400" cy="1296000"/>
          </a:xfrm>
          <a:prstGeom prst="rect">
            <a:avLst/>
          </a:prstGeom>
          <a:noFill/>
          <a:ln>
            <a:noFill/>
          </a:ln>
        </p:spPr>
        <p:txBody>
          <a:bodyPr anchorCtr="0" anchor="t" bIns="60925" lIns="121900" spcFirstLastPara="1" rIns="121900" wrap="square" tIns="60925">
            <a:noAutofit/>
          </a:bodyPr>
          <a:lstStyle/>
          <a:p>
            <a:pPr indent="0" lvl="0" marL="0" rtl="0" algn="l">
              <a:spcBef>
                <a:spcPts val="600"/>
              </a:spcBef>
              <a:spcAft>
                <a:spcPts val="0"/>
              </a:spcAft>
              <a:buNone/>
            </a:pPr>
            <a:r>
              <a:rPr lang="en">
                <a:solidFill>
                  <a:schemeClr val="accent1"/>
                </a:solidFill>
                <a:latin typeface="DM Sans Medium"/>
                <a:ea typeface="DM Sans Medium"/>
                <a:cs typeface="DM Sans Medium"/>
                <a:sym typeface="DM Sans Medium"/>
              </a:rPr>
              <a:t>Raw data</a:t>
            </a:r>
            <a:endParaRPr>
              <a:solidFill>
                <a:schemeClr val="accent1"/>
              </a:solidFill>
              <a:latin typeface="DM Sans Medium"/>
              <a:ea typeface="DM Sans Medium"/>
              <a:cs typeface="DM Sans Medium"/>
              <a:sym typeface="DM Sans Medium"/>
            </a:endParaRPr>
          </a:p>
          <a:p>
            <a:pPr indent="-317500" lvl="0" marL="457200" rtl="0" algn="l">
              <a:spcBef>
                <a:spcPts val="600"/>
              </a:spcBef>
              <a:spcAft>
                <a:spcPts val="0"/>
              </a:spcAft>
              <a:buClr>
                <a:schemeClr val="accent1"/>
              </a:buClr>
              <a:buSzPts val="1400"/>
              <a:buFont typeface="DM Sans Medium"/>
              <a:buChar char="▪"/>
            </a:pPr>
            <a:r>
              <a:rPr lang="en">
                <a:solidFill>
                  <a:schemeClr val="accent1"/>
                </a:solidFill>
                <a:latin typeface="DM Sans Medium"/>
                <a:ea typeface="DM Sans Medium"/>
                <a:cs typeface="DM Sans Medium"/>
                <a:sym typeface="DM Sans Medium"/>
              </a:rPr>
              <a:t>No data processing</a:t>
            </a:r>
            <a:endParaRPr>
              <a:solidFill>
                <a:schemeClr val="accent1"/>
              </a:solidFill>
              <a:latin typeface="DM Sans Medium"/>
              <a:ea typeface="DM Sans Medium"/>
              <a:cs typeface="DM Sans Medium"/>
              <a:sym typeface="DM Sans Medium"/>
            </a:endParaRPr>
          </a:p>
          <a:p>
            <a:pPr indent="-317500" lvl="0" marL="457200" rtl="0" algn="l">
              <a:spcBef>
                <a:spcPts val="600"/>
              </a:spcBef>
              <a:spcAft>
                <a:spcPts val="600"/>
              </a:spcAft>
              <a:buClr>
                <a:schemeClr val="accent1"/>
              </a:buClr>
              <a:buSzPts val="1400"/>
              <a:buFont typeface="DM Sans Medium"/>
              <a:buChar char="▪"/>
            </a:pPr>
            <a:r>
              <a:rPr lang="en">
                <a:solidFill>
                  <a:schemeClr val="accent1"/>
                </a:solidFill>
                <a:latin typeface="DM Sans Medium"/>
                <a:ea typeface="DM Sans Medium"/>
                <a:cs typeface="DM Sans Medium"/>
                <a:sym typeface="DM Sans Medium"/>
              </a:rPr>
              <a:t>Data kept around to fix mistakes</a:t>
            </a:r>
            <a:endParaRPr>
              <a:solidFill>
                <a:schemeClr val="accent1"/>
              </a:solidFill>
              <a:latin typeface="DM Sans Medium"/>
              <a:ea typeface="DM Sans Medium"/>
              <a:cs typeface="DM Sans Medium"/>
              <a:sym typeface="DM Sans Medium"/>
            </a:endParaRPr>
          </a:p>
        </p:txBody>
      </p:sp>
      <p:sp>
        <p:nvSpPr>
          <p:cNvPr id="1907" name="Google Shape;1907;p88"/>
          <p:cNvSpPr txBox="1"/>
          <p:nvPr/>
        </p:nvSpPr>
        <p:spPr>
          <a:xfrm>
            <a:off x="4750650" y="4686900"/>
            <a:ext cx="3063900" cy="876600"/>
          </a:xfrm>
          <a:prstGeom prst="rect">
            <a:avLst/>
          </a:prstGeom>
          <a:noFill/>
          <a:ln>
            <a:noFill/>
          </a:ln>
        </p:spPr>
        <p:txBody>
          <a:bodyPr anchorCtr="0" anchor="t" bIns="60925" lIns="121900" spcFirstLastPara="1" rIns="121900" wrap="square" tIns="60925">
            <a:noAutofit/>
          </a:bodyPr>
          <a:lstStyle/>
          <a:p>
            <a:pPr indent="0" lvl="0" marL="0" rtl="0" algn="l">
              <a:spcBef>
                <a:spcPts val="600"/>
              </a:spcBef>
              <a:spcAft>
                <a:spcPts val="0"/>
              </a:spcAft>
              <a:buNone/>
            </a:pPr>
            <a:r>
              <a:rPr lang="en">
                <a:solidFill>
                  <a:schemeClr val="accent1"/>
                </a:solidFill>
                <a:latin typeface="DM Sans Medium"/>
                <a:ea typeface="DM Sans Medium"/>
                <a:cs typeface="DM Sans Medium"/>
                <a:sym typeface="DM Sans Medium"/>
              </a:rPr>
              <a:t>Cleansed and conformed data</a:t>
            </a:r>
            <a:endParaRPr>
              <a:solidFill>
                <a:schemeClr val="accent1"/>
              </a:solidFill>
              <a:latin typeface="DM Sans Medium"/>
              <a:ea typeface="DM Sans Medium"/>
              <a:cs typeface="DM Sans Medium"/>
              <a:sym typeface="DM Sans Medium"/>
            </a:endParaRPr>
          </a:p>
          <a:p>
            <a:pPr indent="-317500" lvl="0" marL="457200" rtl="0" algn="l">
              <a:spcBef>
                <a:spcPts val="600"/>
              </a:spcBef>
              <a:spcAft>
                <a:spcPts val="0"/>
              </a:spcAft>
              <a:buClr>
                <a:schemeClr val="accent1"/>
              </a:buClr>
              <a:buSzPts val="1400"/>
              <a:buFont typeface="DM Sans Medium"/>
              <a:buChar char="▪"/>
            </a:pPr>
            <a:r>
              <a:rPr lang="en">
                <a:solidFill>
                  <a:schemeClr val="accent1"/>
                </a:solidFill>
                <a:latin typeface="DM Sans Medium"/>
                <a:ea typeface="DM Sans Medium"/>
                <a:cs typeface="DM Sans Medium"/>
                <a:sym typeface="DM Sans Medium"/>
              </a:rPr>
              <a:t>Directly queryable</a:t>
            </a:r>
            <a:endParaRPr>
              <a:solidFill>
                <a:schemeClr val="accent1"/>
              </a:solidFill>
              <a:latin typeface="DM Sans Medium"/>
              <a:ea typeface="DM Sans Medium"/>
              <a:cs typeface="DM Sans Medium"/>
              <a:sym typeface="DM Sans Medium"/>
            </a:endParaRPr>
          </a:p>
          <a:p>
            <a:pPr indent="-317500" lvl="0" marL="457200" rtl="0" algn="l">
              <a:spcBef>
                <a:spcPts val="600"/>
              </a:spcBef>
              <a:spcAft>
                <a:spcPts val="600"/>
              </a:spcAft>
              <a:buClr>
                <a:schemeClr val="accent1"/>
              </a:buClr>
              <a:buSzPts val="1400"/>
              <a:buFont typeface="DM Sans Medium"/>
              <a:buChar char="▪"/>
            </a:pPr>
            <a:r>
              <a:rPr lang="en">
                <a:solidFill>
                  <a:schemeClr val="accent1"/>
                </a:solidFill>
                <a:latin typeface="DM Sans Medium"/>
                <a:ea typeface="DM Sans Medium"/>
                <a:cs typeface="DM Sans Medium"/>
                <a:sym typeface="DM Sans Medium"/>
              </a:rPr>
              <a:t>PII masking/redaction</a:t>
            </a:r>
            <a:endParaRPr>
              <a:solidFill>
                <a:schemeClr val="accent1"/>
              </a:solidFill>
              <a:latin typeface="DM Sans Medium"/>
              <a:ea typeface="DM Sans Medium"/>
              <a:cs typeface="DM Sans Medium"/>
              <a:sym typeface="DM Sans Medium"/>
            </a:endParaRPr>
          </a:p>
        </p:txBody>
      </p:sp>
      <p:sp>
        <p:nvSpPr>
          <p:cNvPr id="1908" name="Google Shape;1908;p88"/>
          <p:cNvSpPr txBox="1"/>
          <p:nvPr/>
        </p:nvSpPr>
        <p:spPr>
          <a:xfrm>
            <a:off x="8865475" y="4686900"/>
            <a:ext cx="3255900" cy="1296000"/>
          </a:xfrm>
          <a:prstGeom prst="rect">
            <a:avLst/>
          </a:prstGeom>
          <a:noFill/>
          <a:ln>
            <a:noFill/>
          </a:ln>
        </p:spPr>
        <p:txBody>
          <a:bodyPr anchorCtr="0" anchor="t" bIns="60925" lIns="121900" spcFirstLastPara="1" rIns="121900" wrap="square" tIns="60925">
            <a:noAutofit/>
          </a:bodyPr>
          <a:lstStyle/>
          <a:p>
            <a:pPr indent="0" lvl="0" marL="0" rtl="0" algn="l">
              <a:spcBef>
                <a:spcPts val="600"/>
              </a:spcBef>
              <a:spcAft>
                <a:spcPts val="0"/>
              </a:spcAft>
              <a:buNone/>
            </a:pPr>
            <a:r>
              <a:rPr lang="en">
                <a:solidFill>
                  <a:schemeClr val="accent1"/>
                </a:solidFill>
                <a:latin typeface="DM Sans Medium"/>
                <a:ea typeface="DM Sans Medium"/>
                <a:cs typeface="DM Sans Medium"/>
                <a:sym typeface="DM Sans Medium"/>
              </a:rPr>
              <a:t>Curated business-level tables </a:t>
            </a:r>
            <a:endParaRPr>
              <a:solidFill>
                <a:schemeClr val="accent1"/>
              </a:solidFill>
              <a:latin typeface="DM Sans Medium"/>
              <a:ea typeface="DM Sans Medium"/>
              <a:cs typeface="DM Sans Medium"/>
              <a:sym typeface="DM Sans Medium"/>
            </a:endParaRPr>
          </a:p>
          <a:p>
            <a:pPr indent="-317500" lvl="0" marL="457200" rtl="0" algn="l">
              <a:spcBef>
                <a:spcPts val="600"/>
              </a:spcBef>
              <a:spcAft>
                <a:spcPts val="0"/>
              </a:spcAft>
              <a:buClr>
                <a:schemeClr val="accent1"/>
              </a:buClr>
              <a:buSzPts val="1400"/>
              <a:buFont typeface="DM Sans Medium"/>
              <a:buChar char="▪"/>
            </a:pPr>
            <a:r>
              <a:rPr lang="en">
                <a:solidFill>
                  <a:schemeClr val="accent1"/>
                </a:solidFill>
                <a:latin typeface="DM Sans Medium"/>
                <a:ea typeface="DM Sans Medium"/>
                <a:cs typeface="DM Sans Medium"/>
                <a:sym typeface="DM Sans Medium"/>
              </a:rPr>
              <a:t>Project/use case specific</a:t>
            </a:r>
            <a:endParaRPr>
              <a:solidFill>
                <a:schemeClr val="accent1"/>
              </a:solidFill>
              <a:latin typeface="DM Sans Medium"/>
              <a:ea typeface="DM Sans Medium"/>
              <a:cs typeface="DM Sans Medium"/>
              <a:sym typeface="DM Sans Medium"/>
            </a:endParaRPr>
          </a:p>
          <a:p>
            <a:pPr indent="-317500" lvl="0" marL="457200" rtl="0" algn="l">
              <a:spcBef>
                <a:spcPts val="600"/>
              </a:spcBef>
              <a:spcAft>
                <a:spcPts val="600"/>
              </a:spcAft>
              <a:buClr>
                <a:schemeClr val="accent1"/>
              </a:buClr>
              <a:buSzPts val="1400"/>
              <a:buFont typeface="DM Sans Medium"/>
              <a:buChar char="▪"/>
            </a:pPr>
            <a:r>
              <a:rPr lang="en">
                <a:solidFill>
                  <a:schemeClr val="accent1"/>
                </a:solidFill>
                <a:latin typeface="DM Sans Medium"/>
                <a:ea typeface="DM Sans Medium"/>
                <a:cs typeface="DM Sans Medium"/>
                <a:sym typeface="DM Sans Medium"/>
              </a:rPr>
              <a:t>de-normalized and read- optimized data models</a:t>
            </a:r>
            <a:endParaRPr>
              <a:solidFill>
                <a:schemeClr val="accent1"/>
              </a:solidFill>
              <a:latin typeface="DM Sans Medium"/>
              <a:ea typeface="DM Sans Medium"/>
              <a:cs typeface="DM Sans Medium"/>
              <a:sym typeface="DM Sans Medium"/>
            </a:endParaRPr>
          </a:p>
        </p:txBody>
      </p:sp>
      <p:sp>
        <p:nvSpPr>
          <p:cNvPr id="1909" name="Google Shape;1909;p8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pic>
        <p:nvPicPr>
          <p:cNvPr id="1910" name="Google Shape;1910;p88"/>
          <p:cNvPicPr preferRelativeResize="0"/>
          <p:nvPr/>
        </p:nvPicPr>
        <p:blipFill rotWithShape="1">
          <a:blip r:embed="rId3">
            <a:alphaModFix/>
          </a:blip>
          <a:srcRect b="17850" l="0" r="0" t="0"/>
          <a:stretch/>
        </p:blipFill>
        <p:spPr>
          <a:xfrm>
            <a:off x="2359232" y="2434771"/>
            <a:ext cx="503076" cy="320999"/>
          </a:xfrm>
          <a:prstGeom prst="rect">
            <a:avLst/>
          </a:prstGeom>
          <a:noFill/>
          <a:ln>
            <a:noFill/>
          </a:ln>
        </p:spPr>
      </p:pic>
      <p:pic>
        <p:nvPicPr>
          <p:cNvPr id="1911" name="Google Shape;1911;p88"/>
          <p:cNvPicPr preferRelativeResize="0"/>
          <p:nvPr/>
        </p:nvPicPr>
        <p:blipFill rotWithShape="1">
          <a:blip r:embed="rId3">
            <a:alphaModFix/>
          </a:blip>
          <a:srcRect b="17850" l="0" r="0" t="0"/>
          <a:stretch/>
        </p:blipFill>
        <p:spPr>
          <a:xfrm>
            <a:off x="6688204" y="2434771"/>
            <a:ext cx="503076" cy="320999"/>
          </a:xfrm>
          <a:prstGeom prst="rect">
            <a:avLst/>
          </a:prstGeom>
          <a:noFill/>
          <a:ln>
            <a:noFill/>
          </a:ln>
        </p:spPr>
      </p:pic>
      <p:pic>
        <p:nvPicPr>
          <p:cNvPr id="1912" name="Google Shape;1912;p88"/>
          <p:cNvPicPr preferRelativeResize="0"/>
          <p:nvPr/>
        </p:nvPicPr>
        <p:blipFill rotWithShape="1">
          <a:blip r:embed="rId3">
            <a:alphaModFix/>
          </a:blip>
          <a:srcRect b="17850" l="0" r="0" t="0"/>
          <a:stretch/>
        </p:blipFill>
        <p:spPr>
          <a:xfrm>
            <a:off x="10997274" y="1997640"/>
            <a:ext cx="503076" cy="320999"/>
          </a:xfrm>
          <a:prstGeom prst="rect">
            <a:avLst/>
          </a:prstGeom>
          <a:noFill/>
          <a:ln>
            <a:noFill/>
          </a:ln>
        </p:spPr>
      </p:pic>
      <p:pic>
        <p:nvPicPr>
          <p:cNvPr id="1913" name="Google Shape;1913;p88"/>
          <p:cNvPicPr preferRelativeResize="0"/>
          <p:nvPr/>
        </p:nvPicPr>
        <p:blipFill rotWithShape="1">
          <a:blip r:embed="rId4">
            <a:alphaModFix/>
          </a:blip>
          <a:srcRect b="0" l="0" r="0" t="0"/>
          <a:stretch/>
        </p:blipFill>
        <p:spPr>
          <a:xfrm>
            <a:off x="3111826" y="2844669"/>
            <a:ext cx="321000" cy="321000"/>
          </a:xfrm>
          <a:prstGeom prst="rect">
            <a:avLst/>
          </a:prstGeom>
          <a:noFill/>
          <a:ln>
            <a:noFill/>
          </a:ln>
        </p:spPr>
      </p:pic>
      <p:grpSp>
        <p:nvGrpSpPr>
          <p:cNvPr id="1914" name="Google Shape;1914;p88"/>
          <p:cNvGrpSpPr/>
          <p:nvPr/>
        </p:nvGrpSpPr>
        <p:grpSpPr>
          <a:xfrm>
            <a:off x="1170399" y="2683015"/>
            <a:ext cx="1227946" cy="945770"/>
            <a:chOff x="904151" y="2225226"/>
            <a:chExt cx="1768100" cy="1361800"/>
          </a:xfrm>
        </p:grpSpPr>
        <p:pic>
          <p:nvPicPr>
            <p:cNvPr id="1915" name="Google Shape;1915;p88"/>
            <p:cNvPicPr preferRelativeResize="0"/>
            <p:nvPr/>
          </p:nvPicPr>
          <p:blipFill rotWithShape="1">
            <a:blip r:embed="rId5">
              <a:alphaModFix/>
            </a:blip>
            <a:srcRect b="0" l="0" r="0" t="0"/>
            <a:stretch/>
          </p:blipFill>
          <p:spPr>
            <a:xfrm>
              <a:off x="904151" y="2225226"/>
              <a:ext cx="876675" cy="876675"/>
            </a:xfrm>
            <a:prstGeom prst="rect">
              <a:avLst/>
            </a:prstGeom>
            <a:noFill/>
            <a:ln>
              <a:noFill/>
            </a:ln>
          </p:spPr>
        </p:pic>
        <p:pic>
          <p:nvPicPr>
            <p:cNvPr id="1916" name="Google Shape;1916;p88"/>
            <p:cNvPicPr preferRelativeResize="0"/>
            <p:nvPr/>
          </p:nvPicPr>
          <p:blipFill rotWithShape="1">
            <a:blip r:embed="rId5">
              <a:alphaModFix/>
            </a:blip>
            <a:srcRect b="0" l="0" r="0" t="0"/>
            <a:stretch/>
          </p:blipFill>
          <p:spPr>
            <a:xfrm>
              <a:off x="1795577" y="2225226"/>
              <a:ext cx="876675" cy="876675"/>
            </a:xfrm>
            <a:prstGeom prst="rect">
              <a:avLst/>
            </a:prstGeom>
            <a:noFill/>
            <a:ln>
              <a:noFill/>
            </a:ln>
          </p:spPr>
        </p:pic>
        <p:pic>
          <p:nvPicPr>
            <p:cNvPr id="1917" name="Google Shape;1917;p88"/>
            <p:cNvPicPr preferRelativeResize="0"/>
            <p:nvPr/>
          </p:nvPicPr>
          <p:blipFill rotWithShape="1">
            <a:blip r:embed="rId5">
              <a:alphaModFix/>
            </a:blip>
            <a:srcRect b="0" l="0" r="0" t="0"/>
            <a:stretch/>
          </p:blipFill>
          <p:spPr>
            <a:xfrm>
              <a:off x="1363001" y="2710351"/>
              <a:ext cx="876675" cy="876675"/>
            </a:xfrm>
            <a:prstGeom prst="rect">
              <a:avLst/>
            </a:prstGeom>
            <a:noFill/>
            <a:ln>
              <a:noFill/>
            </a:ln>
          </p:spPr>
        </p:pic>
      </p:grpSp>
      <p:pic>
        <p:nvPicPr>
          <p:cNvPr id="1918" name="Google Shape;1918;p88"/>
          <p:cNvPicPr preferRelativeResize="0"/>
          <p:nvPr/>
        </p:nvPicPr>
        <p:blipFill rotWithShape="1">
          <a:blip r:embed="rId6">
            <a:alphaModFix/>
          </a:blip>
          <a:srcRect b="0" l="0" r="0" t="0"/>
          <a:stretch/>
        </p:blipFill>
        <p:spPr>
          <a:xfrm>
            <a:off x="5666963" y="2683026"/>
            <a:ext cx="945750" cy="945750"/>
          </a:xfrm>
          <a:prstGeom prst="rect">
            <a:avLst/>
          </a:prstGeom>
          <a:noFill/>
          <a:ln>
            <a:noFill/>
          </a:ln>
        </p:spPr>
      </p:pic>
      <p:pic>
        <p:nvPicPr>
          <p:cNvPr id="1919" name="Google Shape;1919;p88"/>
          <p:cNvPicPr preferRelativeResize="0"/>
          <p:nvPr/>
        </p:nvPicPr>
        <p:blipFill rotWithShape="1">
          <a:blip r:embed="rId7">
            <a:alphaModFix/>
          </a:blip>
          <a:srcRect b="0" l="0" r="0" t="0"/>
          <a:stretch/>
        </p:blipFill>
        <p:spPr>
          <a:xfrm>
            <a:off x="9271213" y="2805112"/>
            <a:ext cx="583500" cy="583500"/>
          </a:xfrm>
          <a:prstGeom prst="rect">
            <a:avLst/>
          </a:prstGeom>
          <a:noFill/>
          <a:ln>
            <a:noFill/>
          </a:ln>
        </p:spPr>
      </p:pic>
      <p:pic>
        <p:nvPicPr>
          <p:cNvPr id="1920" name="Google Shape;1920;p88"/>
          <p:cNvPicPr preferRelativeResize="0"/>
          <p:nvPr/>
        </p:nvPicPr>
        <p:blipFill rotWithShape="1">
          <a:blip r:embed="rId8">
            <a:alphaModFix/>
          </a:blip>
          <a:srcRect b="0" l="0" r="0" t="0"/>
          <a:stretch/>
        </p:blipFill>
        <p:spPr>
          <a:xfrm>
            <a:off x="9271200" y="2073700"/>
            <a:ext cx="583500" cy="583500"/>
          </a:xfrm>
          <a:prstGeom prst="rect">
            <a:avLst/>
          </a:prstGeom>
          <a:noFill/>
          <a:ln>
            <a:noFill/>
          </a:ln>
        </p:spPr>
      </p:pic>
      <p:pic>
        <p:nvPicPr>
          <p:cNvPr id="1921" name="Google Shape;1921;p88"/>
          <p:cNvPicPr preferRelativeResize="0"/>
          <p:nvPr/>
        </p:nvPicPr>
        <p:blipFill rotWithShape="1">
          <a:blip r:embed="rId9">
            <a:alphaModFix/>
          </a:blip>
          <a:srcRect b="0" l="0" r="0" t="0"/>
          <a:stretch/>
        </p:blipFill>
        <p:spPr>
          <a:xfrm>
            <a:off x="9311413" y="3609293"/>
            <a:ext cx="503074" cy="50303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5" name="Shape 1925"/>
        <p:cNvGrpSpPr/>
        <p:nvPr/>
      </p:nvGrpSpPr>
      <p:grpSpPr>
        <a:xfrm>
          <a:off x="0" y="0"/>
          <a:ext cx="0" cy="0"/>
          <a:chOff x="0" y="0"/>
          <a:chExt cx="0" cy="0"/>
        </a:xfrm>
      </p:grpSpPr>
      <p:sp>
        <p:nvSpPr>
          <p:cNvPr id="1926" name="Google Shape;1926;p89"/>
          <p:cNvSpPr/>
          <p:nvPr/>
        </p:nvSpPr>
        <p:spPr>
          <a:xfrm>
            <a:off x="9287625" y="4423800"/>
            <a:ext cx="2677800" cy="1755900"/>
          </a:xfrm>
          <a:prstGeom prst="rect">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89"/>
          <p:cNvSpPr txBox="1"/>
          <p:nvPr>
            <p:ph idx="2" type="body"/>
          </p:nvPr>
        </p:nvSpPr>
        <p:spPr>
          <a:xfrm>
            <a:off x="609400" y="1379225"/>
            <a:ext cx="4383600" cy="4972800"/>
          </a:xfrm>
          <a:prstGeom prst="rect">
            <a:avLst/>
          </a:prstGeom>
        </p:spPr>
        <p:txBody>
          <a:bodyPr anchorCtr="0" anchor="t" bIns="0" lIns="0" spcFirstLastPara="1" rIns="0" wrap="square" tIns="0">
            <a:noAutofit/>
          </a:bodyPr>
          <a:lstStyle/>
          <a:p>
            <a:pPr indent="-196850" lvl="0" marL="342900" rtl="0" algn="l">
              <a:lnSpc>
                <a:spcPct val="100000"/>
              </a:lnSpc>
              <a:spcBef>
                <a:spcPts val="0"/>
              </a:spcBef>
              <a:spcAft>
                <a:spcPts val="0"/>
              </a:spcAft>
              <a:buSzPts val="1300"/>
              <a:buChar char="●"/>
            </a:pPr>
            <a:r>
              <a:rPr b="1" lang="en" sz="1300"/>
              <a:t>Landing</a:t>
            </a:r>
            <a:r>
              <a:rPr lang="en" sz="1300"/>
              <a:t> (bronze)</a:t>
            </a:r>
            <a:endParaRPr sz="1300"/>
          </a:p>
          <a:p>
            <a:pPr indent="-225425" lvl="1" marL="657225" rtl="0" algn="l">
              <a:lnSpc>
                <a:spcPct val="100000"/>
              </a:lnSpc>
              <a:spcBef>
                <a:spcPts val="300"/>
              </a:spcBef>
              <a:spcAft>
                <a:spcPts val="0"/>
              </a:spcAft>
              <a:buClr>
                <a:schemeClr val="dk1"/>
              </a:buClr>
              <a:buSzPts val="1300"/>
              <a:buChar char="●"/>
            </a:pPr>
            <a:r>
              <a:rPr lang="en" sz="1300"/>
              <a:t>Raw data in its original format (temporarily)</a:t>
            </a:r>
            <a:endParaRPr b="1" sz="1300"/>
          </a:p>
          <a:p>
            <a:pPr indent="-196850" lvl="0" marL="342900" marR="0" rtl="0" algn="l">
              <a:lnSpc>
                <a:spcPct val="100000"/>
              </a:lnSpc>
              <a:spcBef>
                <a:spcPts val="300"/>
              </a:spcBef>
              <a:spcAft>
                <a:spcPts val="0"/>
              </a:spcAft>
              <a:buSzPts val="1300"/>
              <a:buChar char="●"/>
            </a:pPr>
            <a:r>
              <a:rPr b="1" lang="en" sz="1300"/>
              <a:t>Ingestion</a:t>
            </a:r>
            <a:r>
              <a:rPr lang="en" sz="1300">
                <a:latin typeface="DM Sans Medium"/>
                <a:ea typeface="DM Sans Medium"/>
                <a:cs typeface="DM Sans Medium"/>
                <a:sym typeface="DM Sans Medium"/>
              </a:rPr>
              <a:t> (bronze)</a:t>
            </a:r>
            <a:endParaRPr sz="1300">
              <a:latin typeface="DM Sans Medium"/>
              <a:ea typeface="DM Sans Medium"/>
              <a:cs typeface="DM Sans Medium"/>
              <a:sym typeface="DM Sans Medium"/>
            </a:endParaRPr>
          </a:p>
          <a:p>
            <a:pPr indent="-225425" lvl="1" marL="657225" marR="0" rtl="0" algn="l">
              <a:lnSpc>
                <a:spcPct val="100000"/>
              </a:lnSpc>
              <a:spcBef>
                <a:spcPts val="300"/>
              </a:spcBef>
              <a:spcAft>
                <a:spcPts val="0"/>
              </a:spcAft>
              <a:buClr>
                <a:schemeClr val="dk1"/>
              </a:buClr>
              <a:buSzPts val="1300"/>
              <a:buChar char="●"/>
            </a:pPr>
            <a:r>
              <a:rPr lang="en" sz="1300"/>
              <a:t>Raw data converted to Delta (from Avro, CSV, parquet, XML, JSON format in Landing)</a:t>
            </a:r>
            <a:endParaRPr sz="1300"/>
          </a:p>
          <a:p>
            <a:pPr indent="-225425" lvl="1" marL="657225" marR="0" rtl="0" algn="l">
              <a:lnSpc>
                <a:spcPct val="100000"/>
              </a:lnSpc>
              <a:spcBef>
                <a:spcPts val="300"/>
              </a:spcBef>
              <a:spcAft>
                <a:spcPts val="0"/>
              </a:spcAft>
              <a:buClr>
                <a:schemeClr val="dk1"/>
              </a:buClr>
              <a:buSzPts val="1300"/>
              <a:buChar char="●"/>
            </a:pPr>
            <a:r>
              <a:rPr lang="en" sz="1300"/>
              <a:t>Verified data contract: schema (typically derived from the source), timeframe, …</a:t>
            </a:r>
            <a:endParaRPr sz="1300"/>
          </a:p>
          <a:p>
            <a:pPr indent="-225425" lvl="1" marL="657225" marR="0" rtl="0" algn="l">
              <a:lnSpc>
                <a:spcPct val="100000"/>
              </a:lnSpc>
              <a:spcBef>
                <a:spcPts val="300"/>
              </a:spcBef>
              <a:spcAft>
                <a:spcPts val="0"/>
              </a:spcAft>
              <a:buClr>
                <a:schemeClr val="dk1"/>
              </a:buClr>
              <a:buSzPts val="1300"/>
              <a:buChar char="●"/>
            </a:pPr>
            <a:r>
              <a:rPr lang="en" sz="1300"/>
              <a:t>Sometimes called Staging</a:t>
            </a:r>
            <a:endParaRPr sz="1300"/>
          </a:p>
          <a:p>
            <a:pPr indent="-196850" lvl="0" marL="342900" marR="0" rtl="0" algn="l">
              <a:lnSpc>
                <a:spcPct val="100000"/>
              </a:lnSpc>
              <a:spcBef>
                <a:spcPts val="300"/>
              </a:spcBef>
              <a:spcAft>
                <a:spcPts val="0"/>
              </a:spcAft>
              <a:buSzPts val="1300"/>
              <a:buChar char="●"/>
            </a:pPr>
            <a:r>
              <a:rPr b="1" lang="en" sz="1300"/>
              <a:t>Integration - Physical data model</a:t>
            </a:r>
            <a:r>
              <a:rPr lang="en" sz="1300"/>
              <a:t> (silver)</a:t>
            </a:r>
            <a:endParaRPr sz="1300"/>
          </a:p>
          <a:p>
            <a:pPr indent="-225425" lvl="1" marL="657225" marR="0" rtl="0" algn="l">
              <a:lnSpc>
                <a:spcPct val="100000"/>
              </a:lnSpc>
              <a:spcBef>
                <a:spcPts val="300"/>
              </a:spcBef>
              <a:spcAft>
                <a:spcPts val="0"/>
              </a:spcAft>
              <a:buClr>
                <a:schemeClr val="dk1"/>
              </a:buClr>
              <a:buSzPts val="1300"/>
              <a:buChar char="●"/>
            </a:pPr>
            <a:r>
              <a:rPr lang="en" sz="1300"/>
              <a:t>Detailed information covering multiple </a:t>
            </a:r>
            <a:r>
              <a:rPr lang="en" sz="1300"/>
              <a:t>business</a:t>
            </a:r>
            <a:r>
              <a:rPr lang="en" sz="1300"/>
              <a:t> </a:t>
            </a:r>
            <a:r>
              <a:rPr lang="en" sz="1300"/>
              <a:t>domains (including glossary and taxonomy)</a:t>
            </a:r>
            <a:endParaRPr sz="1300"/>
          </a:p>
          <a:p>
            <a:pPr indent="-225425" lvl="1" marL="657225" marR="0" rtl="0" algn="l">
              <a:lnSpc>
                <a:spcPct val="100000"/>
              </a:lnSpc>
              <a:spcBef>
                <a:spcPts val="300"/>
              </a:spcBef>
              <a:spcAft>
                <a:spcPts val="0"/>
              </a:spcAft>
              <a:buClr>
                <a:schemeClr val="dk1"/>
              </a:buClr>
              <a:buSzPts val="1300"/>
              <a:buChar char="●"/>
            </a:pPr>
            <a:r>
              <a:rPr lang="en" sz="1300"/>
              <a:t>Integrates all data sources</a:t>
            </a:r>
            <a:endParaRPr sz="1300"/>
          </a:p>
          <a:p>
            <a:pPr indent="-225425" lvl="1" marL="657225" marR="0" rtl="0" algn="l">
              <a:lnSpc>
                <a:spcPct val="100000"/>
              </a:lnSpc>
              <a:spcBef>
                <a:spcPts val="300"/>
              </a:spcBef>
              <a:spcAft>
                <a:spcPts val="0"/>
              </a:spcAft>
              <a:buClr>
                <a:schemeClr val="dk1"/>
              </a:buClr>
              <a:buSzPts val="1300"/>
              <a:buChar char="●"/>
            </a:pPr>
            <a:r>
              <a:rPr lang="en" sz="1300"/>
              <a:t>Does not necessarily use a dimensional model but feeds dimensional models.</a:t>
            </a:r>
            <a:endParaRPr sz="1300"/>
          </a:p>
          <a:p>
            <a:pPr indent="-196850" lvl="0" marL="342900" marR="0" rtl="0" algn="l">
              <a:lnSpc>
                <a:spcPct val="100000"/>
              </a:lnSpc>
              <a:spcBef>
                <a:spcPts val="300"/>
              </a:spcBef>
              <a:spcAft>
                <a:spcPts val="0"/>
              </a:spcAft>
              <a:buSzPts val="1300"/>
              <a:buChar char="●"/>
            </a:pPr>
            <a:r>
              <a:rPr b="1" lang="en" sz="1300"/>
              <a:t>Data Mart</a:t>
            </a:r>
            <a:r>
              <a:rPr lang="en" sz="1300"/>
              <a:t> (gold)</a:t>
            </a:r>
            <a:endParaRPr sz="1300"/>
          </a:p>
          <a:p>
            <a:pPr indent="-225425" lvl="1" marL="657225" marR="0" rtl="0" algn="l">
              <a:lnSpc>
                <a:spcPct val="100000"/>
              </a:lnSpc>
              <a:spcBef>
                <a:spcPts val="300"/>
              </a:spcBef>
              <a:spcAft>
                <a:spcPts val="0"/>
              </a:spcAft>
              <a:buClr>
                <a:schemeClr val="dk1"/>
              </a:buClr>
              <a:buSzPts val="1300"/>
              <a:buChar char="●"/>
            </a:pPr>
            <a:r>
              <a:rPr lang="en" sz="1300"/>
              <a:t>Subset of the Integrated layer, </a:t>
            </a:r>
            <a:r>
              <a:rPr lang="en" sz="1300"/>
              <a:t>sometimes filtered or aggregated data</a:t>
            </a:r>
            <a:endParaRPr sz="1300"/>
          </a:p>
          <a:p>
            <a:pPr indent="-225425" lvl="1" marL="657225" marR="0" rtl="0" algn="l">
              <a:lnSpc>
                <a:spcPct val="100000"/>
              </a:lnSpc>
              <a:spcBef>
                <a:spcPts val="300"/>
              </a:spcBef>
              <a:spcAft>
                <a:spcPts val="0"/>
              </a:spcAft>
              <a:buClr>
                <a:schemeClr val="dk1"/>
              </a:buClr>
              <a:buSzPts val="1300"/>
              <a:buChar char="●"/>
            </a:pPr>
            <a:r>
              <a:rPr lang="en" sz="1300"/>
              <a:t>Focus on dimensional modeling with star schema</a:t>
            </a:r>
            <a:endParaRPr sz="1300"/>
          </a:p>
          <a:p>
            <a:pPr indent="-225425" lvl="1" marL="657225" marR="0" rtl="0" algn="l">
              <a:lnSpc>
                <a:spcPct val="100000"/>
              </a:lnSpc>
              <a:spcBef>
                <a:spcPts val="300"/>
              </a:spcBef>
              <a:spcAft>
                <a:spcPts val="300"/>
              </a:spcAft>
              <a:buClr>
                <a:schemeClr val="dk1"/>
              </a:buClr>
              <a:buSzPts val="1300"/>
              <a:buChar char="●"/>
            </a:pPr>
            <a:r>
              <a:rPr lang="en" sz="1300"/>
              <a:t>Typically oriented to a specific line of </a:t>
            </a:r>
            <a:r>
              <a:rPr lang="en" sz="1300"/>
              <a:t>business </a:t>
            </a:r>
            <a:r>
              <a:rPr lang="en" sz="1300"/>
              <a:t>or team</a:t>
            </a:r>
            <a:endParaRPr sz="1300"/>
          </a:p>
        </p:txBody>
      </p:sp>
      <p:sp>
        <p:nvSpPr>
          <p:cNvPr id="1928" name="Google Shape;1928;p8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 Modeling: Dimensional Modeling for DWHs</a:t>
            </a:r>
            <a:endParaRPr sz="3600"/>
          </a:p>
        </p:txBody>
      </p:sp>
      <p:sp>
        <p:nvSpPr>
          <p:cNvPr id="1929" name="Google Shape;1929;p89"/>
          <p:cNvSpPr txBox="1"/>
          <p:nvPr>
            <p:ph idx="12" type="sldNum"/>
          </p:nvPr>
        </p:nvSpPr>
        <p:spPr>
          <a:xfrm>
            <a:off x="11097670" y="6320900"/>
            <a:ext cx="324300" cy="1866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930" name="Google Shape;1930;p89"/>
          <p:cNvSpPr/>
          <p:nvPr/>
        </p:nvSpPr>
        <p:spPr>
          <a:xfrm>
            <a:off x="9876650" y="1661400"/>
            <a:ext cx="1545300" cy="2334300"/>
          </a:xfrm>
          <a:prstGeom prst="rect">
            <a:avLst/>
          </a:prstGeom>
          <a:solidFill>
            <a:srgbClr val="FFE599">
              <a:alpha val="40220"/>
            </a:srgbClr>
          </a:solidFill>
          <a:ln>
            <a:noFill/>
          </a:ln>
        </p:spPr>
        <p:txBody>
          <a:bodyPr anchorCtr="0" anchor="b" bIns="45700" lIns="91425" spcFirstLastPara="1" rIns="91425" wrap="square" tIns="0">
            <a:noAutofit/>
          </a:bodyPr>
          <a:lstStyle/>
          <a:p>
            <a:pPr indent="0" lvl="0" marL="0" rtl="0" algn="ctr">
              <a:spcBef>
                <a:spcPts val="0"/>
              </a:spcBef>
              <a:spcAft>
                <a:spcPts val="0"/>
              </a:spcAft>
              <a:buNone/>
            </a:pPr>
            <a:r>
              <a:rPr i="1" lang="en" sz="1000">
                <a:solidFill>
                  <a:schemeClr val="accent1"/>
                </a:solidFill>
                <a:latin typeface="DM Sans Medium"/>
                <a:ea typeface="DM Sans Medium"/>
                <a:cs typeface="DM Sans Medium"/>
                <a:sym typeface="DM Sans Medium"/>
              </a:rPr>
              <a:t>gold</a:t>
            </a:r>
            <a:endParaRPr i="1" sz="1000">
              <a:solidFill>
                <a:schemeClr val="accent1"/>
              </a:solidFill>
              <a:latin typeface="DM Sans Medium"/>
              <a:ea typeface="DM Sans Medium"/>
              <a:cs typeface="DM Sans Medium"/>
              <a:sym typeface="DM Sans Medium"/>
            </a:endParaRPr>
          </a:p>
        </p:txBody>
      </p:sp>
      <p:sp>
        <p:nvSpPr>
          <p:cNvPr id="1931" name="Google Shape;1931;p89"/>
          <p:cNvSpPr/>
          <p:nvPr/>
        </p:nvSpPr>
        <p:spPr>
          <a:xfrm>
            <a:off x="6748675" y="1661768"/>
            <a:ext cx="2997000" cy="2334300"/>
          </a:xfrm>
          <a:prstGeom prst="rect">
            <a:avLst/>
          </a:prstGeom>
          <a:solidFill>
            <a:srgbClr val="C4CCD6">
              <a:alpha val="37430"/>
            </a:srgbClr>
          </a:solidFill>
          <a:ln>
            <a:noFill/>
          </a:ln>
        </p:spPr>
        <p:txBody>
          <a:bodyPr anchorCtr="0" anchor="b" bIns="45700" lIns="91425" spcFirstLastPara="1" rIns="91425" wrap="square" tIns="0">
            <a:noAutofit/>
          </a:bodyPr>
          <a:lstStyle/>
          <a:p>
            <a:pPr indent="0" lvl="0" marL="0" rtl="0" algn="ctr">
              <a:spcBef>
                <a:spcPts val="0"/>
              </a:spcBef>
              <a:spcAft>
                <a:spcPts val="0"/>
              </a:spcAft>
              <a:buNone/>
            </a:pPr>
            <a:r>
              <a:rPr i="1" lang="en" sz="1000">
                <a:solidFill>
                  <a:schemeClr val="accent1"/>
                </a:solidFill>
                <a:latin typeface="DM Sans Medium"/>
                <a:ea typeface="DM Sans Medium"/>
                <a:cs typeface="DM Sans Medium"/>
                <a:sym typeface="DM Sans Medium"/>
              </a:rPr>
              <a:t>silver</a:t>
            </a:r>
            <a:endParaRPr i="1" sz="1000">
              <a:solidFill>
                <a:schemeClr val="accent1"/>
              </a:solidFill>
              <a:latin typeface="DM Sans Medium"/>
              <a:ea typeface="DM Sans Medium"/>
              <a:cs typeface="DM Sans Medium"/>
              <a:sym typeface="DM Sans Medium"/>
            </a:endParaRPr>
          </a:p>
        </p:txBody>
      </p:sp>
      <p:grpSp>
        <p:nvGrpSpPr>
          <p:cNvPr id="1932" name="Google Shape;1932;p89"/>
          <p:cNvGrpSpPr/>
          <p:nvPr/>
        </p:nvGrpSpPr>
        <p:grpSpPr>
          <a:xfrm>
            <a:off x="10034344" y="1770533"/>
            <a:ext cx="1262525" cy="1952692"/>
            <a:chOff x="8924709" y="4740375"/>
            <a:chExt cx="1137000" cy="451135"/>
          </a:xfrm>
        </p:grpSpPr>
        <p:sp>
          <p:nvSpPr>
            <p:cNvPr id="1933" name="Google Shape;1933;p89"/>
            <p:cNvSpPr/>
            <p:nvPr/>
          </p:nvSpPr>
          <p:spPr>
            <a:xfrm>
              <a:off x="8924709" y="4742409"/>
              <a:ext cx="1137000" cy="449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rtl="0" algn="ctr">
                <a:lnSpc>
                  <a:spcPct val="85000"/>
                </a:lnSpc>
                <a:spcBef>
                  <a:spcPts val="0"/>
                </a:spcBef>
                <a:spcAft>
                  <a:spcPts val="0"/>
                </a:spcAft>
                <a:buNone/>
              </a:pPr>
              <a:r>
                <a:rPr lang="en">
                  <a:solidFill>
                    <a:schemeClr val="accent1"/>
                  </a:solidFill>
                  <a:latin typeface="DM Sans Medium"/>
                  <a:ea typeface="DM Sans Medium"/>
                  <a:cs typeface="DM Sans Medium"/>
                  <a:sym typeface="DM Sans Medium"/>
                </a:rPr>
                <a:t>Presentation</a:t>
              </a:r>
              <a:endParaRPr>
                <a:solidFill>
                  <a:schemeClr val="accent1"/>
                </a:solidFill>
                <a:latin typeface="DM Sans Medium"/>
                <a:ea typeface="DM Sans Medium"/>
                <a:cs typeface="DM Sans Medium"/>
                <a:sym typeface="DM Sans Medium"/>
              </a:endParaRPr>
            </a:p>
          </p:txBody>
        </p:sp>
        <p:grpSp>
          <p:nvGrpSpPr>
            <p:cNvPr id="1934" name="Google Shape;1934;p89"/>
            <p:cNvGrpSpPr/>
            <p:nvPr/>
          </p:nvGrpSpPr>
          <p:grpSpPr>
            <a:xfrm>
              <a:off x="9280338" y="4740375"/>
              <a:ext cx="441300" cy="128700"/>
              <a:chOff x="6026857" y="4740375"/>
              <a:chExt cx="441300" cy="128700"/>
            </a:xfrm>
          </p:grpSpPr>
          <p:sp>
            <p:nvSpPr>
              <p:cNvPr id="1935" name="Google Shape;1935;p89"/>
              <p:cNvSpPr/>
              <p:nvPr/>
            </p:nvSpPr>
            <p:spPr>
              <a:xfrm>
                <a:off x="6026857" y="4740375"/>
                <a:ext cx="136500" cy="128700"/>
              </a:xfrm>
              <a:prstGeom prst="rect">
                <a:avLst/>
              </a:prstGeom>
              <a:noFill/>
              <a:ln>
                <a:noFill/>
              </a:ln>
            </p:spPr>
            <p:txBody>
              <a:bodyPr anchorCtr="0" anchor="t" bIns="0" lIns="0" spcFirstLastPara="1" rIns="0" wrap="square" tIns="45700">
                <a:noAutofit/>
              </a:bodyPr>
              <a:lstStyle/>
              <a:p>
                <a:pPr indent="0" lvl="0" marL="0" rtl="0" algn="l">
                  <a:lnSpc>
                    <a:spcPct val="85000"/>
                  </a:lnSpc>
                  <a:spcBef>
                    <a:spcPts val="0"/>
                  </a:spcBef>
                  <a:spcAft>
                    <a:spcPts val="0"/>
                  </a:spcAft>
                  <a:buNone/>
                </a:pPr>
                <a:r>
                  <a:t/>
                </a:r>
                <a:endParaRPr>
                  <a:latin typeface="DM Sans Medium"/>
                  <a:ea typeface="DM Sans Medium"/>
                  <a:cs typeface="DM Sans Medium"/>
                  <a:sym typeface="DM Sans Medium"/>
                </a:endParaRPr>
              </a:p>
            </p:txBody>
          </p:sp>
          <p:sp>
            <p:nvSpPr>
              <p:cNvPr id="1936" name="Google Shape;1936;p89"/>
              <p:cNvSpPr/>
              <p:nvPr/>
            </p:nvSpPr>
            <p:spPr>
              <a:xfrm>
                <a:off x="6331657" y="4740375"/>
                <a:ext cx="136500" cy="128700"/>
              </a:xfrm>
              <a:prstGeom prst="rect">
                <a:avLst/>
              </a:prstGeom>
              <a:noFill/>
              <a:ln>
                <a:noFill/>
              </a:ln>
            </p:spPr>
            <p:txBody>
              <a:bodyPr anchorCtr="0" anchor="t" bIns="0" lIns="0" spcFirstLastPara="1" rIns="0" wrap="square" tIns="45700">
                <a:noAutofit/>
              </a:bodyPr>
              <a:lstStyle/>
              <a:p>
                <a:pPr indent="0" lvl="0" marL="0" rtl="0" algn="l">
                  <a:lnSpc>
                    <a:spcPct val="85000"/>
                  </a:lnSpc>
                  <a:spcBef>
                    <a:spcPts val="0"/>
                  </a:spcBef>
                  <a:spcAft>
                    <a:spcPts val="0"/>
                  </a:spcAft>
                  <a:buNone/>
                </a:pPr>
                <a:r>
                  <a:t/>
                </a:r>
                <a:endParaRPr>
                  <a:latin typeface="DM Sans Medium"/>
                  <a:ea typeface="DM Sans Medium"/>
                  <a:cs typeface="DM Sans Medium"/>
                  <a:sym typeface="DM Sans Medium"/>
                </a:endParaRPr>
              </a:p>
            </p:txBody>
          </p:sp>
        </p:grpSp>
      </p:grpSp>
      <p:sp>
        <p:nvSpPr>
          <p:cNvPr id="1937" name="Google Shape;1937;p89"/>
          <p:cNvSpPr/>
          <p:nvPr/>
        </p:nvSpPr>
        <p:spPr>
          <a:xfrm>
            <a:off x="6865302" y="1772184"/>
            <a:ext cx="2785500" cy="1952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Integration</a:t>
            </a:r>
            <a:endParaRPr sz="1000">
              <a:solidFill>
                <a:schemeClr val="accent1"/>
              </a:solidFill>
              <a:latin typeface="DM Sans Medium"/>
              <a:ea typeface="DM Sans Medium"/>
              <a:cs typeface="DM Sans Medium"/>
              <a:sym typeface="DM Sans Medium"/>
            </a:endParaRPr>
          </a:p>
        </p:txBody>
      </p:sp>
      <p:grpSp>
        <p:nvGrpSpPr>
          <p:cNvPr id="1938" name="Google Shape;1938;p89"/>
          <p:cNvGrpSpPr/>
          <p:nvPr/>
        </p:nvGrpSpPr>
        <p:grpSpPr>
          <a:xfrm>
            <a:off x="10135835" y="2161904"/>
            <a:ext cx="1059570" cy="677018"/>
            <a:chOff x="8924709" y="4740375"/>
            <a:chExt cx="1137000" cy="451135"/>
          </a:xfrm>
        </p:grpSpPr>
        <p:sp>
          <p:nvSpPr>
            <p:cNvPr id="1939" name="Google Shape;1939;p89"/>
            <p:cNvSpPr/>
            <p:nvPr/>
          </p:nvSpPr>
          <p:spPr>
            <a:xfrm>
              <a:off x="8924709" y="4742409"/>
              <a:ext cx="1137000" cy="449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91425" lIns="0" spcFirstLastPara="1" rIns="0" wrap="square" tIns="45700">
              <a:noAutofit/>
            </a:bodyPr>
            <a:lstStyle/>
            <a:p>
              <a:pPr indent="0" lvl="0" marL="0" rtl="0" algn="ctr">
                <a:lnSpc>
                  <a:spcPct val="85000"/>
                </a:lnSpc>
                <a:spcBef>
                  <a:spcPts val="0"/>
                </a:spcBef>
                <a:spcAft>
                  <a:spcPts val="0"/>
                </a:spcAft>
                <a:buNone/>
              </a:pPr>
              <a:r>
                <a:rPr lang="en" sz="1200">
                  <a:solidFill>
                    <a:schemeClr val="accent1"/>
                  </a:solidFill>
                  <a:latin typeface="DM Sans"/>
                  <a:ea typeface="DM Sans"/>
                  <a:cs typeface="DM Sans"/>
                  <a:sym typeface="DM Sans"/>
                </a:rPr>
                <a:t>Data Mart</a:t>
              </a:r>
              <a:endParaRPr sz="1200">
                <a:solidFill>
                  <a:schemeClr val="accent1"/>
                </a:solidFill>
                <a:latin typeface="DM Sans"/>
                <a:ea typeface="DM Sans"/>
                <a:cs typeface="DM Sans"/>
                <a:sym typeface="DM Sans"/>
              </a:endParaRPr>
            </a:p>
          </p:txBody>
        </p:sp>
        <p:sp>
          <p:nvSpPr>
            <p:cNvPr id="1940" name="Google Shape;1940;p89"/>
            <p:cNvSpPr/>
            <p:nvPr/>
          </p:nvSpPr>
          <p:spPr>
            <a:xfrm>
              <a:off x="9585138" y="4740375"/>
              <a:ext cx="136500" cy="128700"/>
            </a:xfrm>
            <a:prstGeom prst="rect">
              <a:avLst/>
            </a:prstGeom>
            <a:noFill/>
            <a:ln>
              <a:noFill/>
            </a:ln>
          </p:spPr>
          <p:txBody>
            <a:bodyPr anchorCtr="0" anchor="t" bIns="91425" lIns="0" spcFirstLastPara="1" rIns="0" wrap="square" tIns="45700">
              <a:noAutofit/>
            </a:bodyPr>
            <a:lstStyle/>
            <a:p>
              <a:pPr indent="0" lvl="0" marL="0" rtl="0" algn="l">
                <a:lnSpc>
                  <a:spcPct val="85000"/>
                </a:lnSpc>
                <a:spcBef>
                  <a:spcPts val="0"/>
                </a:spcBef>
                <a:spcAft>
                  <a:spcPts val="0"/>
                </a:spcAft>
                <a:buNone/>
              </a:pPr>
              <a:r>
                <a:t/>
              </a:r>
              <a:endParaRPr sz="1200"/>
            </a:p>
          </p:txBody>
        </p:sp>
      </p:grpSp>
      <p:pic>
        <p:nvPicPr>
          <p:cNvPr id="1941" name="Google Shape;1941;p89"/>
          <p:cNvPicPr preferRelativeResize="0"/>
          <p:nvPr/>
        </p:nvPicPr>
        <p:blipFill rotWithShape="1">
          <a:blip r:embed="rId3">
            <a:alphaModFix/>
          </a:blip>
          <a:srcRect b="17850" l="0" r="0" t="0"/>
          <a:stretch/>
        </p:blipFill>
        <p:spPr>
          <a:xfrm>
            <a:off x="7757835" y="3764759"/>
            <a:ext cx="324301" cy="206938"/>
          </a:xfrm>
          <a:prstGeom prst="rect">
            <a:avLst/>
          </a:prstGeom>
          <a:noFill/>
          <a:ln>
            <a:noFill/>
          </a:ln>
        </p:spPr>
      </p:pic>
      <p:pic>
        <p:nvPicPr>
          <p:cNvPr id="1942" name="Google Shape;1942;p89"/>
          <p:cNvPicPr preferRelativeResize="0"/>
          <p:nvPr/>
        </p:nvPicPr>
        <p:blipFill rotWithShape="1">
          <a:blip r:embed="rId3">
            <a:alphaModFix/>
          </a:blip>
          <a:srcRect b="17850" l="0" r="0" t="0"/>
          <a:stretch/>
        </p:blipFill>
        <p:spPr>
          <a:xfrm>
            <a:off x="10188672" y="3764759"/>
            <a:ext cx="324301" cy="206938"/>
          </a:xfrm>
          <a:prstGeom prst="rect">
            <a:avLst/>
          </a:prstGeom>
          <a:noFill/>
          <a:ln>
            <a:noFill/>
          </a:ln>
        </p:spPr>
      </p:pic>
      <p:sp>
        <p:nvSpPr>
          <p:cNvPr id="1943" name="Google Shape;1943;p89"/>
          <p:cNvSpPr/>
          <p:nvPr/>
        </p:nvSpPr>
        <p:spPr>
          <a:xfrm>
            <a:off x="9713788" y="2672697"/>
            <a:ext cx="1986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89"/>
          <p:cNvSpPr/>
          <p:nvPr/>
        </p:nvSpPr>
        <p:spPr>
          <a:xfrm>
            <a:off x="9720125" y="5049141"/>
            <a:ext cx="525300" cy="247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Dim</a:t>
            </a:r>
            <a:endParaRPr sz="1000">
              <a:solidFill>
                <a:schemeClr val="accent1"/>
              </a:solidFill>
              <a:latin typeface="DM Sans"/>
              <a:ea typeface="DM Sans"/>
              <a:cs typeface="DM Sans"/>
              <a:sym typeface="DM Sans"/>
            </a:endParaRPr>
          </a:p>
        </p:txBody>
      </p:sp>
      <p:sp>
        <p:nvSpPr>
          <p:cNvPr id="1945" name="Google Shape;1945;p89"/>
          <p:cNvSpPr/>
          <p:nvPr/>
        </p:nvSpPr>
        <p:spPr>
          <a:xfrm>
            <a:off x="11081075" y="5049141"/>
            <a:ext cx="525300" cy="247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Dim</a:t>
            </a:r>
            <a:endParaRPr sz="1000">
              <a:solidFill>
                <a:schemeClr val="accent1"/>
              </a:solidFill>
              <a:latin typeface="DM Sans"/>
              <a:ea typeface="DM Sans"/>
              <a:cs typeface="DM Sans"/>
              <a:sym typeface="DM Sans"/>
            </a:endParaRPr>
          </a:p>
        </p:txBody>
      </p:sp>
      <p:sp>
        <p:nvSpPr>
          <p:cNvPr id="1946" name="Google Shape;1946;p89"/>
          <p:cNvSpPr/>
          <p:nvPr/>
        </p:nvSpPr>
        <p:spPr>
          <a:xfrm>
            <a:off x="10406306" y="5620291"/>
            <a:ext cx="525300" cy="247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Dim</a:t>
            </a:r>
            <a:endParaRPr sz="1000">
              <a:solidFill>
                <a:schemeClr val="accent1"/>
              </a:solidFill>
              <a:latin typeface="DM Sans"/>
              <a:ea typeface="DM Sans"/>
              <a:cs typeface="DM Sans"/>
              <a:sym typeface="DM Sans"/>
            </a:endParaRPr>
          </a:p>
        </p:txBody>
      </p:sp>
      <p:sp>
        <p:nvSpPr>
          <p:cNvPr id="1947" name="Google Shape;1947;p89"/>
          <p:cNvSpPr/>
          <p:nvPr/>
        </p:nvSpPr>
        <p:spPr>
          <a:xfrm>
            <a:off x="10406306" y="5049141"/>
            <a:ext cx="525300" cy="247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Fact</a:t>
            </a:r>
            <a:endParaRPr sz="1000">
              <a:solidFill>
                <a:schemeClr val="accent1"/>
              </a:solidFill>
              <a:latin typeface="DM Sans"/>
              <a:ea typeface="DM Sans"/>
              <a:cs typeface="DM Sans"/>
              <a:sym typeface="DM Sans"/>
            </a:endParaRPr>
          </a:p>
        </p:txBody>
      </p:sp>
      <p:cxnSp>
        <p:nvCxnSpPr>
          <p:cNvPr id="1948" name="Google Shape;1948;p89"/>
          <p:cNvCxnSpPr>
            <a:stCxn id="1947" idx="2"/>
            <a:endCxn id="1946" idx="0"/>
          </p:cNvCxnSpPr>
          <p:nvPr/>
        </p:nvCxnSpPr>
        <p:spPr>
          <a:xfrm>
            <a:off x="10668956" y="5296941"/>
            <a:ext cx="0" cy="323400"/>
          </a:xfrm>
          <a:prstGeom prst="straightConnector1">
            <a:avLst/>
          </a:prstGeom>
          <a:noFill/>
          <a:ln cap="flat" cmpd="sng" w="9525">
            <a:solidFill>
              <a:schemeClr val="accent5"/>
            </a:solidFill>
            <a:prstDash val="solid"/>
            <a:round/>
            <a:headEnd len="med" w="med" type="none"/>
            <a:tailEnd len="med" w="med" type="none"/>
          </a:ln>
        </p:spPr>
      </p:cxnSp>
      <p:cxnSp>
        <p:nvCxnSpPr>
          <p:cNvPr id="1949" name="Google Shape;1949;p89"/>
          <p:cNvCxnSpPr>
            <a:stCxn id="1947" idx="1"/>
            <a:endCxn id="1944" idx="3"/>
          </p:cNvCxnSpPr>
          <p:nvPr/>
        </p:nvCxnSpPr>
        <p:spPr>
          <a:xfrm rot="10800000">
            <a:off x="10245506" y="5173041"/>
            <a:ext cx="160800" cy="0"/>
          </a:xfrm>
          <a:prstGeom prst="straightConnector1">
            <a:avLst/>
          </a:prstGeom>
          <a:noFill/>
          <a:ln cap="flat" cmpd="sng" w="9525">
            <a:solidFill>
              <a:schemeClr val="accent5"/>
            </a:solidFill>
            <a:prstDash val="solid"/>
            <a:round/>
            <a:headEnd len="med" w="med" type="none"/>
            <a:tailEnd len="med" w="med" type="none"/>
          </a:ln>
        </p:spPr>
      </p:cxnSp>
      <p:cxnSp>
        <p:nvCxnSpPr>
          <p:cNvPr id="1950" name="Google Shape;1950;p89"/>
          <p:cNvCxnSpPr>
            <a:stCxn id="1945" idx="1"/>
            <a:endCxn id="1947" idx="3"/>
          </p:cNvCxnSpPr>
          <p:nvPr/>
        </p:nvCxnSpPr>
        <p:spPr>
          <a:xfrm rot="10800000">
            <a:off x="10931675" y="5173041"/>
            <a:ext cx="149400" cy="0"/>
          </a:xfrm>
          <a:prstGeom prst="straightConnector1">
            <a:avLst/>
          </a:prstGeom>
          <a:noFill/>
          <a:ln cap="flat" cmpd="sng" w="9525">
            <a:solidFill>
              <a:schemeClr val="accent5"/>
            </a:solidFill>
            <a:prstDash val="solid"/>
            <a:round/>
            <a:headEnd len="med" w="med" type="none"/>
            <a:tailEnd len="med" w="med" type="none"/>
          </a:ln>
        </p:spPr>
      </p:cxnSp>
      <p:sp>
        <p:nvSpPr>
          <p:cNvPr id="1951" name="Google Shape;1951;p89"/>
          <p:cNvSpPr txBox="1"/>
          <p:nvPr/>
        </p:nvSpPr>
        <p:spPr>
          <a:xfrm>
            <a:off x="9545235" y="5227313"/>
            <a:ext cx="875100" cy="33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1000">
                <a:solidFill>
                  <a:schemeClr val="accent1"/>
                </a:solidFill>
                <a:latin typeface="DM Sans"/>
                <a:ea typeface="DM Sans"/>
                <a:cs typeface="DM Sans"/>
                <a:sym typeface="DM Sans"/>
              </a:rPr>
              <a:t>Customer</a:t>
            </a:r>
            <a:endParaRPr b="1" i="1" sz="1000"/>
          </a:p>
        </p:txBody>
      </p:sp>
      <p:sp>
        <p:nvSpPr>
          <p:cNvPr id="1952" name="Google Shape;1952;p89"/>
          <p:cNvSpPr txBox="1"/>
          <p:nvPr/>
        </p:nvSpPr>
        <p:spPr>
          <a:xfrm>
            <a:off x="10917584" y="5227313"/>
            <a:ext cx="875100" cy="33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1000">
                <a:solidFill>
                  <a:schemeClr val="accent1"/>
                </a:solidFill>
                <a:latin typeface="DM Sans"/>
                <a:ea typeface="DM Sans"/>
                <a:cs typeface="DM Sans"/>
                <a:sym typeface="DM Sans"/>
              </a:rPr>
              <a:t>Product</a:t>
            </a:r>
            <a:endParaRPr b="1" i="1" sz="1000"/>
          </a:p>
        </p:txBody>
      </p:sp>
      <p:sp>
        <p:nvSpPr>
          <p:cNvPr id="1953" name="Google Shape;1953;p89"/>
          <p:cNvSpPr txBox="1"/>
          <p:nvPr/>
        </p:nvSpPr>
        <p:spPr>
          <a:xfrm>
            <a:off x="10239197" y="5806766"/>
            <a:ext cx="875100" cy="33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1000">
                <a:solidFill>
                  <a:schemeClr val="accent1"/>
                </a:solidFill>
                <a:latin typeface="DM Sans"/>
                <a:ea typeface="DM Sans"/>
                <a:cs typeface="DM Sans"/>
                <a:sym typeface="DM Sans"/>
              </a:rPr>
              <a:t>Time</a:t>
            </a:r>
            <a:endParaRPr b="1" i="1" sz="1000"/>
          </a:p>
        </p:txBody>
      </p:sp>
      <p:sp>
        <p:nvSpPr>
          <p:cNvPr id="1954" name="Google Shape;1954;p89"/>
          <p:cNvSpPr txBox="1"/>
          <p:nvPr/>
        </p:nvSpPr>
        <p:spPr>
          <a:xfrm>
            <a:off x="10218125" y="4771813"/>
            <a:ext cx="875100" cy="33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1000">
                <a:solidFill>
                  <a:schemeClr val="accent1"/>
                </a:solidFill>
                <a:latin typeface="DM Sans"/>
                <a:ea typeface="DM Sans"/>
                <a:cs typeface="DM Sans"/>
                <a:sym typeface="DM Sans"/>
              </a:rPr>
              <a:t>Order</a:t>
            </a:r>
            <a:endParaRPr b="1" i="1" sz="1000"/>
          </a:p>
        </p:txBody>
      </p:sp>
      <p:sp>
        <p:nvSpPr>
          <p:cNvPr id="1955" name="Google Shape;1955;p89"/>
          <p:cNvSpPr/>
          <p:nvPr/>
        </p:nvSpPr>
        <p:spPr>
          <a:xfrm>
            <a:off x="10397588" y="2427484"/>
            <a:ext cx="525300" cy="3387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Dim. Model</a:t>
            </a:r>
            <a:endParaRPr sz="1000">
              <a:solidFill>
                <a:schemeClr val="accent1"/>
              </a:solidFill>
              <a:latin typeface="DM Sans"/>
              <a:ea typeface="DM Sans"/>
              <a:cs typeface="DM Sans"/>
              <a:sym typeface="DM Sans"/>
            </a:endParaRPr>
          </a:p>
        </p:txBody>
      </p:sp>
      <p:grpSp>
        <p:nvGrpSpPr>
          <p:cNvPr id="1956" name="Google Shape;1956;p89"/>
          <p:cNvGrpSpPr/>
          <p:nvPr/>
        </p:nvGrpSpPr>
        <p:grpSpPr>
          <a:xfrm>
            <a:off x="10135835" y="2956375"/>
            <a:ext cx="1059570" cy="677018"/>
            <a:chOff x="8924709" y="4740375"/>
            <a:chExt cx="1137000" cy="451135"/>
          </a:xfrm>
        </p:grpSpPr>
        <p:sp>
          <p:nvSpPr>
            <p:cNvPr id="1957" name="Google Shape;1957;p89"/>
            <p:cNvSpPr/>
            <p:nvPr/>
          </p:nvSpPr>
          <p:spPr>
            <a:xfrm>
              <a:off x="8924709" y="4742409"/>
              <a:ext cx="1137000" cy="449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91425" lIns="0" spcFirstLastPara="1" rIns="0" wrap="square" tIns="45700">
              <a:noAutofit/>
            </a:bodyPr>
            <a:lstStyle/>
            <a:p>
              <a:pPr indent="0" lvl="0" marL="0" rtl="0" algn="ctr">
                <a:lnSpc>
                  <a:spcPct val="85000"/>
                </a:lnSpc>
                <a:spcBef>
                  <a:spcPts val="0"/>
                </a:spcBef>
                <a:spcAft>
                  <a:spcPts val="0"/>
                </a:spcAft>
                <a:buNone/>
              </a:pPr>
              <a:r>
                <a:rPr lang="en" sz="1200">
                  <a:solidFill>
                    <a:schemeClr val="accent1"/>
                  </a:solidFill>
                  <a:latin typeface="DM Sans"/>
                  <a:ea typeface="DM Sans"/>
                  <a:cs typeface="DM Sans"/>
                  <a:sym typeface="DM Sans"/>
                </a:rPr>
                <a:t>Data Mart</a:t>
              </a:r>
              <a:endParaRPr sz="1200">
                <a:solidFill>
                  <a:schemeClr val="accent1"/>
                </a:solidFill>
                <a:latin typeface="DM Sans"/>
                <a:ea typeface="DM Sans"/>
                <a:cs typeface="DM Sans"/>
                <a:sym typeface="DM Sans"/>
              </a:endParaRPr>
            </a:p>
          </p:txBody>
        </p:sp>
        <p:sp>
          <p:nvSpPr>
            <p:cNvPr id="1958" name="Google Shape;1958;p89"/>
            <p:cNvSpPr/>
            <p:nvPr/>
          </p:nvSpPr>
          <p:spPr>
            <a:xfrm>
              <a:off x="9585138" y="4740375"/>
              <a:ext cx="136500" cy="128700"/>
            </a:xfrm>
            <a:prstGeom prst="rect">
              <a:avLst/>
            </a:prstGeom>
            <a:noFill/>
            <a:ln>
              <a:noFill/>
            </a:ln>
          </p:spPr>
          <p:txBody>
            <a:bodyPr anchorCtr="0" anchor="t" bIns="91425" lIns="0" spcFirstLastPara="1" rIns="0" wrap="square" tIns="45700">
              <a:noAutofit/>
            </a:bodyPr>
            <a:lstStyle/>
            <a:p>
              <a:pPr indent="0" lvl="0" marL="0" rtl="0" algn="l">
                <a:lnSpc>
                  <a:spcPct val="85000"/>
                </a:lnSpc>
                <a:spcBef>
                  <a:spcPts val="0"/>
                </a:spcBef>
                <a:spcAft>
                  <a:spcPts val="0"/>
                </a:spcAft>
                <a:buNone/>
              </a:pPr>
              <a:r>
                <a:t/>
              </a:r>
              <a:endParaRPr sz="1200"/>
            </a:p>
          </p:txBody>
        </p:sp>
      </p:grpSp>
      <p:sp>
        <p:nvSpPr>
          <p:cNvPr id="1959" name="Google Shape;1959;p89"/>
          <p:cNvSpPr/>
          <p:nvPr/>
        </p:nvSpPr>
        <p:spPr>
          <a:xfrm>
            <a:off x="10397588" y="3218636"/>
            <a:ext cx="525300" cy="3387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Dim. Model</a:t>
            </a:r>
            <a:endParaRPr sz="1000">
              <a:solidFill>
                <a:schemeClr val="accent1"/>
              </a:solidFill>
              <a:latin typeface="DM Sans"/>
              <a:ea typeface="DM Sans"/>
              <a:cs typeface="DM Sans"/>
              <a:sym typeface="DM Sans"/>
            </a:endParaRPr>
          </a:p>
        </p:txBody>
      </p:sp>
      <p:sp>
        <p:nvSpPr>
          <p:cNvPr id="1960" name="Google Shape;1960;p89"/>
          <p:cNvSpPr txBox="1"/>
          <p:nvPr/>
        </p:nvSpPr>
        <p:spPr>
          <a:xfrm>
            <a:off x="9286519" y="4467025"/>
            <a:ext cx="26196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Dimensional model (star schema)</a:t>
            </a:r>
            <a:endParaRPr sz="1200">
              <a:latin typeface="DM Sans Medium"/>
              <a:ea typeface="DM Sans Medium"/>
              <a:cs typeface="DM Sans Medium"/>
              <a:sym typeface="DM Sans Medium"/>
            </a:endParaRPr>
          </a:p>
        </p:txBody>
      </p:sp>
      <p:sp>
        <p:nvSpPr>
          <p:cNvPr id="1961" name="Google Shape;1961;p89"/>
          <p:cNvSpPr/>
          <p:nvPr/>
        </p:nvSpPr>
        <p:spPr>
          <a:xfrm>
            <a:off x="7197551" y="3171502"/>
            <a:ext cx="2115900" cy="3429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a:ea typeface="DM Sans"/>
                <a:cs typeface="DM Sans"/>
                <a:sym typeface="DM Sans"/>
              </a:rPr>
              <a:t>Physical Data Model</a:t>
            </a:r>
            <a:endParaRPr sz="1200">
              <a:solidFill>
                <a:schemeClr val="accent1"/>
              </a:solidFill>
              <a:latin typeface="DM Sans"/>
              <a:ea typeface="DM Sans"/>
              <a:cs typeface="DM Sans"/>
              <a:sym typeface="DM Sans"/>
            </a:endParaRPr>
          </a:p>
        </p:txBody>
      </p:sp>
      <p:sp>
        <p:nvSpPr>
          <p:cNvPr id="1962" name="Google Shape;1962;p89"/>
          <p:cNvSpPr/>
          <p:nvPr/>
        </p:nvSpPr>
        <p:spPr>
          <a:xfrm>
            <a:off x="7197551" y="2749900"/>
            <a:ext cx="2115900" cy="342900"/>
          </a:xfrm>
          <a:prstGeom prst="roundRect">
            <a:avLst>
              <a:gd fmla="val 16667" name="adj"/>
            </a:avLst>
          </a:prstGeom>
          <a:solidFill>
            <a:srgbClr val="FFFFFF"/>
          </a:solidFill>
          <a:ln cap="flat" cmpd="sng" w="9525">
            <a:solidFill>
              <a:schemeClr val="accent1"/>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a:ea typeface="DM Sans"/>
                <a:cs typeface="DM Sans"/>
                <a:sym typeface="DM Sans"/>
              </a:rPr>
              <a:t>Logical Data Model (3NF*)</a:t>
            </a:r>
            <a:endParaRPr sz="1200">
              <a:solidFill>
                <a:schemeClr val="accent1"/>
              </a:solidFill>
              <a:latin typeface="DM Sans"/>
              <a:ea typeface="DM Sans"/>
              <a:cs typeface="DM Sans"/>
              <a:sym typeface="DM Sans"/>
            </a:endParaRPr>
          </a:p>
        </p:txBody>
      </p:sp>
      <p:sp>
        <p:nvSpPr>
          <p:cNvPr id="1963" name="Google Shape;1963;p89"/>
          <p:cNvSpPr/>
          <p:nvPr/>
        </p:nvSpPr>
        <p:spPr>
          <a:xfrm>
            <a:off x="7197551" y="2328975"/>
            <a:ext cx="2115900" cy="342900"/>
          </a:xfrm>
          <a:prstGeom prst="roundRect">
            <a:avLst>
              <a:gd fmla="val 16667" name="adj"/>
            </a:avLst>
          </a:prstGeom>
          <a:solidFill>
            <a:srgbClr val="FFFFFF"/>
          </a:solidFill>
          <a:ln cap="flat" cmpd="sng" w="9525">
            <a:solidFill>
              <a:schemeClr val="accent1"/>
            </a:solidFill>
            <a:prstDash val="dot"/>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accent1"/>
                </a:solidFill>
                <a:latin typeface="DM Sans"/>
                <a:ea typeface="DM Sans"/>
                <a:cs typeface="DM Sans"/>
                <a:sym typeface="DM Sans"/>
              </a:rPr>
              <a:t>Business Information Model</a:t>
            </a:r>
            <a:endParaRPr sz="1200">
              <a:solidFill>
                <a:schemeClr val="accent1"/>
              </a:solidFill>
              <a:latin typeface="DM Sans"/>
              <a:ea typeface="DM Sans"/>
              <a:cs typeface="DM Sans"/>
              <a:sym typeface="DM Sans"/>
            </a:endParaRPr>
          </a:p>
        </p:txBody>
      </p:sp>
      <p:cxnSp>
        <p:nvCxnSpPr>
          <p:cNvPr id="1964" name="Google Shape;1964;p89"/>
          <p:cNvCxnSpPr>
            <a:stCxn id="1963" idx="3"/>
            <a:endCxn id="1962" idx="3"/>
          </p:cNvCxnSpPr>
          <p:nvPr/>
        </p:nvCxnSpPr>
        <p:spPr>
          <a:xfrm>
            <a:off x="9313451" y="2500425"/>
            <a:ext cx="600" cy="420900"/>
          </a:xfrm>
          <a:prstGeom prst="curvedConnector3">
            <a:avLst>
              <a:gd fmla="val 39687500" name="adj1"/>
            </a:avLst>
          </a:prstGeom>
          <a:noFill/>
          <a:ln cap="flat" cmpd="sng" w="9525">
            <a:solidFill>
              <a:schemeClr val="accent1"/>
            </a:solidFill>
            <a:prstDash val="dash"/>
            <a:round/>
            <a:headEnd len="sm" w="sm" type="none"/>
            <a:tailEnd len="sm" w="sm" type="triangle"/>
          </a:ln>
        </p:spPr>
      </p:cxnSp>
      <p:cxnSp>
        <p:nvCxnSpPr>
          <p:cNvPr id="1965" name="Google Shape;1965;p89"/>
          <p:cNvCxnSpPr>
            <a:stCxn id="1962" idx="1"/>
            <a:endCxn id="1961" idx="1"/>
          </p:cNvCxnSpPr>
          <p:nvPr/>
        </p:nvCxnSpPr>
        <p:spPr>
          <a:xfrm>
            <a:off x="7197551" y="2921350"/>
            <a:ext cx="600" cy="421500"/>
          </a:xfrm>
          <a:prstGeom prst="curvedConnector3">
            <a:avLst>
              <a:gd fmla="val -39687500" name="adj1"/>
            </a:avLst>
          </a:prstGeom>
          <a:noFill/>
          <a:ln cap="flat" cmpd="sng" w="9525">
            <a:solidFill>
              <a:schemeClr val="accent1"/>
            </a:solidFill>
            <a:prstDash val="dash"/>
            <a:round/>
            <a:headEnd len="sm" w="sm" type="none"/>
            <a:tailEnd len="sm" w="sm" type="triangle"/>
          </a:ln>
        </p:spPr>
      </p:cxnSp>
      <p:cxnSp>
        <p:nvCxnSpPr>
          <p:cNvPr id="1966" name="Google Shape;1966;p89"/>
          <p:cNvCxnSpPr>
            <a:stCxn id="1963" idx="3"/>
            <a:endCxn id="1939" idx="1"/>
          </p:cNvCxnSpPr>
          <p:nvPr/>
        </p:nvCxnSpPr>
        <p:spPr>
          <a:xfrm>
            <a:off x="9313451" y="2500425"/>
            <a:ext cx="822300" cy="1500"/>
          </a:xfrm>
          <a:prstGeom prst="curvedConnector3">
            <a:avLst>
              <a:gd fmla="val 50005" name="adj1"/>
            </a:avLst>
          </a:prstGeom>
          <a:noFill/>
          <a:ln cap="flat" cmpd="sng" w="9525">
            <a:solidFill>
              <a:schemeClr val="accent1"/>
            </a:solidFill>
            <a:prstDash val="dash"/>
            <a:round/>
            <a:headEnd len="sm" w="sm" type="none"/>
            <a:tailEnd len="sm" w="sm" type="triangle"/>
          </a:ln>
        </p:spPr>
      </p:cxnSp>
      <p:sp>
        <p:nvSpPr>
          <p:cNvPr id="1967" name="Google Shape;1967;p89"/>
          <p:cNvSpPr txBox="1"/>
          <p:nvPr/>
        </p:nvSpPr>
        <p:spPr>
          <a:xfrm>
            <a:off x="9288025" y="4598725"/>
            <a:ext cx="2677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1968" name="Google Shape;1968;p89"/>
          <p:cNvSpPr/>
          <p:nvPr/>
        </p:nvSpPr>
        <p:spPr>
          <a:xfrm rot="10800000">
            <a:off x="11393746" y="2629694"/>
            <a:ext cx="198300" cy="247800"/>
          </a:xfrm>
          <a:prstGeom prst="rightArrow">
            <a:avLst>
              <a:gd fmla="val 50000" name="adj1"/>
              <a:gd fmla="val 5000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89"/>
          <p:cNvSpPr txBox="1"/>
          <p:nvPr/>
        </p:nvSpPr>
        <p:spPr>
          <a:xfrm>
            <a:off x="11577463" y="2569475"/>
            <a:ext cx="5253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accent1"/>
                </a:solidFill>
                <a:latin typeface="DM Sans"/>
                <a:ea typeface="DM Sans"/>
                <a:cs typeface="DM Sans"/>
                <a:sym typeface="DM Sans"/>
              </a:rPr>
              <a:t>SQL</a:t>
            </a:r>
            <a:endParaRPr b="1" sz="1200">
              <a:solidFill>
                <a:schemeClr val="accent1"/>
              </a:solidFill>
              <a:latin typeface="DM Sans"/>
              <a:ea typeface="DM Sans"/>
              <a:cs typeface="DM Sans"/>
              <a:sym typeface="DM Sans"/>
            </a:endParaRPr>
          </a:p>
        </p:txBody>
      </p:sp>
      <p:sp>
        <p:nvSpPr>
          <p:cNvPr id="1970" name="Google Shape;1970;p89"/>
          <p:cNvSpPr txBox="1"/>
          <p:nvPr/>
        </p:nvSpPr>
        <p:spPr>
          <a:xfrm>
            <a:off x="5124829" y="6476197"/>
            <a:ext cx="3136500" cy="33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  3NF = “Third normal form” in data modelling</a:t>
            </a:r>
            <a:endParaRPr sz="1000"/>
          </a:p>
        </p:txBody>
      </p:sp>
      <p:sp>
        <p:nvSpPr>
          <p:cNvPr id="1971" name="Google Shape;1971;p89"/>
          <p:cNvSpPr/>
          <p:nvPr/>
        </p:nvSpPr>
        <p:spPr>
          <a:xfrm>
            <a:off x="6592602" y="3206097"/>
            <a:ext cx="1986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89"/>
          <p:cNvSpPr/>
          <p:nvPr/>
        </p:nvSpPr>
        <p:spPr>
          <a:xfrm>
            <a:off x="5165700" y="1661764"/>
            <a:ext cx="1452000" cy="2334300"/>
          </a:xfrm>
          <a:prstGeom prst="rect">
            <a:avLst/>
          </a:prstGeom>
          <a:solidFill>
            <a:srgbClr val="E69138">
              <a:alpha val="32960"/>
            </a:srgbClr>
          </a:solidFill>
          <a:ln>
            <a:noFill/>
          </a:ln>
        </p:spPr>
        <p:txBody>
          <a:bodyPr anchorCtr="0" anchor="b" bIns="45700" lIns="91425" spcFirstLastPara="1" rIns="91425" wrap="square" tIns="0">
            <a:noAutofit/>
          </a:bodyPr>
          <a:lstStyle/>
          <a:p>
            <a:pPr indent="457200" lvl="0" marL="0" rtl="0" algn="l">
              <a:spcBef>
                <a:spcPts val="0"/>
              </a:spcBef>
              <a:spcAft>
                <a:spcPts val="0"/>
              </a:spcAft>
              <a:buNone/>
            </a:pPr>
            <a:r>
              <a:rPr i="1" lang="en" sz="1000">
                <a:solidFill>
                  <a:schemeClr val="accent1"/>
                </a:solidFill>
                <a:latin typeface="DM Sans Medium"/>
                <a:ea typeface="DM Sans Medium"/>
                <a:cs typeface="DM Sans Medium"/>
                <a:sym typeface="DM Sans Medium"/>
              </a:rPr>
              <a:t>bronze</a:t>
            </a:r>
            <a:endParaRPr i="1" sz="1000">
              <a:solidFill>
                <a:schemeClr val="accent1"/>
              </a:solidFill>
              <a:latin typeface="DM Sans Medium"/>
              <a:ea typeface="DM Sans Medium"/>
              <a:cs typeface="DM Sans Medium"/>
              <a:sym typeface="DM Sans Medium"/>
            </a:endParaRPr>
          </a:p>
        </p:txBody>
      </p:sp>
      <p:sp>
        <p:nvSpPr>
          <p:cNvPr id="1973" name="Google Shape;1973;p89"/>
          <p:cNvSpPr/>
          <p:nvPr/>
        </p:nvSpPr>
        <p:spPr>
          <a:xfrm>
            <a:off x="5323200" y="2982850"/>
            <a:ext cx="1137000" cy="7419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marR="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Ingestion</a:t>
            </a:r>
            <a:endParaRPr>
              <a:solidFill>
                <a:schemeClr val="accent1"/>
              </a:solidFill>
              <a:latin typeface="DM Sans Medium"/>
              <a:ea typeface="DM Sans Medium"/>
              <a:cs typeface="DM Sans Medium"/>
              <a:sym typeface="DM Sans Medium"/>
            </a:endParaRPr>
          </a:p>
        </p:txBody>
      </p:sp>
      <p:sp>
        <p:nvSpPr>
          <p:cNvPr id="1974" name="Google Shape;1974;p89"/>
          <p:cNvSpPr/>
          <p:nvPr/>
        </p:nvSpPr>
        <p:spPr>
          <a:xfrm>
            <a:off x="5601413" y="3305012"/>
            <a:ext cx="626700" cy="3429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Verified</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pic>
        <p:nvPicPr>
          <p:cNvPr id="1975" name="Google Shape;1975;p89"/>
          <p:cNvPicPr preferRelativeResize="0"/>
          <p:nvPr/>
        </p:nvPicPr>
        <p:blipFill rotWithShape="1">
          <a:blip r:embed="rId3">
            <a:alphaModFix/>
          </a:blip>
          <a:srcRect b="17850" l="0" r="0" t="0"/>
          <a:stretch/>
        </p:blipFill>
        <p:spPr>
          <a:xfrm>
            <a:off x="5397498" y="3764759"/>
            <a:ext cx="324301" cy="206938"/>
          </a:xfrm>
          <a:prstGeom prst="rect">
            <a:avLst/>
          </a:prstGeom>
          <a:noFill/>
          <a:ln>
            <a:noFill/>
          </a:ln>
        </p:spPr>
      </p:pic>
      <p:sp>
        <p:nvSpPr>
          <p:cNvPr id="1976" name="Google Shape;1976;p89"/>
          <p:cNvSpPr/>
          <p:nvPr/>
        </p:nvSpPr>
        <p:spPr>
          <a:xfrm>
            <a:off x="5346250" y="1777095"/>
            <a:ext cx="1137000" cy="7419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marR="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Landing</a:t>
            </a:r>
            <a:br>
              <a:rPr lang="en">
                <a:solidFill>
                  <a:schemeClr val="accent1"/>
                </a:solidFill>
                <a:latin typeface="DM Sans Medium"/>
                <a:ea typeface="DM Sans Medium"/>
                <a:cs typeface="DM Sans Medium"/>
                <a:sym typeface="DM Sans Medium"/>
              </a:rPr>
            </a:br>
            <a:endParaRPr>
              <a:solidFill>
                <a:schemeClr val="accent1"/>
              </a:solidFill>
              <a:latin typeface="DM Sans Medium"/>
              <a:ea typeface="DM Sans Medium"/>
              <a:cs typeface="DM Sans Medium"/>
              <a:sym typeface="DM Sans Medium"/>
            </a:endParaRPr>
          </a:p>
        </p:txBody>
      </p:sp>
      <p:sp>
        <p:nvSpPr>
          <p:cNvPr id="1977" name="Google Shape;1977;p89"/>
          <p:cNvSpPr/>
          <p:nvPr/>
        </p:nvSpPr>
        <p:spPr>
          <a:xfrm>
            <a:off x="5601413" y="2099156"/>
            <a:ext cx="626700" cy="3429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Raw data</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(temp.)</a:t>
            </a:r>
            <a:endParaRPr sz="1000">
              <a:solidFill>
                <a:schemeClr val="accent1"/>
              </a:solidFill>
              <a:latin typeface="DM Sans"/>
              <a:ea typeface="DM Sans"/>
              <a:cs typeface="DM Sans"/>
              <a:sym typeface="DM Sans"/>
            </a:endParaRPr>
          </a:p>
        </p:txBody>
      </p:sp>
      <p:sp>
        <p:nvSpPr>
          <p:cNvPr id="1978" name="Google Shape;1978;p89"/>
          <p:cNvSpPr/>
          <p:nvPr/>
        </p:nvSpPr>
        <p:spPr>
          <a:xfrm rot="5400000">
            <a:off x="5790543" y="2647947"/>
            <a:ext cx="1983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89"/>
          <p:cNvSpPr/>
          <p:nvPr/>
        </p:nvSpPr>
        <p:spPr>
          <a:xfrm>
            <a:off x="5256086" y="6338214"/>
            <a:ext cx="149400" cy="1863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89"/>
          <p:cNvSpPr txBox="1"/>
          <p:nvPr/>
        </p:nvSpPr>
        <p:spPr>
          <a:xfrm>
            <a:off x="5393632" y="6265078"/>
            <a:ext cx="9117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1"/>
                </a:solidFill>
                <a:latin typeface="DM Sans"/>
                <a:ea typeface="DM Sans"/>
                <a:cs typeface="DM Sans"/>
                <a:sym typeface="DM Sans"/>
              </a:rPr>
              <a:t>ETL/ELT</a:t>
            </a:r>
            <a:endParaRPr sz="1000">
              <a:solidFill>
                <a:schemeClr val="accent1"/>
              </a:solidFill>
              <a:latin typeface="DM Sans"/>
              <a:ea typeface="DM Sans"/>
              <a:cs typeface="DM Sans"/>
              <a:sym typeface="DM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4" name="Shape 1984"/>
        <p:cNvGrpSpPr/>
        <p:nvPr/>
      </p:nvGrpSpPr>
      <p:grpSpPr>
        <a:xfrm>
          <a:off x="0" y="0"/>
          <a:ext cx="0" cy="0"/>
          <a:chOff x="0" y="0"/>
          <a:chExt cx="0" cy="0"/>
        </a:xfrm>
      </p:grpSpPr>
      <p:sp>
        <p:nvSpPr>
          <p:cNvPr id="1985" name="Google Shape;1985;p90"/>
          <p:cNvSpPr/>
          <p:nvPr/>
        </p:nvSpPr>
        <p:spPr>
          <a:xfrm>
            <a:off x="9876650" y="1661400"/>
            <a:ext cx="1545300" cy="2334300"/>
          </a:xfrm>
          <a:prstGeom prst="rect">
            <a:avLst/>
          </a:prstGeom>
          <a:solidFill>
            <a:srgbClr val="FFE599">
              <a:alpha val="40220"/>
            </a:srgbClr>
          </a:solidFill>
          <a:ln>
            <a:noFill/>
          </a:ln>
        </p:spPr>
        <p:txBody>
          <a:bodyPr anchorCtr="0" anchor="b" bIns="45700" lIns="91425" spcFirstLastPara="1" rIns="91425" wrap="square" tIns="0">
            <a:noAutofit/>
          </a:bodyPr>
          <a:lstStyle/>
          <a:p>
            <a:pPr indent="0" lvl="0" marL="0" rtl="0" algn="ctr">
              <a:spcBef>
                <a:spcPts val="0"/>
              </a:spcBef>
              <a:spcAft>
                <a:spcPts val="0"/>
              </a:spcAft>
              <a:buNone/>
            </a:pPr>
            <a:r>
              <a:rPr i="1" lang="en" sz="1000">
                <a:solidFill>
                  <a:schemeClr val="accent1"/>
                </a:solidFill>
                <a:latin typeface="DM Sans Medium"/>
                <a:ea typeface="DM Sans Medium"/>
                <a:cs typeface="DM Sans Medium"/>
                <a:sym typeface="DM Sans Medium"/>
              </a:rPr>
              <a:t>gold</a:t>
            </a:r>
            <a:endParaRPr i="1" sz="1000">
              <a:solidFill>
                <a:schemeClr val="accent1"/>
              </a:solidFill>
              <a:latin typeface="DM Sans Medium"/>
              <a:ea typeface="DM Sans Medium"/>
              <a:cs typeface="DM Sans Medium"/>
              <a:sym typeface="DM Sans Medium"/>
            </a:endParaRPr>
          </a:p>
        </p:txBody>
      </p:sp>
      <p:sp>
        <p:nvSpPr>
          <p:cNvPr id="1986" name="Google Shape;1986;p90"/>
          <p:cNvSpPr/>
          <p:nvPr/>
        </p:nvSpPr>
        <p:spPr>
          <a:xfrm>
            <a:off x="6748675" y="1661768"/>
            <a:ext cx="2997000" cy="2334300"/>
          </a:xfrm>
          <a:prstGeom prst="rect">
            <a:avLst/>
          </a:prstGeom>
          <a:solidFill>
            <a:srgbClr val="C4CCD6">
              <a:alpha val="37430"/>
            </a:srgbClr>
          </a:solidFill>
          <a:ln>
            <a:noFill/>
          </a:ln>
        </p:spPr>
        <p:txBody>
          <a:bodyPr anchorCtr="0" anchor="b" bIns="45700" lIns="91425" spcFirstLastPara="1" rIns="91425" wrap="square" tIns="0">
            <a:noAutofit/>
          </a:bodyPr>
          <a:lstStyle/>
          <a:p>
            <a:pPr indent="0" lvl="0" marL="0" rtl="0" algn="ctr">
              <a:spcBef>
                <a:spcPts val="0"/>
              </a:spcBef>
              <a:spcAft>
                <a:spcPts val="0"/>
              </a:spcAft>
              <a:buNone/>
            </a:pPr>
            <a:r>
              <a:rPr i="1" lang="en" sz="1000">
                <a:solidFill>
                  <a:schemeClr val="accent1"/>
                </a:solidFill>
                <a:latin typeface="DM Sans Medium"/>
                <a:ea typeface="DM Sans Medium"/>
                <a:cs typeface="DM Sans Medium"/>
                <a:sym typeface="DM Sans Medium"/>
              </a:rPr>
              <a:t>silver</a:t>
            </a:r>
            <a:endParaRPr i="1" sz="1000">
              <a:solidFill>
                <a:schemeClr val="accent1"/>
              </a:solidFill>
              <a:latin typeface="DM Sans Medium"/>
              <a:ea typeface="DM Sans Medium"/>
              <a:cs typeface="DM Sans Medium"/>
              <a:sym typeface="DM Sans Medium"/>
            </a:endParaRPr>
          </a:p>
        </p:txBody>
      </p:sp>
      <p:pic>
        <p:nvPicPr>
          <p:cNvPr id="1987" name="Google Shape;1987;p90"/>
          <p:cNvPicPr preferRelativeResize="0"/>
          <p:nvPr/>
        </p:nvPicPr>
        <p:blipFill rotWithShape="1">
          <a:blip r:embed="rId3">
            <a:alphaModFix/>
          </a:blip>
          <a:srcRect b="17850" l="0" r="0" t="0"/>
          <a:stretch/>
        </p:blipFill>
        <p:spPr>
          <a:xfrm>
            <a:off x="7757835" y="3764759"/>
            <a:ext cx="324301" cy="206938"/>
          </a:xfrm>
          <a:prstGeom prst="rect">
            <a:avLst/>
          </a:prstGeom>
          <a:noFill/>
          <a:ln>
            <a:noFill/>
          </a:ln>
        </p:spPr>
      </p:pic>
      <p:pic>
        <p:nvPicPr>
          <p:cNvPr id="1988" name="Google Shape;1988;p90"/>
          <p:cNvPicPr preferRelativeResize="0"/>
          <p:nvPr/>
        </p:nvPicPr>
        <p:blipFill rotWithShape="1">
          <a:blip r:embed="rId3">
            <a:alphaModFix/>
          </a:blip>
          <a:srcRect b="17850" l="0" r="0" t="0"/>
          <a:stretch/>
        </p:blipFill>
        <p:spPr>
          <a:xfrm>
            <a:off x="10188672" y="3764759"/>
            <a:ext cx="324301" cy="206938"/>
          </a:xfrm>
          <a:prstGeom prst="rect">
            <a:avLst/>
          </a:prstGeom>
          <a:noFill/>
          <a:ln>
            <a:noFill/>
          </a:ln>
        </p:spPr>
      </p:pic>
      <p:sp>
        <p:nvSpPr>
          <p:cNvPr id="1989" name="Google Shape;1989;p90"/>
          <p:cNvSpPr/>
          <p:nvPr/>
        </p:nvSpPr>
        <p:spPr>
          <a:xfrm>
            <a:off x="6865305" y="1773769"/>
            <a:ext cx="2785500" cy="19512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Curation</a:t>
            </a:r>
            <a:endParaRPr sz="1000">
              <a:solidFill>
                <a:schemeClr val="accent1"/>
              </a:solidFill>
              <a:latin typeface="DM Sans Medium"/>
              <a:ea typeface="DM Sans Medium"/>
              <a:cs typeface="DM Sans Medium"/>
              <a:sym typeface="DM Sans Medium"/>
            </a:endParaRPr>
          </a:p>
        </p:txBody>
      </p:sp>
      <p:sp>
        <p:nvSpPr>
          <p:cNvPr id="1990" name="Google Shape;1990;p9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 Modeling: Modern use cases (ML and AI)</a:t>
            </a:r>
            <a:endParaRPr sz="3600"/>
          </a:p>
        </p:txBody>
      </p:sp>
      <p:sp>
        <p:nvSpPr>
          <p:cNvPr id="1991" name="Google Shape;1991;p9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1992" name="Google Shape;1992;p90"/>
          <p:cNvSpPr txBox="1"/>
          <p:nvPr>
            <p:ph idx="2" type="body"/>
          </p:nvPr>
        </p:nvSpPr>
        <p:spPr>
          <a:xfrm>
            <a:off x="609400" y="1607825"/>
            <a:ext cx="4249200" cy="4820100"/>
          </a:xfrm>
          <a:prstGeom prst="rect">
            <a:avLst/>
          </a:prstGeom>
        </p:spPr>
        <p:txBody>
          <a:bodyPr anchorCtr="0" anchor="t" bIns="0" lIns="0" spcFirstLastPara="1" rIns="0" wrap="square" tIns="0">
            <a:noAutofit/>
          </a:bodyPr>
          <a:lstStyle/>
          <a:p>
            <a:pPr indent="-196850" lvl="0" marL="342900" marR="0" rtl="0" algn="l">
              <a:lnSpc>
                <a:spcPct val="100000"/>
              </a:lnSpc>
              <a:spcBef>
                <a:spcPts val="0"/>
              </a:spcBef>
              <a:spcAft>
                <a:spcPts val="0"/>
              </a:spcAft>
              <a:buSzPts val="1300"/>
              <a:buChar char="●"/>
            </a:pPr>
            <a:r>
              <a:rPr b="1" lang="en" sz="1300"/>
              <a:t>Landing</a:t>
            </a:r>
            <a:r>
              <a:rPr lang="en" sz="1300"/>
              <a:t> (bronze)</a:t>
            </a:r>
            <a:endParaRPr sz="1300"/>
          </a:p>
          <a:p>
            <a:pPr indent="-225425" lvl="1" marL="657225" marR="0" rtl="0" algn="l">
              <a:lnSpc>
                <a:spcPct val="100000"/>
              </a:lnSpc>
              <a:spcBef>
                <a:spcPts val="300"/>
              </a:spcBef>
              <a:spcAft>
                <a:spcPts val="0"/>
              </a:spcAft>
              <a:buClr>
                <a:schemeClr val="dk1"/>
              </a:buClr>
              <a:buSzPts val="1300"/>
              <a:buChar char="●"/>
            </a:pPr>
            <a:r>
              <a:rPr lang="en" sz="1300"/>
              <a:t>Raw data in its original format (could be temporarily). Having a landing zone allows to have bronze in Delta format, independent of the original input format</a:t>
            </a:r>
            <a:endParaRPr sz="1300"/>
          </a:p>
          <a:p>
            <a:pPr indent="-196850" lvl="0" marL="342900" marR="0" rtl="0" algn="l">
              <a:lnSpc>
                <a:spcPct val="100000"/>
              </a:lnSpc>
              <a:spcBef>
                <a:spcPts val="300"/>
              </a:spcBef>
              <a:spcAft>
                <a:spcPts val="0"/>
              </a:spcAft>
              <a:buSzPts val="1300"/>
              <a:buChar char="●"/>
            </a:pPr>
            <a:r>
              <a:rPr b="1" lang="en" sz="1300"/>
              <a:t>Ingestion</a:t>
            </a:r>
            <a:r>
              <a:rPr lang="en" sz="1300"/>
              <a:t> (bronze) </a:t>
            </a:r>
            <a:endParaRPr sz="1300"/>
          </a:p>
          <a:p>
            <a:pPr indent="-225425" lvl="1" marL="657225" marR="0" rtl="0" algn="l">
              <a:lnSpc>
                <a:spcPct val="100000"/>
              </a:lnSpc>
              <a:spcBef>
                <a:spcPts val="300"/>
              </a:spcBef>
              <a:spcAft>
                <a:spcPts val="0"/>
              </a:spcAft>
              <a:buClr>
                <a:schemeClr val="dk1"/>
              </a:buClr>
              <a:buSzPts val="1300"/>
              <a:buChar char="●"/>
            </a:pPr>
            <a:r>
              <a:rPr lang="en" sz="1300"/>
              <a:t>Delta data converted from Raw (from Avro, CSV, parquet, XML, JSON format in Landing)</a:t>
            </a:r>
            <a:endParaRPr sz="1300"/>
          </a:p>
          <a:p>
            <a:pPr indent="-225425" lvl="1" marL="657225" marR="0" rtl="0" algn="l">
              <a:lnSpc>
                <a:spcPct val="100000"/>
              </a:lnSpc>
              <a:spcBef>
                <a:spcPts val="300"/>
              </a:spcBef>
              <a:spcAft>
                <a:spcPts val="0"/>
              </a:spcAft>
              <a:buClr>
                <a:schemeClr val="dk1"/>
              </a:buClr>
              <a:buSzPts val="1300"/>
              <a:buChar char="●"/>
            </a:pPr>
            <a:r>
              <a:rPr lang="en" sz="1300"/>
              <a:t>Verification typically lightweight compared to DWH</a:t>
            </a:r>
            <a:endParaRPr sz="1300"/>
          </a:p>
          <a:p>
            <a:pPr indent="-225425" lvl="1" marL="657225" marR="0" rtl="0" algn="l">
              <a:lnSpc>
                <a:spcPct val="100000"/>
              </a:lnSpc>
              <a:spcBef>
                <a:spcPts val="300"/>
              </a:spcBef>
              <a:spcAft>
                <a:spcPts val="0"/>
              </a:spcAft>
              <a:buClr>
                <a:schemeClr val="dk1"/>
              </a:buClr>
              <a:buSzPts val="1300"/>
              <a:buChar char="●"/>
            </a:pPr>
            <a:r>
              <a:rPr lang="en" sz="1300"/>
              <a:t>No other transformation or business logic is applied</a:t>
            </a:r>
            <a:endParaRPr sz="1300"/>
          </a:p>
          <a:p>
            <a:pPr indent="-225425" lvl="1" marL="657225" marR="0" rtl="0" algn="l">
              <a:lnSpc>
                <a:spcPct val="100000"/>
              </a:lnSpc>
              <a:spcBef>
                <a:spcPts val="300"/>
              </a:spcBef>
              <a:spcAft>
                <a:spcPts val="0"/>
              </a:spcAft>
              <a:buClr>
                <a:schemeClr val="dk1"/>
              </a:buClr>
              <a:buSzPts val="1300"/>
              <a:buChar char="●"/>
            </a:pPr>
            <a:r>
              <a:rPr lang="en" sz="1300"/>
              <a:t>Often “schema on read” approach</a:t>
            </a:r>
            <a:endParaRPr sz="1300"/>
          </a:p>
          <a:p>
            <a:pPr indent="-196850" lvl="0" marL="342900" marR="0" rtl="0" algn="l">
              <a:lnSpc>
                <a:spcPct val="100000"/>
              </a:lnSpc>
              <a:spcBef>
                <a:spcPts val="300"/>
              </a:spcBef>
              <a:spcAft>
                <a:spcPts val="0"/>
              </a:spcAft>
              <a:buSzPts val="1300"/>
              <a:buChar char="●"/>
            </a:pPr>
            <a:r>
              <a:rPr b="1" lang="en" sz="1300"/>
              <a:t>Curation</a:t>
            </a:r>
            <a:r>
              <a:rPr lang="en" sz="1300"/>
              <a:t> (silver)</a:t>
            </a:r>
            <a:endParaRPr sz="1300"/>
          </a:p>
          <a:p>
            <a:pPr indent="-225425" lvl="1" marL="657225" marR="0" rtl="0" algn="l">
              <a:lnSpc>
                <a:spcPct val="100000"/>
              </a:lnSpc>
              <a:spcBef>
                <a:spcPts val="300"/>
              </a:spcBef>
              <a:spcAft>
                <a:spcPts val="0"/>
              </a:spcAft>
              <a:buClr>
                <a:schemeClr val="dk1"/>
              </a:buClr>
              <a:buSzPts val="1300"/>
              <a:buChar char="●"/>
            </a:pPr>
            <a:r>
              <a:rPr lang="en" sz="1300"/>
              <a:t>Cleansed data, filtered data and augmented data</a:t>
            </a:r>
            <a:endParaRPr sz="1300"/>
          </a:p>
          <a:p>
            <a:pPr indent="-196850" lvl="0" marL="342900" marR="0" rtl="0" algn="l">
              <a:lnSpc>
                <a:spcPct val="100000"/>
              </a:lnSpc>
              <a:spcBef>
                <a:spcPts val="300"/>
              </a:spcBef>
              <a:spcAft>
                <a:spcPts val="0"/>
              </a:spcAft>
              <a:buSzPts val="1300"/>
              <a:buChar char="●"/>
            </a:pPr>
            <a:r>
              <a:rPr b="1" lang="en" sz="1300"/>
              <a:t>Final</a:t>
            </a:r>
            <a:r>
              <a:rPr lang="en" sz="1300"/>
              <a:t> (gold)</a:t>
            </a:r>
            <a:endParaRPr sz="1300"/>
          </a:p>
          <a:p>
            <a:pPr indent="-225425" lvl="1" marL="657225" marR="0" rtl="0" algn="l">
              <a:lnSpc>
                <a:spcPct val="100000"/>
              </a:lnSpc>
              <a:spcBef>
                <a:spcPts val="300"/>
              </a:spcBef>
              <a:spcAft>
                <a:spcPts val="0"/>
              </a:spcAft>
              <a:buClr>
                <a:schemeClr val="dk1"/>
              </a:buClr>
              <a:buSzPts val="1300"/>
              <a:buChar char="●"/>
            </a:pPr>
            <a:r>
              <a:rPr lang="en" sz="1300"/>
              <a:t>Business level aggregates</a:t>
            </a:r>
            <a:endParaRPr sz="1300"/>
          </a:p>
          <a:p>
            <a:pPr indent="-225425" lvl="1" marL="657225" marR="0" rtl="0" algn="l">
              <a:lnSpc>
                <a:spcPct val="100000"/>
              </a:lnSpc>
              <a:spcBef>
                <a:spcPts val="300"/>
              </a:spcBef>
              <a:spcAft>
                <a:spcPts val="0"/>
              </a:spcAft>
              <a:buClr>
                <a:schemeClr val="dk1"/>
              </a:buClr>
              <a:buSzPts val="1300"/>
              <a:buChar char="●"/>
            </a:pPr>
            <a:r>
              <a:rPr lang="en" sz="1300"/>
              <a:t>Masked, reduced, anonymized for project purposes</a:t>
            </a:r>
            <a:endParaRPr sz="1300"/>
          </a:p>
          <a:p>
            <a:pPr indent="-225425" lvl="1" marL="657225" marR="0" rtl="0" algn="l">
              <a:lnSpc>
                <a:spcPct val="100000"/>
              </a:lnSpc>
              <a:spcBef>
                <a:spcPts val="300"/>
              </a:spcBef>
              <a:spcAft>
                <a:spcPts val="300"/>
              </a:spcAft>
              <a:buClr>
                <a:schemeClr val="dk1"/>
              </a:buClr>
              <a:buSzPts val="1300"/>
              <a:buChar char="●"/>
            </a:pPr>
            <a:r>
              <a:rPr lang="en" sz="1300"/>
              <a:t>Denormalized for performance if needed</a:t>
            </a:r>
            <a:endParaRPr sz="1300"/>
          </a:p>
        </p:txBody>
      </p:sp>
      <p:grpSp>
        <p:nvGrpSpPr>
          <p:cNvPr id="1993" name="Google Shape;1993;p90"/>
          <p:cNvGrpSpPr/>
          <p:nvPr/>
        </p:nvGrpSpPr>
        <p:grpSpPr>
          <a:xfrm>
            <a:off x="10034332" y="1772432"/>
            <a:ext cx="1262525" cy="1951113"/>
            <a:chOff x="8924709" y="4740375"/>
            <a:chExt cx="1137000" cy="451135"/>
          </a:xfrm>
        </p:grpSpPr>
        <p:sp>
          <p:nvSpPr>
            <p:cNvPr id="1994" name="Google Shape;1994;p90"/>
            <p:cNvSpPr/>
            <p:nvPr/>
          </p:nvSpPr>
          <p:spPr>
            <a:xfrm>
              <a:off x="8924709" y="4742409"/>
              <a:ext cx="1137000" cy="449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rtl="0" algn="ctr">
                <a:lnSpc>
                  <a:spcPct val="85000"/>
                </a:lnSpc>
                <a:spcBef>
                  <a:spcPts val="0"/>
                </a:spcBef>
                <a:spcAft>
                  <a:spcPts val="0"/>
                </a:spcAft>
                <a:buNone/>
              </a:pPr>
              <a:r>
                <a:rPr lang="en">
                  <a:solidFill>
                    <a:schemeClr val="accent1"/>
                  </a:solidFill>
                  <a:latin typeface="DM Sans Medium"/>
                  <a:ea typeface="DM Sans Medium"/>
                  <a:cs typeface="DM Sans Medium"/>
                  <a:sym typeface="DM Sans Medium"/>
                </a:rPr>
                <a:t>Final</a:t>
              </a:r>
              <a:endParaRPr>
                <a:solidFill>
                  <a:schemeClr val="accent1"/>
                </a:solidFill>
                <a:latin typeface="DM Sans Medium"/>
                <a:ea typeface="DM Sans Medium"/>
                <a:cs typeface="DM Sans Medium"/>
                <a:sym typeface="DM Sans Medium"/>
              </a:endParaRPr>
            </a:p>
          </p:txBody>
        </p:sp>
        <p:grpSp>
          <p:nvGrpSpPr>
            <p:cNvPr id="1995" name="Google Shape;1995;p90"/>
            <p:cNvGrpSpPr/>
            <p:nvPr/>
          </p:nvGrpSpPr>
          <p:grpSpPr>
            <a:xfrm>
              <a:off x="9280338" y="4740375"/>
              <a:ext cx="441300" cy="128700"/>
              <a:chOff x="6026857" y="4740375"/>
              <a:chExt cx="441300" cy="128700"/>
            </a:xfrm>
          </p:grpSpPr>
          <p:sp>
            <p:nvSpPr>
              <p:cNvPr id="1996" name="Google Shape;1996;p90"/>
              <p:cNvSpPr/>
              <p:nvPr/>
            </p:nvSpPr>
            <p:spPr>
              <a:xfrm>
                <a:off x="6026857" y="4740375"/>
                <a:ext cx="136500" cy="128700"/>
              </a:xfrm>
              <a:prstGeom prst="rect">
                <a:avLst/>
              </a:prstGeom>
              <a:noFill/>
              <a:ln>
                <a:noFill/>
              </a:ln>
            </p:spPr>
            <p:txBody>
              <a:bodyPr anchorCtr="0" anchor="t" bIns="0" lIns="0" spcFirstLastPara="1" rIns="0" wrap="square" tIns="45700">
                <a:noAutofit/>
              </a:bodyPr>
              <a:lstStyle/>
              <a:p>
                <a:pPr indent="0" lvl="0" marL="0" rtl="0" algn="l">
                  <a:lnSpc>
                    <a:spcPct val="85000"/>
                  </a:lnSpc>
                  <a:spcBef>
                    <a:spcPts val="0"/>
                  </a:spcBef>
                  <a:spcAft>
                    <a:spcPts val="0"/>
                  </a:spcAft>
                  <a:buNone/>
                </a:pPr>
                <a:r>
                  <a:t/>
                </a:r>
                <a:endParaRPr>
                  <a:latin typeface="DM Sans Medium"/>
                  <a:ea typeface="DM Sans Medium"/>
                  <a:cs typeface="DM Sans Medium"/>
                  <a:sym typeface="DM Sans Medium"/>
                </a:endParaRPr>
              </a:p>
            </p:txBody>
          </p:sp>
          <p:sp>
            <p:nvSpPr>
              <p:cNvPr id="1997" name="Google Shape;1997;p90"/>
              <p:cNvSpPr/>
              <p:nvPr/>
            </p:nvSpPr>
            <p:spPr>
              <a:xfrm>
                <a:off x="6331657" y="4740375"/>
                <a:ext cx="136500" cy="128700"/>
              </a:xfrm>
              <a:prstGeom prst="rect">
                <a:avLst/>
              </a:prstGeom>
              <a:noFill/>
              <a:ln>
                <a:noFill/>
              </a:ln>
            </p:spPr>
            <p:txBody>
              <a:bodyPr anchorCtr="0" anchor="t" bIns="0" lIns="0" spcFirstLastPara="1" rIns="0" wrap="square" tIns="45700">
                <a:noAutofit/>
              </a:bodyPr>
              <a:lstStyle/>
              <a:p>
                <a:pPr indent="0" lvl="0" marL="0" rtl="0" algn="l">
                  <a:lnSpc>
                    <a:spcPct val="85000"/>
                  </a:lnSpc>
                  <a:spcBef>
                    <a:spcPts val="0"/>
                  </a:spcBef>
                  <a:spcAft>
                    <a:spcPts val="0"/>
                  </a:spcAft>
                  <a:buNone/>
                </a:pPr>
                <a:r>
                  <a:t/>
                </a:r>
                <a:endParaRPr>
                  <a:latin typeface="DM Sans Medium"/>
                  <a:ea typeface="DM Sans Medium"/>
                  <a:cs typeface="DM Sans Medium"/>
                  <a:sym typeface="DM Sans Medium"/>
                </a:endParaRPr>
              </a:p>
            </p:txBody>
          </p:sp>
        </p:grpSp>
      </p:grpSp>
      <p:sp>
        <p:nvSpPr>
          <p:cNvPr id="1998" name="Google Shape;1998;p90"/>
          <p:cNvSpPr/>
          <p:nvPr/>
        </p:nvSpPr>
        <p:spPr>
          <a:xfrm>
            <a:off x="11195113" y="4038850"/>
            <a:ext cx="1986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90"/>
          <p:cNvSpPr txBox="1"/>
          <p:nvPr/>
        </p:nvSpPr>
        <p:spPr>
          <a:xfrm>
            <a:off x="11339450" y="3976421"/>
            <a:ext cx="9117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accent1"/>
                </a:solidFill>
                <a:latin typeface="DM Sans"/>
                <a:ea typeface="DM Sans"/>
                <a:cs typeface="DM Sans"/>
                <a:sym typeface="DM Sans"/>
              </a:rPr>
              <a:t>ETL/ELT</a:t>
            </a:r>
            <a:endParaRPr b="1" sz="800">
              <a:solidFill>
                <a:schemeClr val="accent1"/>
              </a:solidFill>
              <a:latin typeface="DM Sans"/>
              <a:ea typeface="DM Sans"/>
              <a:cs typeface="DM Sans"/>
              <a:sym typeface="DM Sans"/>
            </a:endParaRPr>
          </a:p>
        </p:txBody>
      </p:sp>
      <p:sp>
        <p:nvSpPr>
          <p:cNvPr id="2000" name="Google Shape;2000;p90"/>
          <p:cNvSpPr/>
          <p:nvPr/>
        </p:nvSpPr>
        <p:spPr>
          <a:xfrm rot="10800000">
            <a:off x="11393746" y="2629694"/>
            <a:ext cx="198300" cy="247800"/>
          </a:xfrm>
          <a:prstGeom prst="rightArrow">
            <a:avLst>
              <a:gd fmla="val 50000" name="adj1"/>
              <a:gd fmla="val 5000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90"/>
          <p:cNvSpPr txBox="1"/>
          <p:nvPr/>
        </p:nvSpPr>
        <p:spPr>
          <a:xfrm>
            <a:off x="11429114" y="2306444"/>
            <a:ext cx="822000" cy="92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accent1"/>
                </a:solidFill>
                <a:latin typeface="DM Sans"/>
                <a:ea typeface="DM Sans"/>
                <a:cs typeface="DM Sans"/>
                <a:sym typeface="DM Sans"/>
              </a:rPr>
              <a:t>Python</a:t>
            </a:r>
            <a:br>
              <a:rPr b="1" lang="en" sz="1200">
                <a:solidFill>
                  <a:schemeClr val="accent1"/>
                </a:solidFill>
                <a:latin typeface="DM Sans"/>
                <a:ea typeface="DM Sans"/>
                <a:cs typeface="DM Sans"/>
                <a:sym typeface="DM Sans"/>
              </a:rPr>
            </a:br>
            <a:r>
              <a:rPr b="1" lang="en" sz="1200">
                <a:solidFill>
                  <a:schemeClr val="accent1"/>
                </a:solidFill>
                <a:latin typeface="DM Sans"/>
                <a:ea typeface="DM Sans"/>
                <a:cs typeface="DM Sans"/>
                <a:sym typeface="DM Sans"/>
              </a:rPr>
              <a:t>R</a:t>
            </a:r>
            <a:endParaRPr b="1" sz="1200">
              <a:solidFill>
                <a:schemeClr val="accent1"/>
              </a:solidFill>
              <a:latin typeface="DM Sans"/>
              <a:ea typeface="DM Sans"/>
              <a:cs typeface="DM Sans"/>
              <a:sym typeface="DM Sans"/>
            </a:endParaRPr>
          </a:p>
          <a:p>
            <a:pPr indent="0" lvl="0" marL="0" rtl="0" algn="ctr">
              <a:spcBef>
                <a:spcPts val="0"/>
              </a:spcBef>
              <a:spcAft>
                <a:spcPts val="0"/>
              </a:spcAft>
              <a:buNone/>
            </a:pPr>
            <a:r>
              <a:rPr b="1" lang="en" sz="1200">
                <a:solidFill>
                  <a:schemeClr val="accent1"/>
                </a:solidFill>
                <a:latin typeface="DM Sans"/>
                <a:ea typeface="DM Sans"/>
                <a:cs typeface="DM Sans"/>
                <a:sym typeface="DM Sans"/>
              </a:rPr>
              <a:t>SQL</a:t>
            </a:r>
            <a:br>
              <a:rPr b="1" lang="en" sz="1200">
                <a:solidFill>
                  <a:schemeClr val="accent1"/>
                </a:solidFill>
                <a:latin typeface="DM Sans"/>
                <a:ea typeface="DM Sans"/>
                <a:cs typeface="DM Sans"/>
                <a:sym typeface="DM Sans"/>
              </a:rPr>
            </a:br>
            <a:r>
              <a:rPr b="1" lang="en" sz="1200">
                <a:solidFill>
                  <a:schemeClr val="accent1"/>
                </a:solidFill>
                <a:latin typeface="DM Sans"/>
                <a:ea typeface="DM Sans"/>
                <a:cs typeface="DM Sans"/>
                <a:sym typeface="DM Sans"/>
              </a:rPr>
              <a:t>Scala</a:t>
            </a:r>
            <a:endParaRPr b="1" sz="1200">
              <a:solidFill>
                <a:schemeClr val="accent1"/>
              </a:solidFill>
              <a:latin typeface="DM Sans"/>
              <a:ea typeface="DM Sans"/>
              <a:cs typeface="DM Sans"/>
              <a:sym typeface="DM Sans"/>
            </a:endParaRPr>
          </a:p>
        </p:txBody>
      </p:sp>
      <p:sp>
        <p:nvSpPr>
          <p:cNvPr id="2002" name="Google Shape;2002;p90"/>
          <p:cNvSpPr/>
          <p:nvPr/>
        </p:nvSpPr>
        <p:spPr>
          <a:xfrm>
            <a:off x="7602513" y="2498169"/>
            <a:ext cx="626700" cy="488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Cleansed</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sp>
        <p:nvSpPr>
          <p:cNvPr id="2003" name="Google Shape;2003;p90"/>
          <p:cNvSpPr/>
          <p:nvPr/>
        </p:nvSpPr>
        <p:spPr>
          <a:xfrm>
            <a:off x="8302131" y="2777544"/>
            <a:ext cx="765900" cy="466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Filtered</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sp>
        <p:nvSpPr>
          <p:cNvPr id="2004" name="Google Shape;2004;p90"/>
          <p:cNvSpPr/>
          <p:nvPr/>
        </p:nvSpPr>
        <p:spPr>
          <a:xfrm>
            <a:off x="8302138" y="2251631"/>
            <a:ext cx="765900" cy="466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Augmented</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sp>
        <p:nvSpPr>
          <p:cNvPr id="2005" name="Google Shape;2005;p90"/>
          <p:cNvSpPr/>
          <p:nvPr/>
        </p:nvSpPr>
        <p:spPr>
          <a:xfrm>
            <a:off x="10136157" y="2195025"/>
            <a:ext cx="1059000" cy="488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Project</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sp>
        <p:nvSpPr>
          <p:cNvPr id="2006" name="Google Shape;2006;p90"/>
          <p:cNvSpPr/>
          <p:nvPr/>
        </p:nvSpPr>
        <p:spPr>
          <a:xfrm>
            <a:off x="10136157" y="2804625"/>
            <a:ext cx="1059000" cy="4884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Business level</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aggregates</a:t>
            </a:r>
            <a:endParaRPr sz="1000">
              <a:solidFill>
                <a:schemeClr val="accent1"/>
              </a:solidFill>
              <a:latin typeface="DM Sans"/>
              <a:ea typeface="DM Sans"/>
              <a:cs typeface="DM Sans"/>
              <a:sym typeface="DM Sans"/>
            </a:endParaRPr>
          </a:p>
        </p:txBody>
      </p:sp>
      <p:sp>
        <p:nvSpPr>
          <p:cNvPr id="2007" name="Google Shape;2007;p90"/>
          <p:cNvSpPr/>
          <p:nvPr/>
        </p:nvSpPr>
        <p:spPr>
          <a:xfrm>
            <a:off x="5165700" y="1661764"/>
            <a:ext cx="1452000" cy="2334300"/>
          </a:xfrm>
          <a:prstGeom prst="rect">
            <a:avLst/>
          </a:prstGeom>
          <a:solidFill>
            <a:srgbClr val="E69138">
              <a:alpha val="32960"/>
            </a:srgbClr>
          </a:solidFill>
          <a:ln>
            <a:noFill/>
          </a:ln>
        </p:spPr>
        <p:txBody>
          <a:bodyPr anchorCtr="0" anchor="b" bIns="45700" lIns="91425" spcFirstLastPara="1" rIns="91425" wrap="square" tIns="0">
            <a:noAutofit/>
          </a:bodyPr>
          <a:lstStyle/>
          <a:p>
            <a:pPr indent="457200" lvl="0" marL="0" rtl="0" algn="l">
              <a:spcBef>
                <a:spcPts val="0"/>
              </a:spcBef>
              <a:spcAft>
                <a:spcPts val="0"/>
              </a:spcAft>
              <a:buNone/>
            </a:pPr>
            <a:r>
              <a:rPr i="1" lang="en" sz="1000">
                <a:solidFill>
                  <a:schemeClr val="accent1"/>
                </a:solidFill>
                <a:latin typeface="DM Sans Medium"/>
                <a:ea typeface="DM Sans Medium"/>
                <a:cs typeface="DM Sans Medium"/>
                <a:sym typeface="DM Sans Medium"/>
              </a:rPr>
              <a:t>bronze</a:t>
            </a:r>
            <a:endParaRPr i="1" sz="1000">
              <a:solidFill>
                <a:schemeClr val="accent1"/>
              </a:solidFill>
              <a:latin typeface="DM Sans Medium"/>
              <a:ea typeface="DM Sans Medium"/>
              <a:cs typeface="DM Sans Medium"/>
              <a:sym typeface="DM Sans Medium"/>
            </a:endParaRPr>
          </a:p>
        </p:txBody>
      </p:sp>
      <p:sp>
        <p:nvSpPr>
          <p:cNvPr id="2008" name="Google Shape;2008;p90"/>
          <p:cNvSpPr/>
          <p:nvPr/>
        </p:nvSpPr>
        <p:spPr>
          <a:xfrm>
            <a:off x="5323200" y="2982850"/>
            <a:ext cx="1137000" cy="7419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marR="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Ingestion </a:t>
            </a:r>
            <a:endParaRPr>
              <a:solidFill>
                <a:schemeClr val="accent1"/>
              </a:solidFill>
              <a:latin typeface="DM Sans Medium"/>
              <a:ea typeface="DM Sans Medium"/>
              <a:cs typeface="DM Sans Medium"/>
              <a:sym typeface="DM Sans Medium"/>
            </a:endParaRPr>
          </a:p>
        </p:txBody>
      </p:sp>
      <p:sp>
        <p:nvSpPr>
          <p:cNvPr id="2009" name="Google Shape;2009;p90"/>
          <p:cNvSpPr/>
          <p:nvPr/>
        </p:nvSpPr>
        <p:spPr>
          <a:xfrm>
            <a:off x="5601413" y="3305012"/>
            <a:ext cx="626700" cy="3429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Verified</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pic>
        <p:nvPicPr>
          <p:cNvPr id="2010" name="Google Shape;2010;p90"/>
          <p:cNvPicPr preferRelativeResize="0"/>
          <p:nvPr/>
        </p:nvPicPr>
        <p:blipFill rotWithShape="1">
          <a:blip r:embed="rId3">
            <a:alphaModFix/>
          </a:blip>
          <a:srcRect b="17850" l="0" r="0" t="0"/>
          <a:stretch/>
        </p:blipFill>
        <p:spPr>
          <a:xfrm>
            <a:off x="5397498" y="3764759"/>
            <a:ext cx="324301" cy="206938"/>
          </a:xfrm>
          <a:prstGeom prst="rect">
            <a:avLst/>
          </a:prstGeom>
          <a:noFill/>
          <a:ln>
            <a:noFill/>
          </a:ln>
        </p:spPr>
      </p:pic>
      <p:sp>
        <p:nvSpPr>
          <p:cNvPr id="2011" name="Google Shape;2011;p90"/>
          <p:cNvSpPr/>
          <p:nvPr/>
        </p:nvSpPr>
        <p:spPr>
          <a:xfrm>
            <a:off x="5346250" y="1777095"/>
            <a:ext cx="1137000" cy="7419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45700">
            <a:noAutofit/>
          </a:bodyPr>
          <a:lstStyle/>
          <a:p>
            <a:pPr indent="0" lvl="0" marL="0" marR="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Landing</a:t>
            </a:r>
            <a:br>
              <a:rPr lang="en">
                <a:solidFill>
                  <a:schemeClr val="accent1"/>
                </a:solidFill>
                <a:latin typeface="DM Sans Medium"/>
                <a:ea typeface="DM Sans Medium"/>
                <a:cs typeface="DM Sans Medium"/>
                <a:sym typeface="DM Sans Medium"/>
              </a:rPr>
            </a:br>
            <a:endParaRPr>
              <a:solidFill>
                <a:schemeClr val="accent1"/>
              </a:solidFill>
              <a:latin typeface="DM Sans Medium"/>
              <a:ea typeface="DM Sans Medium"/>
              <a:cs typeface="DM Sans Medium"/>
              <a:sym typeface="DM Sans Medium"/>
            </a:endParaRPr>
          </a:p>
        </p:txBody>
      </p:sp>
      <p:sp>
        <p:nvSpPr>
          <p:cNvPr id="2012" name="Google Shape;2012;p90"/>
          <p:cNvSpPr/>
          <p:nvPr/>
        </p:nvSpPr>
        <p:spPr>
          <a:xfrm>
            <a:off x="5601413" y="2099156"/>
            <a:ext cx="626700" cy="3429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Raw data</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(temp.)</a:t>
            </a:r>
            <a:endParaRPr sz="1000">
              <a:solidFill>
                <a:schemeClr val="accent1"/>
              </a:solidFill>
              <a:latin typeface="DM Sans"/>
              <a:ea typeface="DM Sans"/>
              <a:cs typeface="DM Sans"/>
              <a:sym typeface="DM Sans"/>
            </a:endParaRPr>
          </a:p>
        </p:txBody>
      </p:sp>
      <p:sp>
        <p:nvSpPr>
          <p:cNvPr id="2013" name="Google Shape;2013;p90"/>
          <p:cNvSpPr/>
          <p:nvPr/>
        </p:nvSpPr>
        <p:spPr>
          <a:xfrm rot="5400000">
            <a:off x="5790543" y="2647947"/>
            <a:ext cx="1983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90"/>
          <p:cNvSpPr/>
          <p:nvPr/>
        </p:nvSpPr>
        <p:spPr>
          <a:xfrm>
            <a:off x="9713788" y="2672697"/>
            <a:ext cx="1986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90"/>
          <p:cNvSpPr/>
          <p:nvPr/>
        </p:nvSpPr>
        <p:spPr>
          <a:xfrm>
            <a:off x="6592602" y="3206097"/>
            <a:ext cx="1986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90"/>
          <p:cNvSpPr/>
          <p:nvPr/>
        </p:nvSpPr>
        <p:spPr>
          <a:xfrm rot="5400000">
            <a:off x="5790543" y="2647947"/>
            <a:ext cx="198300" cy="24780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0" name="Shape 2020"/>
        <p:cNvGrpSpPr/>
        <p:nvPr/>
      </p:nvGrpSpPr>
      <p:grpSpPr>
        <a:xfrm>
          <a:off x="0" y="0"/>
          <a:ext cx="0" cy="0"/>
          <a:chOff x="0" y="0"/>
          <a:chExt cx="0" cy="0"/>
        </a:xfrm>
      </p:grpSpPr>
      <p:sp>
        <p:nvSpPr>
          <p:cNvPr id="2021" name="Google Shape;2021;p9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022" name="Google Shape;2022;p9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Enhanced medallion architecture</a:t>
            </a:r>
            <a:endParaRPr sz="3600"/>
          </a:p>
        </p:txBody>
      </p:sp>
      <p:sp>
        <p:nvSpPr>
          <p:cNvPr id="2023" name="Google Shape;2023;p91"/>
          <p:cNvSpPr txBox="1"/>
          <p:nvPr>
            <p:ph idx="2" type="body"/>
          </p:nvPr>
        </p:nvSpPr>
        <p:spPr>
          <a:xfrm>
            <a:off x="761800" y="4080550"/>
            <a:ext cx="10659300" cy="2129100"/>
          </a:xfrm>
          <a:prstGeom prst="rect">
            <a:avLst/>
          </a:prstGeom>
        </p:spPr>
        <p:txBody>
          <a:bodyPr anchorCtr="0" anchor="t" bIns="0" lIns="0" spcFirstLastPara="1" rIns="0" wrap="square" tIns="0">
            <a:noAutofit/>
          </a:bodyPr>
          <a:lstStyle/>
          <a:p>
            <a:pPr indent="-317500" lvl="0" marL="457200" rtl="0" algn="l">
              <a:lnSpc>
                <a:spcPct val="100000"/>
              </a:lnSpc>
              <a:spcBef>
                <a:spcPts val="0"/>
              </a:spcBef>
              <a:spcAft>
                <a:spcPts val="0"/>
              </a:spcAft>
              <a:buSzPts val="1400"/>
              <a:buChar char="●"/>
            </a:pPr>
            <a:r>
              <a:rPr b="1" lang="en" sz="1400"/>
              <a:t>Landing:</a:t>
            </a:r>
            <a:r>
              <a:rPr lang="en" sz="1400"/>
              <a:t> Raw data in its original format</a:t>
            </a:r>
            <a:endParaRPr sz="1400"/>
          </a:p>
          <a:p>
            <a:pPr indent="-317500" lvl="0" marL="457200" rtl="0" algn="l">
              <a:lnSpc>
                <a:spcPct val="100000"/>
              </a:lnSpc>
              <a:spcBef>
                <a:spcPts val="400"/>
              </a:spcBef>
              <a:spcAft>
                <a:spcPts val="0"/>
              </a:spcAft>
              <a:buSzPts val="1400"/>
              <a:buChar char="●"/>
            </a:pPr>
            <a:r>
              <a:rPr b="1" lang="en" sz="1400"/>
              <a:t>Ingestion: </a:t>
            </a:r>
            <a:r>
              <a:rPr lang="en" sz="1400"/>
              <a:t>Raw data verified and converted to Delta</a:t>
            </a:r>
            <a:endParaRPr sz="1400"/>
          </a:p>
          <a:p>
            <a:pPr indent="-317500" lvl="0" marL="457200" rtl="0" algn="l">
              <a:lnSpc>
                <a:spcPct val="100000"/>
              </a:lnSpc>
              <a:spcBef>
                <a:spcPts val="400"/>
              </a:spcBef>
              <a:spcAft>
                <a:spcPts val="0"/>
              </a:spcAft>
              <a:buSzPts val="1400"/>
              <a:buChar char="●"/>
            </a:pPr>
            <a:r>
              <a:rPr lang="en" sz="1400"/>
              <a:t>Data Lake for modern use cases</a:t>
            </a:r>
            <a:endParaRPr sz="1400"/>
          </a:p>
          <a:p>
            <a:pPr indent="-317500" lvl="1" marL="914400" rtl="0" algn="l">
              <a:lnSpc>
                <a:spcPct val="100000"/>
              </a:lnSpc>
              <a:spcBef>
                <a:spcPts val="400"/>
              </a:spcBef>
              <a:spcAft>
                <a:spcPts val="0"/>
              </a:spcAft>
              <a:buClr>
                <a:schemeClr val="accent1"/>
              </a:buClr>
              <a:buSzPts val="1400"/>
              <a:buChar char="●"/>
            </a:pPr>
            <a:r>
              <a:rPr b="1" lang="en" sz="1400"/>
              <a:t>Curation: </a:t>
            </a:r>
            <a:r>
              <a:rPr lang="en" sz="1400"/>
              <a:t>Cleansed, homogenized and fundamental </a:t>
            </a:r>
            <a:r>
              <a:rPr lang="en" sz="1400"/>
              <a:t>business logic applied</a:t>
            </a:r>
            <a:endParaRPr sz="1400"/>
          </a:p>
          <a:p>
            <a:pPr indent="-317500" lvl="1" marL="914400" rtl="0" algn="l">
              <a:lnSpc>
                <a:spcPct val="100000"/>
              </a:lnSpc>
              <a:spcBef>
                <a:spcPts val="400"/>
              </a:spcBef>
              <a:spcAft>
                <a:spcPts val="0"/>
              </a:spcAft>
              <a:buClr>
                <a:schemeClr val="accent1"/>
              </a:buClr>
              <a:buSzPts val="1400"/>
              <a:buChar char="●"/>
            </a:pPr>
            <a:r>
              <a:rPr b="1" lang="en" sz="1400"/>
              <a:t>Final:</a:t>
            </a:r>
            <a:r>
              <a:rPr lang="en" sz="1400"/>
              <a:t> Business/project ready datasets </a:t>
            </a:r>
            <a:endParaRPr sz="1400"/>
          </a:p>
          <a:p>
            <a:pPr indent="-317500" lvl="0" marL="457200" rtl="0" algn="l">
              <a:lnSpc>
                <a:spcPct val="100000"/>
              </a:lnSpc>
              <a:spcBef>
                <a:spcPts val="400"/>
              </a:spcBef>
              <a:spcAft>
                <a:spcPts val="0"/>
              </a:spcAft>
              <a:buSzPts val="1400"/>
              <a:buChar char="●"/>
            </a:pPr>
            <a:r>
              <a:rPr lang="en" sz="1400"/>
              <a:t>DWH for BI use cases</a:t>
            </a:r>
            <a:endParaRPr sz="1400"/>
          </a:p>
          <a:p>
            <a:pPr indent="-317500" lvl="1" marL="914400" rtl="0" algn="l">
              <a:lnSpc>
                <a:spcPct val="100000"/>
              </a:lnSpc>
              <a:spcBef>
                <a:spcPts val="400"/>
              </a:spcBef>
              <a:spcAft>
                <a:spcPts val="0"/>
              </a:spcAft>
              <a:buClr>
                <a:schemeClr val="accent1"/>
              </a:buClr>
              <a:buSzPts val="1400"/>
              <a:buChar char="●"/>
            </a:pPr>
            <a:r>
              <a:rPr b="1" lang="en" sz="1400"/>
              <a:t>Integration:</a:t>
            </a:r>
            <a:r>
              <a:rPr lang="en" sz="1400"/>
              <a:t> Enterprise DWH (could be multiple)</a:t>
            </a:r>
            <a:endParaRPr sz="1400"/>
          </a:p>
          <a:p>
            <a:pPr indent="-317500" lvl="1" marL="914400" rtl="0" algn="l">
              <a:lnSpc>
                <a:spcPct val="100000"/>
              </a:lnSpc>
              <a:spcBef>
                <a:spcPts val="400"/>
              </a:spcBef>
              <a:spcAft>
                <a:spcPts val="400"/>
              </a:spcAft>
              <a:buClr>
                <a:schemeClr val="accent1"/>
              </a:buClr>
              <a:buSzPts val="1400"/>
              <a:buChar char="●"/>
            </a:pPr>
            <a:r>
              <a:rPr b="1" lang="en" sz="1400"/>
              <a:t>Presentation:</a:t>
            </a:r>
            <a:r>
              <a:rPr lang="en" sz="1400"/>
              <a:t> Business ready DWH information (data marts)</a:t>
            </a:r>
            <a:endParaRPr sz="1400"/>
          </a:p>
        </p:txBody>
      </p:sp>
      <p:sp>
        <p:nvSpPr>
          <p:cNvPr id="2024" name="Google Shape;2024;p91"/>
          <p:cNvSpPr/>
          <p:nvPr/>
        </p:nvSpPr>
        <p:spPr>
          <a:xfrm>
            <a:off x="2871275" y="1821750"/>
            <a:ext cx="5597400" cy="1908300"/>
          </a:xfrm>
          <a:prstGeom prst="roundRect">
            <a:avLst>
              <a:gd fmla="val 7028" name="adj"/>
            </a:avLst>
          </a:prstGeom>
          <a:solidFill>
            <a:srgbClr val="FFFFFF"/>
          </a:solidFill>
          <a:ln cap="flat" cmpd="sng" w="9525">
            <a:solidFill>
              <a:schemeClr val="accent5"/>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a:solidFill>
                  <a:schemeClr val="accent5"/>
                </a:solidFill>
                <a:latin typeface="DM Sans Medium"/>
                <a:ea typeface="DM Sans Medium"/>
                <a:cs typeface="DM Sans Medium"/>
                <a:sym typeface="DM Sans Medium"/>
              </a:rPr>
              <a:t>Cloud storage</a:t>
            </a:r>
            <a:endParaRPr>
              <a:solidFill>
                <a:schemeClr val="accent5"/>
              </a:solidFill>
              <a:latin typeface="DM Sans Medium"/>
              <a:ea typeface="DM Sans Medium"/>
              <a:cs typeface="DM Sans Medium"/>
              <a:sym typeface="DM Sans Medium"/>
            </a:endParaRPr>
          </a:p>
        </p:txBody>
      </p:sp>
      <p:sp>
        <p:nvSpPr>
          <p:cNvPr id="2025" name="Google Shape;2025;p91"/>
          <p:cNvSpPr/>
          <p:nvPr/>
        </p:nvSpPr>
        <p:spPr>
          <a:xfrm>
            <a:off x="6937396" y="1885850"/>
            <a:ext cx="1452000" cy="1483200"/>
          </a:xfrm>
          <a:prstGeom prst="rect">
            <a:avLst/>
          </a:prstGeom>
          <a:solidFill>
            <a:srgbClr val="FFE599">
              <a:alpha val="40220"/>
            </a:srgbClr>
          </a:solidFill>
          <a:ln>
            <a:noFill/>
          </a:ln>
        </p:spPr>
        <p:txBody>
          <a:bodyPr anchorCtr="0" anchor="b" bIns="45700" lIns="91425" spcFirstLastPara="1" rIns="91425" wrap="square" tIns="0">
            <a:noAutofit/>
          </a:bodyPr>
          <a:lstStyle/>
          <a:p>
            <a:pPr indent="0" lvl="0" marL="0" rtl="0" algn="ctr">
              <a:spcBef>
                <a:spcPts val="0"/>
              </a:spcBef>
              <a:spcAft>
                <a:spcPts val="0"/>
              </a:spcAft>
              <a:buNone/>
            </a:pPr>
            <a:r>
              <a:rPr i="1" lang="en" sz="1200">
                <a:solidFill>
                  <a:schemeClr val="accent1"/>
                </a:solidFill>
                <a:latin typeface="DM Sans Medium"/>
                <a:ea typeface="DM Sans Medium"/>
                <a:cs typeface="DM Sans Medium"/>
                <a:sym typeface="DM Sans Medium"/>
              </a:rPr>
              <a:t>gold</a:t>
            </a:r>
            <a:endParaRPr i="1" sz="1200">
              <a:solidFill>
                <a:schemeClr val="accent1"/>
              </a:solidFill>
              <a:latin typeface="DM Sans Medium"/>
              <a:ea typeface="DM Sans Medium"/>
              <a:cs typeface="DM Sans Medium"/>
              <a:sym typeface="DM Sans Medium"/>
            </a:endParaRPr>
          </a:p>
        </p:txBody>
      </p:sp>
      <p:sp>
        <p:nvSpPr>
          <p:cNvPr id="2026" name="Google Shape;2026;p91"/>
          <p:cNvSpPr/>
          <p:nvPr/>
        </p:nvSpPr>
        <p:spPr>
          <a:xfrm>
            <a:off x="2957446" y="1886083"/>
            <a:ext cx="1452000" cy="1483200"/>
          </a:xfrm>
          <a:prstGeom prst="rect">
            <a:avLst/>
          </a:prstGeom>
          <a:solidFill>
            <a:srgbClr val="E69138">
              <a:alpha val="32960"/>
            </a:srgbClr>
          </a:solidFill>
          <a:ln>
            <a:noFill/>
          </a:ln>
        </p:spPr>
        <p:txBody>
          <a:bodyPr anchorCtr="0" anchor="b" bIns="45700" lIns="91425" spcFirstLastPara="1" rIns="91425" wrap="square" tIns="0">
            <a:noAutofit/>
          </a:bodyPr>
          <a:lstStyle/>
          <a:p>
            <a:pPr indent="457200" lvl="0" marL="0" rtl="0" algn="l">
              <a:spcBef>
                <a:spcPts val="0"/>
              </a:spcBef>
              <a:spcAft>
                <a:spcPts val="0"/>
              </a:spcAft>
              <a:buNone/>
            </a:pPr>
            <a:r>
              <a:rPr i="1" lang="en" sz="1200">
                <a:solidFill>
                  <a:schemeClr val="accent1"/>
                </a:solidFill>
                <a:latin typeface="DM Sans Medium"/>
                <a:ea typeface="DM Sans Medium"/>
                <a:cs typeface="DM Sans Medium"/>
                <a:sym typeface="DM Sans Medium"/>
              </a:rPr>
              <a:t>bronze</a:t>
            </a:r>
            <a:endParaRPr i="1" sz="1200">
              <a:solidFill>
                <a:schemeClr val="accent1"/>
              </a:solidFill>
              <a:latin typeface="DM Sans Medium"/>
              <a:ea typeface="DM Sans Medium"/>
              <a:cs typeface="DM Sans Medium"/>
              <a:sym typeface="DM Sans Medium"/>
            </a:endParaRPr>
          </a:p>
        </p:txBody>
      </p:sp>
      <p:sp>
        <p:nvSpPr>
          <p:cNvPr id="2027" name="Google Shape;2027;p91"/>
          <p:cNvSpPr/>
          <p:nvPr/>
        </p:nvSpPr>
        <p:spPr>
          <a:xfrm>
            <a:off x="4625846" y="1886075"/>
            <a:ext cx="2051400" cy="1483200"/>
          </a:xfrm>
          <a:prstGeom prst="rect">
            <a:avLst/>
          </a:prstGeom>
          <a:solidFill>
            <a:srgbClr val="C4CCD6">
              <a:alpha val="37430"/>
            </a:srgbClr>
          </a:solidFill>
          <a:ln>
            <a:noFill/>
          </a:ln>
        </p:spPr>
        <p:txBody>
          <a:bodyPr anchorCtr="0" anchor="b" bIns="45700" lIns="91425" spcFirstLastPara="1" rIns="91425" wrap="square" tIns="0">
            <a:noAutofit/>
          </a:bodyPr>
          <a:lstStyle/>
          <a:p>
            <a:pPr indent="0" lvl="0" marL="0" rtl="0" algn="ctr">
              <a:spcBef>
                <a:spcPts val="0"/>
              </a:spcBef>
              <a:spcAft>
                <a:spcPts val="0"/>
              </a:spcAft>
              <a:buNone/>
            </a:pPr>
            <a:r>
              <a:rPr i="1" lang="en" sz="1200">
                <a:solidFill>
                  <a:schemeClr val="accent1"/>
                </a:solidFill>
                <a:latin typeface="DM Sans Medium"/>
                <a:ea typeface="DM Sans Medium"/>
                <a:cs typeface="DM Sans Medium"/>
                <a:sym typeface="DM Sans Medium"/>
              </a:rPr>
              <a:t>silver</a:t>
            </a:r>
            <a:endParaRPr i="1" sz="1200">
              <a:solidFill>
                <a:schemeClr val="accent1"/>
              </a:solidFill>
              <a:latin typeface="DM Sans Medium"/>
              <a:ea typeface="DM Sans Medium"/>
              <a:cs typeface="DM Sans Medium"/>
              <a:sym typeface="DM Sans Medium"/>
            </a:endParaRPr>
          </a:p>
        </p:txBody>
      </p:sp>
      <p:sp>
        <p:nvSpPr>
          <p:cNvPr id="2028" name="Google Shape;2028;p91"/>
          <p:cNvSpPr/>
          <p:nvPr/>
        </p:nvSpPr>
        <p:spPr>
          <a:xfrm>
            <a:off x="3115896" y="2618206"/>
            <a:ext cx="1137000" cy="437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0" lIns="91425" spcFirstLastPara="1" rIns="91425" wrap="square" tIns="0">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Ingestion</a:t>
            </a:r>
            <a:endParaRPr>
              <a:solidFill>
                <a:schemeClr val="accent1"/>
              </a:solidFill>
              <a:latin typeface="DM Sans"/>
              <a:ea typeface="DM Sans"/>
              <a:cs typeface="DM Sans"/>
              <a:sym typeface="DM Sans"/>
            </a:endParaRPr>
          </a:p>
          <a:p>
            <a:pPr indent="0" lvl="0" marL="0" rtl="0" algn="ctr">
              <a:spcBef>
                <a:spcPts val="0"/>
              </a:spcBef>
              <a:spcAft>
                <a:spcPts val="0"/>
              </a:spcAft>
              <a:buNone/>
            </a:pPr>
            <a:r>
              <a:rPr lang="en" sz="1000">
                <a:solidFill>
                  <a:schemeClr val="accent5"/>
                </a:solidFill>
                <a:latin typeface="DM Sans"/>
                <a:ea typeface="DM Sans"/>
                <a:cs typeface="DM Sans"/>
                <a:sym typeface="DM Sans"/>
              </a:rPr>
              <a:t>Verified data</a:t>
            </a:r>
            <a:endParaRPr>
              <a:solidFill>
                <a:schemeClr val="accent5"/>
              </a:solidFill>
              <a:latin typeface="DM Sans"/>
              <a:ea typeface="DM Sans"/>
              <a:cs typeface="DM Sans"/>
              <a:sym typeface="DM Sans"/>
            </a:endParaRPr>
          </a:p>
        </p:txBody>
      </p:sp>
      <p:cxnSp>
        <p:nvCxnSpPr>
          <p:cNvPr id="2029" name="Google Shape;2029;p91"/>
          <p:cNvCxnSpPr>
            <a:stCxn id="2028" idx="3"/>
            <a:endCxn id="2030" idx="1"/>
          </p:cNvCxnSpPr>
          <p:nvPr/>
        </p:nvCxnSpPr>
        <p:spPr>
          <a:xfrm flipH="1" rot="10800000">
            <a:off x="4252896" y="2233156"/>
            <a:ext cx="497700" cy="603600"/>
          </a:xfrm>
          <a:prstGeom prst="curvedConnector3">
            <a:avLst>
              <a:gd fmla="val 49989" name="adj1"/>
            </a:avLst>
          </a:prstGeom>
          <a:noFill/>
          <a:ln cap="flat" cmpd="sng" w="9525">
            <a:solidFill>
              <a:schemeClr val="accent5"/>
            </a:solidFill>
            <a:prstDash val="solid"/>
            <a:round/>
            <a:headEnd len="med" w="med" type="none"/>
            <a:tailEnd len="med" w="med" type="triangle"/>
          </a:ln>
        </p:spPr>
      </p:cxnSp>
      <p:cxnSp>
        <p:nvCxnSpPr>
          <p:cNvPr id="2031" name="Google Shape;2031;p91"/>
          <p:cNvCxnSpPr/>
          <p:nvPr/>
        </p:nvCxnSpPr>
        <p:spPr>
          <a:xfrm>
            <a:off x="6531368" y="2157027"/>
            <a:ext cx="552900" cy="0"/>
          </a:xfrm>
          <a:prstGeom prst="straightConnector1">
            <a:avLst/>
          </a:prstGeom>
          <a:noFill/>
          <a:ln cap="flat" cmpd="sng" w="9525">
            <a:solidFill>
              <a:schemeClr val="accent5"/>
            </a:solidFill>
            <a:prstDash val="solid"/>
            <a:round/>
            <a:headEnd len="med" w="med" type="none"/>
            <a:tailEnd len="med" w="med" type="triangle"/>
          </a:ln>
        </p:spPr>
      </p:cxnSp>
      <p:cxnSp>
        <p:nvCxnSpPr>
          <p:cNvPr id="2032" name="Google Shape;2032;p91"/>
          <p:cNvCxnSpPr>
            <a:stCxn id="2033" idx="2"/>
            <a:endCxn id="2028" idx="0"/>
          </p:cNvCxnSpPr>
          <p:nvPr/>
        </p:nvCxnSpPr>
        <p:spPr>
          <a:xfrm flipH="1">
            <a:off x="3684331" y="2452202"/>
            <a:ext cx="4800" cy="165900"/>
          </a:xfrm>
          <a:prstGeom prst="straightConnector1">
            <a:avLst/>
          </a:prstGeom>
          <a:noFill/>
          <a:ln cap="flat" cmpd="sng" w="9525">
            <a:solidFill>
              <a:schemeClr val="accent5"/>
            </a:solidFill>
            <a:prstDash val="solid"/>
            <a:round/>
            <a:headEnd len="med" w="med" type="none"/>
            <a:tailEnd len="med" w="med" type="triangle"/>
          </a:ln>
        </p:spPr>
      </p:cxnSp>
      <p:sp>
        <p:nvSpPr>
          <p:cNvPr id="2030" name="Google Shape;2030;p91"/>
          <p:cNvSpPr/>
          <p:nvPr/>
        </p:nvSpPr>
        <p:spPr>
          <a:xfrm>
            <a:off x="4750484" y="2014201"/>
            <a:ext cx="1781100" cy="4380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solidFill>
                  <a:schemeClr val="accent1"/>
                </a:solidFill>
                <a:latin typeface="DM Sans"/>
                <a:ea typeface="DM Sans"/>
                <a:cs typeface="DM Sans"/>
                <a:sym typeface="DM Sans"/>
              </a:rPr>
              <a:t>Curation</a:t>
            </a:r>
            <a:br>
              <a:rPr lang="en">
                <a:solidFill>
                  <a:schemeClr val="accent1"/>
                </a:solidFill>
                <a:latin typeface="DM Sans"/>
                <a:ea typeface="DM Sans"/>
                <a:cs typeface="DM Sans"/>
                <a:sym typeface="DM Sans"/>
              </a:rPr>
            </a:br>
            <a:r>
              <a:rPr lang="en" sz="1000">
                <a:solidFill>
                  <a:schemeClr val="accent5"/>
                </a:solidFill>
                <a:latin typeface="DM Sans"/>
                <a:ea typeface="DM Sans"/>
                <a:cs typeface="DM Sans"/>
                <a:sym typeface="DM Sans"/>
              </a:rPr>
              <a:t>Cleansed, augmented, …</a:t>
            </a:r>
            <a:endParaRPr sz="600">
              <a:solidFill>
                <a:schemeClr val="accent5"/>
              </a:solidFill>
              <a:latin typeface="DM Sans"/>
              <a:ea typeface="DM Sans"/>
              <a:cs typeface="DM Sans"/>
              <a:sym typeface="DM Sans"/>
            </a:endParaRPr>
          </a:p>
        </p:txBody>
      </p:sp>
      <p:grpSp>
        <p:nvGrpSpPr>
          <p:cNvPr id="2034" name="Google Shape;2034;p91"/>
          <p:cNvGrpSpPr/>
          <p:nvPr/>
        </p:nvGrpSpPr>
        <p:grpSpPr>
          <a:xfrm>
            <a:off x="7084417" y="2012471"/>
            <a:ext cx="1137000" cy="439731"/>
            <a:chOff x="7467334" y="4740375"/>
            <a:chExt cx="1137000" cy="512925"/>
          </a:xfrm>
        </p:grpSpPr>
        <p:sp>
          <p:nvSpPr>
            <p:cNvPr id="2035" name="Google Shape;2035;p91"/>
            <p:cNvSpPr/>
            <p:nvPr/>
          </p:nvSpPr>
          <p:spPr>
            <a:xfrm>
              <a:off x="7467334" y="4742400"/>
              <a:ext cx="1137000" cy="5109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Final</a:t>
              </a:r>
              <a:br>
                <a:rPr lang="en" sz="1000">
                  <a:solidFill>
                    <a:schemeClr val="accent1"/>
                  </a:solidFill>
                  <a:latin typeface="DM Sans"/>
                  <a:ea typeface="DM Sans"/>
                  <a:cs typeface="DM Sans"/>
                  <a:sym typeface="DM Sans"/>
                </a:rPr>
              </a:br>
              <a:r>
                <a:rPr lang="en" sz="1000">
                  <a:solidFill>
                    <a:schemeClr val="accent5"/>
                  </a:solidFill>
                  <a:latin typeface="DM Sans"/>
                  <a:ea typeface="DM Sans"/>
                  <a:cs typeface="DM Sans"/>
                  <a:sym typeface="DM Sans"/>
                </a:rPr>
                <a:t>Business specific</a:t>
              </a:r>
              <a:endParaRPr sz="1000">
                <a:solidFill>
                  <a:schemeClr val="accent5"/>
                </a:solidFill>
                <a:latin typeface="DM Sans"/>
                <a:ea typeface="DM Sans"/>
                <a:cs typeface="DM Sans"/>
                <a:sym typeface="DM Sans"/>
              </a:endParaRPr>
            </a:p>
          </p:txBody>
        </p:sp>
        <p:sp>
          <p:nvSpPr>
            <p:cNvPr id="2036" name="Google Shape;2036;p91"/>
            <p:cNvSpPr/>
            <p:nvPr/>
          </p:nvSpPr>
          <p:spPr>
            <a:xfrm>
              <a:off x="7813193" y="4740375"/>
              <a:ext cx="136500" cy="12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91"/>
            <p:cNvSpPr/>
            <p:nvPr/>
          </p:nvSpPr>
          <p:spPr>
            <a:xfrm>
              <a:off x="8117993" y="4740375"/>
              <a:ext cx="136500" cy="12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8" name="Google Shape;2038;p91"/>
          <p:cNvGrpSpPr/>
          <p:nvPr/>
        </p:nvGrpSpPr>
        <p:grpSpPr>
          <a:xfrm>
            <a:off x="3120631" y="2013398"/>
            <a:ext cx="1137000" cy="438804"/>
            <a:chOff x="1985822" y="4741455"/>
            <a:chExt cx="1137000" cy="511845"/>
          </a:xfrm>
        </p:grpSpPr>
        <p:sp>
          <p:nvSpPr>
            <p:cNvPr id="2033" name="Google Shape;2033;p91"/>
            <p:cNvSpPr/>
            <p:nvPr/>
          </p:nvSpPr>
          <p:spPr>
            <a:xfrm>
              <a:off x="1985822" y="4742400"/>
              <a:ext cx="1137000" cy="5109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solidFill>
                    <a:schemeClr val="accent1"/>
                  </a:solidFill>
                  <a:latin typeface="DM Sans"/>
                  <a:ea typeface="DM Sans"/>
                  <a:cs typeface="DM Sans"/>
                  <a:sym typeface="DM Sans"/>
                </a:rPr>
                <a:t>Landing</a:t>
              </a:r>
              <a:br>
                <a:rPr lang="en">
                  <a:solidFill>
                    <a:schemeClr val="accent1"/>
                  </a:solidFill>
                  <a:latin typeface="DM Sans"/>
                  <a:ea typeface="DM Sans"/>
                  <a:cs typeface="DM Sans"/>
                  <a:sym typeface="DM Sans"/>
                </a:rPr>
              </a:br>
              <a:r>
                <a:rPr lang="en" sz="1000">
                  <a:solidFill>
                    <a:schemeClr val="accent5"/>
                  </a:solidFill>
                  <a:latin typeface="DM Sans"/>
                  <a:ea typeface="DM Sans"/>
                  <a:cs typeface="DM Sans"/>
                  <a:sym typeface="DM Sans"/>
                </a:rPr>
                <a:t>Raw data, </a:t>
              </a:r>
              <a:r>
                <a:rPr lang="en" sz="1000">
                  <a:solidFill>
                    <a:schemeClr val="accent5"/>
                  </a:solidFill>
                  <a:latin typeface="DM Sans"/>
                  <a:ea typeface="DM Sans"/>
                  <a:cs typeface="DM Sans"/>
                  <a:sym typeface="DM Sans"/>
                </a:rPr>
                <a:t>temp</a:t>
              </a:r>
              <a:r>
                <a:rPr lang="en" sz="1000">
                  <a:solidFill>
                    <a:schemeClr val="accent5"/>
                  </a:solidFill>
                  <a:latin typeface="DM Sans"/>
                  <a:ea typeface="DM Sans"/>
                  <a:cs typeface="DM Sans"/>
                  <a:sym typeface="DM Sans"/>
                </a:rPr>
                <a:t>.</a:t>
              </a:r>
              <a:endParaRPr sz="1000">
                <a:solidFill>
                  <a:schemeClr val="accent5"/>
                </a:solidFill>
                <a:latin typeface="DM Sans"/>
                <a:ea typeface="DM Sans"/>
                <a:cs typeface="DM Sans"/>
                <a:sym typeface="DM Sans"/>
              </a:endParaRPr>
            </a:p>
          </p:txBody>
        </p:sp>
        <p:sp>
          <p:nvSpPr>
            <p:cNvPr id="2039" name="Google Shape;2039;p91"/>
            <p:cNvSpPr/>
            <p:nvPr/>
          </p:nvSpPr>
          <p:spPr>
            <a:xfrm>
              <a:off x="2115824" y="4741455"/>
              <a:ext cx="136500" cy="128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t/>
              </a:r>
              <a:endParaRPr/>
            </a:p>
          </p:txBody>
        </p:sp>
        <p:sp>
          <p:nvSpPr>
            <p:cNvPr id="2040" name="Google Shape;2040;p91"/>
            <p:cNvSpPr/>
            <p:nvPr/>
          </p:nvSpPr>
          <p:spPr>
            <a:xfrm>
              <a:off x="2833472" y="4741455"/>
              <a:ext cx="136500" cy="128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t/>
              </a:r>
              <a:endParaRPr/>
            </a:p>
          </p:txBody>
        </p:sp>
      </p:grpSp>
      <p:grpSp>
        <p:nvGrpSpPr>
          <p:cNvPr id="2041" name="Google Shape;2041;p91"/>
          <p:cNvGrpSpPr/>
          <p:nvPr/>
        </p:nvGrpSpPr>
        <p:grpSpPr>
          <a:xfrm>
            <a:off x="7084383" y="2618684"/>
            <a:ext cx="1137000" cy="439089"/>
            <a:chOff x="8924709" y="4740375"/>
            <a:chExt cx="1137000" cy="451135"/>
          </a:xfrm>
        </p:grpSpPr>
        <p:sp>
          <p:nvSpPr>
            <p:cNvPr id="2042" name="Google Shape;2042;p91"/>
            <p:cNvSpPr/>
            <p:nvPr/>
          </p:nvSpPr>
          <p:spPr>
            <a:xfrm>
              <a:off x="8924709" y="4742409"/>
              <a:ext cx="1137000" cy="449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Presentation</a:t>
              </a:r>
              <a:br>
                <a:rPr lang="en" sz="1000">
                  <a:solidFill>
                    <a:schemeClr val="accent1"/>
                  </a:solidFill>
                  <a:latin typeface="DM Sans"/>
                  <a:ea typeface="DM Sans"/>
                  <a:cs typeface="DM Sans"/>
                  <a:sym typeface="DM Sans"/>
                </a:rPr>
              </a:br>
              <a:r>
                <a:rPr lang="en" sz="1000">
                  <a:solidFill>
                    <a:schemeClr val="accent5"/>
                  </a:solidFill>
                  <a:latin typeface="DM Sans"/>
                  <a:ea typeface="DM Sans"/>
                  <a:cs typeface="DM Sans"/>
                  <a:sym typeface="DM Sans"/>
                </a:rPr>
                <a:t>Data marts</a:t>
              </a:r>
              <a:endParaRPr>
                <a:solidFill>
                  <a:schemeClr val="accent5"/>
                </a:solidFill>
                <a:latin typeface="DM Sans"/>
                <a:ea typeface="DM Sans"/>
                <a:cs typeface="DM Sans"/>
                <a:sym typeface="DM Sans"/>
              </a:endParaRPr>
            </a:p>
          </p:txBody>
        </p:sp>
        <p:grpSp>
          <p:nvGrpSpPr>
            <p:cNvPr id="2043" name="Google Shape;2043;p91"/>
            <p:cNvGrpSpPr/>
            <p:nvPr/>
          </p:nvGrpSpPr>
          <p:grpSpPr>
            <a:xfrm>
              <a:off x="9280338" y="4740375"/>
              <a:ext cx="441300" cy="128700"/>
              <a:chOff x="6026857" y="4740375"/>
              <a:chExt cx="441300" cy="128700"/>
            </a:xfrm>
          </p:grpSpPr>
          <p:sp>
            <p:nvSpPr>
              <p:cNvPr id="2044" name="Google Shape;2044;p91"/>
              <p:cNvSpPr/>
              <p:nvPr/>
            </p:nvSpPr>
            <p:spPr>
              <a:xfrm>
                <a:off x="6026857" y="4740375"/>
                <a:ext cx="136500" cy="1287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None/>
                </a:pPr>
                <a:r>
                  <a:t/>
                </a:r>
                <a:endParaRPr/>
              </a:p>
            </p:txBody>
          </p:sp>
          <p:sp>
            <p:nvSpPr>
              <p:cNvPr id="2045" name="Google Shape;2045;p91"/>
              <p:cNvSpPr/>
              <p:nvPr/>
            </p:nvSpPr>
            <p:spPr>
              <a:xfrm>
                <a:off x="6331657" y="4740375"/>
                <a:ext cx="136500" cy="1287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None/>
                </a:pPr>
                <a:r>
                  <a:t/>
                </a:r>
                <a:endParaRPr/>
              </a:p>
            </p:txBody>
          </p:sp>
        </p:grpSp>
      </p:grpSp>
      <p:cxnSp>
        <p:nvCxnSpPr>
          <p:cNvPr id="2046" name="Google Shape;2046;p91"/>
          <p:cNvCxnSpPr>
            <a:stCxn id="2028" idx="3"/>
            <a:endCxn id="2047" idx="1"/>
          </p:cNvCxnSpPr>
          <p:nvPr/>
        </p:nvCxnSpPr>
        <p:spPr>
          <a:xfrm>
            <a:off x="4252896" y="2836756"/>
            <a:ext cx="497400" cy="2700"/>
          </a:xfrm>
          <a:prstGeom prst="curvedConnector3">
            <a:avLst>
              <a:gd fmla="val 50002" name="adj1"/>
            </a:avLst>
          </a:prstGeom>
          <a:noFill/>
          <a:ln cap="flat" cmpd="sng" w="9525">
            <a:solidFill>
              <a:schemeClr val="accent5"/>
            </a:solidFill>
            <a:prstDash val="solid"/>
            <a:round/>
            <a:headEnd len="med" w="med" type="none"/>
            <a:tailEnd len="med" w="med" type="triangle"/>
          </a:ln>
        </p:spPr>
      </p:cxnSp>
      <p:cxnSp>
        <p:nvCxnSpPr>
          <p:cNvPr id="2048" name="Google Shape;2048;p91"/>
          <p:cNvCxnSpPr/>
          <p:nvPr/>
        </p:nvCxnSpPr>
        <p:spPr>
          <a:xfrm>
            <a:off x="6531496" y="2890114"/>
            <a:ext cx="552900" cy="600"/>
          </a:xfrm>
          <a:prstGeom prst="curvedConnector3">
            <a:avLst>
              <a:gd fmla="val 50000" name="adj1"/>
            </a:avLst>
          </a:prstGeom>
          <a:noFill/>
          <a:ln cap="flat" cmpd="sng" w="9525">
            <a:solidFill>
              <a:schemeClr val="accent5"/>
            </a:solidFill>
            <a:prstDash val="solid"/>
            <a:round/>
            <a:headEnd len="med" w="med" type="none"/>
            <a:tailEnd len="med" w="med" type="triangle"/>
          </a:ln>
        </p:spPr>
      </p:cxnSp>
      <p:sp>
        <p:nvSpPr>
          <p:cNvPr id="2047" name="Google Shape;2047;p91"/>
          <p:cNvSpPr/>
          <p:nvPr/>
        </p:nvSpPr>
        <p:spPr>
          <a:xfrm>
            <a:off x="4750316" y="2620794"/>
            <a:ext cx="1781100" cy="4371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Integration</a:t>
            </a:r>
            <a:br>
              <a:rPr lang="en">
                <a:solidFill>
                  <a:schemeClr val="accent1"/>
                </a:solidFill>
                <a:latin typeface="DM Sans"/>
                <a:ea typeface="DM Sans"/>
                <a:cs typeface="DM Sans"/>
                <a:sym typeface="DM Sans"/>
              </a:rPr>
            </a:br>
            <a:r>
              <a:rPr lang="en" sz="1000">
                <a:solidFill>
                  <a:schemeClr val="accent5"/>
                </a:solidFill>
                <a:latin typeface="DM Sans"/>
                <a:ea typeface="DM Sans"/>
                <a:cs typeface="DM Sans"/>
                <a:sym typeface="DM Sans"/>
              </a:rPr>
              <a:t>Business information model</a:t>
            </a:r>
            <a:endParaRPr sz="1000">
              <a:solidFill>
                <a:schemeClr val="accent5"/>
              </a:solidFill>
              <a:latin typeface="DM Sans"/>
              <a:ea typeface="DM Sans"/>
              <a:cs typeface="DM Sans"/>
              <a:sym typeface="DM Sans"/>
            </a:endParaRPr>
          </a:p>
        </p:txBody>
      </p:sp>
      <p:pic>
        <p:nvPicPr>
          <p:cNvPr id="2049" name="Google Shape;2049;p91"/>
          <p:cNvPicPr preferRelativeResize="0"/>
          <p:nvPr/>
        </p:nvPicPr>
        <p:blipFill rotWithShape="1">
          <a:blip r:embed="rId3">
            <a:alphaModFix/>
          </a:blip>
          <a:srcRect b="17850" l="0" r="0" t="0"/>
          <a:stretch/>
        </p:blipFill>
        <p:spPr>
          <a:xfrm>
            <a:off x="3173208" y="3124183"/>
            <a:ext cx="324301" cy="206938"/>
          </a:xfrm>
          <a:prstGeom prst="rect">
            <a:avLst/>
          </a:prstGeom>
          <a:noFill/>
          <a:ln>
            <a:noFill/>
          </a:ln>
        </p:spPr>
      </p:pic>
      <p:pic>
        <p:nvPicPr>
          <p:cNvPr id="2050" name="Google Shape;2050;p91"/>
          <p:cNvPicPr preferRelativeResize="0"/>
          <p:nvPr/>
        </p:nvPicPr>
        <p:blipFill rotWithShape="1">
          <a:blip r:embed="rId3">
            <a:alphaModFix/>
          </a:blip>
          <a:srcRect b="17850" l="0" r="0" t="0"/>
          <a:stretch/>
        </p:blipFill>
        <p:spPr>
          <a:xfrm>
            <a:off x="5137055" y="3124179"/>
            <a:ext cx="324301" cy="206938"/>
          </a:xfrm>
          <a:prstGeom prst="rect">
            <a:avLst/>
          </a:prstGeom>
          <a:noFill/>
          <a:ln>
            <a:noFill/>
          </a:ln>
        </p:spPr>
      </p:pic>
      <p:pic>
        <p:nvPicPr>
          <p:cNvPr id="2051" name="Google Shape;2051;p91"/>
          <p:cNvPicPr preferRelativeResize="0"/>
          <p:nvPr/>
        </p:nvPicPr>
        <p:blipFill rotWithShape="1">
          <a:blip r:embed="rId3">
            <a:alphaModFix/>
          </a:blip>
          <a:srcRect b="17850" l="0" r="0" t="0"/>
          <a:stretch/>
        </p:blipFill>
        <p:spPr>
          <a:xfrm>
            <a:off x="7171128" y="3124180"/>
            <a:ext cx="324301" cy="206938"/>
          </a:xfrm>
          <a:prstGeom prst="rect">
            <a:avLst/>
          </a:prstGeom>
          <a:noFill/>
          <a:ln>
            <a:noFill/>
          </a:ln>
        </p:spPr>
      </p:pic>
      <p:sp>
        <p:nvSpPr>
          <p:cNvPr id="2052" name="Google Shape;2052;p91"/>
          <p:cNvSpPr/>
          <p:nvPr/>
        </p:nvSpPr>
        <p:spPr>
          <a:xfrm>
            <a:off x="8566796" y="2559150"/>
            <a:ext cx="81000" cy="510900"/>
          </a:xfrm>
          <a:prstGeom prst="rightBrace">
            <a:avLst>
              <a:gd fmla="val 50000" name="adj1"/>
              <a:gd fmla="val 5000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2053" name="Google Shape;2053;p91"/>
          <p:cNvSpPr/>
          <p:nvPr/>
        </p:nvSpPr>
        <p:spPr>
          <a:xfrm>
            <a:off x="8566834" y="1977775"/>
            <a:ext cx="81000" cy="510900"/>
          </a:xfrm>
          <a:prstGeom prst="rightBrace">
            <a:avLst>
              <a:gd fmla="val 50000" name="adj1"/>
              <a:gd fmla="val 5000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2054" name="Google Shape;2054;p91"/>
          <p:cNvSpPr txBox="1"/>
          <p:nvPr/>
        </p:nvSpPr>
        <p:spPr>
          <a:xfrm>
            <a:off x="8640930" y="2403904"/>
            <a:ext cx="19179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DM Sans Medium"/>
                <a:ea typeface="DM Sans Medium"/>
                <a:cs typeface="DM Sans Medium"/>
                <a:sym typeface="DM Sans Medium"/>
              </a:rPr>
              <a:t>BI use cases</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(strictly modeled and verified data) </a:t>
            </a:r>
            <a:endParaRPr>
              <a:solidFill>
                <a:schemeClr val="accent1"/>
              </a:solidFill>
              <a:latin typeface="DM Sans Medium"/>
              <a:ea typeface="DM Sans Medium"/>
              <a:cs typeface="DM Sans Medium"/>
              <a:sym typeface="DM Sans Medium"/>
            </a:endParaRPr>
          </a:p>
        </p:txBody>
      </p:sp>
      <p:sp>
        <p:nvSpPr>
          <p:cNvPr id="2055" name="Google Shape;2055;p91"/>
          <p:cNvSpPr txBox="1"/>
          <p:nvPr/>
        </p:nvSpPr>
        <p:spPr>
          <a:xfrm>
            <a:off x="8653071" y="1952700"/>
            <a:ext cx="1978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DM Sans Medium"/>
                <a:ea typeface="DM Sans Medium"/>
                <a:cs typeface="DM Sans Medium"/>
                <a:sym typeface="DM Sans Medium"/>
              </a:rPr>
              <a:t>Modern use cases</a:t>
            </a:r>
            <a:endParaRPr>
              <a:solidFill>
                <a:schemeClr val="accent1"/>
              </a:solidFill>
              <a:latin typeface="DM Sans Medium"/>
              <a:ea typeface="DM Sans Medium"/>
              <a:cs typeface="DM Sans Medium"/>
              <a:sym typeface="DM Sans Medium"/>
            </a:endParaRPr>
          </a:p>
        </p:txBody>
      </p:sp>
      <p:sp>
        <p:nvSpPr>
          <p:cNvPr id="2056" name="Google Shape;2056;p91"/>
          <p:cNvSpPr/>
          <p:nvPr/>
        </p:nvSpPr>
        <p:spPr>
          <a:xfrm>
            <a:off x="1490800" y="2005900"/>
            <a:ext cx="887400" cy="439800"/>
          </a:xfrm>
          <a:prstGeom prst="roundRect">
            <a:avLst>
              <a:gd fmla="val 16667" name="adj"/>
            </a:avLst>
          </a:prstGeom>
          <a:solidFill>
            <a:srgbClr val="FFFFFF"/>
          </a:solidFill>
          <a:ln cap="flat" cmpd="sng" w="9525">
            <a:solidFill>
              <a:schemeClr val="accent1"/>
            </a:solidFill>
            <a:prstDash val="dash"/>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a:solidFill>
                  <a:schemeClr val="accent1"/>
                </a:solidFill>
                <a:latin typeface="DM Sans"/>
                <a:ea typeface="DM Sans"/>
                <a:cs typeface="DM Sans"/>
                <a:sym typeface="DM Sans"/>
              </a:rPr>
              <a:t>batch</a:t>
            </a:r>
            <a:endParaRPr>
              <a:solidFill>
                <a:schemeClr val="accent1"/>
              </a:solidFill>
              <a:latin typeface="DM Sans"/>
              <a:ea typeface="DM Sans"/>
              <a:cs typeface="DM Sans"/>
              <a:sym typeface="DM Sans"/>
            </a:endParaRPr>
          </a:p>
        </p:txBody>
      </p:sp>
      <p:sp>
        <p:nvSpPr>
          <p:cNvPr id="2057" name="Google Shape;2057;p91"/>
          <p:cNvSpPr/>
          <p:nvPr/>
        </p:nvSpPr>
        <p:spPr>
          <a:xfrm>
            <a:off x="1490800" y="2615500"/>
            <a:ext cx="887400" cy="435600"/>
          </a:xfrm>
          <a:prstGeom prst="roundRect">
            <a:avLst>
              <a:gd fmla="val 16667" name="adj"/>
            </a:avLst>
          </a:prstGeom>
          <a:solidFill>
            <a:srgbClr val="FFFFFF"/>
          </a:solidFill>
          <a:ln cap="flat" cmpd="sng" w="9525">
            <a:solidFill>
              <a:schemeClr val="accent1"/>
            </a:solidFill>
            <a:prstDash val="dash"/>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a:solidFill>
                  <a:schemeClr val="accent1"/>
                </a:solidFill>
                <a:latin typeface="DM Sans"/>
                <a:ea typeface="DM Sans"/>
                <a:cs typeface="DM Sans"/>
                <a:sym typeface="DM Sans"/>
              </a:rPr>
              <a:t>streaming</a:t>
            </a:r>
            <a:endParaRPr>
              <a:solidFill>
                <a:schemeClr val="accent1"/>
              </a:solidFill>
              <a:latin typeface="DM Sans"/>
              <a:ea typeface="DM Sans"/>
              <a:cs typeface="DM Sans"/>
              <a:sym typeface="DM Sans"/>
            </a:endParaRPr>
          </a:p>
        </p:txBody>
      </p:sp>
      <p:cxnSp>
        <p:nvCxnSpPr>
          <p:cNvPr id="2058" name="Google Shape;2058;p91"/>
          <p:cNvCxnSpPr>
            <a:stCxn id="2057" idx="3"/>
            <a:endCxn id="2028" idx="1"/>
          </p:cNvCxnSpPr>
          <p:nvPr/>
        </p:nvCxnSpPr>
        <p:spPr>
          <a:xfrm>
            <a:off x="2378200" y="2833300"/>
            <a:ext cx="737700" cy="3600"/>
          </a:xfrm>
          <a:prstGeom prst="curvedConnector3">
            <a:avLst>
              <a:gd fmla="val 50000" name="adj1"/>
            </a:avLst>
          </a:prstGeom>
          <a:noFill/>
          <a:ln cap="flat" cmpd="sng" w="9525">
            <a:solidFill>
              <a:schemeClr val="accent5"/>
            </a:solidFill>
            <a:prstDash val="solid"/>
            <a:round/>
            <a:headEnd len="med" w="med" type="none"/>
            <a:tailEnd len="med" w="med" type="triangle"/>
          </a:ln>
        </p:spPr>
      </p:cxnSp>
      <p:cxnSp>
        <p:nvCxnSpPr>
          <p:cNvPr id="2059" name="Google Shape;2059;p91"/>
          <p:cNvCxnSpPr>
            <a:stCxn id="2056" idx="3"/>
            <a:endCxn id="2033" idx="1"/>
          </p:cNvCxnSpPr>
          <p:nvPr/>
        </p:nvCxnSpPr>
        <p:spPr>
          <a:xfrm>
            <a:off x="2378200" y="2225800"/>
            <a:ext cx="742500" cy="7500"/>
          </a:xfrm>
          <a:prstGeom prst="curvedConnector3">
            <a:avLst>
              <a:gd fmla="val 49995" name="adj1"/>
            </a:avLst>
          </a:prstGeom>
          <a:noFill/>
          <a:ln cap="flat" cmpd="sng" w="9525">
            <a:solidFill>
              <a:schemeClr val="accent5"/>
            </a:solidFill>
            <a:prstDash val="solid"/>
            <a:round/>
            <a:headEnd len="med" w="med" type="none"/>
            <a:tailEnd len="med" w="med" type="triangle"/>
          </a:ln>
        </p:spPr>
      </p:cxnSp>
      <p:sp>
        <p:nvSpPr>
          <p:cNvPr id="2060" name="Google Shape;2060;p9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For modern AI use cases and classic DWH/BI use cases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92"/>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 access</a:t>
            </a:r>
            <a:endParaRPr/>
          </a:p>
        </p:txBody>
      </p:sp>
      <p:sp>
        <p:nvSpPr>
          <p:cNvPr id="2066" name="Google Shape;2066;p9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sp>
        <p:nvSpPr>
          <p:cNvPr id="2071" name="Google Shape;2071;p93"/>
          <p:cNvSpPr/>
          <p:nvPr/>
        </p:nvSpPr>
        <p:spPr>
          <a:xfrm>
            <a:off x="7261775" y="2144700"/>
            <a:ext cx="4098900" cy="2925900"/>
          </a:xfrm>
          <a:prstGeom prst="roundRect">
            <a:avLst>
              <a:gd fmla="val 4794"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Cloud Storage</a:t>
            </a:r>
            <a:endParaRPr sz="2000">
              <a:solidFill>
                <a:schemeClr val="accent1"/>
              </a:solidFill>
              <a:latin typeface="DM Sans Medium"/>
              <a:ea typeface="DM Sans Medium"/>
              <a:cs typeface="DM Sans Medium"/>
              <a:sym typeface="DM Sans Medium"/>
            </a:endParaRPr>
          </a:p>
        </p:txBody>
      </p:sp>
      <p:sp>
        <p:nvSpPr>
          <p:cNvPr id="2072" name="Google Shape;2072;p93"/>
          <p:cNvSpPr/>
          <p:nvPr/>
        </p:nvSpPr>
        <p:spPr>
          <a:xfrm>
            <a:off x="7642482" y="3645775"/>
            <a:ext cx="3534600" cy="5616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a:ea typeface="DM Sans"/>
                <a:cs typeface="DM Sans"/>
                <a:sym typeface="DM Sans"/>
              </a:rPr>
              <a:t>External table containers / buckets</a:t>
            </a:r>
            <a:endParaRPr sz="1600">
              <a:solidFill>
                <a:schemeClr val="accent1"/>
              </a:solidFill>
              <a:latin typeface="DM Sans"/>
              <a:ea typeface="DM Sans"/>
              <a:cs typeface="DM Sans"/>
              <a:sym typeface="DM Sans"/>
            </a:endParaRPr>
          </a:p>
        </p:txBody>
      </p:sp>
      <p:sp>
        <p:nvSpPr>
          <p:cNvPr id="2073" name="Google Shape;2073;p9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High Level Data Access from Databricks</a:t>
            </a:r>
            <a:endParaRPr sz="3600"/>
          </a:p>
        </p:txBody>
      </p:sp>
      <p:sp>
        <p:nvSpPr>
          <p:cNvPr id="2074" name="Google Shape;2074;p93"/>
          <p:cNvSpPr/>
          <p:nvPr/>
        </p:nvSpPr>
        <p:spPr>
          <a:xfrm>
            <a:off x="1736000" y="2989900"/>
            <a:ext cx="2437500" cy="1998600"/>
          </a:xfrm>
          <a:prstGeom prst="roundRect">
            <a:avLst>
              <a:gd fmla="val 5209"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     Compute Plane</a:t>
            </a:r>
            <a:endParaRPr sz="2000">
              <a:solidFill>
                <a:schemeClr val="accent1"/>
              </a:solidFill>
              <a:latin typeface="DM Sans Medium"/>
              <a:ea typeface="DM Sans Medium"/>
              <a:cs typeface="DM Sans Medium"/>
              <a:sym typeface="DM Sans Medium"/>
            </a:endParaRPr>
          </a:p>
        </p:txBody>
      </p:sp>
      <p:sp>
        <p:nvSpPr>
          <p:cNvPr id="2075" name="Google Shape;2075;p93"/>
          <p:cNvSpPr/>
          <p:nvPr/>
        </p:nvSpPr>
        <p:spPr>
          <a:xfrm>
            <a:off x="7579900" y="2828525"/>
            <a:ext cx="3534600" cy="5616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a:ea typeface="DM Sans"/>
                <a:cs typeface="DM Sans"/>
                <a:sym typeface="DM Sans"/>
              </a:rPr>
              <a:t>Managed table container / bucket</a:t>
            </a:r>
            <a:endParaRPr sz="1600">
              <a:solidFill>
                <a:schemeClr val="accent1"/>
              </a:solidFill>
              <a:latin typeface="DM Sans"/>
              <a:ea typeface="DM Sans"/>
              <a:cs typeface="DM Sans"/>
              <a:sym typeface="DM Sans"/>
            </a:endParaRPr>
          </a:p>
        </p:txBody>
      </p:sp>
      <p:sp>
        <p:nvSpPr>
          <p:cNvPr id="2076" name="Google Shape;2076;p93"/>
          <p:cNvSpPr/>
          <p:nvPr/>
        </p:nvSpPr>
        <p:spPr>
          <a:xfrm>
            <a:off x="7579900" y="3569575"/>
            <a:ext cx="3534600" cy="5616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a:ea typeface="DM Sans"/>
                <a:cs typeface="DM Sans"/>
                <a:sym typeface="DM Sans"/>
              </a:rPr>
              <a:t>External table containers / buckets</a:t>
            </a:r>
            <a:endParaRPr sz="1600">
              <a:solidFill>
                <a:schemeClr val="accent1"/>
              </a:solidFill>
              <a:latin typeface="DM Sans"/>
              <a:ea typeface="DM Sans"/>
              <a:cs typeface="DM Sans"/>
              <a:sym typeface="DM Sans"/>
            </a:endParaRPr>
          </a:p>
        </p:txBody>
      </p:sp>
      <p:sp>
        <p:nvSpPr>
          <p:cNvPr id="2077" name="Google Shape;2077;p9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078" name="Google Shape;2078;p93"/>
          <p:cNvSpPr/>
          <p:nvPr/>
        </p:nvSpPr>
        <p:spPr>
          <a:xfrm>
            <a:off x="2082385" y="3561575"/>
            <a:ext cx="1697700" cy="1148700"/>
          </a:xfrm>
          <a:prstGeom prst="roundRect">
            <a:avLst>
              <a:gd fmla="val 11719"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45700">
            <a:noAutofit/>
          </a:bodyPr>
          <a:lstStyle/>
          <a:p>
            <a:pPr indent="0" lvl="0" marL="0" rtl="0" algn="ctr">
              <a:spcBef>
                <a:spcPts val="0"/>
              </a:spcBef>
              <a:spcAft>
                <a:spcPts val="0"/>
              </a:spcAft>
              <a:buNone/>
            </a:pPr>
            <a:r>
              <a:rPr lang="en" sz="1600">
                <a:solidFill>
                  <a:srgbClr val="1B5161"/>
                </a:solidFill>
                <a:latin typeface="DM Sans Medium"/>
                <a:ea typeface="DM Sans Medium"/>
                <a:cs typeface="DM Sans Medium"/>
                <a:sym typeface="DM Sans Medium"/>
              </a:rPr>
              <a:t>Cluster / SQL Warehouse</a:t>
            </a:r>
            <a:endParaRPr sz="1600">
              <a:solidFill>
                <a:srgbClr val="1B5161"/>
              </a:solidFill>
              <a:latin typeface="DM Sans"/>
              <a:ea typeface="DM Sans"/>
              <a:cs typeface="DM Sans"/>
              <a:sym typeface="DM Sans"/>
            </a:endParaRPr>
          </a:p>
        </p:txBody>
      </p:sp>
      <p:sp>
        <p:nvSpPr>
          <p:cNvPr id="2079" name="Google Shape;2079;p93"/>
          <p:cNvSpPr/>
          <p:nvPr/>
        </p:nvSpPr>
        <p:spPr>
          <a:xfrm>
            <a:off x="7579900" y="4332750"/>
            <a:ext cx="3534600" cy="561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a:ea typeface="DM Sans"/>
                <a:cs typeface="DM Sans"/>
                <a:sym typeface="DM Sans"/>
              </a:rPr>
              <a:t>root container / bucket </a:t>
            </a:r>
            <a:endParaRPr sz="1600">
              <a:solidFill>
                <a:schemeClr val="dk2"/>
              </a:solidFill>
              <a:latin typeface="DM Sans"/>
              <a:ea typeface="DM Sans"/>
              <a:cs typeface="DM Sans"/>
              <a:sym typeface="DM Sans"/>
            </a:endParaRPr>
          </a:p>
        </p:txBody>
      </p:sp>
      <p:sp>
        <p:nvSpPr>
          <p:cNvPr id="2080" name="Google Shape;2080;p93"/>
          <p:cNvSpPr/>
          <p:nvPr/>
        </p:nvSpPr>
        <p:spPr>
          <a:xfrm>
            <a:off x="5805950" y="4136639"/>
            <a:ext cx="942300" cy="10266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lang="en" sz="1600">
                <a:solidFill>
                  <a:schemeClr val="dk2"/>
                </a:solidFill>
                <a:latin typeface="DM Sans"/>
                <a:ea typeface="DM Sans"/>
                <a:cs typeface="DM Sans"/>
                <a:sym typeface="DM Sans"/>
              </a:rPr>
              <a:t>DBFS</a:t>
            </a:r>
            <a:endParaRPr sz="1600">
              <a:solidFill>
                <a:schemeClr val="dk2"/>
              </a:solidFill>
              <a:latin typeface="DM Sans"/>
              <a:ea typeface="DM Sans"/>
              <a:cs typeface="DM Sans"/>
              <a:sym typeface="DM Sans"/>
            </a:endParaRPr>
          </a:p>
        </p:txBody>
      </p:sp>
      <p:sp>
        <p:nvSpPr>
          <p:cNvPr id="2081" name="Google Shape;2081;p93"/>
          <p:cNvSpPr txBox="1"/>
          <p:nvPr/>
        </p:nvSpPr>
        <p:spPr>
          <a:xfrm>
            <a:off x="6156457" y="4415360"/>
            <a:ext cx="2919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DM Sans"/>
                <a:ea typeface="DM Sans"/>
                <a:cs typeface="DM Sans"/>
                <a:sym typeface="DM Sans"/>
              </a:rPr>
              <a:t>/</a:t>
            </a:r>
            <a:endParaRPr>
              <a:solidFill>
                <a:schemeClr val="dk2"/>
              </a:solidFill>
              <a:latin typeface="DM Sans"/>
              <a:ea typeface="DM Sans"/>
              <a:cs typeface="DM Sans"/>
              <a:sym typeface="DM Sans"/>
            </a:endParaRPr>
          </a:p>
        </p:txBody>
      </p:sp>
      <p:cxnSp>
        <p:nvCxnSpPr>
          <p:cNvPr id="2082" name="Google Shape;2082;p93"/>
          <p:cNvCxnSpPr>
            <a:endCxn id="2079" idx="1"/>
          </p:cNvCxnSpPr>
          <p:nvPr/>
        </p:nvCxnSpPr>
        <p:spPr>
          <a:xfrm>
            <a:off x="6473800" y="4613550"/>
            <a:ext cx="1106100" cy="0"/>
          </a:xfrm>
          <a:prstGeom prst="straightConnector1">
            <a:avLst/>
          </a:prstGeom>
          <a:noFill/>
          <a:ln cap="flat" cmpd="sng" w="19050">
            <a:solidFill>
              <a:schemeClr val="accent1"/>
            </a:solidFill>
            <a:prstDash val="dash"/>
            <a:round/>
            <a:headEnd len="med" w="med" type="oval"/>
            <a:tailEnd len="med" w="med" type="triangle"/>
          </a:ln>
        </p:spPr>
      </p:cxnSp>
      <p:cxnSp>
        <p:nvCxnSpPr>
          <p:cNvPr id="2083" name="Google Shape;2083;p93"/>
          <p:cNvCxnSpPr>
            <a:stCxn id="2080" idx="1"/>
            <a:endCxn id="2078" idx="3"/>
          </p:cNvCxnSpPr>
          <p:nvPr/>
        </p:nvCxnSpPr>
        <p:spPr>
          <a:xfrm rot="10800000">
            <a:off x="3780050" y="4136039"/>
            <a:ext cx="2025900" cy="513900"/>
          </a:xfrm>
          <a:prstGeom prst="curvedConnector3">
            <a:avLst>
              <a:gd fmla="val 55536" name="adj1"/>
            </a:avLst>
          </a:prstGeom>
          <a:noFill/>
          <a:ln cap="flat" cmpd="sng" w="19050">
            <a:solidFill>
              <a:schemeClr val="accent1"/>
            </a:solidFill>
            <a:prstDash val="dash"/>
            <a:round/>
            <a:headEnd len="med" w="med" type="triangle"/>
            <a:tailEnd len="med" w="med" type="none"/>
          </a:ln>
        </p:spPr>
      </p:cxnSp>
      <p:pic>
        <p:nvPicPr>
          <p:cNvPr id="2084" name="Google Shape;2084;p93"/>
          <p:cNvPicPr preferRelativeResize="0"/>
          <p:nvPr/>
        </p:nvPicPr>
        <p:blipFill rotWithShape="1">
          <a:blip r:embed="rId3">
            <a:alphaModFix/>
          </a:blip>
          <a:srcRect b="0" l="0" r="82955" t="0"/>
          <a:stretch/>
        </p:blipFill>
        <p:spPr>
          <a:xfrm>
            <a:off x="1929704" y="3151591"/>
            <a:ext cx="245706" cy="226800"/>
          </a:xfrm>
          <a:prstGeom prst="rect">
            <a:avLst/>
          </a:prstGeom>
          <a:noFill/>
          <a:ln>
            <a:noFill/>
          </a:ln>
        </p:spPr>
      </p:pic>
      <p:pic>
        <p:nvPicPr>
          <p:cNvPr id="2085" name="Google Shape;2085;p93"/>
          <p:cNvPicPr preferRelativeResize="0"/>
          <p:nvPr/>
        </p:nvPicPr>
        <p:blipFill>
          <a:blip r:embed="rId4">
            <a:alphaModFix/>
          </a:blip>
          <a:stretch>
            <a:fillRect/>
          </a:stretch>
        </p:blipFill>
        <p:spPr>
          <a:xfrm>
            <a:off x="2356288" y="4198734"/>
            <a:ext cx="446290" cy="446267"/>
          </a:xfrm>
          <a:prstGeom prst="rect">
            <a:avLst/>
          </a:prstGeom>
          <a:noFill/>
          <a:ln>
            <a:noFill/>
          </a:ln>
        </p:spPr>
      </p:pic>
      <p:pic>
        <p:nvPicPr>
          <p:cNvPr id="2086" name="Google Shape;2086;p93"/>
          <p:cNvPicPr preferRelativeResize="0"/>
          <p:nvPr/>
        </p:nvPicPr>
        <p:blipFill>
          <a:blip r:embed="rId5">
            <a:alphaModFix/>
          </a:blip>
          <a:stretch>
            <a:fillRect/>
          </a:stretch>
        </p:blipFill>
        <p:spPr>
          <a:xfrm>
            <a:off x="3021133" y="4159505"/>
            <a:ext cx="524727" cy="524700"/>
          </a:xfrm>
          <a:prstGeom prst="rect">
            <a:avLst/>
          </a:prstGeom>
          <a:noFill/>
          <a:ln>
            <a:noFill/>
          </a:ln>
        </p:spPr>
      </p:pic>
      <p:cxnSp>
        <p:nvCxnSpPr>
          <p:cNvPr id="2087" name="Google Shape;2087;p93"/>
          <p:cNvCxnSpPr>
            <a:stCxn id="2076" idx="1"/>
            <a:endCxn id="2078" idx="3"/>
          </p:cNvCxnSpPr>
          <p:nvPr/>
        </p:nvCxnSpPr>
        <p:spPr>
          <a:xfrm flipH="1">
            <a:off x="3780100" y="3850375"/>
            <a:ext cx="3799800" cy="285600"/>
          </a:xfrm>
          <a:prstGeom prst="curvedConnector3">
            <a:avLst>
              <a:gd fmla="val 62982" name="adj1"/>
            </a:avLst>
          </a:prstGeom>
          <a:noFill/>
          <a:ln cap="flat" cmpd="sng" w="19050">
            <a:solidFill>
              <a:schemeClr val="accent1"/>
            </a:solidFill>
            <a:prstDash val="dash"/>
            <a:round/>
            <a:headEnd len="med" w="med" type="triangle"/>
            <a:tailEnd len="med" w="med" type="none"/>
          </a:ln>
        </p:spPr>
      </p:cxnSp>
      <p:cxnSp>
        <p:nvCxnSpPr>
          <p:cNvPr id="2088" name="Google Shape;2088;p93"/>
          <p:cNvCxnSpPr>
            <a:stCxn id="2075" idx="1"/>
            <a:endCxn id="2078" idx="3"/>
          </p:cNvCxnSpPr>
          <p:nvPr/>
        </p:nvCxnSpPr>
        <p:spPr>
          <a:xfrm flipH="1">
            <a:off x="3780100" y="3109325"/>
            <a:ext cx="3799800" cy="1026600"/>
          </a:xfrm>
          <a:prstGeom prst="curvedConnector3">
            <a:avLst>
              <a:gd fmla="val 70565" name="adj1"/>
            </a:avLst>
          </a:prstGeom>
          <a:noFill/>
          <a:ln cap="flat" cmpd="sng" w="19050">
            <a:solidFill>
              <a:schemeClr val="accent1"/>
            </a:solidFill>
            <a:prstDash val="dash"/>
            <a:round/>
            <a:headEnd len="med" w="med" type="triangle"/>
            <a:tailEnd len="med" w="med" type="none"/>
          </a:ln>
        </p:spPr>
      </p:cxnSp>
      <p:sp>
        <p:nvSpPr>
          <p:cNvPr id="2089" name="Google Shape;2089;p93"/>
          <p:cNvSpPr txBox="1"/>
          <p:nvPr/>
        </p:nvSpPr>
        <p:spPr>
          <a:xfrm>
            <a:off x="5075154" y="5726140"/>
            <a:ext cx="2994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accent1"/>
                </a:solidFill>
                <a:latin typeface="DM Sans"/>
                <a:ea typeface="DM Sans"/>
                <a:cs typeface="DM Sans"/>
                <a:sym typeface="DM Sans"/>
              </a:rPr>
              <a:t>Access control by Unity Catalog</a:t>
            </a:r>
            <a:endParaRPr i="1">
              <a:solidFill>
                <a:schemeClr val="accent1"/>
              </a:solidFill>
              <a:latin typeface="DM Sans"/>
              <a:ea typeface="DM Sans"/>
              <a:cs typeface="DM Sans"/>
              <a:sym typeface="DM Sans"/>
            </a:endParaRPr>
          </a:p>
        </p:txBody>
      </p:sp>
      <p:grpSp>
        <p:nvGrpSpPr>
          <p:cNvPr id="2090" name="Google Shape;2090;p93"/>
          <p:cNvGrpSpPr/>
          <p:nvPr/>
        </p:nvGrpSpPr>
        <p:grpSpPr>
          <a:xfrm>
            <a:off x="4765175" y="5793590"/>
            <a:ext cx="297000" cy="297000"/>
            <a:chOff x="5760200" y="3950915"/>
            <a:chExt cx="297000" cy="297000"/>
          </a:xfrm>
        </p:grpSpPr>
        <p:sp>
          <p:nvSpPr>
            <p:cNvPr id="2091" name="Google Shape;2091;p93"/>
            <p:cNvSpPr/>
            <p:nvPr/>
          </p:nvSpPr>
          <p:spPr>
            <a:xfrm>
              <a:off x="5760200" y="3950915"/>
              <a:ext cx="297000" cy="2970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2" name="Google Shape;2092;p93"/>
            <p:cNvPicPr preferRelativeResize="0"/>
            <p:nvPr/>
          </p:nvPicPr>
          <p:blipFill rotWithShape="1">
            <a:blip r:embed="rId6">
              <a:alphaModFix/>
            </a:blip>
            <a:srcRect b="0" l="0" r="0" t="0"/>
            <a:stretch/>
          </p:blipFill>
          <p:spPr>
            <a:xfrm>
              <a:off x="5785850" y="3976577"/>
              <a:ext cx="245700" cy="245667"/>
            </a:xfrm>
            <a:prstGeom prst="rect">
              <a:avLst/>
            </a:prstGeom>
            <a:noFill/>
            <a:ln>
              <a:noFill/>
            </a:ln>
          </p:spPr>
        </p:pic>
      </p:grpSp>
      <p:sp>
        <p:nvSpPr>
          <p:cNvPr id="2093" name="Google Shape;2093;p9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Clusters and SQL Warehouses with Unity Catalog</a:t>
            </a:r>
            <a:endParaRPr/>
          </a:p>
        </p:txBody>
      </p:sp>
      <p:sp>
        <p:nvSpPr>
          <p:cNvPr id="2094" name="Google Shape;2094;p93"/>
          <p:cNvSpPr/>
          <p:nvPr/>
        </p:nvSpPr>
        <p:spPr>
          <a:xfrm>
            <a:off x="1736000" y="2144700"/>
            <a:ext cx="2437500" cy="696600"/>
          </a:xfrm>
          <a:prstGeom prst="roundRect">
            <a:avLst>
              <a:gd fmla="val 17962" name="adj"/>
            </a:avLst>
          </a:prstGeom>
          <a:no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chemeClr val="accent1"/>
                </a:solidFill>
                <a:latin typeface="DM Sans Medium"/>
                <a:ea typeface="DM Sans Medium"/>
                <a:cs typeface="DM Sans Medium"/>
                <a:sym typeface="DM Sans Medium"/>
              </a:rPr>
              <a:t>Unity Catalog</a:t>
            </a:r>
            <a:endParaRPr sz="2000">
              <a:solidFill>
                <a:schemeClr val="accent1"/>
              </a:solidFill>
              <a:latin typeface="DM Sans Medium"/>
              <a:ea typeface="DM Sans Medium"/>
              <a:cs typeface="DM Sans Medium"/>
              <a:sym typeface="DM Sans Medium"/>
            </a:endParaRPr>
          </a:p>
        </p:txBody>
      </p:sp>
      <p:sp>
        <p:nvSpPr>
          <p:cNvPr id="2095" name="Google Shape;2095;p93"/>
          <p:cNvSpPr txBox="1"/>
          <p:nvPr/>
        </p:nvSpPr>
        <p:spPr>
          <a:xfrm>
            <a:off x="5075148" y="6193543"/>
            <a:ext cx="4214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accent1"/>
                </a:solidFill>
                <a:latin typeface="DM Sans"/>
                <a:ea typeface="DM Sans"/>
                <a:cs typeface="DM Sans"/>
                <a:sym typeface="DM Sans"/>
              </a:rPr>
              <a:t>No access control, don’t use for production data</a:t>
            </a:r>
            <a:endParaRPr i="1">
              <a:solidFill>
                <a:schemeClr val="accent1"/>
              </a:solidFill>
              <a:latin typeface="DM Sans"/>
              <a:ea typeface="DM Sans"/>
              <a:cs typeface="DM Sans"/>
              <a:sym typeface="DM Sans"/>
            </a:endParaRPr>
          </a:p>
        </p:txBody>
      </p:sp>
      <p:sp>
        <p:nvSpPr>
          <p:cNvPr id="2096" name="Google Shape;2096;p93"/>
          <p:cNvSpPr txBox="1"/>
          <p:nvPr/>
        </p:nvSpPr>
        <p:spPr>
          <a:xfrm>
            <a:off x="4759426" y="6230269"/>
            <a:ext cx="297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DM Sans"/>
                <a:ea typeface="DM Sans"/>
                <a:cs typeface="DM Sans"/>
                <a:sym typeface="DM Sans"/>
              </a:rPr>
              <a:t>*</a:t>
            </a:r>
            <a:endParaRPr b="1">
              <a:solidFill>
                <a:schemeClr val="dk2"/>
              </a:solidFill>
              <a:latin typeface="DM Sans"/>
              <a:ea typeface="DM Sans"/>
              <a:cs typeface="DM Sans"/>
              <a:sym typeface="DM Sans"/>
            </a:endParaRPr>
          </a:p>
        </p:txBody>
      </p:sp>
      <p:sp>
        <p:nvSpPr>
          <p:cNvPr id="2097" name="Google Shape;2097;p93"/>
          <p:cNvSpPr txBox="1"/>
          <p:nvPr/>
        </p:nvSpPr>
        <p:spPr>
          <a:xfrm>
            <a:off x="5817600" y="4747813"/>
            <a:ext cx="942300" cy="40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200">
                <a:solidFill>
                  <a:schemeClr val="dk2"/>
                </a:solidFill>
                <a:latin typeface="DM Sans"/>
                <a:ea typeface="DM Sans"/>
                <a:cs typeface="DM Sans"/>
                <a:sym typeface="DM Sans"/>
              </a:rPr>
              <a:t>virtual </a:t>
            </a:r>
            <a:br>
              <a:rPr i="1" lang="en" sz="1200">
                <a:solidFill>
                  <a:schemeClr val="dk2"/>
                </a:solidFill>
                <a:latin typeface="DM Sans"/>
                <a:ea typeface="DM Sans"/>
                <a:cs typeface="DM Sans"/>
                <a:sym typeface="DM Sans"/>
              </a:rPr>
            </a:br>
            <a:r>
              <a:rPr i="1" lang="en" sz="1200">
                <a:solidFill>
                  <a:schemeClr val="dk2"/>
                </a:solidFill>
                <a:latin typeface="DM Sans"/>
                <a:ea typeface="DM Sans"/>
                <a:cs typeface="DM Sans"/>
                <a:sym typeface="DM Sans"/>
              </a:rPr>
              <a:t>filesystem</a:t>
            </a:r>
            <a:endParaRPr i="1" sz="1200">
              <a:solidFill>
                <a:schemeClr val="dk2"/>
              </a:solidFill>
              <a:latin typeface="DM Sans"/>
              <a:ea typeface="DM Sans"/>
              <a:cs typeface="DM Sans"/>
              <a:sym typeface="DM Sans"/>
            </a:endParaRPr>
          </a:p>
        </p:txBody>
      </p:sp>
      <p:cxnSp>
        <p:nvCxnSpPr>
          <p:cNvPr id="2098" name="Google Shape;2098;p93"/>
          <p:cNvCxnSpPr>
            <a:stCxn id="2094" idx="3"/>
            <a:endCxn id="2099" idx="0"/>
          </p:cNvCxnSpPr>
          <p:nvPr/>
        </p:nvCxnSpPr>
        <p:spPr>
          <a:xfrm>
            <a:off x="4173500" y="2493000"/>
            <a:ext cx="1305600" cy="1313400"/>
          </a:xfrm>
          <a:prstGeom prst="bentConnector2">
            <a:avLst/>
          </a:prstGeom>
          <a:noFill/>
          <a:ln cap="flat" cmpd="sng" w="9525">
            <a:solidFill>
              <a:schemeClr val="accent4"/>
            </a:solidFill>
            <a:prstDash val="dash"/>
            <a:round/>
            <a:headEnd len="med" w="med" type="none"/>
            <a:tailEnd len="med" w="med" type="none"/>
          </a:ln>
        </p:spPr>
      </p:cxnSp>
      <p:grpSp>
        <p:nvGrpSpPr>
          <p:cNvPr id="2100" name="Google Shape;2100;p93"/>
          <p:cNvGrpSpPr/>
          <p:nvPr/>
        </p:nvGrpSpPr>
        <p:grpSpPr>
          <a:xfrm>
            <a:off x="5330650" y="3806264"/>
            <a:ext cx="297000" cy="297000"/>
            <a:chOff x="5760200" y="4468675"/>
            <a:chExt cx="297000" cy="297000"/>
          </a:xfrm>
        </p:grpSpPr>
        <p:sp>
          <p:nvSpPr>
            <p:cNvPr id="2099" name="Google Shape;2099;p93"/>
            <p:cNvSpPr/>
            <p:nvPr/>
          </p:nvSpPr>
          <p:spPr>
            <a:xfrm>
              <a:off x="5760200" y="4468675"/>
              <a:ext cx="297000" cy="2970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1" name="Google Shape;2101;p93"/>
            <p:cNvPicPr preferRelativeResize="0"/>
            <p:nvPr/>
          </p:nvPicPr>
          <p:blipFill rotWithShape="1">
            <a:blip r:embed="rId6">
              <a:alphaModFix/>
            </a:blip>
            <a:srcRect b="0" l="0" r="0" t="0"/>
            <a:stretch/>
          </p:blipFill>
          <p:spPr>
            <a:xfrm>
              <a:off x="5785850" y="4494337"/>
              <a:ext cx="245700" cy="245667"/>
            </a:xfrm>
            <a:prstGeom prst="rect">
              <a:avLst/>
            </a:prstGeom>
            <a:noFill/>
            <a:ln>
              <a:noFill/>
            </a:ln>
          </p:spPr>
        </p:pic>
      </p:grpSp>
      <p:grpSp>
        <p:nvGrpSpPr>
          <p:cNvPr id="2102" name="Google Shape;2102;p93"/>
          <p:cNvGrpSpPr/>
          <p:nvPr/>
        </p:nvGrpSpPr>
        <p:grpSpPr>
          <a:xfrm>
            <a:off x="5330650" y="3225440"/>
            <a:ext cx="297000" cy="297000"/>
            <a:chOff x="5760200" y="3950915"/>
            <a:chExt cx="297000" cy="297000"/>
          </a:xfrm>
        </p:grpSpPr>
        <p:sp>
          <p:nvSpPr>
            <p:cNvPr id="2103" name="Google Shape;2103;p93"/>
            <p:cNvSpPr/>
            <p:nvPr/>
          </p:nvSpPr>
          <p:spPr>
            <a:xfrm>
              <a:off x="5760200" y="3950915"/>
              <a:ext cx="297000" cy="2970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4" name="Google Shape;2104;p93"/>
            <p:cNvPicPr preferRelativeResize="0"/>
            <p:nvPr/>
          </p:nvPicPr>
          <p:blipFill rotWithShape="1">
            <a:blip r:embed="rId6">
              <a:alphaModFix/>
            </a:blip>
            <a:srcRect b="0" l="0" r="0" t="0"/>
            <a:stretch/>
          </p:blipFill>
          <p:spPr>
            <a:xfrm>
              <a:off x="5785850" y="3976577"/>
              <a:ext cx="245700" cy="245667"/>
            </a:xfrm>
            <a:prstGeom prst="rect">
              <a:avLst/>
            </a:prstGeom>
            <a:noFill/>
            <a:ln>
              <a:noFill/>
            </a:ln>
          </p:spPr>
        </p:pic>
      </p:grpSp>
      <p:sp>
        <p:nvSpPr>
          <p:cNvPr id="2105" name="Google Shape;2105;p93"/>
          <p:cNvSpPr txBox="1"/>
          <p:nvPr/>
        </p:nvSpPr>
        <p:spPr>
          <a:xfrm>
            <a:off x="5286943" y="4345557"/>
            <a:ext cx="358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2"/>
                </a:solidFill>
                <a:latin typeface="DM Sans"/>
                <a:ea typeface="DM Sans"/>
                <a:cs typeface="DM Sans"/>
                <a:sym typeface="DM Sans"/>
              </a:rPr>
              <a:t> *</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9" name="Shape 2109"/>
        <p:cNvGrpSpPr/>
        <p:nvPr/>
      </p:nvGrpSpPr>
      <p:grpSpPr>
        <a:xfrm>
          <a:off x="0" y="0"/>
          <a:ext cx="0" cy="0"/>
          <a:chOff x="0" y="0"/>
          <a:chExt cx="0" cy="0"/>
        </a:xfrm>
      </p:grpSpPr>
      <p:sp>
        <p:nvSpPr>
          <p:cNvPr id="2110" name="Google Shape;2110;p94"/>
          <p:cNvSpPr/>
          <p:nvPr/>
        </p:nvSpPr>
        <p:spPr>
          <a:xfrm>
            <a:off x="2662325" y="2137250"/>
            <a:ext cx="2012400" cy="1008300"/>
          </a:xfrm>
          <a:prstGeom prst="roundRect">
            <a:avLst>
              <a:gd fmla="val 11912" name="adj"/>
            </a:avLst>
          </a:prstGeom>
          <a:noFill/>
          <a:ln cap="flat" cmpd="sng" w="19050">
            <a:solidFill>
              <a:schemeClr val="accent4"/>
            </a:solidFill>
            <a:prstDash val="solid"/>
            <a:round/>
            <a:headEnd len="sm" w="sm" type="none"/>
            <a:tailEnd len="sm" w="sm" type="none"/>
          </a:ln>
        </p:spPr>
        <p:txBody>
          <a:bodyPr anchorCtr="0" anchor="t" bIns="91425" lIns="0" spcFirstLastPara="1" rIns="0" wrap="square" tIns="91425">
            <a:noAutofit/>
          </a:bodyPr>
          <a:lstStyle/>
          <a:p>
            <a:pPr indent="0" lvl="0" marL="0" rtl="0" algn="ctr">
              <a:spcBef>
                <a:spcPts val="0"/>
              </a:spcBef>
              <a:spcAft>
                <a:spcPts val="0"/>
              </a:spcAft>
              <a:buNone/>
            </a:pPr>
            <a:r>
              <a:rPr lang="en" sz="1800">
                <a:solidFill>
                  <a:schemeClr val="dk1"/>
                </a:solidFill>
                <a:latin typeface="DM Sans Medium"/>
                <a:ea typeface="DM Sans Medium"/>
                <a:cs typeface="DM Sans Medium"/>
                <a:sym typeface="DM Sans Medium"/>
              </a:rPr>
              <a:t>Unity Catalog</a:t>
            </a:r>
            <a:endParaRPr sz="1800">
              <a:solidFill>
                <a:schemeClr val="dk1"/>
              </a:solidFill>
              <a:latin typeface="DM Sans Medium"/>
              <a:ea typeface="DM Sans Medium"/>
              <a:cs typeface="DM Sans Medium"/>
              <a:sym typeface="DM Sans Medium"/>
            </a:endParaRPr>
          </a:p>
        </p:txBody>
      </p:sp>
      <p:sp>
        <p:nvSpPr>
          <p:cNvPr id="2111" name="Google Shape;2111;p9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 Access Security</a:t>
            </a:r>
            <a:endParaRPr sz="3600"/>
          </a:p>
        </p:txBody>
      </p:sp>
      <p:sp>
        <p:nvSpPr>
          <p:cNvPr id="2112" name="Google Shape;2112;p94"/>
          <p:cNvSpPr/>
          <p:nvPr/>
        </p:nvSpPr>
        <p:spPr>
          <a:xfrm>
            <a:off x="7349525" y="3272400"/>
            <a:ext cx="3622200" cy="2580300"/>
          </a:xfrm>
          <a:prstGeom prst="roundRect">
            <a:avLst>
              <a:gd fmla="val 3995" name="adj"/>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800">
                <a:solidFill>
                  <a:schemeClr val="accent1"/>
                </a:solidFill>
                <a:latin typeface="DM Sans Medium"/>
                <a:ea typeface="DM Sans Medium"/>
                <a:cs typeface="DM Sans Medium"/>
                <a:sym typeface="DM Sans Medium"/>
              </a:rPr>
              <a:t>Cloud Storage</a:t>
            </a:r>
            <a:endParaRPr sz="1800">
              <a:solidFill>
                <a:schemeClr val="accent1"/>
              </a:solidFill>
              <a:latin typeface="DM Sans Medium"/>
              <a:ea typeface="DM Sans Medium"/>
              <a:cs typeface="DM Sans Medium"/>
              <a:sym typeface="DM Sans Medium"/>
            </a:endParaRPr>
          </a:p>
        </p:txBody>
      </p:sp>
      <p:sp>
        <p:nvSpPr>
          <p:cNvPr id="2113" name="Google Shape;2113;p94"/>
          <p:cNvSpPr/>
          <p:nvPr/>
        </p:nvSpPr>
        <p:spPr>
          <a:xfrm>
            <a:off x="1188175" y="3272375"/>
            <a:ext cx="3477900" cy="2580300"/>
          </a:xfrm>
          <a:prstGeom prst="roundRect">
            <a:avLst>
              <a:gd fmla="val 5209" name="adj"/>
            </a:avLst>
          </a:prstGeom>
          <a:solidFill>
            <a:srgbClr val="FFFFFF"/>
          </a:solidFill>
          <a:ln cap="flat" cmpd="sng" w="19050">
            <a:solidFill>
              <a:schemeClr val="accent1"/>
            </a:solidFill>
            <a:prstDash val="solid"/>
            <a:round/>
            <a:headEnd len="sm" w="sm" type="none"/>
            <a:tailEnd len="sm" w="sm" type="none"/>
          </a:ln>
        </p:spPr>
        <p:txBody>
          <a:bodyPr anchorCtr="0" anchor="b" bIns="0" lIns="0" spcFirstLastPara="1" rIns="0" wrap="square" tIns="0">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Classic / Serverless</a:t>
            </a:r>
            <a:br>
              <a:rPr lang="en" sz="1800">
                <a:solidFill>
                  <a:schemeClr val="accent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Compute Plane</a:t>
            </a:r>
            <a:endParaRPr sz="1800">
              <a:solidFill>
                <a:schemeClr val="accent1"/>
              </a:solidFill>
              <a:latin typeface="DM Sans Medium"/>
              <a:ea typeface="DM Sans Medium"/>
              <a:cs typeface="DM Sans Medium"/>
              <a:sym typeface="DM Sans Medium"/>
            </a:endParaRPr>
          </a:p>
        </p:txBody>
      </p:sp>
      <p:sp>
        <p:nvSpPr>
          <p:cNvPr id="2114" name="Google Shape;2114;p94"/>
          <p:cNvSpPr/>
          <p:nvPr/>
        </p:nvSpPr>
        <p:spPr>
          <a:xfrm>
            <a:off x="2099925" y="3876600"/>
            <a:ext cx="1849500" cy="1236000"/>
          </a:xfrm>
          <a:prstGeom prst="roundRect">
            <a:avLst>
              <a:gd fmla="val 7284" name="adj"/>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18275">
            <a:noAutofit/>
          </a:bodyPr>
          <a:lstStyle/>
          <a:p>
            <a:pPr indent="0" lvl="0" marL="0" rtl="0" algn="ctr">
              <a:spcBef>
                <a:spcPts val="0"/>
              </a:spcBef>
              <a:spcAft>
                <a:spcPts val="0"/>
              </a:spcAft>
              <a:buNone/>
            </a:pPr>
            <a:r>
              <a:rPr i="1" lang="en" sz="1600">
                <a:solidFill>
                  <a:srgbClr val="1B5161"/>
                </a:solidFill>
                <a:latin typeface="DM Sans Medium"/>
                <a:ea typeface="DM Sans Medium"/>
                <a:cs typeface="DM Sans Medium"/>
                <a:sym typeface="DM Sans Medium"/>
              </a:rPr>
              <a:t>Cluster</a:t>
            </a:r>
            <a:endParaRPr i="1" sz="1600">
              <a:solidFill>
                <a:srgbClr val="1B5161"/>
              </a:solidFill>
              <a:latin typeface="DM Sans"/>
              <a:ea typeface="DM Sans"/>
              <a:cs typeface="DM Sans"/>
              <a:sym typeface="DM Sans"/>
            </a:endParaRPr>
          </a:p>
        </p:txBody>
      </p:sp>
      <p:sp>
        <p:nvSpPr>
          <p:cNvPr id="2115" name="Google Shape;2115;p94"/>
          <p:cNvSpPr/>
          <p:nvPr/>
        </p:nvSpPr>
        <p:spPr>
          <a:xfrm>
            <a:off x="2306420" y="4241904"/>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Driver</a:t>
            </a:r>
            <a:endParaRPr sz="1100">
              <a:solidFill>
                <a:schemeClr val="accent1"/>
              </a:solidFill>
              <a:latin typeface="DM Sans Medium"/>
              <a:ea typeface="DM Sans Medium"/>
              <a:cs typeface="DM Sans Medium"/>
              <a:sym typeface="DM Sans Medium"/>
            </a:endParaRPr>
          </a:p>
        </p:txBody>
      </p:sp>
      <p:sp>
        <p:nvSpPr>
          <p:cNvPr id="2116" name="Google Shape;2116;p94"/>
          <p:cNvSpPr/>
          <p:nvPr/>
        </p:nvSpPr>
        <p:spPr>
          <a:xfrm>
            <a:off x="2992645" y="4241904"/>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DM Sans Medium"/>
              <a:ea typeface="DM Sans Medium"/>
              <a:cs typeface="DM Sans Medium"/>
              <a:sym typeface="DM Sans Medium"/>
            </a:endParaRPr>
          </a:p>
        </p:txBody>
      </p:sp>
      <p:sp>
        <p:nvSpPr>
          <p:cNvPr id="2117" name="Google Shape;2117;p94"/>
          <p:cNvSpPr/>
          <p:nvPr/>
        </p:nvSpPr>
        <p:spPr>
          <a:xfrm>
            <a:off x="3093818" y="4343077"/>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accent1"/>
              </a:solidFill>
              <a:latin typeface="DM Sans Medium"/>
              <a:ea typeface="DM Sans Medium"/>
              <a:cs typeface="DM Sans Medium"/>
              <a:sym typeface="DM Sans Medium"/>
            </a:endParaRPr>
          </a:p>
        </p:txBody>
      </p:sp>
      <p:sp>
        <p:nvSpPr>
          <p:cNvPr id="2118" name="Google Shape;2118;p94"/>
          <p:cNvSpPr/>
          <p:nvPr/>
        </p:nvSpPr>
        <p:spPr>
          <a:xfrm>
            <a:off x="3220605" y="4469864"/>
            <a:ext cx="506700" cy="4803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worker</a:t>
            </a:r>
            <a:endParaRPr sz="1100">
              <a:solidFill>
                <a:schemeClr val="accent1"/>
              </a:solidFill>
              <a:latin typeface="DM Sans Medium"/>
              <a:ea typeface="DM Sans Medium"/>
              <a:cs typeface="DM Sans Medium"/>
              <a:sym typeface="DM Sans Medium"/>
            </a:endParaRPr>
          </a:p>
        </p:txBody>
      </p:sp>
      <p:pic>
        <p:nvPicPr>
          <p:cNvPr id="2119" name="Google Shape;2119;p94"/>
          <p:cNvPicPr preferRelativeResize="0"/>
          <p:nvPr/>
        </p:nvPicPr>
        <p:blipFill rotWithShape="1">
          <a:blip r:embed="rId3">
            <a:alphaModFix/>
          </a:blip>
          <a:srcRect b="0" l="0" r="0" t="0"/>
          <a:stretch/>
        </p:blipFill>
        <p:spPr>
          <a:xfrm>
            <a:off x="2491872" y="4788840"/>
            <a:ext cx="506699" cy="263160"/>
          </a:xfrm>
          <a:prstGeom prst="rect">
            <a:avLst/>
          </a:prstGeom>
          <a:noFill/>
          <a:ln>
            <a:noFill/>
          </a:ln>
        </p:spPr>
      </p:pic>
      <p:sp>
        <p:nvSpPr>
          <p:cNvPr id="2120" name="Google Shape;2120;p94"/>
          <p:cNvSpPr/>
          <p:nvPr/>
        </p:nvSpPr>
        <p:spPr>
          <a:xfrm>
            <a:off x="7549025" y="3876600"/>
            <a:ext cx="3187500" cy="5616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a:ea typeface="DM Sans"/>
                <a:cs typeface="DM Sans"/>
                <a:sym typeface="DM Sans"/>
              </a:rPr>
              <a:t>Managed container / bucket</a:t>
            </a:r>
            <a:endParaRPr sz="1600">
              <a:solidFill>
                <a:schemeClr val="accent1"/>
              </a:solidFill>
              <a:latin typeface="DM Sans"/>
              <a:ea typeface="DM Sans"/>
              <a:cs typeface="DM Sans"/>
              <a:sym typeface="DM Sans"/>
            </a:endParaRPr>
          </a:p>
        </p:txBody>
      </p:sp>
      <p:sp>
        <p:nvSpPr>
          <p:cNvPr id="2121" name="Google Shape;2121;p94"/>
          <p:cNvSpPr/>
          <p:nvPr/>
        </p:nvSpPr>
        <p:spPr>
          <a:xfrm>
            <a:off x="7549025" y="4690175"/>
            <a:ext cx="3187500" cy="5616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DM Sans"/>
                <a:ea typeface="DM Sans"/>
                <a:cs typeface="DM Sans"/>
                <a:sym typeface="DM Sans"/>
              </a:rPr>
              <a:t>External container / bucket</a:t>
            </a:r>
            <a:endParaRPr sz="1600">
              <a:solidFill>
                <a:schemeClr val="accent1"/>
              </a:solidFill>
              <a:latin typeface="DM Sans"/>
              <a:ea typeface="DM Sans"/>
              <a:cs typeface="DM Sans"/>
              <a:sym typeface="DM Sans"/>
            </a:endParaRPr>
          </a:p>
        </p:txBody>
      </p:sp>
      <p:grpSp>
        <p:nvGrpSpPr>
          <p:cNvPr id="2122" name="Google Shape;2122;p94"/>
          <p:cNvGrpSpPr/>
          <p:nvPr/>
        </p:nvGrpSpPr>
        <p:grpSpPr>
          <a:xfrm>
            <a:off x="2476295" y="3000160"/>
            <a:ext cx="1520940" cy="877200"/>
            <a:chOff x="1560270" y="3000160"/>
            <a:chExt cx="1520940" cy="877200"/>
          </a:xfrm>
        </p:grpSpPr>
        <p:cxnSp>
          <p:nvCxnSpPr>
            <p:cNvPr id="2123" name="Google Shape;2123;p94"/>
            <p:cNvCxnSpPr>
              <a:stCxn id="2124" idx="2"/>
            </p:cNvCxnSpPr>
            <p:nvPr/>
          </p:nvCxnSpPr>
          <p:spPr>
            <a:xfrm>
              <a:off x="2746925" y="3000160"/>
              <a:ext cx="0" cy="877200"/>
            </a:xfrm>
            <a:prstGeom prst="straightConnector1">
              <a:avLst/>
            </a:prstGeom>
            <a:noFill/>
            <a:ln cap="flat" cmpd="sng" w="19050">
              <a:solidFill>
                <a:srgbClr val="1B5161"/>
              </a:solidFill>
              <a:prstDash val="dash"/>
              <a:round/>
              <a:headEnd len="med" w="med" type="triangle"/>
              <a:tailEnd len="med" w="med" type="none"/>
            </a:ln>
          </p:spPr>
        </p:cxnSp>
        <p:sp>
          <p:nvSpPr>
            <p:cNvPr id="2125" name="Google Shape;2125;p94"/>
            <p:cNvSpPr txBox="1"/>
            <p:nvPr/>
          </p:nvSpPr>
          <p:spPr>
            <a:xfrm>
              <a:off x="1560270" y="3217070"/>
              <a:ext cx="13473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Check</a:t>
              </a:r>
              <a:br>
                <a:rPr lang="en">
                  <a:solidFill>
                    <a:schemeClr val="accent2"/>
                  </a:solidFill>
                  <a:latin typeface="DM Sans Medium"/>
                  <a:ea typeface="DM Sans Medium"/>
                  <a:cs typeface="DM Sans Medium"/>
                  <a:sym typeface="DM Sans Medium"/>
                </a:rPr>
              </a:br>
              <a:r>
                <a:rPr lang="en">
                  <a:solidFill>
                    <a:schemeClr val="accent2"/>
                  </a:solidFill>
                  <a:latin typeface="DM Sans Medium"/>
                  <a:ea typeface="DM Sans Medium"/>
                  <a:cs typeface="DM Sans Medium"/>
                  <a:sym typeface="DM Sans Medium"/>
                </a:rPr>
                <a:t>Table ACLs</a:t>
              </a:r>
              <a:endParaRPr>
                <a:solidFill>
                  <a:schemeClr val="accent2"/>
                </a:solidFill>
                <a:latin typeface="DM Sans Medium"/>
                <a:ea typeface="DM Sans Medium"/>
                <a:cs typeface="DM Sans Medium"/>
                <a:sym typeface="DM Sans Medium"/>
              </a:endParaRPr>
            </a:p>
          </p:txBody>
        </p:sp>
        <p:sp>
          <p:nvSpPr>
            <p:cNvPr id="2126" name="Google Shape;2126;p94"/>
            <p:cNvSpPr/>
            <p:nvPr/>
          </p:nvSpPr>
          <p:spPr>
            <a:xfrm>
              <a:off x="2818110" y="3368089"/>
              <a:ext cx="263100" cy="263100"/>
            </a:xfrm>
            <a:prstGeom prst="ellipse">
              <a:avLst/>
            </a:prstGeom>
            <a:solidFill>
              <a:schemeClr val="accent2"/>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rgbClr val="FFFFFF"/>
                  </a:solidFill>
                  <a:latin typeface="DM Sans Medium"/>
                  <a:ea typeface="DM Sans Medium"/>
                  <a:cs typeface="DM Sans Medium"/>
                  <a:sym typeface="DM Sans Medium"/>
                </a:rPr>
                <a:t>1a</a:t>
              </a:r>
              <a:endParaRPr>
                <a:solidFill>
                  <a:srgbClr val="FFFFFF"/>
                </a:solidFill>
                <a:latin typeface="DM Sans Medium"/>
                <a:ea typeface="DM Sans Medium"/>
                <a:cs typeface="DM Sans Medium"/>
                <a:sym typeface="DM Sans Medium"/>
              </a:endParaRPr>
            </a:p>
          </p:txBody>
        </p:sp>
      </p:grpSp>
      <p:sp>
        <p:nvSpPr>
          <p:cNvPr id="2127" name="Google Shape;2127;p94"/>
          <p:cNvSpPr/>
          <p:nvPr/>
        </p:nvSpPr>
        <p:spPr>
          <a:xfrm>
            <a:off x="1179674" y="1531700"/>
            <a:ext cx="1224300" cy="882000"/>
          </a:xfrm>
          <a:prstGeom prst="roundRect">
            <a:avLst>
              <a:gd fmla="val 10693" name="adj"/>
            </a:avLst>
          </a:prstGeom>
          <a:solidFill>
            <a:srgbClr val="FFFFFF"/>
          </a:solidFill>
          <a:ln cap="flat" cmpd="sng" w="19050">
            <a:solidFill>
              <a:schemeClr val="accent1"/>
            </a:solidFill>
            <a:prstDash val="solid"/>
            <a:round/>
            <a:headEnd len="sm" w="sm" type="none"/>
            <a:tailEnd len="sm" w="sm" type="none"/>
          </a:ln>
        </p:spPr>
        <p:txBody>
          <a:bodyPr anchorCtr="0" anchor="b" bIns="91425" lIns="0" spcFirstLastPara="1" rIns="0" wrap="square" tIns="91425">
            <a:noAutofit/>
          </a:bodyPr>
          <a:lstStyle/>
          <a:p>
            <a:pPr indent="0" lvl="0" marL="0" rtl="0" algn="ctr">
              <a:spcBef>
                <a:spcPts val="0"/>
              </a:spcBef>
              <a:spcAft>
                <a:spcPts val="0"/>
              </a:spcAft>
              <a:buNone/>
            </a:pPr>
            <a:r>
              <a:rPr lang="en" sz="1800">
                <a:solidFill>
                  <a:schemeClr val="accent1"/>
                </a:solidFill>
                <a:latin typeface="DM Sans Medium"/>
                <a:ea typeface="DM Sans Medium"/>
                <a:cs typeface="DM Sans Medium"/>
                <a:sym typeface="DM Sans Medium"/>
              </a:rPr>
              <a:t>ID </a:t>
            </a:r>
            <a:br>
              <a:rPr lang="en" sz="1800">
                <a:solidFill>
                  <a:schemeClr val="accent1"/>
                </a:solidFill>
                <a:latin typeface="DM Sans Medium"/>
                <a:ea typeface="DM Sans Medium"/>
                <a:cs typeface="DM Sans Medium"/>
                <a:sym typeface="DM Sans Medium"/>
              </a:rPr>
            </a:br>
            <a:r>
              <a:rPr lang="en" sz="1800">
                <a:solidFill>
                  <a:schemeClr val="accent1"/>
                </a:solidFill>
                <a:latin typeface="DM Sans Medium"/>
                <a:ea typeface="DM Sans Medium"/>
                <a:cs typeface="DM Sans Medium"/>
                <a:sym typeface="DM Sans Medium"/>
              </a:rPr>
              <a:t>Provider</a:t>
            </a:r>
            <a:endParaRPr sz="1800">
              <a:solidFill>
                <a:schemeClr val="accent1"/>
              </a:solidFill>
              <a:latin typeface="DM Sans Medium"/>
              <a:ea typeface="DM Sans Medium"/>
              <a:cs typeface="DM Sans Medium"/>
              <a:sym typeface="DM Sans Medium"/>
            </a:endParaRPr>
          </a:p>
        </p:txBody>
      </p:sp>
      <p:sp>
        <p:nvSpPr>
          <p:cNvPr id="2128" name="Google Shape;2128;p9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124" name="Google Shape;2124;p94"/>
          <p:cNvSpPr/>
          <p:nvPr/>
        </p:nvSpPr>
        <p:spPr>
          <a:xfrm>
            <a:off x="3129250" y="2599960"/>
            <a:ext cx="1067400" cy="400200"/>
          </a:xfrm>
          <a:prstGeom prst="roundRect">
            <a:avLst>
              <a:gd fmla="val 11912" name="adj"/>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i="1" lang="en" sz="1200">
                <a:solidFill>
                  <a:schemeClr val="accent1"/>
                </a:solidFill>
                <a:latin typeface="DM Sans Medium"/>
                <a:ea typeface="DM Sans Medium"/>
                <a:cs typeface="DM Sans Medium"/>
                <a:sym typeface="DM Sans Medium"/>
              </a:rPr>
              <a:t>Access Control</a:t>
            </a:r>
            <a:endParaRPr i="1" sz="1600">
              <a:solidFill>
                <a:schemeClr val="dk1"/>
              </a:solidFill>
              <a:latin typeface="DM Sans Medium"/>
              <a:ea typeface="DM Sans Medium"/>
              <a:cs typeface="DM Sans Medium"/>
              <a:sym typeface="DM Sans Medium"/>
            </a:endParaRPr>
          </a:p>
        </p:txBody>
      </p:sp>
      <p:cxnSp>
        <p:nvCxnSpPr>
          <p:cNvPr id="2129" name="Google Shape;2129;p94"/>
          <p:cNvCxnSpPr>
            <a:stCxn id="2120" idx="1"/>
            <a:endCxn id="2114" idx="3"/>
          </p:cNvCxnSpPr>
          <p:nvPr/>
        </p:nvCxnSpPr>
        <p:spPr>
          <a:xfrm flipH="1">
            <a:off x="3949325" y="4157400"/>
            <a:ext cx="3599700" cy="337200"/>
          </a:xfrm>
          <a:prstGeom prst="curvedConnector3">
            <a:avLst>
              <a:gd fmla="val 49999" name="adj1"/>
            </a:avLst>
          </a:prstGeom>
          <a:noFill/>
          <a:ln cap="flat" cmpd="sng" w="19050">
            <a:solidFill>
              <a:schemeClr val="accent1"/>
            </a:solidFill>
            <a:prstDash val="dash"/>
            <a:round/>
            <a:headEnd len="med" w="med" type="triangle"/>
            <a:tailEnd len="med" w="med" type="none"/>
          </a:ln>
        </p:spPr>
      </p:cxnSp>
      <p:sp>
        <p:nvSpPr>
          <p:cNvPr id="2130" name="Google Shape;2130;p94"/>
          <p:cNvSpPr txBox="1"/>
          <p:nvPr/>
        </p:nvSpPr>
        <p:spPr>
          <a:xfrm>
            <a:off x="6227750" y="3599413"/>
            <a:ext cx="9945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Managed table</a:t>
            </a:r>
            <a:endParaRPr>
              <a:latin typeface="DM Sans"/>
              <a:ea typeface="DM Sans"/>
              <a:cs typeface="DM Sans"/>
              <a:sym typeface="DM Sans"/>
            </a:endParaRPr>
          </a:p>
        </p:txBody>
      </p:sp>
      <p:cxnSp>
        <p:nvCxnSpPr>
          <p:cNvPr id="2131" name="Google Shape;2131;p94"/>
          <p:cNvCxnSpPr>
            <a:stCxn id="2121" idx="1"/>
            <a:endCxn id="2114" idx="3"/>
          </p:cNvCxnSpPr>
          <p:nvPr/>
        </p:nvCxnSpPr>
        <p:spPr>
          <a:xfrm rot="10800000">
            <a:off x="3949325" y="4494575"/>
            <a:ext cx="3599700" cy="476400"/>
          </a:xfrm>
          <a:prstGeom prst="curvedConnector3">
            <a:avLst>
              <a:gd fmla="val 49999" name="adj1"/>
            </a:avLst>
          </a:prstGeom>
          <a:noFill/>
          <a:ln cap="flat" cmpd="sng" w="19050">
            <a:solidFill>
              <a:schemeClr val="accent1"/>
            </a:solidFill>
            <a:prstDash val="dash"/>
            <a:round/>
            <a:headEnd len="med" w="med" type="triangle"/>
            <a:tailEnd len="med" w="med" type="none"/>
          </a:ln>
        </p:spPr>
      </p:cxnSp>
      <p:sp>
        <p:nvSpPr>
          <p:cNvPr id="2132" name="Google Shape;2132;p94"/>
          <p:cNvSpPr txBox="1"/>
          <p:nvPr/>
        </p:nvSpPr>
        <p:spPr>
          <a:xfrm rot="-1326">
            <a:off x="4565850" y="3354715"/>
            <a:ext cx="1555200" cy="100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DM Sans Medium"/>
                <a:ea typeface="DM Sans Medium"/>
                <a:cs typeface="DM Sans Medium"/>
                <a:sym typeface="DM Sans Medium"/>
              </a:rPr>
              <a:t>Access via scoped down temporary tokens</a:t>
            </a:r>
            <a:endParaRPr>
              <a:solidFill>
                <a:schemeClr val="accent2"/>
              </a:solidFill>
              <a:latin typeface="DM Sans Medium"/>
              <a:ea typeface="DM Sans Medium"/>
              <a:cs typeface="DM Sans Medium"/>
              <a:sym typeface="DM Sans Medium"/>
            </a:endParaRPr>
          </a:p>
        </p:txBody>
      </p:sp>
      <p:sp>
        <p:nvSpPr>
          <p:cNvPr id="2133" name="Google Shape;2133;p94"/>
          <p:cNvSpPr/>
          <p:nvPr/>
        </p:nvSpPr>
        <p:spPr>
          <a:xfrm>
            <a:off x="5213568" y="4375853"/>
            <a:ext cx="263100" cy="263100"/>
          </a:xfrm>
          <a:prstGeom prst="ellipse">
            <a:avLst/>
          </a:prstGeom>
          <a:solidFill>
            <a:schemeClr val="accent2"/>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rgbClr val="FFFFFF"/>
                </a:solidFill>
                <a:latin typeface="DM Sans Medium"/>
                <a:ea typeface="DM Sans Medium"/>
                <a:cs typeface="DM Sans Medium"/>
                <a:sym typeface="DM Sans Medium"/>
              </a:rPr>
              <a:t>1b</a:t>
            </a:r>
            <a:endParaRPr>
              <a:solidFill>
                <a:srgbClr val="FFFFFF"/>
              </a:solidFill>
              <a:latin typeface="DM Sans Medium"/>
              <a:ea typeface="DM Sans Medium"/>
              <a:cs typeface="DM Sans Medium"/>
              <a:sym typeface="DM Sans Medium"/>
            </a:endParaRPr>
          </a:p>
        </p:txBody>
      </p:sp>
      <p:sp>
        <p:nvSpPr>
          <p:cNvPr id="2134" name="Google Shape;2134;p94"/>
          <p:cNvSpPr txBox="1"/>
          <p:nvPr/>
        </p:nvSpPr>
        <p:spPr>
          <a:xfrm>
            <a:off x="6227750" y="4888364"/>
            <a:ext cx="994500" cy="6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External table</a:t>
            </a:r>
            <a:endParaRPr>
              <a:latin typeface="DM Sans"/>
              <a:ea typeface="DM Sans"/>
              <a:cs typeface="DM Sans"/>
              <a:sym typeface="DM Sans"/>
            </a:endParaRPr>
          </a:p>
        </p:txBody>
      </p:sp>
      <p:sp>
        <p:nvSpPr>
          <p:cNvPr id="2135" name="Google Shape;2135;p94"/>
          <p:cNvSpPr/>
          <p:nvPr/>
        </p:nvSpPr>
        <p:spPr>
          <a:xfrm>
            <a:off x="1868425" y="1668500"/>
            <a:ext cx="457200" cy="263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IDs</a:t>
            </a:r>
            <a:endParaRPr>
              <a:solidFill>
                <a:schemeClr val="dk2"/>
              </a:solidFill>
              <a:latin typeface="DM Sans Medium"/>
              <a:ea typeface="DM Sans Medium"/>
              <a:cs typeface="DM Sans Medium"/>
              <a:sym typeface="DM Sans Medium"/>
            </a:endParaRPr>
          </a:p>
        </p:txBody>
      </p:sp>
      <p:sp>
        <p:nvSpPr>
          <p:cNvPr id="2136" name="Google Shape;2136;p94"/>
          <p:cNvSpPr/>
          <p:nvPr/>
        </p:nvSpPr>
        <p:spPr>
          <a:xfrm>
            <a:off x="2363475" y="1733650"/>
            <a:ext cx="197700" cy="112200"/>
          </a:xfrm>
          <a:prstGeom prst="rightArrow">
            <a:avLst>
              <a:gd fmla="val 50000" name="adj1"/>
              <a:gd fmla="val 50000" name="adj2"/>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94"/>
          <p:cNvSpPr/>
          <p:nvPr/>
        </p:nvSpPr>
        <p:spPr>
          <a:xfrm>
            <a:off x="2662325" y="1567025"/>
            <a:ext cx="2012400" cy="480300"/>
          </a:xfrm>
          <a:prstGeom prst="roundRect">
            <a:avLst>
              <a:gd fmla="val 17994" name="adj"/>
            </a:avLst>
          </a:prstGeom>
          <a:noFill/>
          <a:ln cap="flat" cmpd="sng" w="19050">
            <a:solidFill>
              <a:schemeClr val="accent4"/>
            </a:solidFill>
            <a:prstDash val="solid"/>
            <a:round/>
            <a:headEnd len="sm" w="sm" type="none"/>
            <a:tailEnd len="sm" w="sm" type="none"/>
          </a:ln>
        </p:spPr>
        <p:txBody>
          <a:bodyPr anchorCtr="0" anchor="t" bIns="91425" lIns="0" spcFirstLastPara="1" rIns="0" wrap="square" tIns="91425">
            <a:noAutofit/>
          </a:bodyPr>
          <a:lstStyle/>
          <a:p>
            <a:pPr indent="0" lvl="0" marL="0" rtl="0" algn="ctr">
              <a:spcBef>
                <a:spcPts val="0"/>
              </a:spcBef>
              <a:spcAft>
                <a:spcPts val="0"/>
              </a:spcAft>
              <a:buNone/>
            </a:pPr>
            <a:r>
              <a:rPr lang="en" sz="1800">
                <a:solidFill>
                  <a:schemeClr val="dk1"/>
                </a:solidFill>
                <a:latin typeface="DM Sans Medium"/>
                <a:ea typeface="DM Sans Medium"/>
                <a:cs typeface="DM Sans Medium"/>
                <a:sym typeface="DM Sans Medium"/>
              </a:rPr>
              <a:t>Account Console</a:t>
            </a:r>
            <a:endParaRPr sz="1800">
              <a:solidFill>
                <a:schemeClr val="dk1"/>
              </a:solidFill>
              <a:latin typeface="DM Sans Medium"/>
              <a:ea typeface="DM Sans Medium"/>
              <a:cs typeface="DM Sans Medium"/>
              <a:sym typeface="DM Sans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2"/>
                                        </p:tgtEl>
                                        <p:attrNameLst>
                                          <p:attrName>style.visibility</p:attrName>
                                        </p:attrNameLst>
                                      </p:cBhvr>
                                      <p:to>
                                        <p:strVal val="visible"/>
                                      </p:to>
                                    </p:set>
                                    <p:animEffect filter="fade" transition="in">
                                      <p:cBhvr>
                                        <p:cTn dur="1000"/>
                                        <p:tgtEl>
                                          <p:spTgt spid="2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1" name="Shape 2141"/>
        <p:cNvGrpSpPr/>
        <p:nvPr/>
      </p:nvGrpSpPr>
      <p:grpSpPr>
        <a:xfrm>
          <a:off x="0" y="0"/>
          <a:ext cx="0" cy="0"/>
          <a:chOff x="0" y="0"/>
          <a:chExt cx="0" cy="0"/>
        </a:xfrm>
      </p:grpSpPr>
      <p:sp>
        <p:nvSpPr>
          <p:cNvPr id="2142" name="Google Shape;2142;p95"/>
          <p:cNvSpPr/>
          <p:nvPr/>
        </p:nvSpPr>
        <p:spPr>
          <a:xfrm>
            <a:off x="275506" y="4002350"/>
            <a:ext cx="958800" cy="895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User</a:t>
            </a:r>
            <a:endParaRPr sz="1200">
              <a:latin typeface="DM Sans Medium"/>
              <a:ea typeface="DM Sans Medium"/>
              <a:cs typeface="DM Sans Medium"/>
              <a:sym typeface="DM Sans Medium"/>
            </a:endParaRPr>
          </a:p>
        </p:txBody>
      </p:sp>
      <p:sp>
        <p:nvSpPr>
          <p:cNvPr id="2143" name="Google Shape;2143;p95"/>
          <p:cNvSpPr txBox="1"/>
          <p:nvPr/>
        </p:nvSpPr>
        <p:spPr>
          <a:xfrm>
            <a:off x="7398818" y="5853523"/>
            <a:ext cx="141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br>
              <a:rPr i="1" lang="en">
                <a:latin typeface="DM Sans"/>
                <a:ea typeface="DM Sans"/>
                <a:cs typeface="DM Sans"/>
                <a:sym typeface="DM Sans"/>
              </a:rPr>
            </a:br>
            <a:r>
              <a:rPr i="1" lang="en">
                <a:latin typeface="DM Sans"/>
                <a:ea typeface="DM Sans"/>
                <a:cs typeface="DM Sans"/>
                <a:sym typeface="DM Sans"/>
              </a:rPr>
              <a:t>(S3, ADLS)</a:t>
            </a:r>
            <a:endParaRPr i="1">
              <a:latin typeface="DM Sans"/>
              <a:ea typeface="DM Sans"/>
              <a:cs typeface="DM Sans"/>
              <a:sym typeface="DM Sans"/>
            </a:endParaRPr>
          </a:p>
        </p:txBody>
      </p:sp>
      <p:sp>
        <p:nvSpPr>
          <p:cNvPr id="2144" name="Google Shape;2144;p9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145" name="Google Shape;2145;p9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Life of a query with Unity Catalog</a:t>
            </a:r>
            <a:endParaRPr sz="3600"/>
          </a:p>
        </p:txBody>
      </p:sp>
      <p:pic>
        <p:nvPicPr>
          <p:cNvPr id="2146" name="Google Shape;2146;p95"/>
          <p:cNvPicPr preferRelativeResize="0"/>
          <p:nvPr/>
        </p:nvPicPr>
        <p:blipFill rotWithShape="1">
          <a:blip r:embed="rId3">
            <a:alphaModFix/>
          </a:blip>
          <a:srcRect b="0" l="0" r="0" t="0"/>
          <a:stretch/>
        </p:blipFill>
        <p:spPr>
          <a:xfrm>
            <a:off x="447117" y="4054655"/>
            <a:ext cx="583354" cy="583354"/>
          </a:xfrm>
          <a:prstGeom prst="rect">
            <a:avLst/>
          </a:prstGeom>
          <a:noFill/>
          <a:ln>
            <a:noFill/>
          </a:ln>
        </p:spPr>
      </p:pic>
      <p:grpSp>
        <p:nvGrpSpPr>
          <p:cNvPr id="2147" name="Google Shape;2147;p95"/>
          <p:cNvGrpSpPr/>
          <p:nvPr/>
        </p:nvGrpSpPr>
        <p:grpSpPr>
          <a:xfrm>
            <a:off x="7614770" y="5197691"/>
            <a:ext cx="958812" cy="895500"/>
            <a:chOff x="8405325" y="4979961"/>
            <a:chExt cx="959100" cy="895500"/>
          </a:xfrm>
        </p:grpSpPr>
        <p:sp>
          <p:nvSpPr>
            <p:cNvPr id="2148" name="Google Shape;2148;p95"/>
            <p:cNvSpPr/>
            <p:nvPr/>
          </p:nvSpPr>
          <p:spPr>
            <a:xfrm>
              <a:off x="8405325" y="4979961"/>
              <a:ext cx="959100" cy="895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lnSpc>
                  <a:spcPct val="85000"/>
                </a:lnSpc>
                <a:spcBef>
                  <a:spcPts val="0"/>
                </a:spcBef>
                <a:spcAft>
                  <a:spcPts val="0"/>
                </a:spcAft>
                <a:buNone/>
              </a:pPr>
              <a:r>
                <a:rPr lang="en" sz="1200">
                  <a:latin typeface="DM Sans Medium"/>
                  <a:ea typeface="DM Sans Medium"/>
                  <a:cs typeface="DM Sans Medium"/>
                  <a:sym typeface="DM Sans Medium"/>
                </a:rPr>
                <a:t>Cloud Storage</a:t>
              </a:r>
              <a:endParaRPr sz="1200">
                <a:latin typeface="DM Sans Medium"/>
                <a:ea typeface="DM Sans Medium"/>
                <a:cs typeface="DM Sans Medium"/>
                <a:sym typeface="DM Sans Medium"/>
              </a:endParaRPr>
            </a:p>
          </p:txBody>
        </p:sp>
        <p:pic>
          <p:nvPicPr>
            <p:cNvPr id="2149" name="Google Shape;2149;p95"/>
            <p:cNvPicPr preferRelativeResize="0"/>
            <p:nvPr/>
          </p:nvPicPr>
          <p:blipFill rotWithShape="1">
            <a:blip r:embed="rId4">
              <a:alphaModFix/>
            </a:blip>
            <a:srcRect b="-5830" l="0" r="0" t="5830"/>
            <a:stretch/>
          </p:blipFill>
          <p:spPr>
            <a:xfrm>
              <a:off x="8622375" y="5012801"/>
              <a:ext cx="525001" cy="525017"/>
            </a:xfrm>
            <a:prstGeom prst="rect">
              <a:avLst/>
            </a:prstGeom>
            <a:noFill/>
            <a:ln>
              <a:noFill/>
            </a:ln>
          </p:spPr>
        </p:pic>
      </p:grpSp>
      <p:cxnSp>
        <p:nvCxnSpPr>
          <p:cNvPr id="2150" name="Google Shape;2150;p95"/>
          <p:cNvCxnSpPr/>
          <p:nvPr/>
        </p:nvCxnSpPr>
        <p:spPr>
          <a:xfrm rot="10800000">
            <a:off x="8105441" y="4231000"/>
            <a:ext cx="0" cy="858900"/>
          </a:xfrm>
          <a:prstGeom prst="straightConnector1">
            <a:avLst/>
          </a:prstGeom>
          <a:noFill/>
          <a:ln cap="flat" cmpd="sng" w="19050">
            <a:solidFill>
              <a:schemeClr val="accent2"/>
            </a:solidFill>
            <a:prstDash val="solid"/>
            <a:round/>
            <a:headEnd len="med" w="med" type="triangle"/>
            <a:tailEnd len="med" w="med" type="triangle"/>
          </a:ln>
        </p:spPr>
      </p:cxnSp>
      <p:grpSp>
        <p:nvGrpSpPr>
          <p:cNvPr id="2151" name="Google Shape;2151;p95"/>
          <p:cNvGrpSpPr/>
          <p:nvPr/>
        </p:nvGrpSpPr>
        <p:grpSpPr>
          <a:xfrm>
            <a:off x="10426938" y="3243175"/>
            <a:ext cx="958812" cy="895500"/>
            <a:chOff x="10963475" y="2938375"/>
            <a:chExt cx="959100" cy="895500"/>
          </a:xfrm>
        </p:grpSpPr>
        <p:sp>
          <p:nvSpPr>
            <p:cNvPr id="2152" name="Google Shape;2152;p95"/>
            <p:cNvSpPr/>
            <p:nvPr/>
          </p:nvSpPr>
          <p:spPr>
            <a:xfrm>
              <a:off x="10963475" y="2938375"/>
              <a:ext cx="959100" cy="8955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Audit log</a:t>
              </a:r>
              <a:endParaRPr sz="1200">
                <a:latin typeface="DM Sans Medium"/>
                <a:ea typeface="DM Sans Medium"/>
                <a:cs typeface="DM Sans Medium"/>
                <a:sym typeface="DM Sans Medium"/>
              </a:endParaRPr>
            </a:p>
          </p:txBody>
        </p:sp>
        <p:pic>
          <p:nvPicPr>
            <p:cNvPr id="2153" name="Google Shape;2153;p95"/>
            <p:cNvPicPr preferRelativeResize="0"/>
            <p:nvPr/>
          </p:nvPicPr>
          <p:blipFill rotWithShape="1">
            <a:blip r:embed="rId5">
              <a:alphaModFix/>
            </a:blip>
            <a:srcRect b="0" l="0" r="0" t="0"/>
            <a:stretch/>
          </p:blipFill>
          <p:spPr>
            <a:xfrm>
              <a:off x="11151274" y="2985880"/>
              <a:ext cx="583501" cy="583501"/>
            </a:xfrm>
            <a:prstGeom prst="rect">
              <a:avLst/>
            </a:prstGeom>
            <a:noFill/>
            <a:ln>
              <a:noFill/>
            </a:ln>
          </p:spPr>
        </p:pic>
      </p:grpSp>
      <p:sp>
        <p:nvSpPr>
          <p:cNvPr id="2154" name="Google Shape;2154;p95"/>
          <p:cNvSpPr txBox="1"/>
          <p:nvPr/>
        </p:nvSpPr>
        <p:spPr>
          <a:xfrm>
            <a:off x="8986807" y="3026585"/>
            <a:ext cx="1968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4"/>
                </a:solidFill>
                <a:latin typeface="DM Sans"/>
                <a:ea typeface="DM Sans"/>
                <a:cs typeface="DM Sans"/>
                <a:sym typeface="DM Sans"/>
              </a:rPr>
              <a:t>Write </a:t>
            </a:r>
            <a:endParaRPr sz="1200">
              <a:solidFill>
                <a:schemeClr val="accent4"/>
              </a:solidFill>
              <a:latin typeface="DM Sans"/>
              <a:ea typeface="DM Sans"/>
              <a:cs typeface="DM Sans"/>
              <a:sym typeface="DM Sans"/>
            </a:endParaRPr>
          </a:p>
          <a:p>
            <a:pPr indent="0" lvl="0" marL="0" rtl="0" algn="ctr">
              <a:spcBef>
                <a:spcPts val="0"/>
              </a:spcBef>
              <a:spcAft>
                <a:spcPts val="0"/>
              </a:spcAft>
              <a:buNone/>
            </a:pPr>
            <a:r>
              <a:rPr lang="en" sz="1200">
                <a:solidFill>
                  <a:schemeClr val="accent4"/>
                </a:solidFill>
                <a:latin typeface="DM Sans"/>
                <a:ea typeface="DM Sans"/>
                <a:cs typeface="DM Sans"/>
                <a:sym typeface="DM Sans"/>
              </a:rPr>
              <a:t>audit log</a:t>
            </a:r>
            <a:endParaRPr sz="1200">
              <a:solidFill>
                <a:schemeClr val="accent4"/>
              </a:solidFill>
              <a:latin typeface="DM Sans"/>
              <a:ea typeface="DM Sans"/>
              <a:cs typeface="DM Sans"/>
              <a:sym typeface="DM Sans"/>
            </a:endParaRPr>
          </a:p>
        </p:txBody>
      </p:sp>
      <p:grpSp>
        <p:nvGrpSpPr>
          <p:cNvPr id="2155" name="Google Shape;2155;p95"/>
          <p:cNvGrpSpPr/>
          <p:nvPr/>
        </p:nvGrpSpPr>
        <p:grpSpPr>
          <a:xfrm>
            <a:off x="7614808" y="1546275"/>
            <a:ext cx="958812" cy="895500"/>
            <a:chOff x="7631125" y="1241475"/>
            <a:chExt cx="959100" cy="895500"/>
          </a:xfrm>
        </p:grpSpPr>
        <p:sp>
          <p:nvSpPr>
            <p:cNvPr id="2156" name="Google Shape;2156;p95"/>
            <p:cNvSpPr/>
            <p:nvPr/>
          </p:nvSpPr>
          <p:spPr>
            <a:xfrm>
              <a:off x="7631125" y="1241475"/>
              <a:ext cx="959100" cy="895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Admin</a:t>
              </a:r>
              <a:endParaRPr sz="1200"/>
            </a:p>
          </p:txBody>
        </p:sp>
        <p:pic>
          <p:nvPicPr>
            <p:cNvPr id="2157" name="Google Shape;2157;p95"/>
            <p:cNvPicPr preferRelativeResize="0"/>
            <p:nvPr/>
          </p:nvPicPr>
          <p:blipFill rotWithShape="1">
            <a:blip r:embed="rId6">
              <a:alphaModFix/>
            </a:blip>
            <a:srcRect b="-8630" l="-8630" r="-8630" t="-8630"/>
            <a:stretch/>
          </p:blipFill>
          <p:spPr>
            <a:xfrm>
              <a:off x="7814626" y="1278277"/>
              <a:ext cx="615642" cy="615601"/>
            </a:xfrm>
            <a:prstGeom prst="rect">
              <a:avLst/>
            </a:prstGeom>
            <a:noFill/>
            <a:ln>
              <a:noFill/>
            </a:ln>
          </p:spPr>
        </p:pic>
      </p:grpSp>
      <p:sp>
        <p:nvSpPr>
          <p:cNvPr id="2158" name="Google Shape;2158;p95"/>
          <p:cNvSpPr/>
          <p:nvPr/>
        </p:nvSpPr>
        <p:spPr>
          <a:xfrm>
            <a:off x="7964026" y="2579638"/>
            <a:ext cx="282900" cy="524700"/>
          </a:xfrm>
          <a:prstGeom prst="downArrow">
            <a:avLst>
              <a:gd fmla="val 46756" name="adj1"/>
              <a:gd fmla="val 42789"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95"/>
          <p:cNvSpPr txBox="1"/>
          <p:nvPr/>
        </p:nvSpPr>
        <p:spPr>
          <a:xfrm>
            <a:off x="8797118" y="1178175"/>
            <a:ext cx="3217500" cy="1631700"/>
          </a:xfrm>
          <a:prstGeom prst="rect">
            <a:avLst/>
          </a:prstGeom>
          <a:solidFill>
            <a:srgbClr val="FFFFFF"/>
          </a:solidFill>
          <a:ln>
            <a:noFill/>
          </a:ln>
        </p:spPr>
        <p:txBody>
          <a:bodyPr anchorCtr="0" anchor="ctr" bIns="91425" lIns="91425" spcFirstLastPara="1" rIns="91425" wrap="square" tIns="91425">
            <a:spAutoFit/>
          </a:bodyPr>
          <a:lstStyle/>
          <a:p>
            <a:pPr indent="-203200" lvl="0" marL="228600" marR="0" rtl="0" algn="l">
              <a:lnSpc>
                <a:spcPct val="100000"/>
              </a:lnSpc>
              <a:spcBef>
                <a:spcPts val="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Creates an IAM role (AWS)/ Managed Identities (Azure)</a:t>
            </a:r>
            <a:endParaRPr>
              <a:solidFill>
                <a:schemeClr val="accent1"/>
              </a:solidFill>
              <a:latin typeface="DM Sans"/>
              <a:ea typeface="DM Sans"/>
              <a:cs typeface="DM Sans"/>
              <a:sym typeface="DM Sans"/>
            </a:endParaRPr>
          </a:p>
          <a:p>
            <a:pPr indent="-203200" lvl="0" marL="228600" marR="0" rtl="0" algn="l">
              <a:lnSpc>
                <a:spcPct val="100000"/>
              </a:lnSpc>
              <a:spcBef>
                <a:spcPts val="60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Creates storage credentials/ external locations in Unity Catalog</a:t>
            </a:r>
            <a:endParaRPr>
              <a:solidFill>
                <a:schemeClr val="accent1"/>
              </a:solidFill>
              <a:latin typeface="DM Sans"/>
              <a:ea typeface="DM Sans"/>
              <a:cs typeface="DM Sans"/>
              <a:sym typeface="DM Sans"/>
            </a:endParaRPr>
          </a:p>
          <a:p>
            <a:pPr indent="-203200" lvl="0" marL="228600" marR="0" rtl="0" algn="l">
              <a:lnSpc>
                <a:spcPct val="100000"/>
              </a:lnSpc>
              <a:spcBef>
                <a:spcPts val="600"/>
              </a:spcBef>
              <a:spcAft>
                <a:spcPts val="600"/>
              </a:spcAft>
              <a:buClr>
                <a:schemeClr val="accent1"/>
              </a:buClr>
              <a:buSzPts val="1400"/>
              <a:buFont typeface="DM Sans"/>
              <a:buChar char="●"/>
            </a:pPr>
            <a:r>
              <a:rPr lang="en">
                <a:solidFill>
                  <a:schemeClr val="accent1"/>
                </a:solidFill>
                <a:latin typeface="DM Sans"/>
                <a:ea typeface="DM Sans"/>
                <a:cs typeface="DM Sans"/>
                <a:sym typeface="DM Sans"/>
              </a:rPr>
              <a:t>Defines access policies in Unity Catalog</a:t>
            </a:r>
            <a:endParaRPr>
              <a:solidFill>
                <a:schemeClr val="accent1"/>
              </a:solidFill>
              <a:latin typeface="DM Sans"/>
              <a:ea typeface="DM Sans"/>
              <a:cs typeface="DM Sans"/>
              <a:sym typeface="DM Sans"/>
            </a:endParaRPr>
          </a:p>
        </p:txBody>
      </p:sp>
      <p:grpSp>
        <p:nvGrpSpPr>
          <p:cNvPr id="2160" name="Google Shape;2160;p95"/>
          <p:cNvGrpSpPr/>
          <p:nvPr/>
        </p:nvGrpSpPr>
        <p:grpSpPr>
          <a:xfrm>
            <a:off x="1310572" y="3732735"/>
            <a:ext cx="1945958" cy="554100"/>
            <a:chOff x="1310572" y="3732735"/>
            <a:chExt cx="1945958" cy="554100"/>
          </a:xfrm>
        </p:grpSpPr>
        <p:cxnSp>
          <p:nvCxnSpPr>
            <p:cNvPr id="2161" name="Google Shape;2161;p95"/>
            <p:cNvCxnSpPr/>
            <p:nvPr/>
          </p:nvCxnSpPr>
          <p:spPr>
            <a:xfrm>
              <a:off x="1310572" y="4270425"/>
              <a:ext cx="1778400" cy="0"/>
            </a:xfrm>
            <a:prstGeom prst="straightConnector1">
              <a:avLst/>
            </a:prstGeom>
            <a:noFill/>
            <a:ln cap="flat" cmpd="sng" w="19050">
              <a:solidFill>
                <a:schemeClr val="accent2"/>
              </a:solidFill>
              <a:prstDash val="solid"/>
              <a:round/>
              <a:headEnd len="med" w="med" type="none"/>
              <a:tailEnd len="med" w="med" type="triangle"/>
            </a:ln>
          </p:spPr>
        </p:cxnSp>
        <p:sp>
          <p:nvSpPr>
            <p:cNvPr id="2162" name="Google Shape;2162;p95"/>
            <p:cNvSpPr/>
            <p:nvPr/>
          </p:nvSpPr>
          <p:spPr>
            <a:xfrm>
              <a:off x="1386802" y="387403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1</a:t>
              </a:r>
              <a:endParaRPr b="1">
                <a:solidFill>
                  <a:schemeClr val="accent2"/>
                </a:solidFill>
                <a:latin typeface="DM Sans"/>
                <a:ea typeface="DM Sans"/>
                <a:cs typeface="DM Sans"/>
                <a:sym typeface="DM Sans"/>
              </a:endParaRPr>
            </a:p>
          </p:txBody>
        </p:sp>
        <p:sp>
          <p:nvSpPr>
            <p:cNvPr id="2163" name="Google Shape;2163;p95"/>
            <p:cNvSpPr txBox="1"/>
            <p:nvPr/>
          </p:nvSpPr>
          <p:spPr>
            <a:xfrm>
              <a:off x="1625730" y="3732735"/>
              <a:ext cx="1630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Send query (SQL</a:t>
              </a:r>
              <a:endParaRPr sz="1200">
                <a:solidFill>
                  <a:schemeClr val="accent2"/>
                </a:solidFill>
                <a:latin typeface="DM Sans"/>
                <a:ea typeface="DM Sans"/>
                <a:cs typeface="DM Sans"/>
                <a:sym typeface="DM Sans"/>
              </a:endParaRPr>
            </a:p>
            <a:p>
              <a:pPr indent="0" lvl="0" marL="0" rtl="0" algn="l">
                <a:spcBef>
                  <a:spcPts val="0"/>
                </a:spcBef>
                <a:spcAft>
                  <a:spcPts val="0"/>
                </a:spcAft>
                <a:buNone/>
              </a:pPr>
              <a:r>
                <a:rPr lang="en" sz="1200">
                  <a:solidFill>
                    <a:schemeClr val="accent2"/>
                  </a:solidFill>
                  <a:latin typeface="DM Sans"/>
                  <a:ea typeface="DM Sans"/>
                  <a:cs typeface="DM Sans"/>
                  <a:sym typeface="DM Sans"/>
                </a:rPr>
                <a:t>Python, R, Scala,)</a:t>
              </a:r>
              <a:endParaRPr sz="1200"/>
            </a:p>
          </p:txBody>
        </p:sp>
      </p:grpSp>
      <p:grpSp>
        <p:nvGrpSpPr>
          <p:cNvPr id="2164" name="Google Shape;2164;p95"/>
          <p:cNvGrpSpPr/>
          <p:nvPr/>
        </p:nvGrpSpPr>
        <p:grpSpPr>
          <a:xfrm>
            <a:off x="8237136" y="4364325"/>
            <a:ext cx="2579429" cy="554100"/>
            <a:chOff x="8237136" y="4364325"/>
            <a:chExt cx="2579429" cy="554100"/>
          </a:xfrm>
        </p:grpSpPr>
        <p:sp>
          <p:nvSpPr>
            <p:cNvPr id="2165" name="Google Shape;2165;p95"/>
            <p:cNvSpPr txBox="1"/>
            <p:nvPr/>
          </p:nvSpPr>
          <p:spPr>
            <a:xfrm>
              <a:off x="8521565" y="4364325"/>
              <a:ext cx="2295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200">
                  <a:solidFill>
                    <a:schemeClr val="accent2"/>
                  </a:solidFill>
                  <a:latin typeface="DM Sans"/>
                  <a:ea typeface="DM Sans"/>
                  <a:cs typeface="DM Sans"/>
                  <a:sym typeface="DM Sans"/>
                </a:rPr>
                <a:t>Assume IAM Role / </a:t>
              </a:r>
              <a:endParaRPr sz="1200">
                <a:solidFill>
                  <a:schemeClr val="accent2"/>
                </a:solidFill>
                <a:latin typeface="DM Sans"/>
                <a:ea typeface="DM Sans"/>
                <a:cs typeface="DM Sans"/>
                <a:sym typeface="DM Sans"/>
              </a:endParaRPr>
            </a:p>
            <a:p>
              <a:pPr indent="0" lvl="0" marL="0" marR="0" rtl="0" algn="l">
                <a:lnSpc>
                  <a:spcPct val="100000"/>
                </a:lnSpc>
                <a:spcBef>
                  <a:spcPts val="0"/>
                </a:spcBef>
                <a:spcAft>
                  <a:spcPts val="0"/>
                </a:spcAft>
                <a:buNone/>
              </a:pPr>
              <a:r>
                <a:rPr lang="en" sz="1200">
                  <a:solidFill>
                    <a:schemeClr val="accent2"/>
                  </a:solidFill>
                  <a:latin typeface="DM Sans"/>
                  <a:ea typeface="DM Sans"/>
                  <a:cs typeface="DM Sans"/>
                  <a:sym typeface="DM Sans"/>
                </a:rPr>
                <a:t>Managed Identities</a:t>
              </a:r>
              <a:endParaRPr sz="1200">
                <a:latin typeface="DM Sans"/>
                <a:ea typeface="DM Sans"/>
                <a:cs typeface="DM Sans"/>
                <a:sym typeface="DM Sans"/>
              </a:endParaRPr>
            </a:p>
          </p:txBody>
        </p:sp>
        <p:sp>
          <p:nvSpPr>
            <p:cNvPr id="2166" name="Google Shape;2166;p95"/>
            <p:cNvSpPr/>
            <p:nvPr/>
          </p:nvSpPr>
          <p:spPr>
            <a:xfrm>
              <a:off x="8237136" y="450562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3</a:t>
              </a:r>
              <a:endParaRPr b="1">
                <a:solidFill>
                  <a:schemeClr val="accent2"/>
                </a:solidFill>
                <a:latin typeface="DM Sans"/>
                <a:ea typeface="DM Sans"/>
                <a:cs typeface="DM Sans"/>
                <a:sym typeface="DM Sans"/>
              </a:endParaRPr>
            </a:p>
          </p:txBody>
        </p:sp>
      </p:grpSp>
      <p:grpSp>
        <p:nvGrpSpPr>
          <p:cNvPr id="2167" name="Google Shape;2167;p95"/>
          <p:cNvGrpSpPr/>
          <p:nvPr/>
        </p:nvGrpSpPr>
        <p:grpSpPr>
          <a:xfrm>
            <a:off x="4729235" y="3835325"/>
            <a:ext cx="2748900" cy="739150"/>
            <a:chOff x="4729235" y="3835325"/>
            <a:chExt cx="2748900" cy="739150"/>
          </a:xfrm>
        </p:grpSpPr>
        <p:cxnSp>
          <p:nvCxnSpPr>
            <p:cNvPr id="2168" name="Google Shape;2168;p95"/>
            <p:cNvCxnSpPr/>
            <p:nvPr/>
          </p:nvCxnSpPr>
          <p:spPr>
            <a:xfrm rot="10800000">
              <a:off x="4729235" y="3835325"/>
              <a:ext cx="2748900" cy="0"/>
            </a:xfrm>
            <a:prstGeom prst="straightConnector1">
              <a:avLst/>
            </a:prstGeom>
            <a:noFill/>
            <a:ln cap="flat" cmpd="sng" w="19050">
              <a:solidFill>
                <a:schemeClr val="accent2"/>
              </a:solidFill>
              <a:prstDash val="solid"/>
              <a:round/>
              <a:headEnd len="med" w="med" type="none"/>
              <a:tailEnd len="med" w="med" type="triangle"/>
            </a:ln>
          </p:spPr>
        </p:cxnSp>
        <p:sp>
          <p:nvSpPr>
            <p:cNvPr id="2169" name="Google Shape;2169;p95"/>
            <p:cNvSpPr txBox="1"/>
            <p:nvPr/>
          </p:nvSpPr>
          <p:spPr>
            <a:xfrm>
              <a:off x="5098262" y="3835575"/>
              <a:ext cx="2330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Return list of paths/data files and scoped down temporary tokens</a:t>
              </a:r>
              <a:endParaRPr sz="1200">
                <a:solidFill>
                  <a:srgbClr val="00A972"/>
                </a:solidFill>
                <a:latin typeface="DM Sans"/>
                <a:ea typeface="DM Sans"/>
                <a:cs typeface="DM Sans"/>
                <a:sym typeface="DM Sans"/>
              </a:endParaRPr>
            </a:p>
          </p:txBody>
        </p:sp>
        <p:sp>
          <p:nvSpPr>
            <p:cNvPr id="2170" name="Google Shape;2170;p95"/>
            <p:cNvSpPr/>
            <p:nvPr/>
          </p:nvSpPr>
          <p:spPr>
            <a:xfrm>
              <a:off x="4824195" y="397687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4</a:t>
              </a:r>
              <a:endParaRPr b="1">
                <a:solidFill>
                  <a:schemeClr val="accent2"/>
                </a:solidFill>
                <a:latin typeface="DM Sans"/>
                <a:ea typeface="DM Sans"/>
                <a:cs typeface="DM Sans"/>
                <a:sym typeface="DM Sans"/>
              </a:endParaRPr>
            </a:p>
          </p:txBody>
        </p:sp>
      </p:grpSp>
      <p:sp>
        <p:nvSpPr>
          <p:cNvPr id="2171" name="Google Shape;2171;p95"/>
          <p:cNvSpPr/>
          <p:nvPr/>
        </p:nvSpPr>
        <p:spPr>
          <a:xfrm>
            <a:off x="7614813" y="3242200"/>
            <a:ext cx="1925400" cy="8955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2" name="Google Shape;2172;p95"/>
          <p:cNvGrpSpPr/>
          <p:nvPr/>
        </p:nvGrpSpPr>
        <p:grpSpPr>
          <a:xfrm>
            <a:off x="4729231" y="3017203"/>
            <a:ext cx="2748900" cy="554100"/>
            <a:chOff x="4729231" y="3017203"/>
            <a:chExt cx="2748900" cy="554100"/>
          </a:xfrm>
        </p:grpSpPr>
        <p:sp>
          <p:nvSpPr>
            <p:cNvPr id="2173" name="Google Shape;2173;p95"/>
            <p:cNvSpPr txBox="1"/>
            <p:nvPr/>
          </p:nvSpPr>
          <p:spPr>
            <a:xfrm>
              <a:off x="5098262" y="3017203"/>
              <a:ext cx="1968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Check namespace , metadata and grants</a:t>
              </a:r>
              <a:endParaRPr sz="1200">
                <a:solidFill>
                  <a:srgbClr val="00A972"/>
                </a:solidFill>
                <a:latin typeface="DM Sans"/>
                <a:ea typeface="DM Sans"/>
                <a:cs typeface="DM Sans"/>
                <a:sym typeface="DM Sans"/>
              </a:endParaRPr>
            </a:p>
          </p:txBody>
        </p:sp>
        <p:sp>
          <p:nvSpPr>
            <p:cNvPr id="2174" name="Google Shape;2174;p95"/>
            <p:cNvSpPr/>
            <p:nvPr/>
          </p:nvSpPr>
          <p:spPr>
            <a:xfrm>
              <a:off x="4824195" y="3158503"/>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2</a:t>
              </a:r>
              <a:endParaRPr b="1">
                <a:solidFill>
                  <a:schemeClr val="accent2"/>
                </a:solidFill>
                <a:latin typeface="DM Sans"/>
                <a:ea typeface="DM Sans"/>
                <a:cs typeface="DM Sans"/>
                <a:sym typeface="DM Sans"/>
              </a:endParaRPr>
            </a:p>
          </p:txBody>
        </p:sp>
        <p:cxnSp>
          <p:nvCxnSpPr>
            <p:cNvPr id="2175" name="Google Shape;2175;p95"/>
            <p:cNvCxnSpPr/>
            <p:nvPr/>
          </p:nvCxnSpPr>
          <p:spPr>
            <a:xfrm rot="10800000">
              <a:off x="4729231" y="3530536"/>
              <a:ext cx="2748900" cy="0"/>
            </a:xfrm>
            <a:prstGeom prst="straightConnector1">
              <a:avLst/>
            </a:prstGeom>
            <a:noFill/>
            <a:ln cap="flat" cmpd="sng" w="19050">
              <a:solidFill>
                <a:schemeClr val="accent2"/>
              </a:solidFill>
              <a:prstDash val="solid"/>
              <a:round/>
              <a:headEnd len="med" w="med" type="triangle"/>
              <a:tailEnd len="med" w="med" type="none"/>
            </a:ln>
          </p:spPr>
        </p:cxnSp>
      </p:grpSp>
      <p:grpSp>
        <p:nvGrpSpPr>
          <p:cNvPr id="2176" name="Google Shape;2176;p95"/>
          <p:cNvGrpSpPr/>
          <p:nvPr/>
        </p:nvGrpSpPr>
        <p:grpSpPr>
          <a:xfrm>
            <a:off x="1336391" y="4651425"/>
            <a:ext cx="1752600" cy="442796"/>
            <a:chOff x="1336391" y="4651425"/>
            <a:chExt cx="1752600" cy="442796"/>
          </a:xfrm>
        </p:grpSpPr>
        <p:sp>
          <p:nvSpPr>
            <p:cNvPr id="2177" name="Google Shape;2177;p95"/>
            <p:cNvSpPr txBox="1"/>
            <p:nvPr/>
          </p:nvSpPr>
          <p:spPr>
            <a:xfrm>
              <a:off x="1625730" y="4724921"/>
              <a:ext cx="141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Send result</a:t>
              </a:r>
              <a:endParaRPr sz="1200">
                <a:solidFill>
                  <a:srgbClr val="00A972"/>
                </a:solidFill>
                <a:latin typeface="DM Sans"/>
                <a:ea typeface="DM Sans"/>
                <a:cs typeface="DM Sans"/>
                <a:sym typeface="DM Sans"/>
              </a:endParaRPr>
            </a:p>
          </p:txBody>
        </p:sp>
        <p:sp>
          <p:nvSpPr>
            <p:cNvPr id="2178" name="Google Shape;2178;p95"/>
            <p:cNvSpPr/>
            <p:nvPr/>
          </p:nvSpPr>
          <p:spPr>
            <a:xfrm>
              <a:off x="1386802" y="4773821"/>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8</a:t>
              </a:r>
              <a:endParaRPr b="1">
                <a:solidFill>
                  <a:schemeClr val="accent2"/>
                </a:solidFill>
                <a:latin typeface="DM Sans"/>
                <a:ea typeface="DM Sans"/>
                <a:cs typeface="DM Sans"/>
                <a:sym typeface="DM Sans"/>
              </a:endParaRPr>
            </a:p>
          </p:txBody>
        </p:sp>
        <p:cxnSp>
          <p:nvCxnSpPr>
            <p:cNvPr id="2179" name="Google Shape;2179;p95"/>
            <p:cNvCxnSpPr/>
            <p:nvPr/>
          </p:nvCxnSpPr>
          <p:spPr>
            <a:xfrm>
              <a:off x="1336391" y="4651425"/>
              <a:ext cx="1752600" cy="0"/>
            </a:xfrm>
            <a:prstGeom prst="straightConnector1">
              <a:avLst/>
            </a:prstGeom>
            <a:noFill/>
            <a:ln cap="flat" cmpd="sng" w="19050">
              <a:solidFill>
                <a:schemeClr val="accent2"/>
              </a:solidFill>
              <a:prstDash val="solid"/>
              <a:round/>
              <a:headEnd len="med" w="med" type="triangle"/>
              <a:tailEnd len="med" w="med" type="none"/>
            </a:ln>
          </p:spPr>
        </p:cxnSp>
      </p:grpSp>
      <p:grpSp>
        <p:nvGrpSpPr>
          <p:cNvPr id="2180" name="Google Shape;2180;p95"/>
          <p:cNvGrpSpPr/>
          <p:nvPr/>
        </p:nvGrpSpPr>
        <p:grpSpPr>
          <a:xfrm>
            <a:off x="4744704" y="4802910"/>
            <a:ext cx="2826770" cy="738900"/>
            <a:chOff x="4744704" y="4802910"/>
            <a:chExt cx="2826770" cy="738900"/>
          </a:xfrm>
        </p:grpSpPr>
        <p:sp>
          <p:nvSpPr>
            <p:cNvPr id="2181" name="Google Shape;2181;p95"/>
            <p:cNvSpPr txBox="1"/>
            <p:nvPr/>
          </p:nvSpPr>
          <p:spPr>
            <a:xfrm>
              <a:off x="5098274" y="4802910"/>
              <a:ext cx="247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Request/ingest data from paths/data files with temporary tokens</a:t>
              </a:r>
              <a:endParaRPr sz="1200">
                <a:solidFill>
                  <a:srgbClr val="00A972"/>
                </a:solidFill>
                <a:latin typeface="DM Sans"/>
                <a:ea typeface="DM Sans"/>
                <a:cs typeface="DM Sans"/>
                <a:sym typeface="DM Sans"/>
              </a:endParaRPr>
            </a:p>
          </p:txBody>
        </p:sp>
        <p:sp>
          <p:nvSpPr>
            <p:cNvPr id="2182" name="Google Shape;2182;p95"/>
            <p:cNvSpPr/>
            <p:nvPr/>
          </p:nvSpPr>
          <p:spPr>
            <a:xfrm>
              <a:off x="4824195" y="5057609"/>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5</a:t>
              </a:r>
              <a:endParaRPr b="1">
                <a:solidFill>
                  <a:schemeClr val="accent2"/>
                </a:solidFill>
                <a:latin typeface="DM Sans"/>
                <a:ea typeface="DM Sans"/>
                <a:cs typeface="DM Sans"/>
                <a:sym typeface="DM Sans"/>
              </a:endParaRPr>
            </a:p>
          </p:txBody>
        </p:sp>
        <p:cxnSp>
          <p:nvCxnSpPr>
            <p:cNvPr id="2183" name="Google Shape;2183;p95"/>
            <p:cNvCxnSpPr/>
            <p:nvPr/>
          </p:nvCxnSpPr>
          <p:spPr>
            <a:xfrm>
              <a:off x="4744704" y="5482400"/>
              <a:ext cx="2748900" cy="0"/>
            </a:xfrm>
            <a:prstGeom prst="straightConnector1">
              <a:avLst/>
            </a:prstGeom>
            <a:noFill/>
            <a:ln cap="flat" cmpd="sng" w="19050">
              <a:solidFill>
                <a:schemeClr val="accent2"/>
              </a:solidFill>
              <a:prstDash val="solid"/>
              <a:round/>
              <a:headEnd len="med" w="med" type="none"/>
              <a:tailEnd len="med" w="med" type="triangle"/>
            </a:ln>
          </p:spPr>
        </p:cxnSp>
      </p:grpSp>
      <p:grpSp>
        <p:nvGrpSpPr>
          <p:cNvPr id="2184" name="Google Shape;2184;p95"/>
          <p:cNvGrpSpPr/>
          <p:nvPr/>
        </p:nvGrpSpPr>
        <p:grpSpPr>
          <a:xfrm>
            <a:off x="4744704" y="5787200"/>
            <a:ext cx="2748900" cy="463386"/>
            <a:chOff x="4744704" y="5787200"/>
            <a:chExt cx="2748900" cy="463386"/>
          </a:xfrm>
        </p:grpSpPr>
        <p:sp>
          <p:nvSpPr>
            <p:cNvPr id="2185" name="Google Shape;2185;p95"/>
            <p:cNvSpPr txBox="1"/>
            <p:nvPr/>
          </p:nvSpPr>
          <p:spPr>
            <a:xfrm>
              <a:off x="5098262" y="5881286"/>
              <a:ext cx="156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Return data </a:t>
              </a:r>
              <a:endParaRPr sz="1200">
                <a:solidFill>
                  <a:srgbClr val="00A972"/>
                </a:solidFill>
                <a:latin typeface="DM Sans"/>
                <a:ea typeface="DM Sans"/>
                <a:cs typeface="DM Sans"/>
                <a:sym typeface="DM Sans"/>
              </a:endParaRPr>
            </a:p>
          </p:txBody>
        </p:sp>
        <p:sp>
          <p:nvSpPr>
            <p:cNvPr id="2186" name="Google Shape;2186;p95"/>
            <p:cNvSpPr/>
            <p:nvPr/>
          </p:nvSpPr>
          <p:spPr>
            <a:xfrm>
              <a:off x="4824193" y="5930186"/>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6</a:t>
              </a:r>
              <a:endParaRPr b="1">
                <a:solidFill>
                  <a:schemeClr val="accent2"/>
                </a:solidFill>
                <a:latin typeface="DM Sans"/>
                <a:ea typeface="DM Sans"/>
                <a:cs typeface="DM Sans"/>
                <a:sym typeface="DM Sans"/>
              </a:endParaRPr>
            </a:p>
          </p:txBody>
        </p:sp>
        <p:cxnSp>
          <p:nvCxnSpPr>
            <p:cNvPr id="2187" name="Google Shape;2187;p95"/>
            <p:cNvCxnSpPr/>
            <p:nvPr/>
          </p:nvCxnSpPr>
          <p:spPr>
            <a:xfrm>
              <a:off x="4744704" y="5787200"/>
              <a:ext cx="2748900" cy="0"/>
            </a:xfrm>
            <a:prstGeom prst="straightConnector1">
              <a:avLst/>
            </a:prstGeom>
            <a:noFill/>
            <a:ln cap="flat" cmpd="sng" w="19050">
              <a:solidFill>
                <a:schemeClr val="accent2"/>
              </a:solidFill>
              <a:prstDash val="solid"/>
              <a:round/>
              <a:headEnd len="med" w="med" type="triangle"/>
              <a:tailEnd len="med" w="med" type="none"/>
            </a:ln>
          </p:spPr>
        </p:cxnSp>
      </p:grpSp>
      <p:sp>
        <p:nvSpPr>
          <p:cNvPr id="2188" name="Google Shape;2188;p95"/>
          <p:cNvSpPr/>
          <p:nvPr/>
        </p:nvSpPr>
        <p:spPr>
          <a:xfrm rot="-5396351">
            <a:off x="9868904" y="3417997"/>
            <a:ext cx="282600" cy="524700"/>
          </a:xfrm>
          <a:prstGeom prst="downArrow">
            <a:avLst>
              <a:gd fmla="val 46756" name="adj1"/>
              <a:gd fmla="val 42789"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95"/>
          <p:cNvSpPr/>
          <p:nvPr/>
        </p:nvSpPr>
        <p:spPr>
          <a:xfrm>
            <a:off x="3125668" y="3243175"/>
            <a:ext cx="1460100" cy="2850000"/>
          </a:xfrm>
          <a:prstGeom prst="roundRect">
            <a:avLst>
              <a:gd fmla="val 11052" name="adj"/>
            </a:avLst>
          </a:prstGeom>
          <a:noFill/>
          <a:ln cap="flat" cmpd="sng" w="19050">
            <a:solidFill>
              <a:srgbClr val="1B5162"/>
            </a:solidFill>
            <a:prstDash val="solid"/>
            <a:round/>
            <a:headEnd len="sm" w="sm" type="none"/>
            <a:tailEnd len="sm" w="sm" type="none"/>
          </a:ln>
        </p:spPr>
        <p:txBody>
          <a:bodyPr anchorCtr="0" anchor="ctr" bIns="0" lIns="91425" spcFirstLastPara="1" rIns="91425" wrap="square" tIns="91425">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l">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Cluster or SQL warehouse</a:t>
            </a:r>
            <a:endParaRPr sz="1200">
              <a:latin typeface="DM Sans Medium"/>
              <a:ea typeface="DM Sans Medium"/>
              <a:cs typeface="DM Sans Medium"/>
              <a:sym typeface="DM Sans Medium"/>
            </a:endParaRPr>
          </a:p>
        </p:txBody>
      </p:sp>
      <p:grpSp>
        <p:nvGrpSpPr>
          <p:cNvPr id="2190" name="Google Shape;2190;p95"/>
          <p:cNvGrpSpPr/>
          <p:nvPr/>
        </p:nvGrpSpPr>
        <p:grpSpPr>
          <a:xfrm>
            <a:off x="3320832" y="5425650"/>
            <a:ext cx="1203557" cy="554100"/>
            <a:chOff x="3320832" y="5425650"/>
            <a:chExt cx="1203557" cy="554100"/>
          </a:xfrm>
        </p:grpSpPr>
        <p:sp>
          <p:nvSpPr>
            <p:cNvPr id="2191" name="Google Shape;2191;p95"/>
            <p:cNvSpPr txBox="1"/>
            <p:nvPr/>
          </p:nvSpPr>
          <p:spPr>
            <a:xfrm>
              <a:off x="3594389" y="5425650"/>
              <a:ext cx="93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Enforce </a:t>
              </a:r>
              <a:br>
                <a:rPr lang="en" sz="1200">
                  <a:solidFill>
                    <a:srgbClr val="00A972"/>
                  </a:solidFill>
                  <a:latin typeface="DM Sans"/>
                  <a:ea typeface="DM Sans"/>
                  <a:cs typeface="DM Sans"/>
                  <a:sym typeface="DM Sans"/>
                </a:rPr>
              </a:br>
              <a:r>
                <a:rPr lang="en" sz="1200">
                  <a:solidFill>
                    <a:srgbClr val="00A972"/>
                  </a:solidFill>
                  <a:latin typeface="DM Sans"/>
                  <a:ea typeface="DM Sans"/>
                  <a:cs typeface="DM Sans"/>
                  <a:sym typeface="DM Sans"/>
                </a:rPr>
                <a:t>policies</a:t>
              </a:r>
              <a:endParaRPr sz="1200">
                <a:solidFill>
                  <a:srgbClr val="00A972"/>
                </a:solidFill>
                <a:latin typeface="DM Sans"/>
                <a:ea typeface="DM Sans"/>
                <a:cs typeface="DM Sans"/>
                <a:sym typeface="DM Sans"/>
              </a:endParaRPr>
            </a:p>
          </p:txBody>
        </p:sp>
        <p:sp>
          <p:nvSpPr>
            <p:cNvPr id="2192" name="Google Shape;2192;p95"/>
            <p:cNvSpPr/>
            <p:nvPr/>
          </p:nvSpPr>
          <p:spPr>
            <a:xfrm>
              <a:off x="3320832" y="5566950"/>
              <a:ext cx="282900" cy="271500"/>
            </a:xfrm>
            <a:prstGeom prst="ellipse">
              <a:avLst/>
            </a:prstGeom>
            <a:solidFill>
              <a:srgbClr val="F9F7F4"/>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7</a:t>
              </a:r>
              <a:endParaRPr b="1">
                <a:solidFill>
                  <a:srgbClr val="00A972"/>
                </a:solidFill>
                <a:latin typeface="DM Sans"/>
                <a:ea typeface="DM Sans"/>
                <a:cs typeface="DM Sans"/>
                <a:sym typeface="DM Sans"/>
              </a:endParaRPr>
            </a:p>
          </p:txBody>
        </p:sp>
      </p:grpSp>
      <p:pic>
        <p:nvPicPr>
          <p:cNvPr id="2193" name="Google Shape;2193;p95"/>
          <p:cNvPicPr preferRelativeResize="0"/>
          <p:nvPr/>
        </p:nvPicPr>
        <p:blipFill rotWithShape="1">
          <a:blip r:embed="rId7">
            <a:alphaModFix/>
          </a:blip>
          <a:srcRect b="0" l="0" r="0" t="0"/>
          <a:stretch/>
        </p:blipFill>
        <p:spPr>
          <a:xfrm>
            <a:off x="3564051" y="4109371"/>
            <a:ext cx="583354" cy="558287"/>
          </a:xfrm>
          <a:prstGeom prst="rect">
            <a:avLst/>
          </a:prstGeom>
          <a:noFill/>
          <a:ln>
            <a:noFill/>
          </a:ln>
        </p:spPr>
      </p:pic>
      <p:pic>
        <p:nvPicPr>
          <p:cNvPr id="2194" name="Google Shape;2194;p95"/>
          <p:cNvPicPr preferRelativeResize="0"/>
          <p:nvPr/>
        </p:nvPicPr>
        <p:blipFill>
          <a:blip r:embed="rId8">
            <a:alphaModFix/>
          </a:blip>
          <a:stretch>
            <a:fillRect/>
          </a:stretch>
        </p:blipFill>
        <p:spPr>
          <a:xfrm>
            <a:off x="7740775" y="3383125"/>
            <a:ext cx="1673499" cy="615600"/>
          </a:xfrm>
          <a:prstGeom prst="rect">
            <a:avLst/>
          </a:prstGeom>
          <a:noFill/>
          <a:ln>
            <a:noFill/>
          </a:ln>
        </p:spPr>
      </p:pic>
      <p:sp>
        <p:nvSpPr>
          <p:cNvPr id="2195" name="Google Shape;2195;p9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Shared clusters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9" name="Shape 2199"/>
        <p:cNvGrpSpPr/>
        <p:nvPr/>
      </p:nvGrpSpPr>
      <p:grpSpPr>
        <a:xfrm>
          <a:off x="0" y="0"/>
          <a:ext cx="0" cy="0"/>
          <a:chOff x="0" y="0"/>
          <a:chExt cx="0" cy="0"/>
        </a:xfrm>
      </p:grpSpPr>
      <p:sp>
        <p:nvSpPr>
          <p:cNvPr id="2200" name="Google Shape;2200;p96"/>
          <p:cNvSpPr/>
          <p:nvPr/>
        </p:nvSpPr>
        <p:spPr>
          <a:xfrm>
            <a:off x="275506" y="1908625"/>
            <a:ext cx="958800" cy="895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User</a:t>
            </a:r>
            <a:endParaRPr sz="1200">
              <a:latin typeface="DM Sans Medium"/>
              <a:ea typeface="DM Sans Medium"/>
              <a:cs typeface="DM Sans Medium"/>
              <a:sym typeface="DM Sans Medium"/>
            </a:endParaRPr>
          </a:p>
        </p:txBody>
      </p:sp>
      <p:sp>
        <p:nvSpPr>
          <p:cNvPr id="2201" name="Google Shape;2201;p96"/>
          <p:cNvSpPr txBox="1"/>
          <p:nvPr/>
        </p:nvSpPr>
        <p:spPr>
          <a:xfrm>
            <a:off x="7398818" y="5853523"/>
            <a:ext cx="141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br>
              <a:rPr i="1" lang="en">
                <a:latin typeface="DM Sans"/>
                <a:ea typeface="DM Sans"/>
                <a:cs typeface="DM Sans"/>
                <a:sym typeface="DM Sans"/>
              </a:rPr>
            </a:br>
            <a:r>
              <a:rPr i="1" lang="en">
                <a:latin typeface="DM Sans"/>
                <a:ea typeface="DM Sans"/>
                <a:cs typeface="DM Sans"/>
                <a:sym typeface="DM Sans"/>
              </a:rPr>
              <a:t>(S3, ADLS)</a:t>
            </a:r>
            <a:endParaRPr i="1">
              <a:latin typeface="DM Sans"/>
              <a:ea typeface="DM Sans"/>
              <a:cs typeface="DM Sans"/>
              <a:sym typeface="DM Sans"/>
            </a:endParaRPr>
          </a:p>
        </p:txBody>
      </p:sp>
      <p:sp>
        <p:nvSpPr>
          <p:cNvPr id="2202" name="Google Shape;2202;p9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203" name="Google Shape;2203;p9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Life of a query with Unity Catalog</a:t>
            </a:r>
            <a:endParaRPr sz="3600"/>
          </a:p>
        </p:txBody>
      </p:sp>
      <p:pic>
        <p:nvPicPr>
          <p:cNvPr id="2204" name="Google Shape;2204;p96"/>
          <p:cNvPicPr preferRelativeResize="0"/>
          <p:nvPr/>
        </p:nvPicPr>
        <p:blipFill rotWithShape="1">
          <a:blip r:embed="rId3">
            <a:alphaModFix/>
          </a:blip>
          <a:srcRect b="0" l="0" r="0" t="0"/>
          <a:stretch/>
        </p:blipFill>
        <p:spPr>
          <a:xfrm>
            <a:off x="447117" y="1960930"/>
            <a:ext cx="583354" cy="583354"/>
          </a:xfrm>
          <a:prstGeom prst="rect">
            <a:avLst/>
          </a:prstGeom>
          <a:noFill/>
          <a:ln>
            <a:noFill/>
          </a:ln>
        </p:spPr>
      </p:pic>
      <p:grpSp>
        <p:nvGrpSpPr>
          <p:cNvPr id="2205" name="Google Shape;2205;p96"/>
          <p:cNvGrpSpPr/>
          <p:nvPr/>
        </p:nvGrpSpPr>
        <p:grpSpPr>
          <a:xfrm>
            <a:off x="7614770" y="5197691"/>
            <a:ext cx="958812" cy="895500"/>
            <a:chOff x="8405325" y="4979961"/>
            <a:chExt cx="959100" cy="895500"/>
          </a:xfrm>
        </p:grpSpPr>
        <p:sp>
          <p:nvSpPr>
            <p:cNvPr id="2206" name="Google Shape;2206;p96"/>
            <p:cNvSpPr/>
            <p:nvPr/>
          </p:nvSpPr>
          <p:spPr>
            <a:xfrm>
              <a:off x="8405325" y="4979961"/>
              <a:ext cx="959100" cy="895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lnSpc>
                  <a:spcPct val="85000"/>
                </a:lnSpc>
                <a:spcBef>
                  <a:spcPts val="0"/>
                </a:spcBef>
                <a:spcAft>
                  <a:spcPts val="0"/>
                </a:spcAft>
                <a:buNone/>
              </a:pPr>
              <a:r>
                <a:rPr lang="en" sz="1200">
                  <a:latin typeface="DM Sans Medium"/>
                  <a:ea typeface="DM Sans Medium"/>
                  <a:cs typeface="DM Sans Medium"/>
                  <a:sym typeface="DM Sans Medium"/>
                </a:rPr>
                <a:t>Cloud Storage</a:t>
              </a:r>
              <a:endParaRPr sz="1200">
                <a:latin typeface="DM Sans Medium"/>
                <a:ea typeface="DM Sans Medium"/>
                <a:cs typeface="DM Sans Medium"/>
                <a:sym typeface="DM Sans Medium"/>
              </a:endParaRPr>
            </a:p>
          </p:txBody>
        </p:sp>
        <p:pic>
          <p:nvPicPr>
            <p:cNvPr id="2207" name="Google Shape;2207;p96"/>
            <p:cNvPicPr preferRelativeResize="0"/>
            <p:nvPr/>
          </p:nvPicPr>
          <p:blipFill rotWithShape="1">
            <a:blip r:embed="rId4">
              <a:alphaModFix/>
            </a:blip>
            <a:srcRect b="-5830" l="0" r="0" t="5830"/>
            <a:stretch/>
          </p:blipFill>
          <p:spPr>
            <a:xfrm>
              <a:off x="8622375" y="5012801"/>
              <a:ext cx="525001" cy="525017"/>
            </a:xfrm>
            <a:prstGeom prst="rect">
              <a:avLst/>
            </a:prstGeom>
            <a:noFill/>
            <a:ln>
              <a:noFill/>
            </a:ln>
          </p:spPr>
        </p:pic>
      </p:grpSp>
      <p:cxnSp>
        <p:nvCxnSpPr>
          <p:cNvPr id="2208" name="Google Shape;2208;p96"/>
          <p:cNvCxnSpPr/>
          <p:nvPr/>
        </p:nvCxnSpPr>
        <p:spPr>
          <a:xfrm rot="10800000">
            <a:off x="8105441" y="4231000"/>
            <a:ext cx="0" cy="858900"/>
          </a:xfrm>
          <a:prstGeom prst="straightConnector1">
            <a:avLst/>
          </a:prstGeom>
          <a:noFill/>
          <a:ln cap="flat" cmpd="sng" w="19050">
            <a:solidFill>
              <a:schemeClr val="accent2"/>
            </a:solidFill>
            <a:prstDash val="solid"/>
            <a:round/>
            <a:headEnd len="med" w="med" type="triangle"/>
            <a:tailEnd len="med" w="med" type="triangle"/>
          </a:ln>
        </p:spPr>
      </p:cxnSp>
      <p:grpSp>
        <p:nvGrpSpPr>
          <p:cNvPr id="2209" name="Google Shape;2209;p96"/>
          <p:cNvGrpSpPr/>
          <p:nvPr/>
        </p:nvGrpSpPr>
        <p:grpSpPr>
          <a:xfrm>
            <a:off x="10426938" y="3243175"/>
            <a:ext cx="958812" cy="895500"/>
            <a:chOff x="10963475" y="2938375"/>
            <a:chExt cx="959100" cy="895500"/>
          </a:xfrm>
        </p:grpSpPr>
        <p:sp>
          <p:nvSpPr>
            <p:cNvPr id="2210" name="Google Shape;2210;p96"/>
            <p:cNvSpPr/>
            <p:nvPr/>
          </p:nvSpPr>
          <p:spPr>
            <a:xfrm>
              <a:off x="10963475" y="2938375"/>
              <a:ext cx="959100" cy="8955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Audit log</a:t>
              </a:r>
              <a:endParaRPr sz="1200">
                <a:latin typeface="DM Sans Medium"/>
                <a:ea typeface="DM Sans Medium"/>
                <a:cs typeface="DM Sans Medium"/>
                <a:sym typeface="DM Sans Medium"/>
              </a:endParaRPr>
            </a:p>
          </p:txBody>
        </p:sp>
        <p:pic>
          <p:nvPicPr>
            <p:cNvPr id="2211" name="Google Shape;2211;p96"/>
            <p:cNvPicPr preferRelativeResize="0"/>
            <p:nvPr/>
          </p:nvPicPr>
          <p:blipFill rotWithShape="1">
            <a:blip r:embed="rId5">
              <a:alphaModFix/>
            </a:blip>
            <a:srcRect b="0" l="0" r="0" t="0"/>
            <a:stretch/>
          </p:blipFill>
          <p:spPr>
            <a:xfrm>
              <a:off x="11151274" y="2985880"/>
              <a:ext cx="583501" cy="583501"/>
            </a:xfrm>
            <a:prstGeom prst="rect">
              <a:avLst/>
            </a:prstGeom>
            <a:noFill/>
            <a:ln>
              <a:noFill/>
            </a:ln>
          </p:spPr>
        </p:pic>
      </p:grpSp>
      <p:sp>
        <p:nvSpPr>
          <p:cNvPr id="2212" name="Google Shape;2212;p96"/>
          <p:cNvSpPr txBox="1"/>
          <p:nvPr/>
        </p:nvSpPr>
        <p:spPr>
          <a:xfrm>
            <a:off x="8986807" y="3026585"/>
            <a:ext cx="1968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4"/>
                </a:solidFill>
                <a:latin typeface="DM Sans"/>
                <a:ea typeface="DM Sans"/>
                <a:cs typeface="DM Sans"/>
                <a:sym typeface="DM Sans"/>
              </a:rPr>
              <a:t>Write </a:t>
            </a:r>
            <a:endParaRPr sz="1200">
              <a:solidFill>
                <a:schemeClr val="accent4"/>
              </a:solidFill>
              <a:latin typeface="DM Sans"/>
              <a:ea typeface="DM Sans"/>
              <a:cs typeface="DM Sans"/>
              <a:sym typeface="DM Sans"/>
            </a:endParaRPr>
          </a:p>
          <a:p>
            <a:pPr indent="0" lvl="0" marL="0" rtl="0" algn="ctr">
              <a:spcBef>
                <a:spcPts val="0"/>
              </a:spcBef>
              <a:spcAft>
                <a:spcPts val="0"/>
              </a:spcAft>
              <a:buNone/>
            </a:pPr>
            <a:r>
              <a:rPr lang="en" sz="1200">
                <a:solidFill>
                  <a:schemeClr val="accent4"/>
                </a:solidFill>
                <a:latin typeface="DM Sans"/>
                <a:ea typeface="DM Sans"/>
                <a:cs typeface="DM Sans"/>
                <a:sym typeface="DM Sans"/>
              </a:rPr>
              <a:t>audit log</a:t>
            </a:r>
            <a:endParaRPr sz="1200">
              <a:solidFill>
                <a:schemeClr val="accent4"/>
              </a:solidFill>
              <a:latin typeface="DM Sans"/>
              <a:ea typeface="DM Sans"/>
              <a:cs typeface="DM Sans"/>
              <a:sym typeface="DM Sans"/>
            </a:endParaRPr>
          </a:p>
        </p:txBody>
      </p:sp>
      <p:sp>
        <p:nvSpPr>
          <p:cNvPr id="2213" name="Google Shape;2213;p96"/>
          <p:cNvSpPr txBox="1"/>
          <p:nvPr/>
        </p:nvSpPr>
        <p:spPr>
          <a:xfrm>
            <a:off x="8797118" y="1178175"/>
            <a:ext cx="3217500" cy="1631700"/>
          </a:xfrm>
          <a:prstGeom prst="rect">
            <a:avLst/>
          </a:prstGeom>
          <a:solidFill>
            <a:srgbClr val="FFFFFF"/>
          </a:solidFill>
          <a:ln>
            <a:noFill/>
          </a:ln>
        </p:spPr>
        <p:txBody>
          <a:bodyPr anchorCtr="0" anchor="ctr" bIns="91425" lIns="91425" spcFirstLastPara="1" rIns="91425" wrap="square" tIns="91425">
            <a:spAutoFit/>
          </a:bodyPr>
          <a:lstStyle/>
          <a:p>
            <a:pPr indent="-203200" lvl="0" marL="228600" marR="0" rtl="0" algn="l">
              <a:lnSpc>
                <a:spcPct val="100000"/>
              </a:lnSpc>
              <a:spcBef>
                <a:spcPts val="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Creates an IAM role (AWS)/ Managed Identities (Azure)</a:t>
            </a:r>
            <a:endParaRPr>
              <a:solidFill>
                <a:schemeClr val="accent1"/>
              </a:solidFill>
              <a:latin typeface="DM Sans"/>
              <a:ea typeface="DM Sans"/>
              <a:cs typeface="DM Sans"/>
              <a:sym typeface="DM Sans"/>
            </a:endParaRPr>
          </a:p>
          <a:p>
            <a:pPr indent="-203200" lvl="0" marL="228600" marR="0" rtl="0" algn="l">
              <a:lnSpc>
                <a:spcPct val="100000"/>
              </a:lnSpc>
              <a:spcBef>
                <a:spcPts val="60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Creates storage credentials/ external locations in Unity Catalog</a:t>
            </a:r>
            <a:endParaRPr>
              <a:solidFill>
                <a:schemeClr val="accent1"/>
              </a:solidFill>
              <a:latin typeface="DM Sans"/>
              <a:ea typeface="DM Sans"/>
              <a:cs typeface="DM Sans"/>
              <a:sym typeface="DM Sans"/>
            </a:endParaRPr>
          </a:p>
          <a:p>
            <a:pPr indent="-203200" lvl="0" marL="228600" marR="0" rtl="0" algn="l">
              <a:lnSpc>
                <a:spcPct val="100000"/>
              </a:lnSpc>
              <a:spcBef>
                <a:spcPts val="600"/>
              </a:spcBef>
              <a:spcAft>
                <a:spcPts val="600"/>
              </a:spcAft>
              <a:buClr>
                <a:schemeClr val="accent1"/>
              </a:buClr>
              <a:buSzPts val="1400"/>
              <a:buFont typeface="DM Sans"/>
              <a:buChar char="●"/>
            </a:pPr>
            <a:r>
              <a:rPr lang="en">
                <a:solidFill>
                  <a:schemeClr val="accent1"/>
                </a:solidFill>
                <a:latin typeface="DM Sans"/>
                <a:ea typeface="DM Sans"/>
                <a:cs typeface="DM Sans"/>
                <a:sym typeface="DM Sans"/>
              </a:rPr>
              <a:t>Defines access policies in Unity Catalog</a:t>
            </a:r>
            <a:endParaRPr>
              <a:solidFill>
                <a:schemeClr val="accent1"/>
              </a:solidFill>
              <a:latin typeface="DM Sans"/>
              <a:ea typeface="DM Sans"/>
              <a:cs typeface="DM Sans"/>
              <a:sym typeface="DM Sans"/>
            </a:endParaRPr>
          </a:p>
        </p:txBody>
      </p:sp>
      <p:grpSp>
        <p:nvGrpSpPr>
          <p:cNvPr id="2214" name="Google Shape;2214;p96"/>
          <p:cNvGrpSpPr/>
          <p:nvPr/>
        </p:nvGrpSpPr>
        <p:grpSpPr>
          <a:xfrm>
            <a:off x="1310572" y="1639010"/>
            <a:ext cx="1945958" cy="554100"/>
            <a:chOff x="1310572" y="3732735"/>
            <a:chExt cx="1945958" cy="554100"/>
          </a:xfrm>
        </p:grpSpPr>
        <p:cxnSp>
          <p:nvCxnSpPr>
            <p:cNvPr id="2215" name="Google Shape;2215;p96"/>
            <p:cNvCxnSpPr/>
            <p:nvPr/>
          </p:nvCxnSpPr>
          <p:spPr>
            <a:xfrm>
              <a:off x="1310572" y="4270425"/>
              <a:ext cx="1778400" cy="0"/>
            </a:xfrm>
            <a:prstGeom prst="straightConnector1">
              <a:avLst/>
            </a:prstGeom>
            <a:noFill/>
            <a:ln cap="flat" cmpd="sng" w="19050">
              <a:solidFill>
                <a:schemeClr val="accent2"/>
              </a:solidFill>
              <a:prstDash val="solid"/>
              <a:round/>
              <a:headEnd len="med" w="med" type="none"/>
              <a:tailEnd len="med" w="med" type="triangle"/>
            </a:ln>
          </p:spPr>
        </p:cxnSp>
        <p:sp>
          <p:nvSpPr>
            <p:cNvPr id="2216" name="Google Shape;2216;p96"/>
            <p:cNvSpPr/>
            <p:nvPr/>
          </p:nvSpPr>
          <p:spPr>
            <a:xfrm>
              <a:off x="1386802" y="387403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1</a:t>
              </a:r>
              <a:endParaRPr b="1">
                <a:solidFill>
                  <a:schemeClr val="accent2"/>
                </a:solidFill>
                <a:latin typeface="DM Sans"/>
                <a:ea typeface="DM Sans"/>
                <a:cs typeface="DM Sans"/>
                <a:sym typeface="DM Sans"/>
              </a:endParaRPr>
            </a:p>
          </p:txBody>
        </p:sp>
        <p:sp>
          <p:nvSpPr>
            <p:cNvPr id="2217" name="Google Shape;2217;p96"/>
            <p:cNvSpPr txBox="1"/>
            <p:nvPr/>
          </p:nvSpPr>
          <p:spPr>
            <a:xfrm>
              <a:off x="1625730" y="3732735"/>
              <a:ext cx="1630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Send query (SQL</a:t>
              </a:r>
              <a:endParaRPr sz="1200">
                <a:solidFill>
                  <a:schemeClr val="accent2"/>
                </a:solidFill>
                <a:latin typeface="DM Sans"/>
                <a:ea typeface="DM Sans"/>
                <a:cs typeface="DM Sans"/>
                <a:sym typeface="DM Sans"/>
              </a:endParaRPr>
            </a:p>
            <a:p>
              <a:pPr indent="0" lvl="0" marL="0" rtl="0" algn="l">
                <a:spcBef>
                  <a:spcPts val="0"/>
                </a:spcBef>
                <a:spcAft>
                  <a:spcPts val="0"/>
                </a:spcAft>
                <a:buNone/>
              </a:pPr>
              <a:r>
                <a:rPr lang="en" sz="1200">
                  <a:solidFill>
                    <a:schemeClr val="accent2"/>
                  </a:solidFill>
                  <a:latin typeface="DM Sans"/>
                  <a:ea typeface="DM Sans"/>
                  <a:cs typeface="DM Sans"/>
                  <a:sym typeface="DM Sans"/>
                </a:rPr>
                <a:t>Python, R, Scala,)</a:t>
              </a:r>
              <a:endParaRPr sz="1200"/>
            </a:p>
          </p:txBody>
        </p:sp>
      </p:grpSp>
      <p:grpSp>
        <p:nvGrpSpPr>
          <p:cNvPr id="2218" name="Google Shape;2218;p96"/>
          <p:cNvGrpSpPr/>
          <p:nvPr/>
        </p:nvGrpSpPr>
        <p:grpSpPr>
          <a:xfrm>
            <a:off x="8237136" y="4364325"/>
            <a:ext cx="2579429" cy="554100"/>
            <a:chOff x="8237136" y="4364325"/>
            <a:chExt cx="2579429" cy="554100"/>
          </a:xfrm>
        </p:grpSpPr>
        <p:sp>
          <p:nvSpPr>
            <p:cNvPr id="2219" name="Google Shape;2219;p96"/>
            <p:cNvSpPr txBox="1"/>
            <p:nvPr/>
          </p:nvSpPr>
          <p:spPr>
            <a:xfrm>
              <a:off x="8521565" y="4364325"/>
              <a:ext cx="2295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200">
                  <a:solidFill>
                    <a:schemeClr val="accent2"/>
                  </a:solidFill>
                  <a:latin typeface="DM Sans"/>
                  <a:ea typeface="DM Sans"/>
                  <a:cs typeface="DM Sans"/>
                  <a:sym typeface="DM Sans"/>
                </a:rPr>
                <a:t>Assume IAM Role / </a:t>
              </a:r>
              <a:endParaRPr sz="1200">
                <a:solidFill>
                  <a:schemeClr val="accent2"/>
                </a:solidFill>
                <a:latin typeface="DM Sans"/>
                <a:ea typeface="DM Sans"/>
                <a:cs typeface="DM Sans"/>
                <a:sym typeface="DM Sans"/>
              </a:endParaRPr>
            </a:p>
            <a:p>
              <a:pPr indent="0" lvl="0" marL="0" marR="0" rtl="0" algn="l">
                <a:lnSpc>
                  <a:spcPct val="100000"/>
                </a:lnSpc>
                <a:spcBef>
                  <a:spcPts val="0"/>
                </a:spcBef>
                <a:spcAft>
                  <a:spcPts val="0"/>
                </a:spcAft>
                <a:buNone/>
              </a:pPr>
              <a:r>
                <a:rPr lang="en" sz="1200">
                  <a:solidFill>
                    <a:schemeClr val="accent2"/>
                  </a:solidFill>
                  <a:latin typeface="DM Sans"/>
                  <a:ea typeface="DM Sans"/>
                  <a:cs typeface="DM Sans"/>
                  <a:sym typeface="DM Sans"/>
                </a:rPr>
                <a:t>Managed Identities</a:t>
              </a:r>
              <a:endParaRPr sz="1200">
                <a:latin typeface="DM Sans"/>
                <a:ea typeface="DM Sans"/>
                <a:cs typeface="DM Sans"/>
                <a:sym typeface="DM Sans"/>
              </a:endParaRPr>
            </a:p>
          </p:txBody>
        </p:sp>
        <p:sp>
          <p:nvSpPr>
            <p:cNvPr id="2220" name="Google Shape;2220;p96"/>
            <p:cNvSpPr/>
            <p:nvPr/>
          </p:nvSpPr>
          <p:spPr>
            <a:xfrm>
              <a:off x="8237136" y="450562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3</a:t>
              </a:r>
              <a:endParaRPr b="1">
                <a:solidFill>
                  <a:schemeClr val="accent2"/>
                </a:solidFill>
                <a:latin typeface="DM Sans"/>
                <a:ea typeface="DM Sans"/>
                <a:cs typeface="DM Sans"/>
                <a:sym typeface="DM Sans"/>
              </a:endParaRPr>
            </a:p>
          </p:txBody>
        </p:sp>
      </p:grpSp>
      <p:grpSp>
        <p:nvGrpSpPr>
          <p:cNvPr id="2221" name="Google Shape;2221;p96"/>
          <p:cNvGrpSpPr/>
          <p:nvPr/>
        </p:nvGrpSpPr>
        <p:grpSpPr>
          <a:xfrm>
            <a:off x="4729235" y="3835325"/>
            <a:ext cx="2748900" cy="739150"/>
            <a:chOff x="4729235" y="3835325"/>
            <a:chExt cx="2748900" cy="739150"/>
          </a:xfrm>
        </p:grpSpPr>
        <p:cxnSp>
          <p:nvCxnSpPr>
            <p:cNvPr id="2222" name="Google Shape;2222;p96"/>
            <p:cNvCxnSpPr/>
            <p:nvPr/>
          </p:nvCxnSpPr>
          <p:spPr>
            <a:xfrm rot="10800000">
              <a:off x="4729235" y="3835325"/>
              <a:ext cx="2748900" cy="0"/>
            </a:xfrm>
            <a:prstGeom prst="straightConnector1">
              <a:avLst/>
            </a:prstGeom>
            <a:noFill/>
            <a:ln cap="flat" cmpd="sng" w="19050">
              <a:solidFill>
                <a:schemeClr val="accent2"/>
              </a:solidFill>
              <a:prstDash val="solid"/>
              <a:round/>
              <a:headEnd len="med" w="med" type="none"/>
              <a:tailEnd len="med" w="med" type="triangle"/>
            </a:ln>
          </p:spPr>
        </p:cxnSp>
        <p:sp>
          <p:nvSpPr>
            <p:cNvPr id="2223" name="Google Shape;2223;p96"/>
            <p:cNvSpPr txBox="1"/>
            <p:nvPr/>
          </p:nvSpPr>
          <p:spPr>
            <a:xfrm>
              <a:off x="5098262" y="3835575"/>
              <a:ext cx="2330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Return list of paths/data files and scoped down temporary tokens</a:t>
              </a:r>
              <a:endParaRPr sz="1200">
                <a:solidFill>
                  <a:srgbClr val="00A972"/>
                </a:solidFill>
                <a:latin typeface="DM Sans"/>
                <a:ea typeface="DM Sans"/>
                <a:cs typeface="DM Sans"/>
                <a:sym typeface="DM Sans"/>
              </a:endParaRPr>
            </a:p>
          </p:txBody>
        </p:sp>
        <p:sp>
          <p:nvSpPr>
            <p:cNvPr id="2224" name="Google Shape;2224;p96"/>
            <p:cNvSpPr/>
            <p:nvPr/>
          </p:nvSpPr>
          <p:spPr>
            <a:xfrm>
              <a:off x="4824195" y="397687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4</a:t>
              </a:r>
              <a:endParaRPr b="1">
                <a:solidFill>
                  <a:schemeClr val="accent2"/>
                </a:solidFill>
                <a:latin typeface="DM Sans"/>
                <a:ea typeface="DM Sans"/>
                <a:cs typeface="DM Sans"/>
                <a:sym typeface="DM Sans"/>
              </a:endParaRPr>
            </a:p>
          </p:txBody>
        </p:sp>
      </p:grpSp>
      <p:sp>
        <p:nvSpPr>
          <p:cNvPr id="2225" name="Google Shape;2225;p96"/>
          <p:cNvSpPr/>
          <p:nvPr/>
        </p:nvSpPr>
        <p:spPr>
          <a:xfrm>
            <a:off x="7614813" y="3242200"/>
            <a:ext cx="1925400" cy="8955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6" name="Google Shape;2226;p96"/>
          <p:cNvGrpSpPr/>
          <p:nvPr/>
        </p:nvGrpSpPr>
        <p:grpSpPr>
          <a:xfrm>
            <a:off x="4729231" y="3017203"/>
            <a:ext cx="2748900" cy="554100"/>
            <a:chOff x="4729231" y="3017203"/>
            <a:chExt cx="2748900" cy="554100"/>
          </a:xfrm>
        </p:grpSpPr>
        <p:sp>
          <p:nvSpPr>
            <p:cNvPr id="2227" name="Google Shape;2227;p96"/>
            <p:cNvSpPr txBox="1"/>
            <p:nvPr/>
          </p:nvSpPr>
          <p:spPr>
            <a:xfrm>
              <a:off x="5098262" y="3017203"/>
              <a:ext cx="1968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Check namespace , metadata and grants</a:t>
              </a:r>
              <a:endParaRPr sz="1200">
                <a:solidFill>
                  <a:srgbClr val="00A972"/>
                </a:solidFill>
                <a:latin typeface="DM Sans"/>
                <a:ea typeface="DM Sans"/>
                <a:cs typeface="DM Sans"/>
                <a:sym typeface="DM Sans"/>
              </a:endParaRPr>
            </a:p>
          </p:txBody>
        </p:sp>
        <p:sp>
          <p:nvSpPr>
            <p:cNvPr id="2228" name="Google Shape;2228;p96"/>
            <p:cNvSpPr/>
            <p:nvPr/>
          </p:nvSpPr>
          <p:spPr>
            <a:xfrm>
              <a:off x="4824195" y="3158503"/>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2</a:t>
              </a:r>
              <a:endParaRPr b="1">
                <a:solidFill>
                  <a:schemeClr val="accent2"/>
                </a:solidFill>
                <a:latin typeface="DM Sans"/>
                <a:ea typeface="DM Sans"/>
                <a:cs typeface="DM Sans"/>
                <a:sym typeface="DM Sans"/>
              </a:endParaRPr>
            </a:p>
          </p:txBody>
        </p:sp>
        <p:cxnSp>
          <p:nvCxnSpPr>
            <p:cNvPr id="2229" name="Google Shape;2229;p96"/>
            <p:cNvCxnSpPr/>
            <p:nvPr/>
          </p:nvCxnSpPr>
          <p:spPr>
            <a:xfrm rot="10800000">
              <a:off x="4729231" y="3530536"/>
              <a:ext cx="2748900" cy="0"/>
            </a:xfrm>
            <a:prstGeom prst="straightConnector1">
              <a:avLst/>
            </a:prstGeom>
            <a:noFill/>
            <a:ln cap="flat" cmpd="sng" w="19050">
              <a:solidFill>
                <a:schemeClr val="accent2"/>
              </a:solidFill>
              <a:prstDash val="solid"/>
              <a:round/>
              <a:headEnd len="med" w="med" type="triangle"/>
              <a:tailEnd len="med" w="med" type="none"/>
            </a:ln>
          </p:spPr>
        </p:cxnSp>
      </p:grpSp>
      <p:grpSp>
        <p:nvGrpSpPr>
          <p:cNvPr id="2230" name="Google Shape;2230;p96"/>
          <p:cNvGrpSpPr/>
          <p:nvPr/>
        </p:nvGrpSpPr>
        <p:grpSpPr>
          <a:xfrm>
            <a:off x="1336391" y="2557700"/>
            <a:ext cx="1752600" cy="442796"/>
            <a:chOff x="1336391" y="4651425"/>
            <a:chExt cx="1752600" cy="442796"/>
          </a:xfrm>
        </p:grpSpPr>
        <p:sp>
          <p:nvSpPr>
            <p:cNvPr id="2231" name="Google Shape;2231;p96"/>
            <p:cNvSpPr txBox="1"/>
            <p:nvPr/>
          </p:nvSpPr>
          <p:spPr>
            <a:xfrm>
              <a:off x="1625730" y="4724921"/>
              <a:ext cx="141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Send result</a:t>
              </a:r>
              <a:endParaRPr sz="1200">
                <a:solidFill>
                  <a:srgbClr val="00A972"/>
                </a:solidFill>
                <a:latin typeface="DM Sans"/>
                <a:ea typeface="DM Sans"/>
                <a:cs typeface="DM Sans"/>
                <a:sym typeface="DM Sans"/>
              </a:endParaRPr>
            </a:p>
          </p:txBody>
        </p:sp>
        <p:sp>
          <p:nvSpPr>
            <p:cNvPr id="2232" name="Google Shape;2232;p96"/>
            <p:cNvSpPr/>
            <p:nvPr/>
          </p:nvSpPr>
          <p:spPr>
            <a:xfrm>
              <a:off x="1386802" y="4773821"/>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8</a:t>
              </a:r>
              <a:endParaRPr b="1">
                <a:solidFill>
                  <a:schemeClr val="accent2"/>
                </a:solidFill>
                <a:latin typeface="DM Sans"/>
                <a:ea typeface="DM Sans"/>
                <a:cs typeface="DM Sans"/>
                <a:sym typeface="DM Sans"/>
              </a:endParaRPr>
            </a:p>
          </p:txBody>
        </p:sp>
        <p:cxnSp>
          <p:nvCxnSpPr>
            <p:cNvPr id="2233" name="Google Shape;2233;p96"/>
            <p:cNvCxnSpPr/>
            <p:nvPr/>
          </p:nvCxnSpPr>
          <p:spPr>
            <a:xfrm>
              <a:off x="1336391" y="4651425"/>
              <a:ext cx="1752600" cy="0"/>
            </a:xfrm>
            <a:prstGeom prst="straightConnector1">
              <a:avLst/>
            </a:prstGeom>
            <a:noFill/>
            <a:ln cap="flat" cmpd="sng" w="19050">
              <a:solidFill>
                <a:schemeClr val="accent2"/>
              </a:solidFill>
              <a:prstDash val="solid"/>
              <a:round/>
              <a:headEnd len="med" w="med" type="triangle"/>
              <a:tailEnd len="med" w="med" type="none"/>
            </a:ln>
          </p:spPr>
        </p:cxnSp>
      </p:grpSp>
      <p:grpSp>
        <p:nvGrpSpPr>
          <p:cNvPr id="2234" name="Google Shape;2234;p96"/>
          <p:cNvGrpSpPr/>
          <p:nvPr/>
        </p:nvGrpSpPr>
        <p:grpSpPr>
          <a:xfrm>
            <a:off x="4744704" y="4802910"/>
            <a:ext cx="2826770" cy="738900"/>
            <a:chOff x="4744704" y="4802910"/>
            <a:chExt cx="2826770" cy="738900"/>
          </a:xfrm>
        </p:grpSpPr>
        <p:sp>
          <p:nvSpPr>
            <p:cNvPr id="2235" name="Google Shape;2235;p96"/>
            <p:cNvSpPr txBox="1"/>
            <p:nvPr/>
          </p:nvSpPr>
          <p:spPr>
            <a:xfrm>
              <a:off x="5098274" y="4802910"/>
              <a:ext cx="247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Request/ingest data from paths/data files with temporary tokens</a:t>
              </a:r>
              <a:endParaRPr sz="1200">
                <a:solidFill>
                  <a:srgbClr val="00A972"/>
                </a:solidFill>
                <a:latin typeface="DM Sans"/>
                <a:ea typeface="DM Sans"/>
                <a:cs typeface="DM Sans"/>
                <a:sym typeface="DM Sans"/>
              </a:endParaRPr>
            </a:p>
          </p:txBody>
        </p:sp>
        <p:sp>
          <p:nvSpPr>
            <p:cNvPr id="2236" name="Google Shape;2236;p96"/>
            <p:cNvSpPr/>
            <p:nvPr/>
          </p:nvSpPr>
          <p:spPr>
            <a:xfrm>
              <a:off x="4824195" y="5057609"/>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5</a:t>
              </a:r>
              <a:endParaRPr b="1">
                <a:solidFill>
                  <a:schemeClr val="accent2"/>
                </a:solidFill>
                <a:latin typeface="DM Sans"/>
                <a:ea typeface="DM Sans"/>
                <a:cs typeface="DM Sans"/>
                <a:sym typeface="DM Sans"/>
              </a:endParaRPr>
            </a:p>
          </p:txBody>
        </p:sp>
        <p:cxnSp>
          <p:nvCxnSpPr>
            <p:cNvPr id="2237" name="Google Shape;2237;p96"/>
            <p:cNvCxnSpPr/>
            <p:nvPr/>
          </p:nvCxnSpPr>
          <p:spPr>
            <a:xfrm>
              <a:off x="4744704" y="5482400"/>
              <a:ext cx="2748900" cy="0"/>
            </a:xfrm>
            <a:prstGeom prst="straightConnector1">
              <a:avLst/>
            </a:prstGeom>
            <a:noFill/>
            <a:ln cap="flat" cmpd="sng" w="19050">
              <a:solidFill>
                <a:schemeClr val="accent2"/>
              </a:solidFill>
              <a:prstDash val="solid"/>
              <a:round/>
              <a:headEnd len="med" w="med" type="none"/>
              <a:tailEnd len="med" w="med" type="triangle"/>
            </a:ln>
          </p:spPr>
        </p:cxnSp>
      </p:grpSp>
      <p:grpSp>
        <p:nvGrpSpPr>
          <p:cNvPr id="2238" name="Google Shape;2238;p96"/>
          <p:cNvGrpSpPr/>
          <p:nvPr/>
        </p:nvGrpSpPr>
        <p:grpSpPr>
          <a:xfrm>
            <a:off x="4744704" y="5787200"/>
            <a:ext cx="2748900" cy="463386"/>
            <a:chOff x="4744704" y="5787200"/>
            <a:chExt cx="2748900" cy="463386"/>
          </a:xfrm>
        </p:grpSpPr>
        <p:sp>
          <p:nvSpPr>
            <p:cNvPr id="2239" name="Google Shape;2239;p96"/>
            <p:cNvSpPr txBox="1"/>
            <p:nvPr/>
          </p:nvSpPr>
          <p:spPr>
            <a:xfrm>
              <a:off x="5098262" y="5881286"/>
              <a:ext cx="156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Return data </a:t>
              </a:r>
              <a:endParaRPr sz="1200">
                <a:solidFill>
                  <a:srgbClr val="00A972"/>
                </a:solidFill>
                <a:latin typeface="DM Sans"/>
                <a:ea typeface="DM Sans"/>
                <a:cs typeface="DM Sans"/>
                <a:sym typeface="DM Sans"/>
              </a:endParaRPr>
            </a:p>
          </p:txBody>
        </p:sp>
        <p:sp>
          <p:nvSpPr>
            <p:cNvPr id="2240" name="Google Shape;2240;p96"/>
            <p:cNvSpPr/>
            <p:nvPr/>
          </p:nvSpPr>
          <p:spPr>
            <a:xfrm>
              <a:off x="4824193" y="5930186"/>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6</a:t>
              </a:r>
              <a:endParaRPr b="1">
                <a:solidFill>
                  <a:schemeClr val="accent2"/>
                </a:solidFill>
                <a:latin typeface="DM Sans"/>
                <a:ea typeface="DM Sans"/>
                <a:cs typeface="DM Sans"/>
                <a:sym typeface="DM Sans"/>
              </a:endParaRPr>
            </a:p>
          </p:txBody>
        </p:sp>
        <p:cxnSp>
          <p:nvCxnSpPr>
            <p:cNvPr id="2241" name="Google Shape;2241;p96"/>
            <p:cNvCxnSpPr/>
            <p:nvPr/>
          </p:nvCxnSpPr>
          <p:spPr>
            <a:xfrm>
              <a:off x="4744704" y="5787200"/>
              <a:ext cx="2748900" cy="0"/>
            </a:xfrm>
            <a:prstGeom prst="straightConnector1">
              <a:avLst/>
            </a:prstGeom>
            <a:noFill/>
            <a:ln cap="flat" cmpd="sng" w="19050">
              <a:solidFill>
                <a:schemeClr val="accent2"/>
              </a:solidFill>
              <a:prstDash val="solid"/>
              <a:round/>
              <a:headEnd len="med" w="med" type="triangle"/>
              <a:tailEnd len="med" w="med" type="none"/>
            </a:ln>
          </p:spPr>
        </p:cxnSp>
      </p:grpSp>
      <p:sp>
        <p:nvSpPr>
          <p:cNvPr id="2242" name="Google Shape;2242;p96"/>
          <p:cNvSpPr/>
          <p:nvPr/>
        </p:nvSpPr>
        <p:spPr>
          <a:xfrm rot="-5396351">
            <a:off x="9868904" y="3417997"/>
            <a:ext cx="282600" cy="524700"/>
          </a:xfrm>
          <a:prstGeom prst="downArrow">
            <a:avLst>
              <a:gd fmla="val 46756" name="adj1"/>
              <a:gd fmla="val 42789"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96"/>
          <p:cNvSpPr/>
          <p:nvPr/>
        </p:nvSpPr>
        <p:spPr>
          <a:xfrm>
            <a:off x="3124750" y="1813800"/>
            <a:ext cx="1460100" cy="1164300"/>
          </a:xfrm>
          <a:prstGeom prst="roundRect">
            <a:avLst>
              <a:gd fmla="val 11052" name="adj"/>
            </a:avLst>
          </a:prstGeom>
          <a:noFill/>
          <a:ln cap="flat" cmpd="sng" w="19050">
            <a:solidFill>
              <a:schemeClr val="accent1"/>
            </a:solidFill>
            <a:prstDash val="solid"/>
            <a:round/>
            <a:headEnd len="sm" w="sm" type="none"/>
            <a:tailEnd len="sm" w="sm" type="none"/>
          </a:ln>
        </p:spPr>
        <p:txBody>
          <a:bodyPr anchorCtr="0" anchor="b" bIns="0" lIns="91425" spcFirstLastPara="1" rIns="91425" wrap="square" tIns="91425">
            <a:noAutofit/>
          </a:bodyPr>
          <a:lstStyle/>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200">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rPr lang="en" sz="1200">
                <a:latin typeface="DM Sans Medium"/>
                <a:ea typeface="DM Sans Medium"/>
                <a:cs typeface="DM Sans Medium"/>
                <a:sym typeface="DM Sans Medium"/>
              </a:rPr>
              <a:t>Single-User cluster</a:t>
            </a:r>
            <a:endParaRPr sz="1200">
              <a:latin typeface="DM Sans Medium"/>
              <a:ea typeface="DM Sans Medium"/>
              <a:cs typeface="DM Sans Medium"/>
              <a:sym typeface="DM Sans Medium"/>
            </a:endParaRPr>
          </a:p>
        </p:txBody>
      </p:sp>
      <p:pic>
        <p:nvPicPr>
          <p:cNvPr id="2244" name="Google Shape;2244;p96"/>
          <p:cNvPicPr preferRelativeResize="0"/>
          <p:nvPr/>
        </p:nvPicPr>
        <p:blipFill rotWithShape="1">
          <a:blip r:embed="rId6">
            <a:alphaModFix/>
          </a:blip>
          <a:srcRect b="0" l="0" r="0" t="0"/>
          <a:stretch/>
        </p:blipFill>
        <p:spPr>
          <a:xfrm>
            <a:off x="3563126" y="1906771"/>
            <a:ext cx="583354" cy="558287"/>
          </a:xfrm>
          <a:prstGeom prst="rect">
            <a:avLst/>
          </a:prstGeom>
          <a:noFill/>
          <a:ln>
            <a:noFill/>
          </a:ln>
        </p:spPr>
      </p:pic>
      <p:pic>
        <p:nvPicPr>
          <p:cNvPr id="2245" name="Google Shape;2245;p96"/>
          <p:cNvPicPr preferRelativeResize="0"/>
          <p:nvPr/>
        </p:nvPicPr>
        <p:blipFill>
          <a:blip r:embed="rId7">
            <a:alphaModFix/>
          </a:blip>
          <a:stretch>
            <a:fillRect/>
          </a:stretch>
        </p:blipFill>
        <p:spPr>
          <a:xfrm>
            <a:off x="7740775" y="3383125"/>
            <a:ext cx="1673499" cy="615600"/>
          </a:xfrm>
          <a:prstGeom prst="rect">
            <a:avLst/>
          </a:prstGeom>
          <a:noFill/>
          <a:ln>
            <a:noFill/>
          </a:ln>
        </p:spPr>
      </p:pic>
      <p:sp>
        <p:nvSpPr>
          <p:cNvPr id="2246" name="Google Shape;2246;p96"/>
          <p:cNvSpPr/>
          <p:nvPr/>
        </p:nvSpPr>
        <p:spPr>
          <a:xfrm>
            <a:off x="3124750" y="3383125"/>
            <a:ext cx="1460100" cy="2834700"/>
          </a:xfrm>
          <a:prstGeom prst="roundRect">
            <a:avLst>
              <a:gd fmla="val 11113" name="adj"/>
            </a:avLst>
          </a:prstGeom>
          <a:solidFill>
            <a:srgbClr val="FFFFFF"/>
          </a:solidFill>
          <a:ln cap="flat" cmpd="sng" w="19050">
            <a:solidFill>
              <a:schemeClr val="accent2"/>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lang="en" sz="1200">
                <a:solidFill>
                  <a:schemeClr val="accent2"/>
                </a:solidFill>
                <a:latin typeface="DM Sans SemiBold"/>
                <a:ea typeface="DM Sans SemiBold"/>
                <a:cs typeface="DM Sans SemiBold"/>
                <a:sym typeface="DM Sans SemiBold"/>
              </a:rPr>
              <a:t>Serverless filtering service</a:t>
            </a:r>
            <a:endParaRPr sz="1200">
              <a:solidFill>
                <a:schemeClr val="accent2"/>
              </a:solidFill>
              <a:latin typeface="DM Sans SemiBold"/>
              <a:ea typeface="DM Sans SemiBold"/>
              <a:cs typeface="DM Sans SemiBold"/>
              <a:sym typeface="DM Sans SemiBold"/>
            </a:endParaRPr>
          </a:p>
          <a:p>
            <a:pPr indent="0" lvl="0" marL="0" rtl="0" algn="ctr">
              <a:spcBef>
                <a:spcPts val="600"/>
              </a:spcBef>
              <a:spcAft>
                <a:spcPts val="600"/>
              </a:spcAft>
              <a:buNone/>
            </a:pPr>
            <a:r>
              <a:rPr lang="en" sz="1200">
                <a:solidFill>
                  <a:schemeClr val="accent2"/>
                </a:solidFill>
                <a:latin typeface="DM Sans"/>
                <a:ea typeface="DM Sans"/>
                <a:cs typeface="DM Sans"/>
                <a:sym typeface="DM Sans"/>
              </a:rPr>
              <a:t>Fine Grained Access Control (serverless charges apply)</a:t>
            </a:r>
            <a:endParaRPr sz="1200">
              <a:solidFill>
                <a:schemeClr val="accent2"/>
              </a:solidFill>
              <a:latin typeface="DM Sans SemiBold"/>
              <a:ea typeface="DM Sans SemiBold"/>
              <a:cs typeface="DM Sans SemiBold"/>
              <a:sym typeface="DM Sans SemiBold"/>
            </a:endParaRPr>
          </a:p>
        </p:txBody>
      </p:sp>
      <p:grpSp>
        <p:nvGrpSpPr>
          <p:cNvPr id="2247" name="Google Shape;2247;p96"/>
          <p:cNvGrpSpPr/>
          <p:nvPr/>
        </p:nvGrpSpPr>
        <p:grpSpPr>
          <a:xfrm>
            <a:off x="3320832" y="5410432"/>
            <a:ext cx="1203557" cy="554100"/>
            <a:chOff x="3320832" y="4103650"/>
            <a:chExt cx="1203557" cy="554100"/>
          </a:xfrm>
        </p:grpSpPr>
        <p:sp>
          <p:nvSpPr>
            <p:cNvPr id="2248" name="Google Shape;2248;p96"/>
            <p:cNvSpPr txBox="1"/>
            <p:nvPr/>
          </p:nvSpPr>
          <p:spPr>
            <a:xfrm>
              <a:off x="3594389" y="4103650"/>
              <a:ext cx="93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Enforce </a:t>
              </a:r>
              <a:br>
                <a:rPr lang="en" sz="1200">
                  <a:solidFill>
                    <a:srgbClr val="00A972"/>
                  </a:solidFill>
                  <a:latin typeface="DM Sans"/>
                  <a:ea typeface="DM Sans"/>
                  <a:cs typeface="DM Sans"/>
                  <a:sym typeface="DM Sans"/>
                </a:rPr>
              </a:br>
              <a:r>
                <a:rPr lang="en" sz="1200">
                  <a:solidFill>
                    <a:srgbClr val="00A972"/>
                  </a:solidFill>
                  <a:latin typeface="DM Sans"/>
                  <a:ea typeface="DM Sans"/>
                  <a:cs typeface="DM Sans"/>
                  <a:sym typeface="DM Sans"/>
                </a:rPr>
                <a:t>policies</a:t>
              </a:r>
              <a:endParaRPr sz="1200">
                <a:solidFill>
                  <a:srgbClr val="00A972"/>
                </a:solidFill>
                <a:latin typeface="DM Sans"/>
                <a:ea typeface="DM Sans"/>
                <a:cs typeface="DM Sans"/>
                <a:sym typeface="DM Sans"/>
              </a:endParaRPr>
            </a:p>
          </p:txBody>
        </p:sp>
        <p:sp>
          <p:nvSpPr>
            <p:cNvPr id="2249" name="Google Shape;2249;p96"/>
            <p:cNvSpPr/>
            <p:nvPr/>
          </p:nvSpPr>
          <p:spPr>
            <a:xfrm>
              <a:off x="3320832" y="4244950"/>
              <a:ext cx="282900" cy="271500"/>
            </a:xfrm>
            <a:prstGeom prst="ellipse">
              <a:avLst/>
            </a:prstGeom>
            <a:solidFill>
              <a:srgbClr val="F9F7F4"/>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7</a:t>
              </a:r>
              <a:endParaRPr b="1">
                <a:solidFill>
                  <a:srgbClr val="00A972"/>
                </a:solidFill>
                <a:latin typeface="DM Sans"/>
                <a:ea typeface="DM Sans"/>
                <a:cs typeface="DM Sans"/>
                <a:sym typeface="DM Sans"/>
              </a:endParaRPr>
            </a:p>
          </p:txBody>
        </p:sp>
      </p:grpSp>
      <p:sp>
        <p:nvSpPr>
          <p:cNvPr id="2250" name="Google Shape;2250;p9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Single-user clusters for fine grained access tables</a:t>
            </a:r>
            <a:endParaRPr/>
          </a:p>
        </p:txBody>
      </p:sp>
      <p:cxnSp>
        <p:nvCxnSpPr>
          <p:cNvPr id="2251" name="Google Shape;2251;p96"/>
          <p:cNvCxnSpPr/>
          <p:nvPr/>
        </p:nvCxnSpPr>
        <p:spPr>
          <a:xfrm>
            <a:off x="3848425" y="3029113"/>
            <a:ext cx="0" cy="303000"/>
          </a:xfrm>
          <a:prstGeom prst="straightConnector1">
            <a:avLst/>
          </a:prstGeom>
          <a:noFill/>
          <a:ln cap="flat" cmpd="sng" w="19050">
            <a:solidFill>
              <a:schemeClr val="accent2"/>
            </a:solidFill>
            <a:prstDash val="solid"/>
            <a:round/>
            <a:headEnd len="med" w="med" type="triangle"/>
            <a:tailEnd len="med" w="med" type="triangle"/>
          </a:ln>
        </p:spPr>
      </p:cxnSp>
      <p:grpSp>
        <p:nvGrpSpPr>
          <p:cNvPr id="2252" name="Google Shape;2252;p96"/>
          <p:cNvGrpSpPr/>
          <p:nvPr/>
        </p:nvGrpSpPr>
        <p:grpSpPr>
          <a:xfrm>
            <a:off x="7614808" y="1698675"/>
            <a:ext cx="958812" cy="895500"/>
            <a:chOff x="7631125" y="1241475"/>
            <a:chExt cx="959100" cy="895500"/>
          </a:xfrm>
        </p:grpSpPr>
        <p:sp>
          <p:nvSpPr>
            <p:cNvPr id="2253" name="Google Shape;2253;p96"/>
            <p:cNvSpPr/>
            <p:nvPr/>
          </p:nvSpPr>
          <p:spPr>
            <a:xfrm>
              <a:off x="7631125" y="1241475"/>
              <a:ext cx="959100" cy="895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Admin</a:t>
              </a:r>
              <a:endParaRPr sz="1200"/>
            </a:p>
          </p:txBody>
        </p:sp>
        <p:pic>
          <p:nvPicPr>
            <p:cNvPr id="2254" name="Google Shape;2254;p96"/>
            <p:cNvPicPr preferRelativeResize="0"/>
            <p:nvPr/>
          </p:nvPicPr>
          <p:blipFill rotWithShape="1">
            <a:blip r:embed="rId8">
              <a:alphaModFix/>
            </a:blip>
            <a:srcRect b="-8630" l="-8630" r="-8630" t="-8630"/>
            <a:stretch/>
          </p:blipFill>
          <p:spPr>
            <a:xfrm>
              <a:off x="7814626" y="1278277"/>
              <a:ext cx="615642" cy="615601"/>
            </a:xfrm>
            <a:prstGeom prst="rect">
              <a:avLst/>
            </a:prstGeom>
            <a:noFill/>
            <a:ln>
              <a:noFill/>
            </a:ln>
          </p:spPr>
        </p:pic>
      </p:grpSp>
      <p:sp>
        <p:nvSpPr>
          <p:cNvPr id="2255" name="Google Shape;2255;p96"/>
          <p:cNvSpPr/>
          <p:nvPr/>
        </p:nvSpPr>
        <p:spPr>
          <a:xfrm>
            <a:off x="7964025" y="2715147"/>
            <a:ext cx="282900" cy="389100"/>
          </a:xfrm>
          <a:prstGeom prst="downArrow">
            <a:avLst>
              <a:gd fmla="val 46756" name="adj1"/>
              <a:gd fmla="val 42789"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9" name="Shape 2259"/>
        <p:cNvGrpSpPr/>
        <p:nvPr/>
      </p:nvGrpSpPr>
      <p:grpSpPr>
        <a:xfrm>
          <a:off x="0" y="0"/>
          <a:ext cx="0" cy="0"/>
          <a:chOff x="0" y="0"/>
          <a:chExt cx="0" cy="0"/>
        </a:xfrm>
      </p:grpSpPr>
      <p:sp>
        <p:nvSpPr>
          <p:cNvPr id="2260" name="Google Shape;2260;p97"/>
          <p:cNvSpPr/>
          <p:nvPr/>
        </p:nvSpPr>
        <p:spPr>
          <a:xfrm>
            <a:off x="275506" y="4002350"/>
            <a:ext cx="958800" cy="895500"/>
          </a:xfrm>
          <a:prstGeom prst="roundRect">
            <a:avLst>
              <a:gd fmla="val 16667" name="adj"/>
            </a:avLst>
          </a:prstGeom>
          <a:solidFill>
            <a:srgbClr val="FFFFFF"/>
          </a:solidFill>
          <a:ln cap="flat" cmpd="sng" w="19050">
            <a:solidFill>
              <a:schemeClr val="dk2"/>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User</a:t>
            </a:r>
            <a:endParaRPr sz="1200">
              <a:latin typeface="DM Sans Medium"/>
              <a:ea typeface="DM Sans Medium"/>
              <a:cs typeface="DM Sans Medium"/>
              <a:sym typeface="DM Sans Medium"/>
            </a:endParaRPr>
          </a:p>
        </p:txBody>
      </p:sp>
      <p:sp>
        <p:nvSpPr>
          <p:cNvPr id="2261" name="Google Shape;2261;p97"/>
          <p:cNvSpPr txBox="1"/>
          <p:nvPr/>
        </p:nvSpPr>
        <p:spPr>
          <a:xfrm>
            <a:off x="8416194" y="5230317"/>
            <a:ext cx="1968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latin typeface="DM Sans"/>
                <a:ea typeface="DM Sans"/>
                <a:cs typeface="DM Sans"/>
                <a:sym typeface="DM Sans"/>
              </a:rPr>
              <a:t>(Snowflake, SQL Server, Postgres, Mysql, etc)</a:t>
            </a:r>
            <a:endParaRPr i="1">
              <a:latin typeface="DM Sans"/>
              <a:ea typeface="DM Sans"/>
              <a:cs typeface="DM Sans"/>
              <a:sym typeface="DM Sans"/>
            </a:endParaRPr>
          </a:p>
        </p:txBody>
      </p:sp>
      <p:sp>
        <p:nvSpPr>
          <p:cNvPr id="2262" name="Google Shape;2262;p9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pic>
        <p:nvPicPr>
          <p:cNvPr id="2263" name="Google Shape;2263;p97"/>
          <p:cNvPicPr preferRelativeResize="0"/>
          <p:nvPr/>
        </p:nvPicPr>
        <p:blipFill rotWithShape="1">
          <a:blip r:embed="rId3">
            <a:alphaModFix/>
          </a:blip>
          <a:srcRect b="0" l="0" r="0" t="0"/>
          <a:stretch/>
        </p:blipFill>
        <p:spPr>
          <a:xfrm>
            <a:off x="447117" y="4054655"/>
            <a:ext cx="583354" cy="583354"/>
          </a:xfrm>
          <a:prstGeom prst="rect">
            <a:avLst/>
          </a:prstGeom>
          <a:noFill/>
          <a:ln>
            <a:noFill/>
          </a:ln>
        </p:spPr>
      </p:pic>
      <p:sp>
        <p:nvSpPr>
          <p:cNvPr id="2264" name="Google Shape;2264;p97"/>
          <p:cNvSpPr/>
          <p:nvPr/>
        </p:nvSpPr>
        <p:spPr>
          <a:xfrm>
            <a:off x="7538989" y="5197691"/>
            <a:ext cx="958800" cy="8955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b" bIns="0" lIns="0" spcFirstLastPara="1" rIns="0" wrap="square" tIns="91425">
            <a:noAutofit/>
          </a:bodyPr>
          <a:lstStyle/>
          <a:p>
            <a:pPr indent="0" lvl="0" marL="0" rtl="0" algn="ctr">
              <a:lnSpc>
                <a:spcPct val="85000"/>
              </a:lnSpc>
              <a:spcBef>
                <a:spcPts val="0"/>
              </a:spcBef>
              <a:spcAft>
                <a:spcPts val="0"/>
              </a:spcAft>
              <a:buNone/>
            </a:pPr>
            <a:r>
              <a:rPr lang="en" sz="1200">
                <a:latin typeface="DM Sans Medium"/>
                <a:ea typeface="DM Sans Medium"/>
                <a:cs typeface="DM Sans Medium"/>
                <a:sym typeface="DM Sans Medium"/>
              </a:rPr>
              <a:t>JDBC Database</a:t>
            </a:r>
            <a:endParaRPr sz="1200">
              <a:latin typeface="DM Sans Medium"/>
              <a:ea typeface="DM Sans Medium"/>
              <a:cs typeface="DM Sans Medium"/>
              <a:sym typeface="DM Sans Medium"/>
            </a:endParaRPr>
          </a:p>
        </p:txBody>
      </p:sp>
      <p:cxnSp>
        <p:nvCxnSpPr>
          <p:cNvPr id="2265" name="Google Shape;2265;p97"/>
          <p:cNvCxnSpPr/>
          <p:nvPr/>
        </p:nvCxnSpPr>
        <p:spPr>
          <a:xfrm>
            <a:off x="1310572" y="4270425"/>
            <a:ext cx="1778400" cy="0"/>
          </a:xfrm>
          <a:prstGeom prst="straightConnector1">
            <a:avLst/>
          </a:prstGeom>
          <a:noFill/>
          <a:ln cap="flat" cmpd="sng" w="19050">
            <a:solidFill>
              <a:schemeClr val="accent2"/>
            </a:solidFill>
            <a:prstDash val="solid"/>
            <a:round/>
            <a:headEnd len="med" w="med" type="none"/>
            <a:tailEnd len="med" w="med" type="triangle"/>
          </a:ln>
        </p:spPr>
      </p:cxnSp>
      <p:cxnSp>
        <p:nvCxnSpPr>
          <p:cNvPr id="2266" name="Google Shape;2266;p97"/>
          <p:cNvCxnSpPr/>
          <p:nvPr/>
        </p:nvCxnSpPr>
        <p:spPr>
          <a:xfrm rot="10800000">
            <a:off x="4688414" y="3835325"/>
            <a:ext cx="2748900" cy="0"/>
          </a:xfrm>
          <a:prstGeom prst="straightConnector1">
            <a:avLst/>
          </a:prstGeom>
          <a:noFill/>
          <a:ln cap="flat" cmpd="sng" w="19050">
            <a:solidFill>
              <a:schemeClr val="accent2"/>
            </a:solidFill>
            <a:prstDash val="solid"/>
            <a:round/>
            <a:headEnd len="med" w="med" type="none"/>
            <a:tailEnd len="med" w="med" type="triangle"/>
          </a:ln>
        </p:spPr>
      </p:cxnSp>
      <p:sp>
        <p:nvSpPr>
          <p:cNvPr id="2267" name="Google Shape;2267;p97"/>
          <p:cNvSpPr/>
          <p:nvPr/>
        </p:nvSpPr>
        <p:spPr>
          <a:xfrm>
            <a:off x="10351285" y="3243175"/>
            <a:ext cx="958800" cy="8955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b" bIns="0" lIns="0" spcFirstLastPara="1" rIns="0"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Audit log</a:t>
            </a:r>
            <a:endParaRPr sz="1200">
              <a:latin typeface="DM Sans Medium"/>
              <a:ea typeface="DM Sans Medium"/>
              <a:cs typeface="DM Sans Medium"/>
              <a:sym typeface="DM Sans Medium"/>
            </a:endParaRPr>
          </a:p>
        </p:txBody>
      </p:sp>
      <p:pic>
        <p:nvPicPr>
          <p:cNvPr id="2268" name="Google Shape;2268;p97"/>
          <p:cNvPicPr preferRelativeResize="0"/>
          <p:nvPr/>
        </p:nvPicPr>
        <p:blipFill rotWithShape="1">
          <a:blip r:embed="rId4">
            <a:alphaModFix/>
          </a:blip>
          <a:srcRect b="0" l="0" r="0" t="0"/>
          <a:stretch/>
        </p:blipFill>
        <p:spPr>
          <a:xfrm>
            <a:off x="10539037" y="3290680"/>
            <a:ext cx="583354" cy="583354"/>
          </a:xfrm>
          <a:prstGeom prst="rect">
            <a:avLst/>
          </a:prstGeom>
          <a:noFill/>
          <a:ln>
            <a:noFill/>
          </a:ln>
        </p:spPr>
      </p:pic>
      <p:sp>
        <p:nvSpPr>
          <p:cNvPr id="2269" name="Google Shape;2269;p97"/>
          <p:cNvSpPr txBox="1"/>
          <p:nvPr/>
        </p:nvSpPr>
        <p:spPr>
          <a:xfrm>
            <a:off x="9438826" y="3026575"/>
            <a:ext cx="912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4"/>
                </a:solidFill>
                <a:latin typeface="DM Sans"/>
                <a:ea typeface="DM Sans"/>
                <a:cs typeface="DM Sans"/>
                <a:sym typeface="DM Sans"/>
              </a:rPr>
              <a:t>Write </a:t>
            </a:r>
            <a:endParaRPr sz="1200">
              <a:solidFill>
                <a:schemeClr val="accent4"/>
              </a:solidFill>
              <a:latin typeface="DM Sans"/>
              <a:ea typeface="DM Sans"/>
              <a:cs typeface="DM Sans"/>
              <a:sym typeface="DM Sans"/>
            </a:endParaRPr>
          </a:p>
          <a:p>
            <a:pPr indent="0" lvl="0" marL="0" rtl="0" algn="ctr">
              <a:spcBef>
                <a:spcPts val="0"/>
              </a:spcBef>
              <a:spcAft>
                <a:spcPts val="0"/>
              </a:spcAft>
              <a:buNone/>
            </a:pPr>
            <a:r>
              <a:rPr lang="en" sz="1200">
                <a:solidFill>
                  <a:schemeClr val="accent4"/>
                </a:solidFill>
                <a:latin typeface="DM Sans"/>
                <a:ea typeface="DM Sans"/>
                <a:cs typeface="DM Sans"/>
                <a:sym typeface="DM Sans"/>
              </a:rPr>
              <a:t>audit log</a:t>
            </a:r>
            <a:endParaRPr sz="1200">
              <a:solidFill>
                <a:schemeClr val="accent4"/>
              </a:solidFill>
              <a:latin typeface="DM Sans"/>
              <a:ea typeface="DM Sans"/>
              <a:cs typeface="DM Sans"/>
              <a:sym typeface="DM Sans"/>
            </a:endParaRPr>
          </a:p>
        </p:txBody>
      </p:sp>
      <p:grpSp>
        <p:nvGrpSpPr>
          <p:cNvPr id="2270" name="Google Shape;2270;p97"/>
          <p:cNvGrpSpPr/>
          <p:nvPr/>
        </p:nvGrpSpPr>
        <p:grpSpPr>
          <a:xfrm>
            <a:off x="7538608" y="1622475"/>
            <a:ext cx="958812" cy="895500"/>
            <a:chOff x="7631125" y="1241475"/>
            <a:chExt cx="959100" cy="895500"/>
          </a:xfrm>
        </p:grpSpPr>
        <p:sp>
          <p:nvSpPr>
            <p:cNvPr id="2271" name="Google Shape;2271;p97"/>
            <p:cNvSpPr/>
            <p:nvPr/>
          </p:nvSpPr>
          <p:spPr>
            <a:xfrm>
              <a:off x="7631125" y="1241475"/>
              <a:ext cx="959100" cy="8955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b" bIns="0" lIns="91425" spcFirstLastPara="1" rIns="91425" wrap="square" tIns="91425">
              <a:noAutofit/>
            </a:bodyPr>
            <a:lstStyle/>
            <a:p>
              <a:pPr indent="0" lvl="0" marL="0" rtl="0" algn="ctr">
                <a:spcBef>
                  <a:spcPts val="0"/>
                </a:spcBef>
                <a:spcAft>
                  <a:spcPts val="0"/>
                </a:spcAft>
                <a:buNone/>
              </a:pPr>
              <a:r>
                <a:rPr lang="en" sz="1200">
                  <a:latin typeface="DM Sans Medium"/>
                  <a:ea typeface="DM Sans Medium"/>
                  <a:cs typeface="DM Sans Medium"/>
                  <a:sym typeface="DM Sans Medium"/>
                </a:rPr>
                <a:t>Admin</a:t>
              </a:r>
              <a:endParaRPr sz="1200"/>
            </a:p>
          </p:txBody>
        </p:sp>
        <p:pic>
          <p:nvPicPr>
            <p:cNvPr id="2272" name="Google Shape;2272;p97"/>
            <p:cNvPicPr preferRelativeResize="0"/>
            <p:nvPr/>
          </p:nvPicPr>
          <p:blipFill rotWithShape="1">
            <a:blip r:embed="rId5">
              <a:alphaModFix/>
            </a:blip>
            <a:srcRect b="-8630" l="-8630" r="-8630" t="-8630"/>
            <a:stretch/>
          </p:blipFill>
          <p:spPr>
            <a:xfrm>
              <a:off x="7814626" y="1278277"/>
              <a:ext cx="615642" cy="615601"/>
            </a:xfrm>
            <a:prstGeom prst="rect">
              <a:avLst/>
            </a:prstGeom>
            <a:noFill/>
            <a:ln>
              <a:noFill/>
            </a:ln>
          </p:spPr>
        </p:pic>
      </p:grpSp>
      <p:sp>
        <p:nvSpPr>
          <p:cNvPr id="2273" name="Google Shape;2273;p97"/>
          <p:cNvSpPr/>
          <p:nvPr/>
        </p:nvSpPr>
        <p:spPr>
          <a:xfrm>
            <a:off x="7887826" y="2579638"/>
            <a:ext cx="282900" cy="524700"/>
          </a:xfrm>
          <a:prstGeom prst="downArrow">
            <a:avLst>
              <a:gd fmla="val 46756" name="adj1"/>
              <a:gd fmla="val 42789"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97"/>
          <p:cNvSpPr txBox="1"/>
          <p:nvPr/>
        </p:nvSpPr>
        <p:spPr>
          <a:xfrm>
            <a:off x="8720918" y="1090838"/>
            <a:ext cx="3217500" cy="1631700"/>
          </a:xfrm>
          <a:prstGeom prst="rect">
            <a:avLst/>
          </a:prstGeom>
          <a:solidFill>
            <a:srgbClr val="FFFFFF"/>
          </a:solidFill>
          <a:ln>
            <a:noFill/>
          </a:ln>
        </p:spPr>
        <p:txBody>
          <a:bodyPr anchorCtr="0" anchor="ctr" bIns="91425" lIns="91425" spcFirstLastPara="1" rIns="91425" wrap="square" tIns="91425">
            <a:spAutoFit/>
          </a:bodyPr>
          <a:lstStyle/>
          <a:p>
            <a:pPr indent="-203200" lvl="0" marL="228600" marR="0" rtl="0" algn="l">
              <a:lnSpc>
                <a:spcPct val="100000"/>
              </a:lnSpc>
              <a:spcBef>
                <a:spcPts val="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Defines Connection object with JDBC connection information to database.</a:t>
            </a:r>
            <a:endParaRPr>
              <a:solidFill>
                <a:schemeClr val="accent1"/>
              </a:solidFill>
              <a:latin typeface="DM Sans"/>
              <a:ea typeface="DM Sans"/>
              <a:cs typeface="DM Sans"/>
              <a:sym typeface="DM Sans"/>
            </a:endParaRPr>
          </a:p>
          <a:p>
            <a:pPr indent="-203200" lvl="0" marL="228600" marR="0" rtl="0" algn="l">
              <a:lnSpc>
                <a:spcPct val="100000"/>
              </a:lnSpc>
              <a:spcBef>
                <a:spcPts val="60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Registers foreign catalog</a:t>
            </a:r>
            <a:endParaRPr>
              <a:solidFill>
                <a:schemeClr val="accent1"/>
              </a:solidFill>
              <a:latin typeface="DM Sans"/>
              <a:ea typeface="DM Sans"/>
              <a:cs typeface="DM Sans"/>
              <a:sym typeface="DM Sans"/>
            </a:endParaRPr>
          </a:p>
          <a:p>
            <a:pPr indent="-203200" lvl="0" marL="228600" marR="0" rtl="0" algn="l">
              <a:lnSpc>
                <a:spcPct val="100000"/>
              </a:lnSpc>
              <a:spcBef>
                <a:spcPts val="600"/>
              </a:spcBef>
              <a:spcAft>
                <a:spcPts val="600"/>
              </a:spcAft>
              <a:buClr>
                <a:schemeClr val="accent1"/>
              </a:buClr>
              <a:buSzPts val="1400"/>
              <a:buFont typeface="DM Sans"/>
              <a:buChar char="●"/>
            </a:pPr>
            <a:r>
              <a:rPr lang="en">
                <a:solidFill>
                  <a:schemeClr val="accent1"/>
                </a:solidFill>
                <a:latin typeface="DM Sans"/>
                <a:ea typeface="DM Sans"/>
                <a:cs typeface="DM Sans"/>
                <a:sym typeface="DM Sans"/>
              </a:rPr>
              <a:t>Defines access policies in Unity Catalog</a:t>
            </a:r>
            <a:endParaRPr>
              <a:solidFill>
                <a:schemeClr val="accent1"/>
              </a:solidFill>
              <a:latin typeface="DM Sans"/>
              <a:ea typeface="DM Sans"/>
              <a:cs typeface="DM Sans"/>
              <a:sym typeface="DM Sans"/>
            </a:endParaRPr>
          </a:p>
        </p:txBody>
      </p:sp>
      <p:sp>
        <p:nvSpPr>
          <p:cNvPr id="2275" name="Google Shape;2275;p97"/>
          <p:cNvSpPr/>
          <p:nvPr/>
        </p:nvSpPr>
        <p:spPr>
          <a:xfrm>
            <a:off x="1386802" y="387403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1</a:t>
            </a:r>
            <a:endParaRPr b="1">
              <a:solidFill>
                <a:schemeClr val="accent2"/>
              </a:solidFill>
              <a:latin typeface="DM Sans"/>
              <a:ea typeface="DM Sans"/>
              <a:cs typeface="DM Sans"/>
              <a:sym typeface="DM Sans"/>
            </a:endParaRPr>
          </a:p>
        </p:txBody>
      </p:sp>
      <p:sp>
        <p:nvSpPr>
          <p:cNvPr id="2276" name="Google Shape;2276;p97"/>
          <p:cNvSpPr txBox="1"/>
          <p:nvPr/>
        </p:nvSpPr>
        <p:spPr>
          <a:xfrm>
            <a:off x="1625730" y="3732735"/>
            <a:ext cx="1630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Send query (SQL</a:t>
            </a:r>
            <a:endParaRPr sz="1200">
              <a:solidFill>
                <a:schemeClr val="accent2"/>
              </a:solidFill>
              <a:latin typeface="DM Sans"/>
              <a:ea typeface="DM Sans"/>
              <a:cs typeface="DM Sans"/>
              <a:sym typeface="DM Sans"/>
            </a:endParaRPr>
          </a:p>
          <a:p>
            <a:pPr indent="0" lvl="0" marL="0" rtl="0" algn="l">
              <a:spcBef>
                <a:spcPts val="0"/>
              </a:spcBef>
              <a:spcAft>
                <a:spcPts val="0"/>
              </a:spcAft>
              <a:buNone/>
            </a:pPr>
            <a:r>
              <a:rPr lang="en" sz="1200">
                <a:solidFill>
                  <a:schemeClr val="accent2"/>
                </a:solidFill>
                <a:latin typeface="DM Sans"/>
                <a:ea typeface="DM Sans"/>
                <a:cs typeface="DM Sans"/>
                <a:sym typeface="DM Sans"/>
              </a:rPr>
              <a:t>Python, R, Scala,)</a:t>
            </a:r>
            <a:endParaRPr sz="1200"/>
          </a:p>
        </p:txBody>
      </p:sp>
      <p:sp>
        <p:nvSpPr>
          <p:cNvPr id="2277" name="Google Shape;2277;p97"/>
          <p:cNvSpPr txBox="1"/>
          <p:nvPr/>
        </p:nvSpPr>
        <p:spPr>
          <a:xfrm>
            <a:off x="5098262" y="2712403"/>
            <a:ext cx="196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Check namespace , metadata and grants, enforce policies</a:t>
            </a:r>
            <a:endParaRPr sz="1200">
              <a:solidFill>
                <a:srgbClr val="00A972"/>
              </a:solidFill>
              <a:latin typeface="DM Sans"/>
              <a:ea typeface="DM Sans"/>
              <a:cs typeface="DM Sans"/>
              <a:sym typeface="DM Sans"/>
            </a:endParaRPr>
          </a:p>
        </p:txBody>
      </p:sp>
      <p:sp>
        <p:nvSpPr>
          <p:cNvPr id="2278" name="Google Shape;2278;p97"/>
          <p:cNvSpPr/>
          <p:nvPr/>
        </p:nvSpPr>
        <p:spPr>
          <a:xfrm>
            <a:off x="4824195" y="2946103"/>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2</a:t>
            </a:r>
            <a:endParaRPr b="1">
              <a:solidFill>
                <a:schemeClr val="accent2"/>
              </a:solidFill>
              <a:latin typeface="DM Sans"/>
              <a:ea typeface="DM Sans"/>
              <a:cs typeface="DM Sans"/>
              <a:sym typeface="DM Sans"/>
            </a:endParaRPr>
          </a:p>
        </p:txBody>
      </p:sp>
      <p:sp>
        <p:nvSpPr>
          <p:cNvPr id="2279" name="Google Shape;2279;p97"/>
          <p:cNvSpPr txBox="1"/>
          <p:nvPr/>
        </p:nvSpPr>
        <p:spPr>
          <a:xfrm>
            <a:off x="5098262" y="3835575"/>
            <a:ext cx="2330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Returns encrypted credential information to the cluster or warehouse</a:t>
            </a:r>
            <a:endParaRPr sz="1200">
              <a:solidFill>
                <a:srgbClr val="00A972"/>
              </a:solidFill>
              <a:latin typeface="DM Sans"/>
              <a:ea typeface="DM Sans"/>
              <a:cs typeface="DM Sans"/>
              <a:sym typeface="DM Sans"/>
            </a:endParaRPr>
          </a:p>
        </p:txBody>
      </p:sp>
      <p:sp>
        <p:nvSpPr>
          <p:cNvPr id="2280" name="Google Shape;2280;p97"/>
          <p:cNvSpPr/>
          <p:nvPr/>
        </p:nvSpPr>
        <p:spPr>
          <a:xfrm>
            <a:off x="4824195" y="406927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3</a:t>
            </a:r>
            <a:endParaRPr b="1">
              <a:solidFill>
                <a:schemeClr val="accent2"/>
              </a:solidFill>
              <a:latin typeface="DM Sans"/>
              <a:ea typeface="DM Sans"/>
              <a:cs typeface="DM Sans"/>
              <a:sym typeface="DM Sans"/>
            </a:endParaRPr>
          </a:p>
        </p:txBody>
      </p:sp>
      <p:sp>
        <p:nvSpPr>
          <p:cNvPr id="2281" name="Google Shape;2281;p97"/>
          <p:cNvSpPr txBox="1"/>
          <p:nvPr/>
        </p:nvSpPr>
        <p:spPr>
          <a:xfrm>
            <a:off x="5136202" y="4741185"/>
            <a:ext cx="247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Request / ingest data with predicate pushdown by directly connecting to database</a:t>
            </a:r>
            <a:endParaRPr sz="1200">
              <a:solidFill>
                <a:srgbClr val="00A972"/>
              </a:solidFill>
              <a:latin typeface="DM Sans"/>
              <a:ea typeface="DM Sans"/>
              <a:cs typeface="DM Sans"/>
              <a:sym typeface="DM Sans"/>
            </a:endParaRPr>
          </a:p>
        </p:txBody>
      </p:sp>
      <p:sp>
        <p:nvSpPr>
          <p:cNvPr id="2282" name="Google Shape;2282;p97"/>
          <p:cNvSpPr/>
          <p:nvPr/>
        </p:nvSpPr>
        <p:spPr>
          <a:xfrm>
            <a:off x="4824195" y="4974885"/>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4</a:t>
            </a:r>
            <a:endParaRPr b="1">
              <a:solidFill>
                <a:schemeClr val="accent2"/>
              </a:solidFill>
              <a:latin typeface="DM Sans"/>
              <a:ea typeface="DM Sans"/>
              <a:cs typeface="DM Sans"/>
              <a:sym typeface="DM Sans"/>
            </a:endParaRPr>
          </a:p>
        </p:txBody>
      </p:sp>
      <p:sp>
        <p:nvSpPr>
          <p:cNvPr id="2283" name="Google Shape;2283;p97"/>
          <p:cNvSpPr txBox="1"/>
          <p:nvPr/>
        </p:nvSpPr>
        <p:spPr>
          <a:xfrm>
            <a:off x="5142376" y="5906899"/>
            <a:ext cx="156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Return data </a:t>
            </a:r>
            <a:endParaRPr sz="1200">
              <a:solidFill>
                <a:srgbClr val="00A972"/>
              </a:solidFill>
              <a:latin typeface="DM Sans"/>
              <a:ea typeface="DM Sans"/>
              <a:cs typeface="DM Sans"/>
              <a:sym typeface="DM Sans"/>
            </a:endParaRPr>
          </a:p>
        </p:txBody>
      </p:sp>
      <p:sp>
        <p:nvSpPr>
          <p:cNvPr id="2284" name="Google Shape;2284;p97"/>
          <p:cNvSpPr/>
          <p:nvPr/>
        </p:nvSpPr>
        <p:spPr>
          <a:xfrm>
            <a:off x="4824193" y="5955799"/>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6</a:t>
            </a:r>
            <a:endParaRPr b="1">
              <a:solidFill>
                <a:schemeClr val="accent2"/>
              </a:solidFill>
              <a:latin typeface="DM Sans"/>
              <a:ea typeface="DM Sans"/>
              <a:cs typeface="DM Sans"/>
              <a:sym typeface="DM Sans"/>
            </a:endParaRPr>
          </a:p>
        </p:txBody>
      </p:sp>
      <p:sp>
        <p:nvSpPr>
          <p:cNvPr id="2285" name="Google Shape;2285;p97"/>
          <p:cNvSpPr txBox="1"/>
          <p:nvPr/>
        </p:nvSpPr>
        <p:spPr>
          <a:xfrm>
            <a:off x="1625730" y="4724921"/>
            <a:ext cx="141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Send result</a:t>
            </a:r>
            <a:endParaRPr sz="1200">
              <a:solidFill>
                <a:srgbClr val="00A972"/>
              </a:solidFill>
              <a:latin typeface="DM Sans"/>
              <a:ea typeface="DM Sans"/>
              <a:cs typeface="DM Sans"/>
              <a:sym typeface="DM Sans"/>
            </a:endParaRPr>
          </a:p>
        </p:txBody>
      </p:sp>
      <p:sp>
        <p:nvSpPr>
          <p:cNvPr id="2286" name="Google Shape;2286;p97"/>
          <p:cNvSpPr/>
          <p:nvPr/>
        </p:nvSpPr>
        <p:spPr>
          <a:xfrm>
            <a:off x="1386802" y="4773821"/>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8</a:t>
            </a:r>
            <a:endParaRPr b="1">
              <a:solidFill>
                <a:schemeClr val="accent2"/>
              </a:solidFill>
              <a:latin typeface="DM Sans"/>
              <a:ea typeface="DM Sans"/>
              <a:cs typeface="DM Sans"/>
              <a:sym typeface="DM Sans"/>
            </a:endParaRPr>
          </a:p>
        </p:txBody>
      </p:sp>
      <p:cxnSp>
        <p:nvCxnSpPr>
          <p:cNvPr id="2287" name="Google Shape;2287;p97"/>
          <p:cNvCxnSpPr/>
          <p:nvPr/>
        </p:nvCxnSpPr>
        <p:spPr>
          <a:xfrm rot="10800000">
            <a:off x="4688410" y="3454336"/>
            <a:ext cx="2748900" cy="0"/>
          </a:xfrm>
          <a:prstGeom prst="straightConnector1">
            <a:avLst/>
          </a:prstGeom>
          <a:noFill/>
          <a:ln cap="flat" cmpd="sng" w="19050">
            <a:solidFill>
              <a:schemeClr val="accent2"/>
            </a:solidFill>
            <a:prstDash val="solid"/>
            <a:round/>
            <a:headEnd len="med" w="med" type="triangle"/>
            <a:tailEnd len="med" w="med" type="none"/>
          </a:ln>
        </p:spPr>
      </p:cxnSp>
      <p:cxnSp>
        <p:nvCxnSpPr>
          <p:cNvPr id="2288" name="Google Shape;2288;p97"/>
          <p:cNvCxnSpPr/>
          <p:nvPr/>
        </p:nvCxnSpPr>
        <p:spPr>
          <a:xfrm>
            <a:off x="1336391" y="4651425"/>
            <a:ext cx="1752600" cy="0"/>
          </a:xfrm>
          <a:prstGeom prst="straightConnector1">
            <a:avLst/>
          </a:prstGeom>
          <a:noFill/>
          <a:ln cap="flat" cmpd="sng" w="19050">
            <a:solidFill>
              <a:schemeClr val="accent2"/>
            </a:solidFill>
            <a:prstDash val="solid"/>
            <a:round/>
            <a:headEnd len="med" w="med" type="triangle"/>
            <a:tailEnd len="med" w="med" type="none"/>
          </a:ln>
        </p:spPr>
      </p:cxnSp>
      <p:grpSp>
        <p:nvGrpSpPr>
          <p:cNvPr id="2289" name="Google Shape;2289;p97"/>
          <p:cNvGrpSpPr/>
          <p:nvPr/>
        </p:nvGrpSpPr>
        <p:grpSpPr>
          <a:xfrm>
            <a:off x="4703883" y="5482400"/>
            <a:ext cx="2748835" cy="381000"/>
            <a:chOff x="4705031" y="5482400"/>
            <a:chExt cx="3218400" cy="381000"/>
          </a:xfrm>
        </p:grpSpPr>
        <p:cxnSp>
          <p:nvCxnSpPr>
            <p:cNvPr id="2290" name="Google Shape;2290;p97"/>
            <p:cNvCxnSpPr/>
            <p:nvPr/>
          </p:nvCxnSpPr>
          <p:spPr>
            <a:xfrm>
              <a:off x="4705031" y="5482400"/>
              <a:ext cx="3218400" cy="0"/>
            </a:xfrm>
            <a:prstGeom prst="straightConnector1">
              <a:avLst/>
            </a:prstGeom>
            <a:noFill/>
            <a:ln cap="flat" cmpd="sng" w="19050">
              <a:solidFill>
                <a:schemeClr val="accent2"/>
              </a:solidFill>
              <a:prstDash val="solid"/>
              <a:round/>
              <a:headEnd len="med" w="med" type="none"/>
              <a:tailEnd len="med" w="med" type="triangle"/>
            </a:ln>
          </p:spPr>
        </p:cxnSp>
        <p:cxnSp>
          <p:nvCxnSpPr>
            <p:cNvPr id="2291" name="Google Shape;2291;p97"/>
            <p:cNvCxnSpPr/>
            <p:nvPr/>
          </p:nvCxnSpPr>
          <p:spPr>
            <a:xfrm>
              <a:off x="4705031" y="5863400"/>
              <a:ext cx="3218400" cy="0"/>
            </a:xfrm>
            <a:prstGeom prst="straightConnector1">
              <a:avLst/>
            </a:prstGeom>
            <a:noFill/>
            <a:ln cap="flat" cmpd="sng" w="19050">
              <a:solidFill>
                <a:schemeClr val="accent2"/>
              </a:solidFill>
              <a:prstDash val="solid"/>
              <a:round/>
              <a:headEnd len="med" w="med" type="triangle"/>
              <a:tailEnd len="med" w="med" type="none"/>
            </a:ln>
          </p:spPr>
        </p:cxnSp>
      </p:grpSp>
      <p:sp>
        <p:nvSpPr>
          <p:cNvPr id="2292" name="Google Shape;2292;p97"/>
          <p:cNvSpPr/>
          <p:nvPr/>
        </p:nvSpPr>
        <p:spPr>
          <a:xfrm rot="-5396351">
            <a:off x="9792704" y="3417997"/>
            <a:ext cx="282600" cy="524700"/>
          </a:xfrm>
          <a:prstGeom prst="downArrow">
            <a:avLst>
              <a:gd fmla="val 46756" name="adj1"/>
              <a:gd fmla="val 42789"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97"/>
          <p:cNvSpPr/>
          <p:nvPr/>
        </p:nvSpPr>
        <p:spPr>
          <a:xfrm>
            <a:off x="3124886" y="3243175"/>
            <a:ext cx="1459800" cy="2850000"/>
          </a:xfrm>
          <a:prstGeom prst="roundRect">
            <a:avLst>
              <a:gd fmla="val 11052" name="adj"/>
            </a:avLst>
          </a:prstGeom>
          <a:solidFill>
            <a:srgbClr val="FFFFFF"/>
          </a:solidFill>
          <a:ln cap="flat" cmpd="sng" w="19050">
            <a:solidFill>
              <a:srgbClr val="1B5162"/>
            </a:solidFill>
            <a:prstDash val="solid"/>
            <a:round/>
            <a:headEnd len="sm" w="sm" type="none"/>
            <a:tailEnd len="sm" w="sm" type="none"/>
          </a:ln>
        </p:spPr>
        <p:txBody>
          <a:bodyPr anchorCtr="0" anchor="ctr" bIns="0" lIns="91425" spcFirstLastPara="1" rIns="91425" wrap="square" tIns="91425">
            <a:noAutofit/>
          </a:bodyPr>
          <a:lstStyle/>
          <a:p>
            <a:pPr indent="0" lvl="0" marL="0" rtl="0" algn="ctr">
              <a:spcBef>
                <a:spcPts val="0"/>
              </a:spcBef>
              <a:spcAft>
                <a:spcPts val="0"/>
              </a:spcAft>
              <a:buNone/>
            </a:pPr>
            <a:r>
              <a:t/>
            </a:r>
            <a:endParaRPr sz="1200">
              <a:latin typeface="DM Sans Medium"/>
              <a:ea typeface="DM Sans Medium"/>
              <a:cs typeface="DM Sans Medium"/>
              <a:sym typeface="DM Sans Medium"/>
            </a:endParaRPr>
          </a:p>
          <a:p>
            <a:pPr indent="0" lvl="0" marL="0" rtl="0" algn="l">
              <a:spcBef>
                <a:spcPts val="0"/>
              </a:spcBef>
              <a:spcAft>
                <a:spcPts val="0"/>
              </a:spcAft>
              <a:buNone/>
            </a:pPr>
            <a:r>
              <a:t/>
            </a:r>
            <a:endParaRPr sz="1200">
              <a:latin typeface="DM Sans Medium"/>
              <a:ea typeface="DM Sans Medium"/>
              <a:cs typeface="DM Sans Medium"/>
              <a:sym typeface="DM Sans Medium"/>
            </a:endParaRPr>
          </a:p>
          <a:p>
            <a:pPr indent="0" lvl="0" marL="0" rtl="0" algn="ctr">
              <a:spcBef>
                <a:spcPts val="0"/>
              </a:spcBef>
              <a:spcAft>
                <a:spcPts val="0"/>
              </a:spcAft>
              <a:buNone/>
            </a:pPr>
            <a:r>
              <a:rPr lang="en" sz="1200">
                <a:latin typeface="DM Sans Medium"/>
                <a:ea typeface="DM Sans Medium"/>
                <a:cs typeface="DM Sans Medium"/>
                <a:sym typeface="DM Sans Medium"/>
              </a:rPr>
              <a:t>Cluster or SQL warehouse</a:t>
            </a:r>
            <a:endParaRPr sz="1200">
              <a:latin typeface="DM Sans Medium"/>
              <a:ea typeface="DM Sans Medium"/>
              <a:cs typeface="DM Sans Medium"/>
              <a:sym typeface="DM Sans Medium"/>
            </a:endParaRPr>
          </a:p>
        </p:txBody>
      </p:sp>
      <p:pic>
        <p:nvPicPr>
          <p:cNvPr id="2294" name="Google Shape;2294;p97"/>
          <p:cNvPicPr preferRelativeResize="0"/>
          <p:nvPr/>
        </p:nvPicPr>
        <p:blipFill rotWithShape="1">
          <a:blip r:embed="rId6">
            <a:alphaModFix/>
          </a:blip>
          <a:srcRect b="0" l="0" r="0" t="0"/>
          <a:stretch/>
        </p:blipFill>
        <p:spPr>
          <a:xfrm>
            <a:off x="3563160" y="4109371"/>
            <a:ext cx="583207" cy="558287"/>
          </a:xfrm>
          <a:prstGeom prst="rect">
            <a:avLst/>
          </a:prstGeom>
          <a:noFill/>
          <a:ln>
            <a:noFill/>
          </a:ln>
        </p:spPr>
      </p:pic>
      <p:sp>
        <p:nvSpPr>
          <p:cNvPr id="2295" name="Google Shape;2295;p97"/>
          <p:cNvSpPr/>
          <p:nvPr/>
        </p:nvSpPr>
        <p:spPr>
          <a:xfrm>
            <a:off x="7541188" y="3219925"/>
            <a:ext cx="1925400" cy="8955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685800" rtl="0" algn="l">
              <a:spcBef>
                <a:spcPts val="0"/>
              </a:spcBef>
              <a:spcAft>
                <a:spcPts val="0"/>
              </a:spcAft>
              <a:buNone/>
            </a:pPr>
            <a:r>
              <a:t/>
            </a:r>
            <a:endParaRPr sz="1800">
              <a:latin typeface="DM Sans Medium"/>
              <a:ea typeface="DM Sans Medium"/>
              <a:cs typeface="DM Sans Medium"/>
              <a:sym typeface="DM Sans Medium"/>
            </a:endParaRPr>
          </a:p>
        </p:txBody>
      </p:sp>
      <p:sp>
        <p:nvSpPr>
          <p:cNvPr id="2296" name="Google Shape;2296;p9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Querying database sources with Unity</a:t>
            </a:r>
            <a:endParaRPr sz="3600"/>
          </a:p>
        </p:txBody>
      </p:sp>
      <p:pic>
        <p:nvPicPr>
          <p:cNvPr id="2297" name="Google Shape;2297;p97"/>
          <p:cNvPicPr preferRelativeResize="0"/>
          <p:nvPr/>
        </p:nvPicPr>
        <p:blipFill>
          <a:blip r:embed="rId7">
            <a:alphaModFix/>
          </a:blip>
          <a:stretch>
            <a:fillRect/>
          </a:stretch>
        </p:blipFill>
        <p:spPr>
          <a:xfrm>
            <a:off x="7838789" y="5291900"/>
            <a:ext cx="380904" cy="380904"/>
          </a:xfrm>
          <a:prstGeom prst="rect">
            <a:avLst/>
          </a:prstGeom>
          <a:noFill/>
          <a:ln>
            <a:noFill/>
          </a:ln>
        </p:spPr>
      </p:pic>
      <p:cxnSp>
        <p:nvCxnSpPr>
          <p:cNvPr id="2298" name="Google Shape;2298;p97"/>
          <p:cNvCxnSpPr>
            <a:endCxn id="2295" idx="2"/>
          </p:cNvCxnSpPr>
          <p:nvPr/>
        </p:nvCxnSpPr>
        <p:spPr>
          <a:xfrm flipH="1" rot="10800000">
            <a:off x="4761088" y="4115425"/>
            <a:ext cx="3742800" cy="532800"/>
          </a:xfrm>
          <a:prstGeom prst="bentConnector2">
            <a:avLst/>
          </a:prstGeom>
          <a:noFill/>
          <a:ln cap="flat" cmpd="sng" w="19050">
            <a:solidFill>
              <a:schemeClr val="accent2"/>
            </a:solidFill>
            <a:prstDash val="solid"/>
            <a:round/>
            <a:headEnd len="med" w="med" type="none"/>
            <a:tailEnd len="med" w="med" type="triangle"/>
          </a:ln>
        </p:spPr>
      </p:cxnSp>
      <p:sp>
        <p:nvSpPr>
          <p:cNvPr id="2299" name="Google Shape;2299;p97"/>
          <p:cNvSpPr/>
          <p:nvPr/>
        </p:nvSpPr>
        <p:spPr>
          <a:xfrm>
            <a:off x="8599200" y="4612810"/>
            <a:ext cx="282900" cy="271500"/>
          </a:xfrm>
          <a:prstGeom prst="ellipse">
            <a:avLst/>
          </a:prstGeom>
          <a:solidFill>
            <a:schemeClr val="lt1"/>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accent2"/>
                </a:solidFill>
                <a:latin typeface="DM Sans"/>
                <a:ea typeface="DM Sans"/>
                <a:cs typeface="DM Sans"/>
                <a:sym typeface="DM Sans"/>
              </a:rPr>
              <a:t>5</a:t>
            </a:r>
            <a:endParaRPr b="1">
              <a:solidFill>
                <a:schemeClr val="accent2"/>
              </a:solidFill>
              <a:latin typeface="DM Sans"/>
              <a:ea typeface="DM Sans"/>
              <a:cs typeface="DM Sans"/>
              <a:sym typeface="DM Sans"/>
            </a:endParaRPr>
          </a:p>
        </p:txBody>
      </p:sp>
      <p:sp>
        <p:nvSpPr>
          <p:cNvPr id="2300" name="Google Shape;2300;p97"/>
          <p:cNvSpPr txBox="1"/>
          <p:nvPr/>
        </p:nvSpPr>
        <p:spPr>
          <a:xfrm>
            <a:off x="8888308" y="4471510"/>
            <a:ext cx="2473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Metadata changes in the data are pushed to UC Control Plane</a:t>
            </a:r>
            <a:endParaRPr sz="1200">
              <a:solidFill>
                <a:srgbClr val="00A972"/>
              </a:solidFill>
              <a:latin typeface="DM Sans"/>
              <a:ea typeface="DM Sans"/>
              <a:cs typeface="DM Sans"/>
              <a:sym typeface="DM Sans"/>
            </a:endParaRPr>
          </a:p>
        </p:txBody>
      </p:sp>
      <p:pic>
        <p:nvPicPr>
          <p:cNvPr id="2301" name="Google Shape;2301;p97"/>
          <p:cNvPicPr preferRelativeResize="0"/>
          <p:nvPr/>
        </p:nvPicPr>
        <p:blipFill>
          <a:blip r:embed="rId8">
            <a:alphaModFix/>
          </a:blip>
          <a:stretch>
            <a:fillRect/>
          </a:stretch>
        </p:blipFill>
        <p:spPr>
          <a:xfrm>
            <a:off x="7664575" y="3383125"/>
            <a:ext cx="1673499" cy="615600"/>
          </a:xfrm>
          <a:prstGeom prst="rect">
            <a:avLst/>
          </a:prstGeom>
          <a:noFill/>
          <a:ln>
            <a:noFill/>
          </a:ln>
        </p:spPr>
      </p:pic>
      <p:grpSp>
        <p:nvGrpSpPr>
          <p:cNvPr id="2302" name="Google Shape;2302;p97"/>
          <p:cNvGrpSpPr/>
          <p:nvPr/>
        </p:nvGrpSpPr>
        <p:grpSpPr>
          <a:xfrm>
            <a:off x="3320832" y="5425650"/>
            <a:ext cx="1203557" cy="554100"/>
            <a:chOff x="3320832" y="5425650"/>
            <a:chExt cx="1203557" cy="554100"/>
          </a:xfrm>
        </p:grpSpPr>
        <p:sp>
          <p:nvSpPr>
            <p:cNvPr id="2303" name="Google Shape;2303;p97"/>
            <p:cNvSpPr txBox="1"/>
            <p:nvPr/>
          </p:nvSpPr>
          <p:spPr>
            <a:xfrm>
              <a:off x="3594389" y="5425650"/>
              <a:ext cx="93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A972"/>
                  </a:solidFill>
                  <a:latin typeface="DM Sans"/>
                  <a:ea typeface="DM Sans"/>
                  <a:cs typeface="DM Sans"/>
                  <a:sym typeface="DM Sans"/>
                </a:rPr>
                <a:t>Enforce </a:t>
              </a:r>
              <a:br>
                <a:rPr lang="en" sz="1200">
                  <a:solidFill>
                    <a:srgbClr val="00A972"/>
                  </a:solidFill>
                  <a:latin typeface="DM Sans"/>
                  <a:ea typeface="DM Sans"/>
                  <a:cs typeface="DM Sans"/>
                  <a:sym typeface="DM Sans"/>
                </a:rPr>
              </a:br>
              <a:r>
                <a:rPr lang="en" sz="1200">
                  <a:solidFill>
                    <a:srgbClr val="00A972"/>
                  </a:solidFill>
                  <a:latin typeface="DM Sans"/>
                  <a:ea typeface="DM Sans"/>
                  <a:cs typeface="DM Sans"/>
                  <a:sym typeface="DM Sans"/>
                </a:rPr>
                <a:t>policies</a:t>
              </a:r>
              <a:endParaRPr sz="1200">
                <a:solidFill>
                  <a:srgbClr val="00A972"/>
                </a:solidFill>
                <a:latin typeface="DM Sans"/>
                <a:ea typeface="DM Sans"/>
                <a:cs typeface="DM Sans"/>
                <a:sym typeface="DM Sans"/>
              </a:endParaRPr>
            </a:p>
          </p:txBody>
        </p:sp>
        <p:sp>
          <p:nvSpPr>
            <p:cNvPr id="2304" name="Google Shape;2304;p97"/>
            <p:cNvSpPr/>
            <p:nvPr/>
          </p:nvSpPr>
          <p:spPr>
            <a:xfrm>
              <a:off x="3320832" y="5566950"/>
              <a:ext cx="282900" cy="271500"/>
            </a:xfrm>
            <a:prstGeom prst="ellipse">
              <a:avLst/>
            </a:prstGeom>
            <a:solidFill>
              <a:srgbClr val="F9F7F4"/>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00A972"/>
                  </a:solidFill>
                  <a:latin typeface="DM Sans"/>
                  <a:ea typeface="DM Sans"/>
                  <a:cs typeface="DM Sans"/>
                  <a:sym typeface="DM Sans"/>
                </a:rPr>
                <a:t>7</a:t>
              </a:r>
              <a:endParaRPr b="1">
                <a:solidFill>
                  <a:srgbClr val="00A972"/>
                </a:solidFill>
                <a:latin typeface="DM Sans"/>
                <a:ea typeface="DM Sans"/>
                <a:cs typeface="DM Sans"/>
                <a:sym typeface="DM Sans"/>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sp>
        <p:nvSpPr>
          <p:cNvPr id="2309" name="Google Shape;2309;p98"/>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Delta &amp; Iceberg</a:t>
            </a:r>
            <a:endParaRPr/>
          </a:p>
        </p:txBody>
      </p:sp>
      <p:sp>
        <p:nvSpPr>
          <p:cNvPr id="2310" name="Google Shape;2310;p9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4" name="Shape 2314"/>
        <p:cNvGrpSpPr/>
        <p:nvPr/>
      </p:nvGrpSpPr>
      <p:grpSpPr>
        <a:xfrm>
          <a:off x="0" y="0"/>
          <a:ext cx="0" cy="0"/>
          <a:chOff x="0" y="0"/>
          <a:chExt cx="0" cy="0"/>
        </a:xfrm>
      </p:grpSpPr>
      <p:sp>
        <p:nvSpPr>
          <p:cNvPr id="2315" name="Google Shape;2315;p99"/>
          <p:cNvSpPr txBox="1"/>
          <p:nvPr>
            <p:ph type="title"/>
          </p:nvPr>
        </p:nvSpPr>
        <p:spPr>
          <a:xfrm>
            <a:off x="749245" y="3069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 Formats - Parquet</a:t>
            </a:r>
            <a:endParaRPr sz="3600"/>
          </a:p>
        </p:txBody>
      </p:sp>
      <p:grpSp>
        <p:nvGrpSpPr>
          <p:cNvPr id="2316" name="Google Shape;2316;p99"/>
          <p:cNvGrpSpPr/>
          <p:nvPr/>
        </p:nvGrpSpPr>
        <p:grpSpPr>
          <a:xfrm>
            <a:off x="656000" y="1420275"/>
            <a:ext cx="5540313" cy="2693980"/>
            <a:chOff x="656000" y="1420275"/>
            <a:chExt cx="5540313" cy="2693980"/>
          </a:xfrm>
        </p:grpSpPr>
        <p:sp>
          <p:nvSpPr>
            <p:cNvPr id="2317" name="Google Shape;2317;p99"/>
            <p:cNvSpPr/>
            <p:nvPr/>
          </p:nvSpPr>
          <p:spPr>
            <a:xfrm>
              <a:off x="5518274" y="2276595"/>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99"/>
            <p:cNvSpPr/>
            <p:nvPr/>
          </p:nvSpPr>
          <p:spPr>
            <a:xfrm>
              <a:off x="749293" y="1898132"/>
              <a:ext cx="3288000" cy="18090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DM Sans Medium"/>
                  <a:ea typeface="DM Sans Medium"/>
                  <a:cs typeface="DM Sans Medium"/>
                  <a:sym typeface="DM Sans Medium"/>
                </a:rPr>
                <a:t>customers</a:t>
              </a:r>
              <a:endParaRPr>
                <a:latin typeface="DM Sans Medium"/>
                <a:ea typeface="DM Sans Medium"/>
                <a:cs typeface="DM Sans Medium"/>
                <a:sym typeface="DM Sans Medium"/>
              </a:endParaRPr>
            </a:p>
          </p:txBody>
        </p:sp>
        <p:sp>
          <p:nvSpPr>
            <p:cNvPr id="2319" name="Google Shape;2319;p99"/>
            <p:cNvSpPr/>
            <p:nvPr/>
          </p:nvSpPr>
          <p:spPr>
            <a:xfrm>
              <a:off x="883644" y="230777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p1</a:t>
              </a:r>
              <a:endParaRPr sz="1200">
                <a:solidFill>
                  <a:schemeClr val="accent1"/>
                </a:solidFill>
                <a:latin typeface="DM Sans"/>
                <a:ea typeface="DM Sans"/>
                <a:cs typeface="DM Sans"/>
                <a:sym typeface="DM Sans"/>
              </a:endParaRPr>
            </a:p>
          </p:txBody>
        </p:sp>
        <p:sp>
          <p:nvSpPr>
            <p:cNvPr id="2320" name="Google Shape;2320;p99"/>
            <p:cNvSpPr/>
            <p:nvPr/>
          </p:nvSpPr>
          <p:spPr>
            <a:xfrm>
              <a:off x="3149037" y="337285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pn</a:t>
              </a:r>
              <a:endParaRPr sz="1200">
                <a:solidFill>
                  <a:schemeClr val="accent1"/>
                </a:solidFill>
                <a:latin typeface="DM Sans"/>
                <a:ea typeface="DM Sans"/>
                <a:cs typeface="DM Sans"/>
                <a:sym typeface="DM Sans"/>
              </a:endParaRPr>
            </a:p>
          </p:txBody>
        </p:sp>
        <p:sp>
          <p:nvSpPr>
            <p:cNvPr id="2321" name="Google Shape;2321;p99"/>
            <p:cNvSpPr/>
            <p:nvPr/>
          </p:nvSpPr>
          <p:spPr>
            <a:xfrm>
              <a:off x="1464818" y="230777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p2</a:t>
              </a:r>
              <a:endParaRPr sz="1200">
                <a:solidFill>
                  <a:schemeClr val="accent1"/>
                </a:solidFill>
                <a:latin typeface="DM Sans"/>
                <a:ea typeface="DM Sans"/>
                <a:cs typeface="DM Sans"/>
                <a:sym typeface="DM Sans"/>
              </a:endParaRPr>
            </a:p>
          </p:txBody>
        </p:sp>
        <p:sp>
          <p:nvSpPr>
            <p:cNvPr id="2322" name="Google Shape;2322;p99"/>
            <p:cNvSpPr/>
            <p:nvPr/>
          </p:nvSpPr>
          <p:spPr>
            <a:xfrm>
              <a:off x="1986691" y="230777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p3</a:t>
              </a:r>
              <a:endParaRPr sz="1200">
                <a:solidFill>
                  <a:schemeClr val="accent1"/>
                </a:solidFill>
                <a:latin typeface="DM Sans"/>
                <a:ea typeface="DM Sans"/>
                <a:cs typeface="DM Sans"/>
                <a:sym typeface="DM Sans"/>
              </a:endParaRPr>
            </a:p>
          </p:txBody>
        </p:sp>
        <p:sp>
          <p:nvSpPr>
            <p:cNvPr id="2323" name="Google Shape;2323;p99"/>
            <p:cNvSpPr/>
            <p:nvPr/>
          </p:nvSpPr>
          <p:spPr>
            <a:xfrm>
              <a:off x="2567864" y="230777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24" name="Google Shape;2324;p99"/>
            <p:cNvSpPr/>
            <p:nvPr/>
          </p:nvSpPr>
          <p:spPr>
            <a:xfrm>
              <a:off x="883644" y="2662800"/>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25" name="Google Shape;2325;p99"/>
            <p:cNvSpPr/>
            <p:nvPr/>
          </p:nvSpPr>
          <p:spPr>
            <a:xfrm>
              <a:off x="1464818" y="2662800"/>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26" name="Google Shape;2326;p99"/>
            <p:cNvSpPr/>
            <p:nvPr/>
          </p:nvSpPr>
          <p:spPr>
            <a:xfrm>
              <a:off x="1986691" y="2662800"/>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27" name="Google Shape;2327;p99"/>
            <p:cNvSpPr/>
            <p:nvPr/>
          </p:nvSpPr>
          <p:spPr>
            <a:xfrm>
              <a:off x="2567864" y="2662800"/>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28" name="Google Shape;2328;p99"/>
            <p:cNvSpPr/>
            <p:nvPr/>
          </p:nvSpPr>
          <p:spPr>
            <a:xfrm>
              <a:off x="883644" y="3017824"/>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29" name="Google Shape;2329;p99"/>
            <p:cNvSpPr/>
            <p:nvPr/>
          </p:nvSpPr>
          <p:spPr>
            <a:xfrm>
              <a:off x="1464818" y="3017824"/>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0" name="Google Shape;2330;p99"/>
            <p:cNvSpPr/>
            <p:nvPr/>
          </p:nvSpPr>
          <p:spPr>
            <a:xfrm>
              <a:off x="1986691" y="3017824"/>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1" name="Google Shape;2331;p99"/>
            <p:cNvSpPr/>
            <p:nvPr/>
          </p:nvSpPr>
          <p:spPr>
            <a:xfrm>
              <a:off x="2567864" y="3017824"/>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2" name="Google Shape;2332;p99"/>
            <p:cNvSpPr/>
            <p:nvPr/>
          </p:nvSpPr>
          <p:spPr>
            <a:xfrm>
              <a:off x="883644" y="337284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3" name="Google Shape;2333;p99"/>
            <p:cNvSpPr/>
            <p:nvPr/>
          </p:nvSpPr>
          <p:spPr>
            <a:xfrm>
              <a:off x="1464818" y="337284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4" name="Google Shape;2334;p99"/>
            <p:cNvSpPr/>
            <p:nvPr/>
          </p:nvSpPr>
          <p:spPr>
            <a:xfrm>
              <a:off x="1986691" y="337284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5" name="Google Shape;2335;p99"/>
            <p:cNvSpPr/>
            <p:nvPr/>
          </p:nvSpPr>
          <p:spPr>
            <a:xfrm>
              <a:off x="2567864" y="337284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6" name="Google Shape;2336;p99"/>
            <p:cNvSpPr/>
            <p:nvPr/>
          </p:nvSpPr>
          <p:spPr>
            <a:xfrm>
              <a:off x="3149037" y="2307777"/>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7" name="Google Shape;2337;p99"/>
            <p:cNvSpPr/>
            <p:nvPr/>
          </p:nvSpPr>
          <p:spPr>
            <a:xfrm>
              <a:off x="3149037" y="2662800"/>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8" name="Google Shape;2338;p99"/>
            <p:cNvSpPr/>
            <p:nvPr/>
          </p:nvSpPr>
          <p:spPr>
            <a:xfrm>
              <a:off x="3149037" y="3017824"/>
              <a:ext cx="4482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a:t>
              </a:r>
              <a:endParaRPr sz="1200">
                <a:solidFill>
                  <a:schemeClr val="accent1"/>
                </a:solidFill>
                <a:latin typeface="DM Sans"/>
                <a:ea typeface="DM Sans"/>
                <a:cs typeface="DM Sans"/>
                <a:sym typeface="DM Sans"/>
              </a:endParaRPr>
            </a:p>
          </p:txBody>
        </p:sp>
        <p:sp>
          <p:nvSpPr>
            <p:cNvPr id="2339" name="Google Shape;2339;p99"/>
            <p:cNvSpPr/>
            <p:nvPr/>
          </p:nvSpPr>
          <p:spPr>
            <a:xfrm>
              <a:off x="4157203" y="2307787"/>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40" name="Google Shape;2340;p99"/>
            <p:cNvCxnSpPr>
              <a:stCxn id="2339" idx="1"/>
            </p:cNvCxnSpPr>
            <p:nvPr/>
          </p:nvCxnSpPr>
          <p:spPr>
            <a:xfrm rot="10800000">
              <a:off x="3689803" y="2440387"/>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41" name="Google Shape;2341;p99"/>
            <p:cNvSpPr/>
            <p:nvPr/>
          </p:nvSpPr>
          <p:spPr>
            <a:xfrm>
              <a:off x="4157203" y="2670063"/>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42" name="Google Shape;2342;p99"/>
            <p:cNvCxnSpPr>
              <a:stCxn id="2341" idx="1"/>
            </p:cNvCxnSpPr>
            <p:nvPr/>
          </p:nvCxnSpPr>
          <p:spPr>
            <a:xfrm rot="10800000">
              <a:off x="3689803" y="2802663"/>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43" name="Google Shape;2343;p99"/>
            <p:cNvSpPr/>
            <p:nvPr/>
          </p:nvSpPr>
          <p:spPr>
            <a:xfrm>
              <a:off x="4157203" y="3017834"/>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44" name="Google Shape;2344;p99"/>
            <p:cNvCxnSpPr>
              <a:stCxn id="2343" idx="1"/>
            </p:cNvCxnSpPr>
            <p:nvPr/>
          </p:nvCxnSpPr>
          <p:spPr>
            <a:xfrm rot="10800000">
              <a:off x="3689803" y="3150434"/>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45" name="Google Shape;2345;p99"/>
            <p:cNvSpPr/>
            <p:nvPr/>
          </p:nvSpPr>
          <p:spPr>
            <a:xfrm>
              <a:off x="4157203" y="3376484"/>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46" name="Google Shape;2346;p99"/>
            <p:cNvCxnSpPr>
              <a:stCxn id="2345" idx="1"/>
            </p:cNvCxnSpPr>
            <p:nvPr/>
          </p:nvCxnSpPr>
          <p:spPr>
            <a:xfrm rot="10800000">
              <a:off x="3689803" y="3509084"/>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47" name="Google Shape;2347;p99"/>
            <p:cNvSpPr/>
            <p:nvPr/>
          </p:nvSpPr>
          <p:spPr>
            <a:xfrm>
              <a:off x="5518274" y="2276595"/>
              <a:ext cx="327600" cy="327600"/>
            </a:xfrm>
            <a:prstGeom prst="pie">
              <a:avLst>
                <a:gd fmla="val 16242475" name="adj1"/>
                <a:gd fmla="val 5194955"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99"/>
            <p:cNvSpPr/>
            <p:nvPr/>
          </p:nvSpPr>
          <p:spPr>
            <a:xfrm>
              <a:off x="5518274" y="2638871"/>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99"/>
            <p:cNvSpPr/>
            <p:nvPr/>
          </p:nvSpPr>
          <p:spPr>
            <a:xfrm>
              <a:off x="5518274" y="2638871"/>
              <a:ext cx="327600" cy="327600"/>
            </a:xfrm>
            <a:prstGeom prst="pie">
              <a:avLst>
                <a:gd fmla="val 16242475" name="adj1"/>
                <a:gd fmla="val 3612957"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99"/>
            <p:cNvSpPr/>
            <p:nvPr/>
          </p:nvSpPr>
          <p:spPr>
            <a:xfrm>
              <a:off x="5518274" y="2986642"/>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99"/>
            <p:cNvSpPr/>
            <p:nvPr/>
          </p:nvSpPr>
          <p:spPr>
            <a:xfrm>
              <a:off x="5518274" y="2986642"/>
              <a:ext cx="327600" cy="327600"/>
            </a:xfrm>
            <a:prstGeom prst="pie">
              <a:avLst>
                <a:gd fmla="val 16242475" name="adj1"/>
                <a:gd fmla="val 8129541"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99"/>
            <p:cNvSpPr/>
            <p:nvPr/>
          </p:nvSpPr>
          <p:spPr>
            <a:xfrm>
              <a:off x="5518274" y="3345307"/>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99"/>
            <p:cNvSpPr/>
            <p:nvPr/>
          </p:nvSpPr>
          <p:spPr>
            <a:xfrm>
              <a:off x="5518274" y="3345307"/>
              <a:ext cx="327600" cy="327600"/>
            </a:xfrm>
            <a:prstGeom prst="pie">
              <a:avLst>
                <a:gd fmla="val 16242475" name="adj1"/>
                <a:gd fmla="val 3568794"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99"/>
            <p:cNvSpPr txBox="1"/>
            <p:nvPr/>
          </p:nvSpPr>
          <p:spPr>
            <a:xfrm>
              <a:off x="656000" y="1420275"/>
              <a:ext cx="22305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latin typeface="DM Sans Medium"/>
                  <a:ea typeface="DM Sans Medium"/>
                  <a:cs typeface="DM Sans Medium"/>
                  <a:sym typeface="DM Sans Medium"/>
                </a:rPr>
                <a:t>Small file problem </a:t>
              </a:r>
              <a:endParaRPr sz="1800">
                <a:solidFill>
                  <a:srgbClr val="FF0000"/>
                </a:solidFill>
                <a:latin typeface="DM Sans Medium"/>
                <a:ea typeface="DM Sans Medium"/>
                <a:cs typeface="DM Sans Medium"/>
                <a:sym typeface="DM Sans Medium"/>
              </a:endParaRPr>
            </a:p>
          </p:txBody>
        </p:sp>
        <p:sp>
          <p:nvSpPr>
            <p:cNvPr id="2355" name="Google Shape;2355;p99"/>
            <p:cNvSpPr/>
            <p:nvPr/>
          </p:nvSpPr>
          <p:spPr>
            <a:xfrm>
              <a:off x="5518274" y="3724832"/>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99"/>
            <p:cNvSpPr txBox="1"/>
            <p:nvPr/>
          </p:nvSpPr>
          <p:spPr>
            <a:xfrm>
              <a:off x="4493432" y="3705655"/>
              <a:ext cx="10005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accent1"/>
                  </a:solidFill>
                  <a:latin typeface="DM Sans"/>
                  <a:ea typeface="DM Sans"/>
                  <a:cs typeface="DM Sans"/>
                  <a:sym typeface="DM Sans"/>
                </a:rPr>
                <a:t>overall</a:t>
              </a:r>
              <a:endParaRPr i="1">
                <a:solidFill>
                  <a:schemeClr val="accent1"/>
                </a:solidFill>
                <a:latin typeface="DM Sans"/>
                <a:ea typeface="DM Sans"/>
                <a:cs typeface="DM Sans"/>
                <a:sym typeface="DM Sans"/>
              </a:endParaRPr>
            </a:p>
          </p:txBody>
        </p:sp>
        <p:sp>
          <p:nvSpPr>
            <p:cNvPr id="2357" name="Google Shape;2357;p99"/>
            <p:cNvSpPr txBox="1"/>
            <p:nvPr/>
          </p:nvSpPr>
          <p:spPr>
            <a:xfrm>
              <a:off x="5195813" y="1833245"/>
              <a:ext cx="1000500" cy="4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chemeClr val="accent1"/>
                  </a:solidFill>
                  <a:latin typeface="DM Sans"/>
                  <a:ea typeface="DM Sans"/>
                  <a:cs typeface="DM Sans"/>
                  <a:sym typeface="DM Sans"/>
                </a:rPr>
                <a:t>duration</a:t>
              </a:r>
              <a:endParaRPr i="1">
                <a:solidFill>
                  <a:schemeClr val="accent1"/>
                </a:solidFill>
                <a:latin typeface="DM Sans"/>
                <a:ea typeface="DM Sans"/>
                <a:cs typeface="DM Sans"/>
                <a:sym typeface="DM Sans"/>
              </a:endParaRPr>
            </a:p>
          </p:txBody>
        </p:sp>
        <p:sp>
          <p:nvSpPr>
            <p:cNvPr id="2358" name="Google Shape;2358;p99"/>
            <p:cNvSpPr/>
            <p:nvPr/>
          </p:nvSpPr>
          <p:spPr>
            <a:xfrm>
              <a:off x="5518274" y="3729950"/>
              <a:ext cx="327600" cy="327600"/>
            </a:xfrm>
            <a:prstGeom prst="pie">
              <a:avLst>
                <a:gd fmla="val 16242475" name="adj1"/>
                <a:gd fmla="val 7855431"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9" name="Google Shape;2359;p99"/>
          <p:cNvGrpSpPr/>
          <p:nvPr/>
        </p:nvGrpSpPr>
        <p:grpSpPr>
          <a:xfrm>
            <a:off x="627431" y="3928527"/>
            <a:ext cx="5501402" cy="2671948"/>
            <a:chOff x="627431" y="3928527"/>
            <a:chExt cx="5501402" cy="2671948"/>
          </a:xfrm>
        </p:grpSpPr>
        <p:sp>
          <p:nvSpPr>
            <p:cNvPr id="2360" name="Google Shape;2360;p99"/>
            <p:cNvSpPr/>
            <p:nvPr/>
          </p:nvSpPr>
          <p:spPr>
            <a:xfrm>
              <a:off x="5475946" y="4740598"/>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99"/>
            <p:cNvSpPr/>
            <p:nvPr/>
          </p:nvSpPr>
          <p:spPr>
            <a:xfrm>
              <a:off x="706965" y="4362136"/>
              <a:ext cx="3288000" cy="18090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DM Sans Medium"/>
                  <a:ea typeface="DM Sans Medium"/>
                  <a:cs typeface="DM Sans Medium"/>
                  <a:sym typeface="DM Sans Medium"/>
                </a:rPr>
                <a:t>customers</a:t>
              </a:r>
              <a:endParaRPr>
                <a:solidFill>
                  <a:schemeClr val="accent1"/>
                </a:solidFill>
                <a:latin typeface="DM Sans Medium"/>
                <a:ea typeface="DM Sans Medium"/>
                <a:cs typeface="DM Sans Medium"/>
                <a:sym typeface="DM Sans Medium"/>
              </a:endParaRPr>
            </a:p>
          </p:txBody>
        </p:sp>
        <p:sp>
          <p:nvSpPr>
            <p:cNvPr id="2362" name="Google Shape;2362;p99"/>
            <p:cNvSpPr/>
            <p:nvPr/>
          </p:nvSpPr>
          <p:spPr>
            <a:xfrm>
              <a:off x="1610413" y="5836860"/>
              <a:ext cx="19446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p4</a:t>
              </a:r>
              <a:endParaRPr sz="1200">
                <a:solidFill>
                  <a:schemeClr val="accent1"/>
                </a:solidFill>
                <a:latin typeface="DM Sans"/>
                <a:ea typeface="DM Sans"/>
                <a:cs typeface="DM Sans"/>
                <a:sym typeface="DM Sans"/>
              </a:endParaRPr>
            </a:p>
          </p:txBody>
        </p:sp>
        <p:sp>
          <p:nvSpPr>
            <p:cNvPr id="2363" name="Google Shape;2363;p99"/>
            <p:cNvSpPr/>
            <p:nvPr/>
          </p:nvSpPr>
          <p:spPr>
            <a:xfrm>
              <a:off x="1842758" y="4771790"/>
              <a:ext cx="17124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p1</a:t>
              </a:r>
              <a:endParaRPr sz="1200">
                <a:solidFill>
                  <a:schemeClr val="accent1"/>
                </a:solidFill>
                <a:latin typeface="DM Sans"/>
                <a:ea typeface="DM Sans"/>
                <a:cs typeface="DM Sans"/>
                <a:sym typeface="DM Sans"/>
              </a:endParaRPr>
            </a:p>
          </p:txBody>
        </p:sp>
        <p:sp>
          <p:nvSpPr>
            <p:cNvPr id="2364" name="Google Shape;2364;p99"/>
            <p:cNvSpPr/>
            <p:nvPr/>
          </p:nvSpPr>
          <p:spPr>
            <a:xfrm>
              <a:off x="1730384" y="5126813"/>
              <a:ext cx="18249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p2</a:t>
              </a:r>
              <a:endParaRPr sz="1200">
                <a:solidFill>
                  <a:schemeClr val="accent1"/>
                </a:solidFill>
                <a:latin typeface="DM Sans"/>
                <a:ea typeface="DM Sans"/>
                <a:cs typeface="DM Sans"/>
                <a:sym typeface="DM Sans"/>
              </a:endParaRPr>
            </a:p>
          </p:txBody>
        </p:sp>
        <p:sp>
          <p:nvSpPr>
            <p:cNvPr id="2365" name="Google Shape;2365;p99"/>
            <p:cNvSpPr/>
            <p:nvPr/>
          </p:nvSpPr>
          <p:spPr>
            <a:xfrm>
              <a:off x="1903646" y="5481837"/>
              <a:ext cx="1651500" cy="2652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p3</a:t>
              </a:r>
              <a:endParaRPr sz="1200">
                <a:solidFill>
                  <a:schemeClr val="accent1"/>
                </a:solidFill>
                <a:latin typeface="DM Sans"/>
                <a:ea typeface="DM Sans"/>
                <a:cs typeface="DM Sans"/>
                <a:sym typeface="DM Sans"/>
              </a:endParaRPr>
            </a:p>
          </p:txBody>
        </p:sp>
        <p:sp>
          <p:nvSpPr>
            <p:cNvPr id="2366" name="Google Shape;2366;p99"/>
            <p:cNvSpPr/>
            <p:nvPr/>
          </p:nvSpPr>
          <p:spPr>
            <a:xfrm>
              <a:off x="4114875" y="4771790"/>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67" name="Google Shape;2367;p99"/>
            <p:cNvCxnSpPr>
              <a:stCxn id="2366" idx="1"/>
            </p:cNvCxnSpPr>
            <p:nvPr/>
          </p:nvCxnSpPr>
          <p:spPr>
            <a:xfrm rot="10800000">
              <a:off x="3647475" y="4904390"/>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68" name="Google Shape;2368;p99"/>
            <p:cNvSpPr/>
            <p:nvPr/>
          </p:nvSpPr>
          <p:spPr>
            <a:xfrm>
              <a:off x="4114875" y="5134066"/>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69" name="Google Shape;2369;p99"/>
            <p:cNvCxnSpPr>
              <a:stCxn id="2368" idx="1"/>
            </p:cNvCxnSpPr>
            <p:nvPr/>
          </p:nvCxnSpPr>
          <p:spPr>
            <a:xfrm rot="10800000">
              <a:off x="3647475" y="5266666"/>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70" name="Google Shape;2370;p99"/>
            <p:cNvSpPr/>
            <p:nvPr/>
          </p:nvSpPr>
          <p:spPr>
            <a:xfrm>
              <a:off x="4114875" y="5481837"/>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71" name="Google Shape;2371;p99"/>
            <p:cNvCxnSpPr>
              <a:stCxn id="2370" idx="1"/>
            </p:cNvCxnSpPr>
            <p:nvPr/>
          </p:nvCxnSpPr>
          <p:spPr>
            <a:xfrm rot="10800000">
              <a:off x="3647475" y="5614437"/>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72" name="Google Shape;2372;p99"/>
            <p:cNvSpPr/>
            <p:nvPr/>
          </p:nvSpPr>
          <p:spPr>
            <a:xfrm>
              <a:off x="4114875" y="5840487"/>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73" name="Google Shape;2373;p99"/>
            <p:cNvCxnSpPr>
              <a:stCxn id="2372" idx="1"/>
            </p:cNvCxnSpPr>
            <p:nvPr/>
          </p:nvCxnSpPr>
          <p:spPr>
            <a:xfrm rot="10800000">
              <a:off x="3647475" y="5973087"/>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74" name="Google Shape;2374;p99"/>
            <p:cNvSpPr/>
            <p:nvPr/>
          </p:nvSpPr>
          <p:spPr>
            <a:xfrm>
              <a:off x="5475946" y="4740598"/>
              <a:ext cx="327600" cy="327600"/>
            </a:xfrm>
            <a:prstGeom prst="pie">
              <a:avLst>
                <a:gd fmla="val 16242475" name="adj1"/>
                <a:gd fmla="val 21086781"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99"/>
            <p:cNvSpPr/>
            <p:nvPr/>
          </p:nvSpPr>
          <p:spPr>
            <a:xfrm>
              <a:off x="5475946" y="5802202"/>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99"/>
            <p:cNvSpPr/>
            <p:nvPr/>
          </p:nvSpPr>
          <p:spPr>
            <a:xfrm>
              <a:off x="5475946" y="5802202"/>
              <a:ext cx="327600" cy="327600"/>
            </a:xfrm>
            <a:prstGeom prst="pie">
              <a:avLst>
                <a:gd fmla="val 16242475" name="adj1"/>
                <a:gd fmla="val 20875560" name="adj2"/>
              </a:avLst>
            </a:prstGeom>
            <a:solidFill>
              <a:srgbClr val="FF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99"/>
            <p:cNvSpPr txBox="1"/>
            <p:nvPr/>
          </p:nvSpPr>
          <p:spPr>
            <a:xfrm>
              <a:off x="4438609" y="6191866"/>
              <a:ext cx="10005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accent1"/>
                  </a:solidFill>
                  <a:latin typeface="DM Sans"/>
                  <a:ea typeface="DM Sans"/>
                  <a:cs typeface="DM Sans"/>
                  <a:sym typeface="DM Sans"/>
                </a:rPr>
                <a:t>overall</a:t>
              </a:r>
              <a:endParaRPr i="1">
                <a:solidFill>
                  <a:schemeClr val="accent1"/>
                </a:solidFill>
                <a:latin typeface="DM Sans"/>
                <a:ea typeface="DM Sans"/>
                <a:cs typeface="DM Sans"/>
                <a:sym typeface="DM Sans"/>
              </a:endParaRPr>
            </a:p>
          </p:txBody>
        </p:sp>
        <p:sp>
          <p:nvSpPr>
            <p:cNvPr id="2378" name="Google Shape;2378;p99"/>
            <p:cNvSpPr txBox="1"/>
            <p:nvPr/>
          </p:nvSpPr>
          <p:spPr>
            <a:xfrm>
              <a:off x="627431" y="3928527"/>
              <a:ext cx="26565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latin typeface="DM Sans Medium"/>
                  <a:ea typeface="DM Sans Medium"/>
                  <a:cs typeface="DM Sans Medium"/>
                  <a:sym typeface="DM Sans Medium"/>
                </a:rPr>
                <a:t>Corrupt data</a:t>
              </a:r>
              <a:endParaRPr sz="1800">
                <a:solidFill>
                  <a:srgbClr val="FF0000"/>
                </a:solidFill>
                <a:latin typeface="DM Sans Medium"/>
                <a:ea typeface="DM Sans Medium"/>
                <a:cs typeface="DM Sans Medium"/>
                <a:sym typeface="DM Sans Medium"/>
              </a:endParaRPr>
            </a:p>
          </p:txBody>
        </p:sp>
        <p:sp>
          <p:nvSpPr>
            <p:cNvPr id="2379" name="Google Shape;2379;p99"/>
            <p:cNvSpPr txBox="1"/>
            <p:nvPr/>
          </p:nvSpPr>
          <p:spPr>
            <a:xfrm>
              <a:off x="5128333" y="4320851"/>
              <a:ext cx="1000500" cy="4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chemeClr val="accent1"/>
                  </a:solidFill>
                  <a:latin typeface="DM Sans"/>
                  <a:ea typeface="DM Sans"/>
                  <a:cs typeface="DM Sans"/>
                  <a:sym typeface="DM Sans"/>
                </a:rPr>
                <a:t>duration</a:t>
              </a:r>
              <a:endParaRPr i="1">
                <a:solidFill>
                  <a:schemeClr val="accent1"/>
                </a:solidFill>
                <a:latin typeface="DM Sans"/>
                <a:ea typeface="DM Sans"/>
                <a:cs typeface="DM Sans"/>
                <a:sym typeface="DM Sans"/>
              </a:endParaRPr>
            </a:p>
          </p:txBody>
        </p:sp>
        <p:sp>
          <p:nvSpPr>
            <p:cNvPr id="2380" name="Google Shape;2380;p99"/>
            <p:cNvSpPr/>
            <p:nvPr/>
          </p:nvSpPr>
          <p:spPr>
            <a:xfrm>
              <a:off x="2098225" y="5158650"/>
              <a:ext cx="137754" cy="201528"/>
            </a:xfrm>
            <a:prstGeom prst="lightningBolt">
              <a:avLst/>
            </a:prstGeom>
            <a:solidFill>
              <a:srgbClr val="FFAB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99"/>
            <p:cNvSpPr txBox="1"/>
            <p:nvPr/>
          </p:nvSpPr>
          <p:spPr>
            <a:xfrm>
              <a:off x="2245826" y="5074775"/>
              <a:ext cx="13095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FF0000"/>
                  </a:solidFill>
                  <a:latin typeface="DM Sans"/>
                  <a:ea typeface="DM Sans"/>
                  <a:cs typeface="DM Sans"/>
                  <a:sym typeface="DM Sans"/>
                </a:rPr>
                <a:t>schema broken</a:t>
              </a:r>
              <a:endParaRPr i="1">
                <a:solidFill>
                  <a:srgbClr val="FF0000"/>
                </a:solidFill>
                <a:latin typeface="DM Sans"/>
                <a:ea typeface="DM Sans"/>
                <a:cs typeface="DM Sans"/>
                <a:sym typeface="DM Sans"/>
              </a:endParaRPr>
            </a:p>
          </p:txBody>
        </p:sp>
        <p:sp>
          <p:nvSpPr>
            <p:cNvPr id="2382" name="Google Shape;2382;p99"/>
            <p:cNvSpPr/>
            <p:nvPr/>
          </p:nvSpPr>
          <p:spPr>
            <a:xfrm>
              <a:off x="2914975" y="5441625"/>
              <a:ext cx="732600" cy="327600"/>
            </a:xfrm>
            <a:prstGeom prst="parallelogram">
              <a:avLst>
                <a:gd fmla="val 25000" name="adj"/>
              </a:avLst>
            </a:prstGeom>
            <a:solidFill>
              <a:srgbClr val="FFFFF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99"/>
            <p:cNvSpPr/>
            <p:nvPr/>
          </p:nvSpPr>
          <p:spPr>
            <a:xfrm>
              <a:off x="2250625" y="5510129"/>
              <a:ext cx="137754" cy="201528"/>
            </a:xfrm>
            <a:prstGeom prst="lightningBolt">
              <a:avLst/>
            </a:prstGeom>
            <a:solidFill>
              <a:srgbClr val="FFAB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99"/>
            <p:cNvSpPr txBox="1"/>
            <p:nvPr/>
          </p:nvSpPr>
          <p:spPr>
            <a:xfrm>
              <a:off x="2398215" y="5426260"/>
              <a:ext cx="12294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FF0000"/>
                  </a:solidFill>
                  <a:latin typeface="DM Sans"/>
                  <a:ea typeface="DM Sans"/>
                  <a:cs typeface="DM Sans"/>
                  <a:sym typeface="DM Sans"/>
                </a:rPr>
                <a:t>file corrupt</a:t>
              </a:r>
              <a:endParaRPr i="1">
                <a:solidFill>
                  <a:srgbClr val="FF0000"/>
                </a:solidFill>
                <a:latin typeface="DM Sans"/>
                <a:ea typeface="DM Sans"/>
                <a:cs typeface="DM Sans"/>
                <a:sym typeface="DM Sans"/>
              </a:endParaRPr>
            </a:p>
          </p:txBody>
        </p:sp>
        <p:sp>
          <p:nvSpPr>
            <p:cNvPr id="2385" name="Google Shape;2385;p99"/>
            <p:cNvSpPr txBox="1"/>
            <p:nvPr/>
          </p:nvSpPr>
          <p:spPr>
            <a:xfrm>
              <a:off x="5360323" y="6191875"/>
              <a:ext cx="585300" cy="4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FF0000"/>
                  </a:solidFill>
                  <a:latin typeface="DM Sans"/>
                  <a:ea typeface="DM Sans"/>
                  <a:cs typeface="DM Sans"/>
                  <a:sym typeface="DM Sans"/>
                </a:rPr>
                <a:t>FAIL</a:t>
              </a:r>
              <a:endParaRPr b="1" i="1">
                <a:solidFill>
                  <a:srgbClr val="FF0000"/>
                </a:solidFill>
                <a:latin typeface="DM Sans"/>
                <a:ea typeface="DM Sans"/>
                <a:cs typeface="DM Sans"/>
                <a:sym typeface="DM Sans"/>
              </a:endParaRPr>
            </a:p>
          </p:txBody>
        </p:sp>
        <p:sp>
          <p:nvSpPr>
            <p:cNvPr id="2386" name="Google Shape;2386;p99"/>
            <p:cNvSpPr txBox="1"/>
            <p:nvPr/>
          </p:nvSpPr>
          <p:spPr>
            <a:xfrm>
              <a:off x="5360323" y="5030900"/>
              <a:ext cx="585300" cy="4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FF0000"/>
                  </a:solidFill>
                  <a:latin typeface="DM Sans"/>
                  <a:ea typeface="DM Sans"/>
                  <a:cs typeface="DM Sans"/>
                  <a:sym typeface="DM Sans"/>
                </a:rPr>
                <a:t>FAIL</a:t>
              </a:r>
              <a:endParaRPr b="1" i="1">
                <a:solidFill>
                  <a:srgbClr val="FF0000"/>
                </a:solidFill>
                <a:latin typeface="DM Sans"/>
                <a:ea typeface="DM Sans"/>
                <a:cs typeface="DM Sans"/>
                <a:sym typeface="DM Sans"/>
              </a:endParaRPr>
            </a:p>
          </p:txBody>
        </p:sp>
        <p:sp>
          <p:nvSpPr>
            <p:cNvPr id="2387" name="Google Shape;2387;p99"/>
            <p:cNvSpPr txBox="1"/>
            <p:nvPr/>
          </p:nvSpPr>
          <p:spPr>
            <a:xfrm>
              <a:off x="5360323" y="5408400"/>
              <a:ext cx="585300" cy="4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FF0000"/>
                  </a:solidFill>
                  <a:latin typeface="DM Sans"/>
                  <a:ea typeface="DM Sans"/>
                  <a:cs typeface="DM Sans"/>
                  <a:sym typeface="DM Sans"/>
                </a:rPr>
                <a:t>FAIL</a:t>
              </a:r>
              <a:endParaRPr b="1" i="1">
                <a:solidFill>
                  <a:srgbClr val="FF0000"/>
                </a:solidFill>
                <a:latin typeface="DM Sans"/>
                <a:ea typeface="DM Sans"/>
                <a:cs typeface="DM Sans"/>
                <a:sym typeface="DM Sans"/>
              </a:endParaRPr>
            </a:p>
          </p:txBody>
        </p:sp>
      </p:grpSp>
      <p:grpSp>
        <p:nvGrpSpPr>
          <p:cNvPr id="2388" name="Google Shape;2388;p99"/>
          <p:cNvGrpSpPr/>
          <p:nvPr/>
        </p:nvGrpSpPr>
        <p:grpSpPr>
          <a:xfrm>
            <a:off x="6565575" y="2528875"/>
            <a:ext cx="5501394" cy="2945741"/>
            <a:chOff x="6565575" y="2528875"/>
            <a:chExt cx="5501394" cy="2945741"/>
          </a:xfrm>
        </p:grpSpPr>
        <p:sp>
          <p:nvSpPr>
            <p:cNvPr id="2389" name="Google Shape;2389;p99"/>
            <p:cNvSpPr/>
            <p:nvPr/>
          </p:nvSpPr>
          <p:spPr>
            <a:xfrm>
              <a:off x="11414082" y="3614748"/>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99"/>
            <p:cNvSpPr/>
            <p:nvPr/>
          </p:nvSpPr>
          <p:spPr>
            <a:xfrm>
              <a:off x="6645101" y="3236286"/>
              <a:ext cx="3288000" cy="18090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DM Sans Medium"/>
                  <a:ea typeface="DM Sans Medium"/>
                  <a:cs typeface="DM Sans Medium"/>
                  <a:sym typeface="DM Sans Medium"/>
                </a:rPr>
                <a:t>customers</a:t>
              </a:r>
              <a:endParaRPr>
                <a:solidFill>
                  <a:schemeClr val="accent1"/>
                </a:solidFill>
                <a:latin typeface="DM Sans Medium"/>
                <a:ea typeface="DM Sans Medium"/>
                <a:cs typeface="DM Sans Medium"/>
                <a:sym typeface="DM Sans Medium"/>
              </a:endParaRPr>
            </a:p>
          </p:txBody>
        </p:sp>
        <p:sp>
          <p:nvSpPr>
            <p:cNvPr id="2391" name="Google Shape;2391;p99"/>
            <p:cNvSpPr/>
            <p:nvPr/>
          </p:nvSpPr>
          <p:spPr>
            <a:xfrm>
              <a:off x="7548549" y="4711010"/>
              <a:ext cx="1944600" cy="265200"/>
            </a:xfrm>
            <a:prstGeom prst="rect">
              <a:avLst/>
            </a:prstGeom>
            <a:solidFill>
              <a:srgbClr val="FFFFFF"/>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p4</a:t>
              </a:r>
              <a:endParaRPr sz="1200">
                <a:solidFill>
                  <a:schemeClr val="accent1"/>
                </a:solidFill>
                <a:latin typeface="DM Sans"/>
                <a:ea typeface="DM Sans"/>
                <a:cs typeface="DM Sans"/>
                <a:sym typeface="DM Sans"/>
              </a:endParaRPr>
            </a:p>
          </p:txBody>
        </p:sp>
        <p:sp>
          <p:nvSpPr>
            <p:cNvPr id="2392" name="Google Shape;2392;p99"/>
            <p:cNvSpPr/>
            <p:nvPr/>
          </p:nvSpPr>
          <p:spPr>
            <a:xfrm>
              <a:off x="7780894" y="3645940"/>
              <a:ext cx="1712400" cy="265200"/>
            </a:xfrm>
            <a:prstGeom prst="rect">
              <a:avLst/>
            </a:prstGeom>
            <a:solidFill>
              <a:srgbClr val="FFFFFF"/>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p1</a:t>
              </a:r>
              <a:endParaRPr sz="1200">
                <a:solidFill>
                  <a:schemeClr val="accent1"/>
                </a:solidFill>
                <a:latin typeface="DM Sans"/>
                <a:ea typeface="DM Sans"/>
                <a:cs typeface="DM Sans"/>
                <a:sym typeface="DM Sans"/>
              </a:endParaRPr>
            </a:p>
          </p:txBody>
        </p:sp>
        <p:sp>
          <p:nvSpPr>
            <p:cNvPr id="2393" name="Google Shape;2393;p99"/>
            <p:cNvSpPr/>
            <p:nvPr/>
          </p:nvSpPr>
          <p:spPr>
            <a:xfrm>
              <a:off x="7668520" y="4000963"/>
              <a:ext cx="1824900" cy="265200"/>
            </a:xfrm>
            <a:prstGeom prst="rect">
              <a:avLst/>
            </a:prstGeom>
            <a:solidFill>
              <a:srgbClr val="FFFFFF"/>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p2</a:t>
              </a:r>
              <a:endParaRPr sz="1200">
                <a:solidFill>
                  <a:schemeClr val="accent1"/>
                </a:solidFill>
                <a:latin typeface="DM Sans"/>
                <a:ea typeface="DM Sans"/>
                <a:cs typeface="DM Sans"/>
                <a:sym typeface="DM Sans"/>
              </a:endParaRPr>
            </a:p>
          </p:txBody>
        </p:sp>
        <p:sp>
          <p:nvSpPr>
            <p:cNvPr id="2394" name="Google Shape;2394;p99"/>
            <p:cNvSpPr/>
            <p:nvPr/>
          </p:nvSpPr>
          <p:spPr>
            <a:xfrm>
              <a:off x="7841782" y="4355987"/>
              <a:ext cx="1651500" cy="265200"/>
            </a:xfrm>
            <a:prstGeom prst="rect">
              <a:avLst/>
            </a:prstGeom>
            <a:solidFill>
              <a:srgbClr val="FFFFFF"/>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p3</a:t>
              </a:r>
              <a:endParaRPr sz="1200">
                <a:solidFill>
                  <a:schemeClr val="accent1"/>
                </a:solidFill>
                <a:latin typeface="DM Sans"/>
                <a:ea typeface="DM Sans"/>
                <a:cs typeface="DM Sans"/>
                <a:sym typeface="DM Sans"/>
              </a:endParaRPr>
            </a:p>
          </p:txBody>
        </p:sp>
        <p:sp>
          <p:nvSpPr>
            <p:cNvPr id="2395" name="Google Shape;2395;p99"/>
            <p:cNvSpPr/>
            <p:nvPr/>
          </p:nvSpPr>
          <p:spPr>
            <a:xfrm>
              <a:off x="10053011" y="3645940"/>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96" name="Google Shape;2396;p99"/>
            <p:cNvCxnSpPr>
              <a:stCxn id="2395" idx="1"/>
            </p:cNvCxnSpPr>
            <p:nvPr/>
          </p:nvCxnSpPr>
          <p:spPr>
            <a:xfrm rot="10800000">
              <a:off x="9585611" y="3778540"/>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97" name="Google Shape;2397;p99"/>
            <p:cNvSpPr/>
            <p:nvPr/>
          </p:nvSpPr>
          <p:spPr>
            <a:xfrm>
              <a:off x="10053011" y="4008216"/>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398" name="Google Shape;2398;p99"/>
            <p:cNvCxnSpPr>
              <a:stCxn id="2397" idx="1"/>
            </p:cNvCxnSpPr>
            <p:nvPr/>
          </p:nvCxnSpPr>
          <p:spPr>
            <a:xfrm rot="10800000">
              <a:off x="9585611" y="4140816"/>
              <a:ext cx="467400" cy="0"/>
            </a:xfrm>
            <a:prstGeom prst="straightConnector1">
              <a:avLst/>
            </a:prstGeom>
            <a:noFill/>
            <a:ln cap="flat" cmpd="sng" w="9525">
              <a:solidFill>
                <a:srgbClr val="44546A"/>
              </a:solidFill>
              <a:prstDash val="solid"/>
              <a:round/>
              <a:headEnd len="med" w="med" type="none"/>
              <a:tailEnd len="med" w="med" type="triangle"/>
            </a:ln>
          </p:spPr>
        </p:cxnSp>
        <p:sp>
          <p:nvSpPr>
            <p:cNvPr id="2399" name="Google Shape;2399;p99"/>
            <p:cNvSpPr/>
            <p:nvPr/>
          </p:nvSpPr>
          <p:spPr>
            <a:xfrm>
              <a:off x="10053011" y="4355987"/>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400" name="Google Shape;2400;p99"/>
            <p:cNvCxnSpPr>
              <a:stCxn id="2399" idx="1"/>
            </p:cNvCxnSpPr>
            <p:nvPr/>
          </p:nvCxnSpPr>
          <p:spPr>
            <a:xfrm rot="10800000">
              <a:off x="9585611" y="4488587"/>
              <a:ext cx="467400" cy="0"/>
            </a:xfrm>
            <a:prstGeom prst="straightConnector1">
              <a:avLst/>
            </a:prstGeom>
            <a:noFill/>
            <a:ln cap="flat" cmpd="sng" w="9525">
              <a:solidFill>
                <a:srgbClr val="44546A"/>
              </a:solidFill>
              <a:prstDash val="solid"/>
              <a:round/>
              <a:headEnd len="med" w="med" type="none"/>
              <a:tailEnd len="med" w="med" type="triangle"/>
            </a:ln>
          </p:spPr>
        </p:cxnSp>
        <p:sp>
          <p:nvSpPr>
            <p:cNvPr id="2401" name="Google Shape;2401;p99"/>
            <p:cNvSpPr/>
            <p:nvPr/>
          </p:nvSpPr>
          <p:spPr>
            <a:xfrm>
              <a:off x="10053011" y="4714637"/>
              <a:ext cx="1122000" cy="2652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task</a:t>
              </a:r>
              <a:endParaRPr>
                <a:solidFill>
                  <a:schemeClr val="accent1"/>
                </a:solidFill>
                <a:latin typeface="DM Sans"/>
                <a:ea typeface="DM Sans"/>
                <a:cs typeface="DM Sans"/>
                <a:sym typeface="DM Sans"/>
              </a:endParaRPr>
            </a:p>
          </p:txBody>
        </p:sp>
        <p:cxnSp>
          <p:nvCxnSpPr>
            <p:cNvPr id="2402" name="Google Shape;2402;p99"/>
            <p:cNvCxnSpPr>
              <a:stCxn id="2401" idx="1"/>
            </p:cNvCxnSpPr>
            <p:nvPr/>
          </p:nvCxnSpPr>
          <p:spPr>
            <a:xfrm rot="10800000">
              <a:off x="9585611" y="4847237"/>
              <a:ext cx="467400" cy="0"/>
            </a:xfrm>
            <a:prstGeom prst="straightConnector1">
              <a:avLst/>
            </a:prstGeom>
            <a:noFill/>
            <a:ln cap="flat" cmpd="sng" w="9525">
              <a:solidFill>
                <a:srgbClr val="44546A"/>
              </a:solidFill>
              <a:prstDash val="solid"/>
              <a:round/>
              <a:headEnd len="med" w="med" type="none"/>
              <a:tailEnd len="med" w="med" type="triangle"/>
            </a:ln>
          </p:spPr>
        </p:cxnSp>
        <p:sp>
          <p:nvSpPr>
            <p:cNvPr id="2403" name="Google Shape;2403;p99"/>
            <p:cNvSpPr/>
            <p:nvPr/>
          </p:nvSpPr>
          <p:spPr>
            <a:xfrm>
              <a:off x="11414082" y="3614748"/>
              <a:ext cx="327600" cy="327600"/>
            </a:xfrm>
            <a:prstGeom prst="pie">
              <a:avLst>
                <a:gd fmla="val 16242475" name="adj1"/>
                <a:gd fmla="val 21204956" name="adj2"/>
              </a:avLst>
            </a:prstGeom>
            <a:solidFill>
              <a:schemeClr val="accen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99"/>
            <p:cNvSpPr/>
            <p:nvPr/>
          </p:nvSpPr>
          <p:spPr>
            <a:xfrm>
              <a:off x="11414082" y="3977024"/>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99"/>
            <p:cNvSpPr/>
            <p:nvPr/>
          </p:nvSpPr>
          <p:spPr>
            <a:xfrm>
              <a:off x="11414082" y="3977024"/>
              <a:ext cx="327600" cy="327600"/>
            </a:xfrm>
            <a:prstGeom prst="pie">
              <a:avLst>
                <a:gd fmla="val 16242475" name="adj1"/>
                <a:gd fmla="val 20794618" name="adj2"/>
              </a:avLst>
            </a:prstGeom>
            <a:solidFill>
              <a:schemeClr val="accen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99"/>
            <p:cNvSpPr/>
            <p:nvPr/>
          </p:nvSpPr>
          <p:spPr>
            <a:xfrm>
              <a:off x="11414082" y="4324795"/>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99"/>
            <p:cNvSpPr/>
            <p:nvPr/>
          </p:nvSpPr>
          <p:spPr>
            <a:xfrm>
              <a:off x="11414082" y="4324795"/>
              <a:ext cx="327600" cy="327600"/>
            </a:xfrm>
            <a:prstGeom prst="pie">
              <a:avLst>
                <a:gd fmla="val 16242475" name="adj1"/>
                <a:gd fmla="val 20938851" name="adj2"/>
              </a:avLst>
            </a:prstGeom>
            <a:solidFill>
              <a:schemeClr val="accen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99"/>
            <p:cNvSpPr/>
            <p:nvPr/>
          </p:nvSpPr>
          <p:spPr>
            <a:xfrm>
              <a:off x="11414082" y="4683460"/>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99"/>
            <p:cNvSpPr/>
            <p:nvPr/>
          </p:nvSpPr>
          <p:spPr>
            <a:xfrm>
              <a:off x="11414082" y="4683460"/>
              <a:ext cx="327600" cy="327600"/>
            </a:xfrm>
            <a:prstGeom prst="pie">
              <a:avLst>
                <a:gd fmla="val 16242475" name="adj1"/>
                <a:gd fmla="val 44174" name="adj2"/>
              </a:avLst>
            </a:prstGeom>
            <a:solidFill>
              <a:schemeClr val="accen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99"/>
            <p:cNvSpPr/>
            <p:nvPr/>
          </p:nvSpPr>
          <p:spPr>
            <a:xfrm>
              <a:off x="11414082" y="5089076"/>
              <a:ext cx="327600" cy="327600"/>
            </a:xfrm>
            <a:prstGeom prst="ellipse">
              <a:avLst/>
            </a:prstGeom>
            <a:no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99"/>
            <p:cNvSpPr/>
            <p:nvPr/>
          </p:nvSpPr>
          <p:spPr>
            <a:xfrm>
              <a:off x="11414082" y="5089076"/>
              <a:ext cx="327600" cy="327600"/>
            </a:xfrm>
            <a:prstGeom prst="pie">
              <a:avLst>
                <a:gd fmla="val 16242475" name="adj1"/>
                <a:gd fmla="val 21544484" name="adj2"/>
              </a:avLst>
            </a:prstGeom>
            <a:solidFill>
              <a:schemeClr val="accen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99"/>
            <p:cNvSpPr txBox="1"/>
            <p:nvPr/>
          </p:nvSpPr>
          <p:spPr>
            <a:xfrm>
              <a:off x="10376745" y="5066016"/>
              <a:ext cx="10005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accent1"/>
                  </a:solidFill>
                  <a:latin typeface="DM Sans"/>
                  <a:ea typeface="DM Sans"/>
                  <a:cs typeface="DM Sans"/>
                  <a:sym typeface="DM Sans"/>
                </a:rPr>
                <a:t>overall</a:t>
              </a:r>
              <a:endParaRPr i="1">
                <a:solidFill>
                  <a:schemeClr val="accent1"/>
                </a:solidFill>
                <a:latin typeface="DM Sans"/>
                <a:ea typeface="DM Sans"/>
                <a:cs typeface="DM Sans"/>
                <a:sym typeface="DM Sans"/>
              </a:endParaRPr>
            </a:p>
          </p:txBody>
        </p:sp>
        <p:sp>
          <p:nvSpPr>
            <p:cNvPr id="2413" name="Google Shape;2413;p99"/>
            <p:cNvSpPr txBox="1"/>
            <p:nvPr/>
          </p:nvSpPr>
          <p:spPr>
            <a:xfrm>
              <a:off x="6565575" y="2528875"/>
              <a:ext cx="34875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B379"/>
                  </a:solidFill>
                  <a:latin typeface="DM Sans Medium"/>
                  <a:ea typeface="DM Sans Medium"/>
                  <a:cs typeface="DM Sans Medium"/>
                  <a:sym typeface="DM Sans Medium"/>
                </a:rPr>
                <a:t>Goal: </a:t>
              </a:r>
              <a:endParaRPr sz="1800">
                <a:solidFill>
                  <a:srgbClr val="00B379"/>
                </a:solidFill>
                <a:latin typeface="DM Sans Medium"/>
                <a:ea typeface="DM Sans Medium"/>
                <a:cs typeface="DM Sans Medium"/>
                <a:sym typeface="DM Sans Medium"/>
              </a:endParaRPr>
            </a:p>
            <a:p>
              <a:pPr indent="0" lvl="0" marL="0" rtl="0" algn="l">
                <a:spcBef>
                  <a:spcPts val="0"/>
                </a:spcBef>
                <a:spcAft>
                  <a:spcPts val="0"/>
                </a:spcAft>
                <a:buNone/>
              </a:pPr>
              <a:r>
                <a:rPr lang="en" sz="1600">
                  <a:solidFill>
                    <a:srgbClr val="00B379"/>
                  </a:solidFill>
                  <a:latin typeface="DM Sans"/>
                  <a:ea typeface="DM Sans"/>
                  <a:cs typeface="DM Sans"/>
                  <a:sym typeface="DM Sans"/>
                </a:rPr>
                <a:t>Reliable data and optimal file sizes</a:t>
              </a:r>
              <a:endParaRPr sz="1600">
                <a:solidFill>
                  <a:srgbClr val="00B379"/>
                </a:solidFill>
                <a:latin typeface="DM Sans"/>
                <a:ea typeface="DM Sans"/>
                <a:cs typeface="DM Sans"/>
                <a:sym typeface="DM Sans"/>
              </a:endParaRPr>
            </a:p>
          </p:txBody>
        </p:sp>
        <p:sp>
          <p:nvSpPr>
            <p:cNvPr id="2414" name="Google Shape;2414;p99"/>
            <p:cNvSpPr txBox="1"/>
            <p:nvPr/>
          </p:nvSpPr>
          <p:spPr>
            <a:xfrm>
              <a:off x="11066469" y="3195001"/>
              <a:ext cx="1000500" cy="4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chemeClr val="accent1"/>
                  </a:solidFill>
                  <a:latin typeface="DM Sans"/>
                  <a:ea typeface="DM Sans"/>
                  <a:cs typeface="DM Sans"/>
                  <a:sym typeface="DM Sans"/>
                </a:rPr>
                <a:t>duration</a:t>
              </a:r>
              <a:endParaRPr i="1">
                <a:solidFill>
                  <a:schemeClr val="accent1"/>
                </a:solidFill>
                <a:latin typeface="DM Sans"/>
                <a:ea typeface="DM Sans"/>
                <a:cs typeface="DM Sans"/>
                <a:sym typeface="DM Sans"/>
              </a:endParaRPr>
            </a:p>
          </p:txBody>
        </p:sp>
        <p:sp>
          <p:nvSpPr>
            <p:cNvPr id="2415" name="Google Shape;2415;p99"/>
            <p:cNvSpPr/>
            <p:nvPr/>
          </p:nvSpPr>
          <p:spPr>
            <a:xfrm rot="493">
              <a:off x="8524477" y="3705656"/>
              <a:ext cx="126248" cy="139537"/>
            </a:xfrm>
            <a:custGeom>
              <a:rect b="b" l="l" r="r" t="t"/>
              <a:pathLst>
                <a:path extrusionOk="0" h="8001" w="7239">
                  <a:moveTo>
                    <a:pt x="0" y="4381"/>
                  </a:moveTo>
                  <a:lnTo>
                    <a:pt x="2667" y="8001"/>
                  </a:lnTo>
                  <a:lnTo>
                    <a:pt x="7239" y="0"/>
                  </a:lnTo>
                </a:path>
              </a:pathLst>
            </a:custGeom>
            <a:noFill/>
            <a:ln cap="flat" cmpd="sng" w="38100">
              <a:solidFill>
                <a:schemeClr val="accent2"/>
              </a:solidFill>
              <a:prstDash val="solid"/>
              <a:round/>
              <a:headEnd len="med" w="med" type="none"/>
              <a:tailEnd len="med" w="med" type="none"/>
            </a:ln>
          </p:spPr>
        </p:sp>
        <p:sp>
          <p:nvSpPr>
            <p:cNvPr id="2416" name="Google Shape;2416;p99"/>
            <p:cNvSpPr/>
            <p:nvPr/>
          </p:nvSpPr>
          <p:spPr>
            <a:xfrm rot="493">
              <a:off x="8524477" y="4055842"/>
              <a:ext cx="126248" cy="139537"/>
            </a:xfrm>
            <a:custGeom>
              <a:rect b="b" l="l" r="r" t="t"/>
              <a:pathLst>
                <a:path extrusionOk="0" h="8001" w="7239">
                  <a:moveTo>
                    <a:pt x="0" y="4381"/>
                  </a:moveTo>
                  <a:lnTo>
                    <a:pt x="2667" y="8001"/>
                  </a:lnTo>
                  <a:lnTo>
                    <a:pt x="7239" y="0"/>
                  </a:lnTo>
                </a:path>
              </a:pathLst>
            </a:custGeom>
            <a:noFill/>
            <a:ln cap="flat" cmpd="sng" w="38100">
              <a:solidFill>
                <a:schemeClr val="accent2"/>
              </a:solidFill>
              <a:prstDash val="solid"/>
              <a:round/>
              <a:headEnd len="med" w="med" type="none"/>
              <a:tailEnd len="med" w="med" type="none"/>
            </a:ln>
          </p:spPr>
        </p:sp>
        <p:sp>
          <p:nvSpPr>
            <p:cNvPr id="2417" name="Google Shape;2417;p99"/>
            <p:cNvSpPr/>
            <p:nvPr/>
          </p:nvSpPr>
          <p:spPr>
            <a:xfrm rot="493">
              <a:off x="8524477" y="4416299"/>
              <a:ext cx="126248" cy="139537"/>
            </a:xfrm>
            <a:custGeom>
              <a:rect b="b" l="l" r="r" t="t"/>
              <a:pathLst>
                <a:path extrusionOk="0" h="8001" w="7239">
                  <a:moveTo>
                    <a:pt x="0" y="4381"/>
                  </a:moveTo>
                  <a:lnTo>
                    <a:pt x="2667" y="8001"/>
                  </a:lnTo>
                  <a:lnTo>
                    <a:pt x="7239" y="0"/>
                  </a:lnTo>
                </a:path>
              </a:pathLst>
            </a:custGeom>
            <a:noFill/>
            <a:ln cap="flat" cmpd="sng" w="38100">
              <a:solidFill>
                <a:schemeClr val="accent2"/>
              </a:solidFill>
              <a:prstDash val="solid"/>
              <a:round/>
              <a:headEnd len="med" w="med" type="none"/>
              <a:tailEnd len="med" w="med" type="none"/>
            </a:ln>
          </p:spPr>
        </p:sp>
        <p:sp>
          <p:nvSpPr>
            <p:cNvPr id="2418" name="Google Shape;2418;p99"/>
            <p:cNvSpPr/>
            <p:nvPr/>
          </p:nvSpPr>
          <p:spPr>
            <a:xfrm rot="493">
              <a:off x="8524477" y="4766485"/>
              <a:ext cx="126248" cy="139537"/>
            </a:xfrm>
            <a:custGeom>
              <a:rect b="b" l="l" r="r" t="t"/>
              <a:pathLst>
                <a:path extrusionOk="0" h="8001" w="7239">
                  <a:moveTo>
                    <a:pt x="0" y="4381"/>
                  </a:moveTo>
                  <a:lnTo>
                    <a:pt x="2667" y="8001"/>
                  </a:lnTo>
                  <a:lnTo>
                    <a:pt x="7239" y="0"/>
                  </a:lnTo>
                </a:path>
              </a:pathLst>
            </a:custGeom>
            <a:noFill/>
            <a:ln cap="flat" cmpd="sng" w="38100">
              <a:solidFill>
                <a:schemeClr val="accent2"/>
              </a:solidFill>
              <a:prstDash val="solid"/>
              <a:round/>
              <a:headEnd len="med" w="med" type="none"/>
              <a:tailEnd len="med" w="med" type="none"/>
            </a:ln>
          </p:spPr>
        </p:sp>
      </p:grpSp>
      <p:sp>
        <p:nvSpPr>
          <p:cNvPr id="2419" name="Google Shape;2419;p9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420" name="Google Shape;2420;p99"/>
          <p:cNvSpPr txBox="1"/>
          <p:nvPr>
            <p:ph idx="1" type="subTitle"/>
          </p:nvPr>
        </p:nvSpPr>
        <p:spPr>
          <a:xfrm>
            <a:off x="764809" y="9461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What can go wrong with Parquet?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6"/>
                                        </p:tgtEl>
                                        <p:attrNameLst>
                                          <p:attrName>style.visibility</p:attrName>
                                        </p:attrNameLst>
                                      </p:cBhvr>
                                      <p:to>
                                        <p:strVal val="visible"/>
                                      </p:to>
                                    </p:set>
                                    <p:animEffect filter="fade" transition="in">
                                      <p:cBhvr>
                                        <p:cTn dur="1000"/>
                                        <p:tgtEl>
                                          <p:spTgt spid="2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9"/>
                                        </p:tgtEl>
                                        <p:attrNameLst>
                                          <p:attrName>style.visibility</p:attrName>
                                        </p:attrNameLst>
                                      </p:cBhvr>
                                      <p:to>
                                        <p:strVal val="visible"/>
                                      </p:to>
                                    </p:set>
                                    <p:animEffect filter="fade" transition="in">
                                      <p:cBhvr>
                                        <p:cTn dur="1000"/>
                                        <p:tgtEl>
                                          <p:spTgt spid="2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8"/>
                                        </p:tgtEl>
                                        <p:attrNameLst>
                                          <p:attrName>style.visibility</p:attrName>
                                        </p:attrNameLst>
                                      </p:cBhvr>
                                      <p:to>
                                        <p:strVal val="visible"/>
                                      </p:to>
                                    </p:set>
                                    <p:animEffect filter="fade" transition="in">
                                      <p:cBhvr>
                                        <p:cTn dur="1000"/>
                                        <p:tgtEl>
                                          <p:spTgt spid="2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4" name="Shape 2424"/>
        <p:cNvGrpSpPr/>
        <p:nvPr/>
      </p:nvGrpSpPr>
      <p:grpSpPr>
        <a:xfrm>
          <a:off x="0" y="0"/>
          <a:ext cx="0" cy="0"/>
          <a:chOff x="0" y="0"/>
          <a:chExt cx="0" cy="0"/>
        </a:xfrm>
      </p:grpSpPr>
      <p:sp>
        <p:nvSpPr>
          <p:cNvPr id="2425" name="Google Shape;2425;p10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Delta: Reliability and performance features </a:t>
            </a:r>
            <a:endParaRPr sz="3600"/>
          </a:p>
        </p:txBody>
      </p:sp>
      <p:grpSp>
        <p:nvGrpSpPr>
          <p:cNvPr id="2426" name="Google Shape;2426;p100"/>
          <p:cNvGrpSpPr/>
          <p:nvPr/>
        </p:nvGrpSpPr>
        <p:grpSpPr>
          <a:xfrm>
            <a:off x="772100" y="4098279"/>
            <a:ext cx="5204075" cy="2160846"/>
            <a:chOff x="619700" y="4098279"/>
            <a:chExt cx="5204075" cy="2160846"/>
          </a:xfrm>
        </p:grpSpPr>
        <p:sp>
          <p:nvSpPr>
            <p:cNvPr id="2427" name="Google Shape;2427;p100"/>
            <p:cNvSpPr/>
            <p:nvPr/>
          </p:nvSpPr>
          <p:spPr>
            <a:xfrm>
              <a:off x="619700" y="4157000"/>
              <a:ext cx="5150400" cy="20940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8" name="Google Shape;2428;p100"/>
            <p:cNvGrpSpPr/>
            <p:nvPr/>
          </p:nvGrpSpPr>
          <p:grpSpPr>
            <a:xfrm>
              <a:off x="2059903" y="5042401"/>
              <a:ext cx="1495347" cy="974253"/>
              <a:chOff x="2784450" y="4349050"/>
              <a:chExt cx="1256700" cy="818700"/>
            </a:xfrm>
          </p:grpSpPr>
          <p:sp>
            <p:nvSpPr>
              <p:cNvPr id="2429" name="Google Shape;2429;p100"/>
              <p:cNvSpPr/>
              <p:nvPr/>
            </p:nvSpPr>
            <p:spPr>
              <a:xfrm>
                <a:off x="2784450" y="4349050"/>
                <a:ext cx="1256700" cy="818700"/>
              </a:xfrm>
              <a:prstGeom prst="rect">
                <a:avLst/>
              </a:prstGeom>
              <a:solidFill>
                <a:srgbClr val="FFFFFF"/>
              </a:solidFill>
              <a:ln cap="flat" cmpd="sng" w="9525">
                <a:solidFill>
                  <a:srgbClr val="1B516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900">
                    <a:solidFill>
                      <a:schemeClr val="accent1"/>
                    </a:solidFill>
                    <a:latin typeface="DM Sans Medium"/>
                    <a:ea typeface="DM Sans Medium"/>
                    <a:cs typeface="DM Sans Medium"/>
                    <a:sym typeface="DM Sans Medium"/>
                  </a:rPr>
                  <a:t>customers</a:t>
                </a:r>
                <a:endParaRPr sz="900">
                  <a:solidFill>
                    <a:schemeClr val="accent1"/>
                  </a:solidFill>
                  <a:latin typeface="DM Sans Medium"/>
                  <a:ea typeface="DM Sans Medium"/>
                  <a:cs typeface="DM Sans Medium"/>
                  <a:sym typeface="DM Sans Medium"/>
                </a:endParaRPr>
              </a:p>
            </p:txBody>
          </p:sp>
          <p:sp>
            <p:nvSpPr>
              <p:cNvPr id="2430" name="Google Shape;2430;p100"/>
              <p:cNvSpPr/>
              <p:nvPr/>
            </p:nvSpPr>
            <p:spPr>
              <a:xfrm rot="-5398266">
                <a:off x="2638099" y="4718725"/>
                <a:ext cx="5946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2"/>
                    </a:solidFill>
                    <a:latin typeface="DM Sans"/>
                    <a:ea typeface="DM Sans"/>
                    <a:cs typeface="DM Sans"/>
                    <a:sym typeface="DM Sans"/>
                  </a:rPr>
                  <a:t>TX log</a:t>
                </a:r>
                <a:endParaRPr sz="1100">
                  <a:solidFill>
                    <a:schemeClr val="accent2"/>
                  </a:solidFill>
                  <a:latin typeface="DM Sans"/>
                  <a:ea typeface="DM Sans"/>
                  <a:cs typeface="DM Sans"/>
                  <a:sym typeface="DM Sans"/>
                </a:endParaRPr>
              </a:p>
            </p:txBody>
          </p:sp>
          <p:grpSp>
            <p:nvGrpSpPr>
              <p:cNvPr id="2431" name="Google Shape;2431;p100"/>
              <p:cNvGrpSpPr/>
              <p:nvPr/>
            </p:nvGrpSpPr>
            <p:grpSpPr>
              <a:xfrm>
                <a:off x="3100071" y="4486211"/>
                <a:ext cx="883166" cy="604076"/>
                <a:chOff x="7158249" y="4847990"/>
                <a:chExt cx="1944870" cy="1330270"/>
              </a:xfrm>
            </p:grpSpPr>
            <p:sp>
              <p:nvSpPr>
                <p:cNvPr id="2432" name="Google Shape;2432;p100"/>
                <p:cNvSpPr/>
                <p:nvPr/>
              </p:nvSpPr>
              <p:spPr>
                <a:xfrm>
                  <a:off x="7158249" y="5913060"/>
                  <a:ext cx="19446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p4</a:t>
                  </a:r>
                  <a:endParaRPr sz="800">
                    <a:solidFill>
                      <a:schemeClr val="accent1"/>
                    </a:solidFill>
                    <a:latin typeface="DM Sans Medium"/>
                    <a:ea typeface="DM Sans Medium"/>
                    <a:cs typeface="DM Sans Medium"/>
                    <a:sym typeface="DM Sans Medium"/>
                  </a:endParaRPr>
                </a:p>
              </p:txBody>
            </p:sp>
            <p:sp>
              <p:nvSpPr>
                <p:cNvPr id="2433" name="Google Shape;2433;p100"/>
                <p:cNvSpPr/>
                <p:nvPr/>
              </p:nvSpPr>
              <p:spPr>
                <a:xfrm>
                  <a:off x="7390594" y="4847990"/>
                  <a:ext cx="17124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434" name="Google Shape;2434;p100"/>
                <p:cNvSpPr/>
                <p:nvPr/>
              </p:nvSpPr>
              <p:spPr>
                <a:xfrm>
                  <a:off x="7278220" y="5203013"/>
                  <a:ext cx="18249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sp>
              <p:nvSpPr>
                <p:cNvPr id="2435" name="Google Shape;2435;p100"/>
                <p:cNvSpPr/>
                <p:nvPr/>
              </p:nvSpPr>
              <p:spPr>
                <a:xfrm>
                  <a:off x="7451482" y="5558037"/>
                  <a:ext cx="16515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grpSp>
        </p:grpSp>
        <p:sp>
          <p:nvSpPr>
            <p:cNvPr id="2436" name="Google Shape;2436;p100"/>
            <p:cNvSpPr txBox="1"/>
            <p:nvPr/>
          </p:nvSpPr>
          <p:spPr>
            <a:xfrm>
              <a:off x="801701" y="4098279"/>
              <a:ext cx="4786500" cy="48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accent5"/>
                  </a:solidFill>
                  <a:latin typeface="Barlow Medium"/>
                  <a:ea typeface="Barlow Medium"/>
                  <a:cs typeface="Barlow Medium"/>
                  <a:sym typeface="Barlow Medium"/>
                </a:rPr>
                <a:t>Direct updates and deletes</a:t>
              </a:r>
              <a:endParaRPr sz="1900">
                <a:solidFill>
                  <a:schemeClr val="accent5"/>
                </a:solidFill>
                <a:latin typeface="Barlow Medium"/>
                <a:ea typeface="Barlow Medium"/>
                <a:cs typeface="Barlow Medium"/>
                <a:sym typeface="Barlow Medium"/>
              </a:endParaRPr>
            </a:p>
            <a:p>
              <a:pPr indent="0" lvl="0" marL="0" rtl="0" algn="ctr">
                <a:spcBef>
                  <a:spcPts val="0"/>
                </a:spcBef>
                <a:spcAft>
                  <a:spcPts val="0"/>
                </a:spcAft>
                <a:buNone/>
              </a:pPr>
              <a:r>
                <a:rPr lang="en" sz="1300">
                  <a:solidFill>
                    <a:schemeClr val="accent1"/>
                  </a:solidFill>
                  <a:latin typeface="Barlow"/>
                  <a:ea typeface="Barlow"/>
                  <a:cs typeface="Barlow"/>
                  <a:sym typeface="Barlow"/>
                </a:rPr>
                <a:t>(no need to have a complex pipeline)</a:t>
              </a:r>
              <a:endParaRPr sz="1500">
                <a:solidFill>
                  <a:schemeClr val="accent1"/>
                </a:solidFill>
                <a:latin typeface="Barlow"/>
                <a:ea typeface="Barlow"/>
                <a:cs typeface="Barlow"/>
                <a:sym typeface="Barlow"/>
              </a:endParaRPr>
            </a:p>
          </p:txBody>
        </p:sp>
        <p:sp>
          <p:nvSpPr>
            <p:cNvPr id="2437" name="Google Shape;2437;p100"/>
            <p:cNvSpPr/>
            <p:nvPr/>
          </p:nvSpPr>
          <p:spPr>
            <a:xfrm>
              <a:off x="828641" y="5097759"/>
              <a:ext cx="275700" cy="8700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2438" name="Google Shape;2438;p100"/>
            <p:cNvSpPr/>
            <p:nvPr/>
          </p:nvSpPr>
          <p:spPr>
            <a:xfrm>
              <a:off x="904916" y="5166401"/>
              <a:ext cx="134100" cy="134100"/>
            </a:xfrm>
            <a:prstGeom prst="ellipse">
              <a:avLst/>
            </a:prstGeom>
            <a:solidFill>
              <a:srgbClr val="FFFF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00"/>
            <p:cNvSpPr/>
            <p:nvPr/>
          </p:nvSpPr>
          <p:spPr>
            <a:xfrm>
              <a:off x="904916" y="5361441"/>
              <a:ext cx="134100" cy="134100"/>
            </a:xfrm>
            <a:prstGeom prst="ellipse">
              <a:avLst/>
            </a:prstGeom>
            <a:solidFill>
              <a:srgbClr val="4A86E8"/>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00"/>
            <p:cNvSpPr/>
            <p:nvPr/>
          </p:nvSpPr>
          <p:spPr>
            <a:xfrm>
              <a:off x="904916" y="5556480"/>
              <a:ext cx="134100" cy="134100"/>
            </a:xfrm>
            <a:prstGeom prst="ellipse">
              <a:avLst/>
            </a:prstGeom>
            <a:solidFill>
              <a:srgbClr val="6AA84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100"/>
            <p:cNvSpPr/>
            <p:nvPr/>
          </p:nvSpPr>
          <p:spPr>
            <a:xfrm>
              <a:off x="2807576" y="5210050"/>
              <a:ext cx="134100" cy="134100"/>
            </a:xfrm>
            <a:prstGeom prst="ellipse">
              <a:avLst/>
            </a:prstGeom>
            <a:solidFill>
              <a:srgbClr val="FFFF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00"/>
            <p:cNvSpPr/>
            <p:nvPr/>
          </p:nvSpPr>
          <p:spPr>
            <a:xfrm>
              <a:off x="3130659" y="5210036"/>
              <a:ext cx="134100" cy="134100"/>
            </a:xfrm>
            <a:prstGeom prst="ellipse">
              <a:avLst/>
            </a:prstGeom>
            <a:solidFill>
              <a:srgbClr val="4A86E8"/>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00"/>
            <p:cNvSpPr/>
            <p:nvPr/>
          </p:nvSpPr>
          <p:spPr>
            <a:xfrm>
              <a:off x="2883776" y="5599682"/>
              <a:ext cx="134100" cy="134100"/>
            </a:xfrm>
            <a:prstGeom prst="ellipse">
              <a:avLst/>
            </a:prstGeom>
            <a:solidFill>
              <a:srgbClr val="6AA84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00"/>
            <p:cNvSpPr txBox="1"/>
            <p:nvPr/>
          </p:nvSpPr>
          <p:spPr>
            <a:xfrm>
              <a:off x="3006263" y="5672192"/>
              <a:ext cx="382800" cy="3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00"/>
                  </a:solidFill>
                </a:rPr>
                <a:t>✘</a:t>
              </a:r>
              <a:endParaRPr sz="1200">
                <a:solidFill>
                  <a:srgbClr val="FF0000"/>
                </a:solidFill>
              </a:endParaRPr>
            </a:p>
          </p:txBody>
        </p:sp>
        <p:sp>
          <p:nvSpPr>
            <p:cNvPr id="2445" name="Google Shape;2445;p100"/>
            <p:cNvSpPr/>
            <p:nvPr/>
          </p:nvSpPr>
          <p:spPr>
            <a:xfrm>
              <a:off x="1233789" y="5416618"/>
              <a:ext cx="275700" cy="232200"/>
            </a:xfrm>
            <a:prstGeom prst="rightArrow">
              <a:avLst>
                <a:gd fmla="val 50000" name="adj1"/>
                <a:gd fmla="val 50000" name="adj2"/>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100"/>
            <p:cNvSpPr txBox="1"/>
            <p:nvPr/>
          </p:nvSpPr>
          <p:spPr>
            <a:xfrm>
              <a:off x="3688975" y="5104725"/>
              <a:ext cx="2134800" cy="1154400"/>
            </a:xfrm>
            <a:prstGeom prst="rect">
              <a:avLst/>
            </a:prstGeom>
            <a:noFill/>
            <a:ln>
              <a:noFill/>
            </a:ln>
          </p:spPr>
          <p:txBody>
            <a:bodyPr anchorCtr="0" anchor="t" bIns="91425" lIns="91425" spcFirstLastPara="1" rIns="91425" wrap="square" tIns="91425">
              <a:noAutofit/>
            </a:bodyPr>
            <a:lstStyle/>
            <a:p>
              <a:pPr indent="-203200" lvl="0" marL="114300" rtl="0" algn="l">
                <a:spcBef>
                  <a:spcPts val="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GDPR</a:t>
              </a:r>
              <a:endParaRPr>
                <a:solidFill>
                  <a:schemeClr val="accent1"/>
                </a:solidFill>
                <a:latin typeface="DM Sans"/>
                <a:ea typeface="DM Sans"/>
                <a:cs typeface="DM Sans"/>
                <a:sym typeface="DM Sans"/>
              </a:endParaRPr>
            </a:p>
            <a:p>
              <a:pPr indent="-203200" lvl="0" marL="114300" rtl="0" algn="l">
                <a:spcBef>
                  <a:spcPts val="0"/>
                </a:spcBef>
                <a:spcAft>
                  <a:spcPts val="0"/>
                </a:spcAft>
                <a:buClr>
                  <a:schemeClr val="accent1"/>
                </a:buClr>
                <a:buSzPts val="1400"/>
                <a:buFont typeface="DM Sans"/>
                <a:buChar char="●"/>
              </a:pPr>
              <a:r>
                <a:rPr lang="en">
                  <a:solidFill>
                    <a:schemeClr val="accent1"/>
                  </a:solidFill>
                  <a:latin typeface="DM Sans"/>
                  <a:ea typeface="DM Sans"/>
                  <a:cs typeface="DM Sans"/>
                  <a:sym typeface="DM Sans"/>
                </a:rPr>
                <a:t>Change Data Capture (CDC &amp; SCD)</a:t>
              </a:r>
              <a:endParaRPr>
                <a:solidFill>
                  <a:schemeClr val="accent1"/>
                </a:solidFill>
                <a:latin typeface="DM Sans"/>
                <a:ea typeface="DM Sans"/>
                <a:cs typeface="DM Sans"/>
                <a:sym typeface="DM Sans"/>
              </a:endParaRPr>
            </a:p>
          </p:txBody>
        </p:sp>
        <p:sp>
          <p:nvSpPr>
            <p:cNvPr id="2447" name="Google Shape;2447;p100"/>
            <p:cNvSpPr txBox="1"/>
            <p:nvPr/>
          </p:nvSpPr>
          <p:spPr>
            <a:xfrm>
              <a:off x="823224" y="5643185"/>
              <a:ext cx="382800" cy="3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00"/>
                  </a:solidFill>
                </a:rPr>
                <a:t>✘</a:t>
              </a:r>
              <a:endParaRPr sz="1200">
                <a:solidFill>
                  <a:srgbClr val="FF0000"/>
                </a:solidFill>
              </a:endParaRPr>
            </a:p>
          </p:txBody>
        </p:sp>
      </p:grpSp>
      <p:grpSp>
        <p:nvGrpSpPr>
          <p:cNvPr id="2448" name="Google Shape;2448;p100"/>
          <p:cNvGrpSpPr/>
          <p:nvPr/>
        </p:nvGrpSpPr>
        <p:grpSpPr>
          <a:xfrm>
            <a:off x="6290250" y="4098279"/>
            <a:ext cx="5149500" cy="2152743"/>
            <a:chOff x="6290250" y="4098279"/>
            <a:chExt cx="5149500" cy="2152743"/>
          </a:xfrm>
        </p:grpSpPr>
        <p:sp>
          <p:nvSpPr>
            <p:cNvPr id="2449" name="Google Shape;2449;p100"/>
            <p:cNvSpPr/>
            <p:nvPr/>
          </p:nvSpPr>
          <p:spPr>
            <a:xfrm>
              <a:off x="6290250" y="4157000"/>
              <a:ext cx="5149500" cy="20940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0" name="Google Shape;2450;p100"/>
            <p:cNvGrpSpPr/>
            <p:nvPr/>
          </p:nvGrpSpPr>
          <p:grpSpPr>
            <a:xfrm>
              <a:off x="6427378" y="4936076"/>
              <a:ext cx="1495347" cy="974253"/>
              <a:chOff x="2784450" y="4349050"/>
              <a:chExt cx="1256700" cy="818700"/>
            </a:xfrm>
          </p:grpSpPr>
          <p:sp>
            <p:nvSpPr>
              <p:cNvPr id="2451" name="Google Shape;2451;p100"/>
              <p:cNvSpPr/>
              <p:nvPr/>
            </p:nvSpPr>
            <p:spPr>
              <a:xfrm>
                <a:off x="2784450" y="4349050"/>
                <a:ext cx="12567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900">
                    <a:solidFill>
                      <a:schemeClr val="accent1"/>
                    </a:solidFill>
                    <a:latin typeface="Barlow Medium"/>
                    <a:ea typeface="Barlow Medium"/>
                    <a:cs typeface="Barlow Medium"/>
                    <a:sym typeface="Barlow Medium"/>
                  </a:rPr>
                  <a:t>customers</a:t>
                </a:r>
                <a:endParaRPr sz="900">
                  <a:solidFill>
                    <a:schemeClr val="accent1"/>
                  </a:solidFill>
                  <a:latin typeface="Barlow Medium"/>
                  <a:ea typeface="Barlow Medium"/>
                  <a:cs typeface="Barlow Medium"/>
                  <a:sym typeface="Barlow Medium"/>
                </a:endParaRPr>
              </a:p>
            </p:txBody>
          </p:sp>
          <p:sp>
            <p:nvSpPr>
              <p:cNvPr id="2452" name="Google Shape;2452;p100"/>
              <p:cNvSpPr/>
              <p:nvPr/>
            </p:nvSpPr>
            <p:spPr>
              <a:xfrm rot="-5398266">
                <a:off x="2638099" y="4718725"/>
                <a:ext cx="5946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2"/>
                    </a:solidFill>
                    <a:latin typeface="DM Sans"/>
                    <a:ea typeface="DM Sans"/>
                    <a:cs typeface="DM Sans"/>
                    <a:sym typeface="DM Sans"/>
                  </a:rPr>
                  <a:t>TX log</a:t>
                </a:r>
                <a:endParaRPr sz="1100">
                  <a:solidFill>
                    <a:schemeClr val="accent2"/>
                  </a:solidFill>
                  <a:latin typeface="DM Sans"/>
                  <a:ea typeface="DM Sans"/>
                  <a:cs typeface="DM Sans"/>
                  <a:sym typeface="DM Sans"/>
                </a:endParaRPr>
              </a:p>
            </p:txBody>
          </p:sp>
          <p:grpSp>
            <p:nvGrpSpPr>
              <p:cNvPr id="2453" name="Google Shape;2453;p100"/>
              <p:cNvGrpSpPr/>
              <p:nvPr/>
            </p:nvGrpSpPr>
            <p:grpSpPr>
              <a:xfrm>
                <a:off x="3100071" y="4486211"/>
                <a:ext cx="883166" cy="604076"/>
                <a:chOff x="7158249" y="4847990"/>
                <a:chExt cx="1944870" cy="1330270"/>
              </a:xfrm>
            </p:grpSpPr>
            <p:sp>
              <p:nvSpPr>
                <p:cNvPr id="2454" name="Google Shape;2454;p100"/>
                <p:cNvSpPr/>
                <p:nvPr/>
              </p:nvSpPr>
              <p:spPr>
                <a:xfrm>
                  <a:off x="7158249" y="5913060"/>
                  <a:ext cx="19446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p4</a:t>
                  </a:r>
                  <a:endParaRPr sz="800">
                    <a:solidFill>
                      <a:schemeClr val="accent1"/>
                    </a:solidFill>
                    <a:latin typeface="DM Sans Medium"/>
                    <a:ea typeface="DM Sans Medium"/>
                    <a:cs typeface="DM Sans Medium"/>
                    <a:sym typeface="DM Sans Medium"/>
                  </a:endParaRPr>
                </a:p>
              </p:txBody>
            </p:sp>
            <p:sp>
              <p:nvSpPr>
                <p:cNvPr id="2455" name="Google Shape;2455;p100"/>
                <p:cNvSpPr/>
                <p:nvPr/>
              </p:nvSpPr>
              <p:spPr>
                <a:xfrm>
                  <a:off x="7390594" y="4847990"/>
                  <a:ext cx="17124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456" name="Google Shape;2456;p100"/>
                <p:cNvSpPr/>
                <p:nvPr/>
              </p:nvSpPr>
              <p:spPr>
                <a:xfrm>
                  <a:off x="7278220" y="5203013"/>
                  <a:ext cx="18249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sp>
              <p:nvSpPr>
                <p:cNvPr id="2457" name="Google Shape;2457;p100"/>
                <p:cNvSpPr/>
                <p:nvPr/>
              </p:nvSpPr>
              <p:spPr>
                <a:xfrm>
                  <a:off x="7451482" y="5558037"/>
                  <a:ext cx="16515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grpSp>
        </p:grpSp>
        <p:grpSp>
          <p:nvGrpSpPr>
            <p:cNvPr id="2458" name="Google Shape;2458;p100"/>
            <p:cNvGrpSpPr/>
            <p:nvPr/>
          </p:nvGrpSpPr>
          <p:grpSpPr>
            <a:xfrm>
              <a:off x="8084442" y="4936076"/>
              <a:ext cx="1495347" cy="974253"/>
              <a:chOff x="2784450" y="4349050"/>
              <a:chExt cx="1256700" cy="818700"/>
            </a:xfrm>
          </p:grpSpPr>
          <p:sp>
            <p:nvSpPr>
              <p:cNvPr id="2459" name="Google Shape;2459;p100"/>
              <p:cNvSpPr/>
              <p:nvPr/>
            </p:nvSpPr>
            <p:spPr>
              <a:xfrm>
                <a:off x="2784450" y="4349050"/>
                <a:ext cx="12567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900">
                    <a:solidFill>
                      <a:schemeClr val="accent1"/>
                    </a:solidFill>
                    <a:latin typeface="Barlow Medium"/>
                    <a:ea typeface="Barlow Medium"/>
                    <a:cs typeface="Barlow Medium"/>
                    <a:sym typeface="Barlow Medium"/>
                  </a:rPr>
                  <a:t>customers</a:t>
                </a:r>
                <a:endParaRPr sz="900">
                  <a:solidFill>
                    <a:schemeClr val="accent1"/>
                  </a:solidFill>
                  <a:latin typeface="Barlow Medium"/>
                  <a:ea typeface="Barlow Medium"/>
                  <a:cs typeface="Barlow Medium"/>
                  <a:sym typeface="Barlow Medium"/>
                </a:endParaRPr>
              </a:p>
            </p:txBody>
          </p:sp>
          <p:sp>
            <p:nvSpPr>
              <p:cNvPr id="2460" name="Google Shape;2460;p100"/>
              <p:cNvSpPr/>
              <p:nvPr/>
            </p:nvSpPr>
            <p:spPr>
              <a:xfrm rot="-5398266">
                <a:off x="2638099" y="4718725"/>
                <a:ext cx="5946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2"/>
                    </a:solidFill>
                    <a:latin typeface="DM Sans"/>
                    <a:ea typeface="DM Sans"/>
                    <a:cs typeface="DM Sans"/>
                    <a:sym typeface="DM Sans"/>
                  </a:rPr>
                  <a:t>TX log</a:t>
                </a:r>
                <a:endParaRPr sz="1100">
                  <a:solidFill>
                    <a:schemeClr val="accent2"/>
                  </a:solidFill>
                  <a:latin typeface="DM Sans"/>
                  <a:ea typeface="DM Sans"/>
                  <a:cs typeface="DM Sans"/>
                  <a:sym typeface="DM Sans"/>
                </a:endParaRPr>
              </a:p>
            </p:txBody>
          </p:sp>
          <p:grpSp>
            <p:nvGrpSpPr>
              <p:cNvPr id="2461" name="Google Shape;2461;p100"/>
              <p:cNvGrpSpPr/>
              <p:nvPr/>
            </p:nvGrpSpPr>
            <p:grpSpPr>
              <a:xfrm>
                <a:off x="3100071" y="4486211"/>
                <a:ext cx="883166" cy="604076"/>
                <a:chOff x="7158249" y="4847990"/>
                <a:chExt cx="1944870" cy="1330270"/>
              </a:xfrm>
            </p:grpSpPr>
            <p:sp>
              <p:nvSpPr>
                <p:cNvPr id="2462" name="Google Shape;2462;p100"/>
                <p:cNvSpPr/>
                <p:nvPr/>
              </p:nvSpPr>
              <p:spPr>
                <a:xfrm>
                  <a:off x="7158249" y="5913060"/>
                  <a:ext cx="19446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p4</a:t>
                  </a:r>
                  <a:endParaRPr sz="800">
                    <a:solidFill>
                      <a:schemeClr val="accent1"/>
                    </a:solidFill>
                    <a:latin typeface="DM Sans Medium"/>
                    <a:ea typeface="DM Sans Medium"/>
                    <a:cs typeface="DM Sans Medium"/>
                    <a:sym typeface="DM Sans Medium"/>
                  </a:endParaRPr>
                </a:p>
              </p:txBody>
            </p:sp>
            <p:sp>
              <p:nvSpPr>
                <p:cNvPr id="2463" name="Google Shape;2463;p100"/>
                <p:cNvSpPr/>
                <p:nvPr/>
              </p:nvSpPr>
              <p:spPr>
                <a:xfrm>
                  <a:off x="7390594" y="4847990"/>
                  <a:ext cx="17124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464" name="Google Shape;2464;p100"/>
                <p:cNvSpPr/>
                <p:nvPr/>
              </p:nvSpPr>
              <p:spPr>
                <a:xfrm>
                  <a:off x="7278220" y="5203013"/>
                  <a:ext cx="18249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sp>
              <p:nvSpPr>
                <p:cNvPr id="2465" name="Google Shape;2465;p100"/>
                <p:cNvSpPr/>
                <p:nvPr/>
              </p:nvSpPr>
              <p:spPr>
                <a:xfrm>
                  <a:off x="7451482" y="5558037"/>
                  <a:ext cx="16515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grpSp>
        </p:grpSp>
        <p:grpSp>
          <p:nvGrpSpPr>
            <p:cNvPr id="2466" name="Google Shape;2466;p100"/>
            <p:cNvGrpSpPr/>
            <p:nvPr/>
          </p:nvGrpSpPr>
          <p:grpSpPr>
            <a:xfrm>
              <a:off x="9811260" y="4936076"/>
              <a:ext cx="1495347" cy="974253"/>
              <a:chOff x="2784450" y="4349050"/>
              <a:chExt cx="1256700" cy="818700"/>
            </a:xfrm>
          </p:grpSpPr>
          <p:sp>
            <p:nvSpPr>
              <p:cNvPr id="2467" name="Google Shape;2467;p100"/>
              <p:cNvSpPr/>
              <p:nvPr/>
            </p:nvSpPr>
            <p:spPr>
              <a:xfrm>
                <a:off x="2784450" y="4349050"/>
                <a:ext cx="12567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900">
                    <a:solidFill>
                      <a:schemeClr val="accent1"/>
                    </a:solidFill>
                    <a:latin typeface="Barlow Medium"/>
                    <a:ea typeface="Barlow Medium"/>
                    <a:cs typeface="Barlow Medium"/>
                    <a:sym typeface="Barlow Medium"/>
                  </a:rPr>
                  <a:t>customers</a:t>
                </a:r>
                <a:endParaRPr sz="900">
                  <a:solidFill>
                    <a:schemeClr val="accent1"/>
                  </a:solidFill>
                  <a:latin typeface="Barlow Medium"/>
                  <a:ea typeface="Barlow Medium"/>
                  <a:cs typeface="Barlow Medium"/>
                  <a:sym typeface="Barlow Medium"/>
                </a:endParaRPr>
              </a:p>
            </p:txBody>
          </p:sp>
          <p:sp>
            <p:nvSpPr>
              <p:cNvPr id="2468" name="Google Shape;2468;p100"/>
              <p:cNvSpPr/>
              <p:nvPr/>
            </p:nvSpPr>
            <p:spPr>
              <a:xfrm rot="-5398266">
                <a:off x="2638099" y="4718725"/>
                <a:ext cx="5946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2"/>
                    </a:solidFill>
                    <a:latin typeface="DM Sans"/>
                    <a:ea typeface="DM Sans"/>
                    <a:cs typeface="DM Sans"/>
                    <a:sym typeface="DM Sans"/>
                  </a:rPr>
                  <a:t>TX log</a:t>
                </a:r>
                <a:endParaRPr sz="1100">
                  <a:solidFill>
                    <a:schemeClr val="accent2"/>
                  </a:solidFill>
                  <a:latin typeface="DM Sans"/>
                  <a:ea typeface="DM Sans"/>
                  <a:cs typeface="DM Sans"/>
                  <a:sym typeface="DM Sans"/>
                </a:endParaRPr>
              </a:p>
            </p:txBody>
          </p:sp>
          <p:grpSp>
            <p:nvGrpSpPr>
              <p:cNvPr id="2469" name="Google Shape;2469;p100"/>
              <p:cNvGrpSpPr/>
              <p:nvPr/>
            </p:nvGrpSpPr>
            <p:grpSpPr>
              <a:xfrm>
                <a:off x="3100071" y="4486211"/>
                <a:ext cx="883166" cy="604076"/>
                <a:chOff x="7158249" y="4847990"/>
                <a:chExt cx="1944870" cy="1330270"/>
              </a:xfrm>
            </p:grpSpPr>
            <p:sp>
              <p:nvSpPr>
                <p:cNvPr id="2470" name="Google Shape;2470;p100"/>
                <p:cNvSpPr/>
                <p:nvPr/>
              </p:nvSpPr>
              <p:spPr>
                <a:xfrm>
                  <a:off x="7158249" y="5913060"/>
                  <a:ext cx="19446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p4</a:t>
                  </a:r>
                  <a:endParaRPr sz="800">
                    <a:solidFill>
                      <a:schemeClr val="accent1"/>
                    </a:solidFill>
                    <a:latin typeface="DM Sans Medium"/>
                    <a:ea typeface="DM Sans Medium"/>
                    <a:cs typeface="DM Sans Medium"/>
                    <a:sym typeface="DM Sans Medium"/>
                  </a:endParaRPr>
                </a:p>
              </p:txBody>
            </p:sp>
            <p:sp>
              <p:nvSpPr>
                <p:cNvPr id="2471" name="Google Shape;2471;p100"/>
                <p:cNvSpPr/>
                <p:nvPr/>
              </p:nvSpPr>
              <p:spPr>
                <a:xfrm>
                  <a:off x="7390594" y="4847990"/>
                  <a:ext cx="17124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472" name="Google Shape;2472;p100"/>
                <p:cNvSpPr/>
                <p:nvPr/>
              </p:nvSpPr>
              <p:spPr>
                <a:xfrm>
                  <a:off x="7278220" y="5203013"/>
                  <a:ext cx="18249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sp>
              <p:nvSpPr>
                <p:cNvPr id="2473" name="Google Shape;2473;p100"/>
                <p:cNvSpPr/>
                <p:nvPr/>
              </p:nvSpPr>
              <p:spPr>
                <a:xfrm>
                  <a:off x="7451482" y="5558037"/>
                  <a:ext cx="16515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grpSp>
        </p:grpSp>
        <p:sp>
          <p:nvSpPr>
            <p:cNvPr id="2474" name="Google Shape;2474;p100"/>
            <p:cNvSpPr txBox="1"/>
            <p:nvPr/>
          </p:nvSpPr>
          <p:spPr>
            <a:xfrm>
              <a:off x="6471800" y="4098279"/>
              <a:ext cx="4786500" cy="48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accent5"/>
                  </a:solidFill>
                  <a:latin typeface="Barlow Medium"/>
                  <a:ea typeface="Barlow Medium"/>
                  <a:cs typeface="Barlow Medium"/>
                  <a:sym typeface="Barlow Medium"/>
                </a:rPr>
                <a:t>Time travel</a:t>
              </a:r>
              <a:endParaRPr sz="1900">
                <a:solidFill>
                  <a:schemeClr val="accent5"/>
                </a:solidFill>
                <a:latin typeface="Barlow Medium"/>
                <a:ea typeface="Barlow Medium"/>
                <a:cs typeface="Barlow Medium"/>
                <a:sym typeface="Barlow Medium"/>
              </a:endParaRPr>
            </a:p>
            <a:p>
              <a:pPr indent="0" lvl="0" marL="0" rtl="0" algn="ctr">
                <a:spcBef>
                  <a:spcPts val="0"/>
                </a:spcBef>
                <a:spcAft>
                  <a:spcPts val="0"/>
                </a:spcAft>
                <a:buNone/>
              </a:pPr>
              <a:r>
                <a:rPr lang="en" sz="1300">
                  <a:solidFill>
                    <a:schemeClr val="accent1"/>
                  </a:solidFill>
                  <a:latin typeface="Barlow"/>
                  <a:ea typeface="Barlow"/>
                  <a:cs typeface="Barlow"/>
                  <a:sym typeface="Barlow"/>
                </a:rPr>
                <a:t>(implicit snapshots)</a:t>
              </a:r>
              <a:endParaRPr sz="1500">
                <a:solidFill>
                  <a:schemeClr val="accent1"/>
                </a:solidFill>
                <a:latin typeface="Barlow"/>
                <a:ea typeface="Barlow"/>
                <a:cs typeface="Barlow"/>
                <a:sym typeface="Barlow"/>
              </a:endParaRPr>
            </a:p>
          </p:txBody>
        </p:sp>
        <p:sp>
          <p:nvSpPr>
            <p:cNvPr id="2475" name="Google Shape;2475;p100"/>
            <p:cNvSpPr txBox="1"/>
            <p:nvPr/>
          </p:nvSpPr>
          <p:spPr>
            <a:xfrm>
              <a:off x="10365860" y="5856822"/>
              <a:ext cx="4995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Barlow Medium"/>
                  <a:ea typeface="Barlow Medium"/>
                  <a:cs typeface="Barlow Medium"/>
                  <a:sym typeface="Barlow Medium"/>
                </a:rPr>
                <a:t>V2</a:t>
              </a:r>
              <a:endParaRPr>
                <a:solidFill>
                  <a:schemeClr val="accent1"/>
                </a:solidFill>
                <a:latin typeface="Barlow Medium"/>
                <a:ea typeface="Barlow Medium"/>
                <a:cs typeface="Barlow Medium"/>
                <a:sym typeface="Barlow Medium"/>
              </a:endParaRPr>
            </a:p>
          </p:txBody>
        </p:sp>
        <p:sp>
          <p:nvSpPr>
            <p:cNvPr id="2476" name="Google Shape;2476;p100"/>
            <p:cNvSpPr txBox="1"/>
            <p:nvPr/>
          </p:nvSpPr>
          <p:spPr>
            <a:xfrm>
              <a:off x="8652641" y="5856822"/>
              <a:ext cx="4995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Barlow Medium"/>
                  <a:ea typeface="Barlow Medium"/>
                  <a:cs typeface="Barlow Medium"/>
                  <a:sym typeface="Barlow Medium"/>
                </a:rPr>
                <a:t>V1</a:t>
              </a:r>
              <a:endParaRPr>
                <a:solidFill>
                  <a:schemeClr val="accent1"/>
                </a:solidFill>
                <a:latin typeface="Barlow Medium"/>
                <a:ea typeface="Barlow Medium"/>
                <a:cs typeface="Barlow Medium"/>
                <a:sym typeface="Barlow Medium"/>
              </a:endParaRPr>
            </a:p>
          </p:txBody>
        </p:sp>
        <p:sp>
          <p:nvSpPr>
            <p:cNvPr id="2477" name="Google Shape;2477;p100"/>
            <p:cNvSpPr txBox="1"/>
            <p:nvPr/>
          </p:nvSpPr>
          <p:spPr>
            <a:xfrm>
              <a:off x="6972213" y="5856822"/>
              <a:ext cx="4995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Barlow Medium"/>
                  <a:ea typeface="Barlow Medium"/>
                  <a:cs typeface="Barlow Medium"/>
                  <a:sym typeface="Barlow Medium"/>
                </a:rPr>
                <a:t>V0</a:t>
              </a:r>
              <a:endParaRPr>
                <a:solidFill>
                  <a:schemeClr val="accent1"/>
                </a:solidFill>
                <a:latin typeface="Barlow Medium"/>
                <a:ea typeface="Barlow Medium"/>
                <a:cs typeface="Barlow Medium"/>
                <a:sym typeface="Barlow Medium"/>
              </a:endParaRPr>
            </a:p>
          </p:txBody>
        </p:sp>
        <p:sp>
          <p:nvSpPr>
            <p:cNvPr id="2478" name="Google Shape;2478;p100"/>
            <p:cNvSpPr/>
            <p:nvPr/>
          </p:nvSpPr>
          <p:spPr>
            <a:xfrm>
              <a:off x="9002429" y="5116088"/>
              <a:ext cx="115200" cy="115200"/>
            </a:xfrm>
            <a:prstGeom prst="ellipse">
              <a:avLst/>
            </a:prstGeom>
            <a:solidFill>
              <a:srgbClr val="FFFF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00"/>
            <p:cNvSpPr/>
            <p:nvPr/>
          </p:nvSpPr>
          <p:spPr>
            <a:xfrm>
              <a:off x="10975206" y="5117638"/>
              <a:ext cx="115200" cy="115200"/>
            </a:xfrm>
            <a:prstGeom prst="ellipse">
              <a:avLst/>
            </a:prstGeom>
            <a:solidFill>
              <a:srgbClr val="4A86E8"/>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100"/>
            <p:cNvSpPr/>
            <p:nvPr/>
          </p:nvSpPr>
          <p:spPr>
            <a:xfrm>
              <a:off x="10678829" y="5495446"/>
              <a:ext cx="115200" cy="115200"/>
            </a:xfrm>
            <a:prstGeom prst="ellipse">
              <a:avLst/>
            </a:prstGeom>
            <a:solidFill>
              <a:srgbClr val="6AA84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00"/>
            <p:cNvSpPr txBox="1"/>
            <p:nvPr/>
          </p:nvSpPr>
          <p:spPr>
            <a:xfrm>
              <a:off x="9191991" y="5554771"/>
              <a:ext cx="328800" cy="3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00"/>
                  </a:solidFill>
                </a:rPr>
                <a:t>✘</a:t>
              </a:r>
              <a:endParaRPr sz="1200">
                <a:solidFill>
                  <a:srgbClr val="FF0000"/>
                </a:solidFill>
              </a:endParaRPr>
            </a:p>
          </p:txBody>
        </p:sp>
        <p:sp>
          <p:nvSpPr>
            <p:cNvPr id="2482" name="Google Shape;2482;p100"/>
            <p:cNvSpPr/>
            <p:nvPr/>
          </p:nvSpPr>
          <p:spPr>
            <a:xfrm>
              <a:off x="10678829" y="5116088"/>
              <a:ext cx="115200" cy="115200"/>
            </a:xfrm>
            <a:prstGeom prst="ellipse">
              <a:avLst/>
            </a:prstGeom>
            <a:solidFill>
              <a:srgbClr val="FFFF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100"/>
            <p:cNvSpPr txBox="1"/>
            <p:nvPr/>
          </p:nvSpPr>
          <p:spPr>
            <a:xfrm>
              <a:off x="10868391" y="5554771"/>
              <a:ext cx="328800" cy="3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00"/>
                  </a:solidFill>
                </a:rPr>
                <a:t>✘</a:t>
              </a:r>
              <a:endParaRPr sz="1200">
                <a:solidFill>
                  <a:srgbClr val="FF0000"/>
                </a:solidFill>
              </a:endParaRPr>
            </a:p>
          </p:txBody>
        </p:sp>
      </p:grpSp>
      <p:grpSp>
        <p:nvGrpSpPr>
          <p:cNvPr id="2484" name="Google Shape;2484;p100"/>
          <p:cNvGrpSpPr/>
          <p:nvPr/>
        </p:nvGrpSpPr>
        <p:grpSpPr>
          <a:xfrm>
            <a:off x="6290250" y="1233570"/>
            <a:ext cx="5150403" cy="2697255"/>
            <a:chOff x="6291712" y="1233575"/>
            <a:chExt cx="5146800" cy="2697255"/>
          </a:xfrm>
        </p:grpSpPr>
        <p:sp>
          <p:nvSpPr>
            <p:cNvPr id="2485" name="Google Shape;2485;p100"/>
            <p:cNvSpPr/>
            <p:nvPr/>
          </p:nvSpPr>
          <p:spPr>
            <a:xfrm>
              <a:off x="6291712" y="1259930"/>
              <a:ext cx="5146800" cy="26709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00"/>
            <p:cNvSpPr txBox="1"/>
            <p:nvPr/>
          </p:nvSpPr>
          <p:spPr>
            <a:xfrm>
              <a:off x="6701203" y="1233575"/>
              <a:ext cx="4327800" cy="48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accent5"/>
                  </a:solidFill>
                  <a:latin typeface="DM Sans Medium"/>
                  <a:ea typeface="DM Sans Medium"/>
                  <a:cs typeface="DM Sans Medium"/>
                  <a:sym typeface="DM Sans Medium"/>
                </a:rPr>
                <a:t>Optimizations on the fly</a:t>
              </a:r>
              <a:br>
                <a:rPr lang="en" sz="1500">
                  <a:solidFill>
                    <a:schemeClr val="accent5"/>
                  </a:solidFill>
                  <a:latin typeface="DM Sans Medium"/>
                  <a:ea typeface="DM Sans Medium"/>
                  <a:cs typeface="DM Sans Medium"/>
                  <a:sym typeface="DM Sans Medium"/>
                </a:rPr>
              </a:br>
              <a:r>
                <a:rPr lang="en" sz="1300">
                  <a:solidFill>
                    <a:schemeClr val="accent1"/>
                  </a:solidFill>
                  <a:latin typeface="DM Sans"/>
                  <a:ea typeface="DM Sans"/>
                  <a:cs typeface="DM Sans"/>
                  <a:sym typeface="DM Sans"/>
                </a:rPr>
                <a:t>(no need to have a complex pipeline)</a:t>
              </a:r>
              <a:endParaRPr sz="1300">
                <a:solidFill>
                  <a:schemeClr val="accent1"/>
                </a:solidFill>
                <a:latin typeface="DM Sans"/>
                <a:ea typeface="DM Sans"/>
                <a:cs typeface="DM Sans"/>
                <a:sym typeface="DM Sans"/>
              </a:endParaRPr>
            </a:p>
          </p:txBody>
        </p:sp>
        <p:sp>
          <p:nvSpPr>
            <p:cNvPr id="2487" name="Google Shape;2487;p100"/>
            <p:cNvSpPr/>
            <p:nvPr/>
          </p:nvSpPr>
          <p:spPr>
            <a:xfrm rot="896667">
              <a:off x="8859083" y="2401227"/>
              <a:ext cx="339690" cy="258700"/>
            </a:xfrm>
            <a:prstGeom prst="right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100"/>
            <p:cNvSpPr/>
            <p:nvPr/>
          </p:nvSpPr>
          <p:spPr>
            <a:xfrm rot="-1803147">
              <a:off x="8867983" y="2888902"/>
              <a:ext cx="339662" cy="258726"/>
            </a:xfrm>
            <a:prstGeom prst="rightArrow">
              <a:avLst>
                <a:gd fmla="val 50000" name="adj1"/>
                <a:gd fmla="val 50000" name="adj2"/>
              </a:avLst>
            </a:prstGeom>
            <a:solidFill>
              <a:srgbClr val="E7E6E6"/>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9" name="Google Shape;2489;p100"/>
            <p:cNvGrpSpPr/>
            <p:nvPr/>
          </p:nvGrpSpPr>
          <p:grpSpPr>
            <a:xfrm>
              <a:off x="7032075" y="1961786"/>
              <a:ext cx="1598400" cy="818700"/>
              <a:chOff x="2442850" y="3360461"/>
              <a:chExt cx="1598400" cy="818700"/>
            </a:xfrm>
          </p:grpSpPr>
          <p:sp>
            <p:nvSpPr>
              <p:cNvPr id="2490" name="Google Shape;2490;p100"/>
              <p:cNvSpPr/>
              <p:nvPr/>
            </p:nvSpPr>
            <p:spPr>
              <a:xfrm>
                <a:off x="2442850" y="3360461"/>
                <a:ext cx="15984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customers</a:t>
                </a:r>
                <a:endParaRPr sz="800">
                  <a:solidFill>
                    <a:schemeClr val="accent1"/>
                  </a:solidFill>
                  <a:latin typeface="DM Sans Medium"/>
                  <a:ea typeface="DM Sans Medium"/>
                  <a:cs typeface="DM Sans Medium"/>
                  <a:sym typeface="DM Sans Medium"/>
                </a:endParaRPr>
              </a:p>
            </p:txBody>
          </p:sp>
          <p:grpSp>
            <p:nvGrpSpPr>
              <p:cNvPr id="2491" name="Google Shape;2491;p100"/>
              <p:cNvGrpSpPr/>
              <p:nvPr/>
            </p:nvGrpSpPr>
            <p:grpSpPr>
              <a:xfrm>
                <a:off x="2792864" y="3514669"/>
                <a:ext cx="1190371" cy="609608"/>
                <a:chOff x="6514625" y="2071924"/>
                <a:chExt cx="2597361" cy="1330151"/>
              </a:xfrm>
            </p:grpSpPr>
            <p:sp>
              <p:nvSpPr>
                <p:cNvPr id="2492" name="Google Shape;2492;p100"/>
                <p:cNvSpPr/>
                <p:nvPr/>
              </p:nvSpPr>
              <p:spPr>
                <a:xfrm>
                  <a:off x="6514625" y="2781975"/>
                  <a:ext cx="2588100" cy="6201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45700" spcFirstLastPara="1" rIns="0" wrap="square" tIns="91425">
                  <a:noAutofit/>
                </a:bodyPr>
                <a:lstStyle/>
                <a:p>
                  <a:pPr indent="0" lvl="0" marL="0" rtl="0" algn="ctr">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sp>
              <p:nvSpPr>
                <p:cNvPr id="2493" name="Google Shape;2493;p100"/>
                <p:cNvSpPr/>
                <p:nvPr/>
              </p:nvSpPr>
              <p:spPr>
                <a:xfrm>
                  <a:off x="8663786" y="2071924"/>
                  <a:ext cx="4482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45700" spcFirstLastPara="1" rIns="0"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494" name="Google Shape;2494;p100"/>
                <p:cNvSpPr/>
                <p:nvPr/>
              </p:nvSpPr>
              <p:spPr>
                <a:xfrm>
                  <a:off x="8663786" y="2426947"/>
                  <a:ext cx="4482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45700" spcFirstLastPara="1" rIns="0"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grpSp>
          <p:sp>
            <p:nvSpPr>
              <p:cNvPr id="2495" name="Google Shape;2495;p100"/>
              <p:cNvSpPr/>
              <p:nvPr/>
            </p:nvSpPr>
            <p:spPr>
              <a:xfrm rot="-5398311">
                <a:off x="2281369" y="3738116"/>
                <a:ext cx="6105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solidFill>
                      <a:schemeClr val="accent2"/>
                    </a:solidFill>
                    <a:latin typeface="DM Sans Medium"/>
                    <a:ea typeface="DM Sans Medium"/>
                    <a:cs typeface="DM Sans Medium"/>
                    <a:sym typeface="DM Sans Medium"/>
                  </a:rPr>
                  <a:t>TX log</a:t>
                </a:r>
                <a:endParaRPr sz="1000">
                  <a:solidFill>
                    <a:schemeClr val="accent2"/>
                  </a:solidFill>
                  <a:latin typeface="DM Sans Medium"/>
                  <a:ea typeface="DM Sans Medium"/>
                  <a:cs typeface="DM Sans Medium"/>
                  <a:sym typeface="DM Sans Medium"/>
                </a:endParaRPr>
              </a:p>
            </p:txBody>
          </p:sp>
        </p:grpSp>
        <p:grpSp>
          <p:nvGrpSpPr>
            <p:cNvPr id="2496" name="Google Shape;2496;p100"/>
            <p:cNvGrpSpPr/>
            <p:nvPr/>
          </p:nvGrpSpPr>
          <p:grpSpPr>
            <a:xfrm>
              <a:off x="7032075" y="2924487"/>
              <a:ext cx="1598400" cy="818700"/>
              <a:chOff x="2442850" y="2371862"/>
              <a:chExt cx="1598400" cy="818700"/>
            </a:xfrm>
          </p:grpSpPr>
          <p:sp>
            <p:nvSpPr>
              <p:cNvPr id="2497" name="Google Shape;2497;p100"/>
              <p:cNvSpPr/>
              <p:nvPr/>
            </p:nvSpPr>
            <p:spPr>
              <a:xfrm>
                <a:off x="2442850" y="2371862"/>
                <a:ext cx="15984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customers</a:t>
                </a:r>
                <a:endParaRPr sz="800">
                  <a:solidFill>
                    <a:schemeClr val="accent1"/>
                  </a:solidFill>
                  <a:latin typeface="DM Sans Medium"/>
                  <a:ea typeface="DM Sans Medium"/>
                  <a:cs typeface="DM Sans Medium"/>
                  <a:sym typeface="DM Sans Medium"/>
                </a:endParaRPr>
              </a:p>
            </p:txBody>
          </p:sp>
          <p:sp>
            <p:nvSpPr>
              <p:cNvPr id="2498" name="Google Shape;2498;p100"/>
              <p:cNvSpPr/>
              <p:nvPr/>
            </p:nvSpPr>
            <p:spPr>
              <a:xfrm>
                <a:off x="2755331" y="2537882"/>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p1</a:t>
                </a:r>
                <a:endParaRPr sz="700">
                  <a:solidFill>
                    <a:schemeClr val="accent1"/>
                  </a:solidFill>
                  <a:latin typeface="DM Sans Medium"/>
                  <a:ea typeface="DM Sans Medium"/>
                  <a:cs typeface="DM Sans Medium"/>
                  <a:sym typeface="DM Sans Medium"/>
                </a:endParaRPr>
              </a:p>
            </p:txBody>
          </p:sp>
          <p:sp>
            <p:nvSpPr>
              <p:cNvPr id="2499" name="Google Shape;2499;p100"/>
              <p:cNvSpPr/>
              <p:nvPr/>
            </p:nvSpPr>
            <p:spPr>
              <a:xfrm>
                <a:off x="3780421" y="3019830"/>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pn</a:t>
                </a:r>
                <a:endParaRPr sz="700">
                  <a:solidFill>
                    <a:schemeClr val="accent1"/>
                  </a:solidFill>
                  <a:latin typeface="DM Sans Medium"/>
                  <a:ea typeface="DM Sans Medium"/>
                  <a:cs typeface="DM Sans Medium"/>
                  <a:sym typeface="DM Sans Medium"/>
                </a:endParaRPr>
              </a:p>
            </p:txBody>
          </p:sp>
          <p:sp>
            <p:nvSpPr>
              <p:cNvPr id="2500" name="Google Shape;2500;p100"/>
              <p:cNvSpPr/>
              <p:nvPr/>
            </p:nvSpPr>
            <p:spPr>
              <a:xfrm>
                <a:off x="3018312" y="2537882"/>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p2</a:t>
                </a:r>
                <a:endParaRPr sz="700">
                  <a:solidFill>
                    <a:schemeClr val="accent1"/>
                  </a:solidFill>
                  <a:latin typeface="DM Sans Medium"/>
                  <a:ea typeface="DM Sans Medium"/>
                  <a:cs typeface="DM Sans Medium"/>
                  <a:sym typeface="DM Sans Medium"/>
                </a:endParaRPr>
              </a:p>
            </p:txBody>
          </p:sp>
          <p:sp>
            <p:nvSpPr>
              <p:cNvPr id="2501" name="Google Shape;2501;p100"/>
              <p:cNvSpPr/>
              <p:nvPr/>
            </p:nvSpPr>
            <p:spPr>
              <a:xfrm>
                <a:off x="3254460" y="2537882"/>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p3</a:t>
                </a:r>
                <a:endParaRPr sz="700">
                  <a:solidFill>
                    <a:schemeClr val="accent1"/>
                  </a:solidFill>
                  <a:latin typeface="DM Sans Medium"/>
                  <a:ea typeface="DM Sans Medium"/>
                  <a:cs typeface="DM Sans Medium"/>
                  <a:sym typeface="DM Sans Medium"/>
                </a:endParaRPr>
              </a:p>
            </p:txBody>
          </p:sp>
          <p:sp>
            <p:nvSpPr>
              <p:cNvPr id="2502" name="Google Shape;2502;p100"/>
              <p:cNvSpPr/>
              <p:nvPr/>
            </p:nvSpPr>
            <p:spPr>
              <a:xfrm>
                <a:off x="3517441" y="2537882"/>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3" name="Google Shape;2503;p100"/>
              <p:cNvSpPr/>
              <p:nvPr/>
            </p:nvSpPr>
            <p:spPr>
              <a:xfrm>
                <a:off x="2755331" y="2698530"/>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4" name="Google Shape;2504;p100"/>
              <p:cNvSpPr/>
              <p:nvPr/>
            </p:nvSpPr>
            <p:spPr>
              <a:xfrm>
                <a:off x="3018312" y="2698530"/>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5" name="Google Shape;2505;p100"/>
              <p:cNvSpPr/>
              <p:nvPr/>
            </p:nvSpPr>
            <p:spPr>
              <a:xfrm>
                <a:off x="3254460" y="2698530"/>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6" name="Google Shape;2506;p100"/>
              <p:cNvSpPr/>
              <p:nvPr/>
            </p:nvSpPr>
            <p:spPr>
              <a:xfrm>
                <a:off x="3517441" y="2698530"/>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7" name="Google Shape;2507;p100"/>
              <p:cNvSpPr/>
              <p:nvPr/>
            </p:nvSpPr>
            <p:spPr>
              <a:xfrm>
                <a:off x="2755331" y="2859178"/>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8" name="Google Shape;2508;p100"/>
              <p:cNvSpPr/>
              <p:nvPr/>
            </p:nvSpPr>
            <p:spPr>
              <a:xfrm>
                <a:off x="3018312" y="2859178"/>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09" name="Google Shape;2509;p100"/>
              <p:cNvSpPr/>
              <p:nvPr/>
            </p:nvSpPr>
            <p:spPr>
              <a:xfrm>
                <a:off x="3254460" y="2859178"/>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0" name="Google Shape;2510;p100"/>
              <p:cNvSpPr/>
              <p:nvPr/>
            </p:nvSpPr>
            <p:spPr>
              <a:xfrm>
                <a:off x="3517441" y="2859178"/>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1" name="Google Shape;2511;p100"/>
              <p:cNvSpPr/>
              <p:nvPr/>
            </p:nvSpPr>
            <p:spPr>
              <a:xfrm>
                <a:off x="2755331" y="3019826"/>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2" name="Google Shape;2512;p100"/>
              <p:cNvSpPr/>
              <p:nvPr/>
            </p:nvSpPr>
            <p:spPr>
              <a:xfrm>
                <a:off x="3018312" y="3019826"/>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3" name="Google Shape;2513;p100"/>
              <p:cNvSpPr/>
              <p:nvPr/>
            </p:nvSpPr>
            <p:spPr>
              <a:xfrm>
                <a:off x="3254460" y="3019826"/>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4" name="Google Shape;2514;p100"/>
              <p:cNvSpPr/>
              <p:nvPr/>
            </p:nvSpPr>
            <p:spPr>
              <a:xfrm>
                <a:off x="3517441" y="3019826"/>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5" name="Google Shape;2515;p100"/>
              <p:cNvSpPr/>
              <p:nvPr/>
            </p:nvSpPr>
            <p:spPr>
              <a:xfrm>
                <a:off x="3780421" y="2537882"/>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6" name="Google Shape;2516;p100"/>
              <p:cNvSpPr/>
              <p:nvPr/>
            </p:nvSpPr>
            <p:spPr>
              <a:xfrm>
                <a:off x="3780421" y="2698530"/>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7" name="Google Shape;2517;p100"/>
              <p:cNvSpPr/>
              <p:nvPr/>
            </p:nvSpPr>
            <p:spPr>
              <a:xfrm>
                <a:off x="3780421" y="2859178"/>
                <a:ext cx="202800" cy="1200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0" lIns="45700" spcFirstLastPara="1" rIns="0" wrap="square" tIns="0">
                <a:noAutofit/>
              </a:bodyPr>
              <a:lstStyle/>
              <a:p>
                <a:pPr indent="0" lvl="0" marL="0" rtl="0" algn="l">
                  <a:spcBef>
                    <a:spcPts val="0"/>
                  </a:spcBef>
                  <a:spcAft>
                    <a:spcPts val="0"/>
                  </a:spcAft>
                  <a:buNone/>
                </a:pPr>
                <a:r>
                  <a:rPr lang="en" sz="700">
                    <a:solidFill>
                      <a:schemeClr val="accent1"/>
                    </a:solidFill>
                    <a:latin typeface="DM Sans Medium"/>
                    <a:ea typeface="DM Sans Medium"/>
                    <a:cs typeface="DM Sans Medium"/>
                    <a:sym typeface="DM Sans Medium"/>
                  </a:rPr>
                  <a:t>p..</a:t>
                </a:r>
                <a:endParaRPr sz="700">
                  <a:solidFill>
                    <a:schemeClr val="accent1"/>
                  </a:solidFill>
                  <a:latin typeface="DM Sans Medium"/>
                  <a:ea typeface="DM Sans Medium"/>
                  <a:cs typeface="DM Sans Medium"/>
                  <a:sym typeface="DM Sans Medium"/>
                </a:endParaRPr>
              </a:p>
            </p:txBody>
          </p:sp>
          <p:sp>
            <p:nvSpPr>
              <p:cNvPr id="2518" name="Google Shape;2518;p100"/>
              <p:cNvSpPr/>
              <p:nvPr/>
            </p:nvSpPr>
            <p:spPr>
              <a:xfrm rot="-5398311">
                <a:off x="2279291" y="2761375"/>
                <a:ext cx="6105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solidFill>
                      <a:schemeClr val="accent2"/>
                    </a:solidFill>
                    <a:latin typeface="DM Sans Medium"/>
                    <a:ea typeface="DM Sans Medium"/>
                    <a:cs typeface="DM Sans Medium"/>
                    <a:sym typeface="DM Sans Medium"/>
                  </a:rPr>
                  <a:t>TX log</a:t>
                </a:r>
                <a:endParaRPr sz="1000">
                  <a:solidFill>
                    <a:schemeClr val="accent2"/>
                  </a:solidFill>
                  <a:latin typeface="DM Sans Medium"/>
                  <a:ea typeface="DM Sans Medium"/>
                  <a:cs typeface="DM Sans Medium"/>
                  <a:sym typeface="DM Sans Medium"/>
                </a:endParaRPr>
              </a:p>
            </p:txBody>
          </p:sp>
        </p:grpSp>
        <p:grpSp>
          <p:nvGrpSpPr>
            <p:cNvPr id="2519" name="Google Shape;2519;p100"/>
            <p:cNvGrpSpPr/>
            <p:nvPr/>
          </p:nvGrpSpPr>
          <p:grpSpPr>
            <a:xfrm>
              <a:off x="9385801" y="2396675"/>
              <a:ext cx="1256700" cy="818700"/>
              <a:chOff x="2784450" y="4349050"/>
              <a:chExt cx="1256700" cy="818700"/>
            </a:xfrm>
          </p:grpSpPr>
          <p:sp>
            <p:nvSpPr>
              <p:cNvPr id="2520" name="Google Shape;2520;p100"/>
              <p:cNvSpPr/>
              <p:nvPr/>
            </p:nvSpPr>
            <p:spPr>
              <a:xfrm>
                <a:off x="2784450" y="4349050"/>
                <a:ext cx="12567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customers</a:t>
                </a:r>
                <a:endParaRPr sz="800">
                  <a:solidFill>
                    <a:schemeClr val="accent1"/>
                  </a:solidFill>
                  <a:latin typeface="DM Sans Medium"/>
                  <a:ea typeface="DM Sans Medium"/>
                  <a:cs typeface="DM Sans Medium"/>
                  <a:sym typeface="DM Sans Medium"/>
                </a:endParaRPr>
              </a:p>
            </p:txBody>
          </p:sp>
          <p:sp>
            <p:nvSpPr>
              <p:cNvPr id="2521" name="Google Shape;2521;p100"/>
              <p:cNvSpPr/>
              <p:nvPr/>
            </p:nvSpPr>
            <p:spPr>
              <a:xfrm rot="-5398266">
                <a:off x="2638099" y="4718725"/>
                <a:ext cx="5946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solidFill>
                      <a:schemeClr val="accent2"/>
                    </a:solidFill>
                    <a:latin typeface="DM Sans"/>
                    <a:ea typeface="DM Sans"/>
                    <a:cs typeface="DM Sans"/>
                    <a:sym typeface="DM Sans"/>
                  </a:rPr>
                  <a:t>TX log</a:t>
                </a:r>
                <a:endParaRPr sz="1000">
                  <a:solidFill>
                    <a:schemeClr val="accent2"/>
                  </a:solidFill>
                  <a:latin typeface="DM Sans"/>
                  <a:ea typeface="DM Sans"/>
                  <a:cs typeface="DM Sans"/>
                  <a:sym typeface="DM Sans"/>
                </a:endParaRPr>
              </a:p>
            </p:txBody>
          </p:sp>
          <p:grpSp>
            <p:nvGrpSpPr>
              <p:cNvPr id="2522" name="Google Shape;2522;p100"/>
              <p:cNvGrpSpPr/>
              <p:nvPr/>
            </p:nvGrpSpPr>
            <p:grpSpPr>
              <a:xfrm>
                <a:off x="3100071" y="4486211"/>
                <a:ext cx="883166" cy="604076"/>
                <a:chOff x="7158249" y="4847990"/>
                <a:chExt cx="1944870" cy="1330270"/>
              </a:xfrm>
            </p:grpSpPr>
            <p:sp>
              <p:nvSpPr>
                <p:cNvPr id="2523" name="Google Shape;2523;p100"/>
                <p:cNvSpPr/>
                <p:nvPr/>
              </p:nvSpPr>
              <p:spPr>
                <a:xfrm>
                  <a:off x="7158249" y="5913060"/>
                  <a:ext cx="19446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p4’</a:t>
                  </a:r>
                  <a:endParaRPr sz="800">
                    <a:solidFill>
                      <a:schemeClr val="accent1"/>
                    </a:solidFill>
                    <a:latin typeface="DM Sans Medium"/>
                    <a:ea typeface="DM Sans Medium"/>
                    <a:cs typeface="DM Sans Medium"/>
                    <a:sym typeface="DM Sans Medium"/>
                  </a:endParaRPr>
                </a:p>
              </p:txBody>
            </p:sp>
            <p:sp>
              <p:nvSpPr>
                <p:cNvPr id="2524" name="Google Shape;2524;p100"/>
                <p:cNvSpPr/>
                <p:nvPr/>
              </p:nvSpPr>
              <p:spPr>
                <a:xfrm>
                  <a:off x="7390594" y="4847990"/>
                  <a:ext cx="17124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525" name="Google Shape;2525;p100"/>
                <p:cNvSpPr/>
                <p:nvPr/>
              </p:nvSpPr>
              <p:spPr>
                <a:xfrm>
                  <a:off x="7278220" y="5203013"/>
                  <a:ext cx="18249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sp>
              <p:nvSpPr>
                <p:cNvPr id="2526" name="Google Shape;2526;p100"/>
                <p:cNvSpPr/>
                <p:nvPr/>
              </p:nvSpPr>
              <p:spPr>
                <a:xfrm>
                  <a:off x="7451482" y="5558037"/>
                  <a:ext cx="1651500" cy="2652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grpSp>
        </p:grpSp>
      </p:grpSp>
      <p:grpSp>
        <p:nvGrpSpPr>
          <p:cNvPr id="2527" name="Google Shape;2527;p100"/>
          <p:cNvGrpSpPr/>
          <p:nvPr/>
        </p:nvGrpSpPr>
        <p:grpSpPr>
          <a:xfrm>
            <a:off x="772100" y="1233575"/>
            <a:ext cx="5150400" cy="2697275"/>
            <a:chOff x="619700" y="1233575"/>
            <a:chExt cx="5150400" cy="2697275"/>
          </a:xfrm>
        </p:grpSpPr>
        <p:sp>
          <p:nvSpPr>
            <p:cNvPr id="2528" name="Google Shape;2528;p100"/>
            <p:cNvSpPr/>
            <p:nvPr/>
          </p:nvSpPr>
          <p:spPr>
            <a:xfrm>
              <a:off x="619700" y="1259950"/>
              <a:ext cx="5150400" cy="26709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2529" name="Google Shape;2529;p100"/>
            <p:cNvSpPr txBox="1"/>
            <p:nvPr/>
          </p:nvSpPr>
          <p:spPr>
            <a:xfrm>
              <a:off x="1302129" y="1233575"/>
              <a:ext cx="3785700" cy="48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accent5"/>
                  </a:solidFill>
                  <a:latin typeface="DM Sans Medium"/>
                  <a:ea typeface="DM Sans Medium"/>
                  <a:cs typeface="DM Sans Medium"/>
                  <a:sym typeface="DM Sans Medium"/>
                </a:rPr>
                <a:t>Consistency</a:t>
              </a:r>
              <a:r>
                <a:rPr lang="en" sz="1500">
                  <a:solidFill>
                    <a:srgbClr val="618793"/>
                  </a:solidFill>
                  <a:latin typeface="DM Sans Medium"/>
                  <a:ea typeface="DM Sans Medium"/>
                  <a:cs typeface="DM Sans Medium"/>
                  <a:sym typeface="DM Sans Medium"/>
                </a:rPr>
                <a:t> </a:t>
              </a:r>
              <a:br>
                <a:rPr lang="en" sz="1500">
                  <a:solidFill>
                    <a:srgbClr val="618793"/>
                  </a:solidFill>
                  <a:latin typeface="DM Sans Medium"/>
                  <a:ea typeface="DM Sans Medium"/>
                  <a:cs typeface="DM Sans Medium"/>
                  <a:sym typeface="DM Sans Medium"/>
                </a:rPr>
              </a:br>
              <a:r>
                <a:rPr lang="en" sz="1300">
                  <a:solidFill>
                    <a:schemeClr val="accent1"/>
                  </a:solidFill>
                  <a:latin typeface="DM Sans"/>
                  <a:ea typeface="DM Sans"/>
                  <a:cs typeface="DM Sans"/>
                  <a:sym typeface="DM Sans"/>
                </a:rPr>
                <a:t>(never read broken, unfinished or wrong data)</a:t>
              </a:r>
              <a:endParaRPr sz="1300">
                <a:solidFill>
                  <a:schemeClr val="accent1"/>
                </a:solidFill>
                <a:latin typeface="DM Sans"/>
                <a:ea typeface="DM Sans"/>
                <a:cs typeface="DM Sans"/>
                <a:sym typeface="DM Sans"/>
              </a:endParaRPr>
            </a:p>
          </p:txBody>
        </p:sp>
        <p:sp>
          <p:nvSpPr>
            <p:cNvPr id="2530" name="Google Shape;2530;p100"/>
            <p:cNvSpPr/>
            <p:nvPr/>
          </p:nvSpPr>
          <p:spPr>
            <a:xfrm>
              <a:off x="901928" y="2222966"/>
              <a:ext cx="1153200" cy="2727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write</a:t>
              </a:r>
              <a:endParaRPr>
                <a:solidFill>
                  <a:schemeClr val="accent1"/>
                </a:solidFill>
                <a:latin typeface="DM Sans"/>
                <a:ea typeface="DM Sans"/>
                <a:cs typeface="DM Sans"/>
                <a:sym typeface="DM Sans"/>
              </a:endParaRPr>
            </a:p>
          </p:txBody>
        </p:sp>
        <p:cxnSp>
          <p:nvCxnSpPr>
            <p:cNvPr id="2531" name="Google Shape;2531;p100"/>
            <p:cNvCxnSpPr>
              <a:stCxn id="2530" idx="3"/>
            </p:cNvCxnSpPr>
            <p:nvPr/>
          </p:nvCxnSpPr>
          <p:spPr>
            <a:xfrm flipH="1" rot="10800000">
              <a:off x="2055128" y="2355716"/>
              <a:ext cx="415200" cy="3600"/>
            </a:xfrm>
            <a:prstGeom prst="straightConnector1">
              <a:avLst/>
            </a:prstGeom>
            <a:noFill/>
            <a:ln cap="flat" cmpd="sng" w="9525">
              <a:solidFill>
                <a:schemeClr val="accent1"/>
              </a:solidFill>
              <a:prstDash val="solid"/>
              <a:round/>
              <a:headEnd len="med" w="med" type="none"/>
              <a:tailEnd len="med" w="med" type="triangle"/>
            </a:ln>
          </p:spPr>
        </p:cxnSp>
        <p:sp>
          <p:nvSpPr>
            <p:cNvPr id="2532" name="Google Shape;2532;p100"/>
            <p:cNvSpPr txBox="1"/>
            <p:nvPr/>
          </p:nvSpPr>
          <p:spPr>
            <a:xfrm>
              <a:off x="5340060" y="2065721"/>
              <a:ext cx="3828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accent2"/>
                  </a:solidFill>
                </a:rPr>
                <a:t>✔︎</a:t>
              </a:r>
              <a:endParaRPr sz="2400">
                <a:solidFill>
                  <a:schemeClr val="accent2"/>
                </a:solidFill>
              </a:endParaRPr>
            </a:p>
          </p:txBody>
        </p:sp>
        <p:sp>
          <p:nvSpPr>
            <p:cNvPr id="2533" name="Google Shape;2533;p100"/>
            <p:cNvSpPr txBox="1"/>
            <p:nvPr/>
          </p:nvSpPr>
          <p:spPr>
            <a:xfrm>
              <a:off x="2382225" y="3325850"/>
              <a:ext cx="1897500" cy="2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DM Sans"/>
                  <a:ea typeface="DM Sans"/>
                  <a:cs typeface="DM Sans"/>
                  <a:sym typeface="DM Sans"/>
                </a:rPr>
                <a:t>Schema enforcement</a:t>
              </a:r>
              <a:endParaRPr sz="1200">
                <a:solidFill>
                  <a:schemeClr val="accent1"/>
                </a:solidFill>
                <a:latin typeface="DM Sans"/>
                <a:ea typeface="DM Sans"/>
                <a:cs typeface="DM Sans"/>
                <a:sym typeface="DM Sans"/>
              </a:endParaRPr>
            </a:p>
          </p:txBody>
        </p:sp>
        <p:sp>
          <p:nvSpPr>
            <p:cNvPr id="2534" name="Google Shape;2534;p100"/>
            <p:cNvSpPr txBox="1"/>
            <p:nvPr/>
          </p:nvSpPr>
          <p:spPr>
            <a:xfrm>
              <a:off x="2107256" y="2302037"/>
              <a:ext cx="336300" cy="6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latin typeface="Barlow Black"/>
                  <a:ea typeface="Barlow Black"/>
                  <a:cs typeface="Barlow Black"/>
                  <a:sym typeface="Barlow Black"/>
                </a:rPr>
                <a:t>!</a:t>
              </a:r>
              <a:endParaRPr sz="1800">
                <a:solidFill>
                  <a:srgbClr val="FF0000"/>
                </a:solidFill>
                <a:latin typeface="Barlow Black"/>
                <a:ea typeface="Barlow Black"/>
                <a:cs typeface="Barlow Black"/>
                <a:sym typeface="Barlow Black"/>
              </a:endParaRPr>
            </a:p>
          </p:txBody>
        </p:sp>
        <p:sp>
          <p:nvSpPr>
            <p:cNvPr id="2535" name="Google Shape;2535;p100"/>
            <p:cNvSpPr txBox="1"/>
            <p:nvPr/>
          </p:nvSpPr>
          <p:spPr>
            <a:xfrm>
              <a:off x="2220655" y="3265419"/>
              <a:ext cx="336300" cy="6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latin typeface="Barlow Black"/>
                  <a:ea typeface="Barlow Black"/>
                  <a:cs typeface="Barlow Black"/>
                  <a:sym typeface="Barlow Black"/>
                </a:rPr>
                <a:t>!</a:t>
              </a:r>
              <a:endParaRPr sz="1800">
                <a:solidFill>
                  <a:srgbClr val="FF0000"/>
                </a:solidFill>
                <a:latin typeface="Barlow Black"/>
                <a:ea typeface="Barlow Black"/>
                <a:cs typeface="Barlow Black"/>
                <a:sym typeface="Barlow Black"/>
              </a:endParaRPr>
            </a:p>
          </p:txBody>
        </p:sp>
        <p:sp>
          <p:nvSpPr>
            <p:cNvPr id="2536" name="Google Shape;2536;p100"/>
            <p:cNvSpPr/>
            <p:nvPr/>
          </p:nvSpPr>
          <p:spPr>
            <a:xfrm>
              <a:off x="2458851" y="2168900"/>
              <a:ext cx="1256700" cy="818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t" bIns="0" lIns="45700" spcFirstLastPara="1" rIns="0" wrap="square" tIns="0">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customers</a:t>
              </a:r>
              <a:endParaRPr sz="800">
                <a:solidFill>
                  <a:schemeClr val="accent1"/>
                </a:solidFill>
                <a:latin typeface="DM Sans Medium"/>
                <a:ea typeface="DM Sans Medium"/>
                <a:cs typeface="DM Sans Medium"/>
                <a:sym typeface="DM Sans Medium"/>
              </a:endParaRPr>
            </a:p>
          </p:txBody>
        </p:sp>
        <p:sp>
          <p:nvSpPr>
            <p:cNvPr id="2537" name="Google Shape;2537;p100"/>
            <p:cNvSpPr/>
            <p:nvPr/>
          </p:nvSpPr>
          <p:spPr>
            <a:xfrm rot="-5398253">
              <a:off x="2314600" y="2536400"/>
              <a:ext cx="590400" cy="163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solidFill>
                    <a:schemeClr val="accent2"/>
                  </a:solidFill>
                  <a:latin typeface="DM Sans"/>
                  <a:ea typeface="DM Sans"/>
                  <a:cs typeface="DM Sans"/>
                  <a:sym typeface="DM Sans"/>
                </a:rPr>
                <a:t>TX log</a:t>
              </a:r>
              <a:endParaRPr sz="1000">
                <a:solidFill>
                  <a:schemeClr val="accent2"/>
                </a:solidFill>
                <a:latin typeface="DM Sans"/>
                <a:ea typeface="DM Sans"/>
                <a:cs typeface="DM Sans"/>
                <a:sym typeface="DM Sans"/>
              </a:endParaRPr>
            </a:p>
          </p:txBody>
        </p:sp>
        <p:sp>
          <p:nvSpPr>
            <p:cNvPr id="2538" name="Google Shape;2538;p100"/>
            <p:cNvSpPr/>
            <p:nvPr/>
          </p:nvSpPr>
          <p:spPr>
            <a:xfrm>
              <a:off x="2774472" y="2789710"/>
              <a:ext cx="882900" cy="1203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p4</a:t>
              </a:r>
              <a:endParaRPr sz="800">
                <a:solidFill>
                  <a:schemeClr val="accent1"/>
                </a:solidFill>
                <a:latin typeface="DM Sans Medium"/>
                <a:ea typeface="DM Sans Medium"/>
                <a:cs typeface="DM Sans Medium"/>
                <a:sym typeface="DM Sans Medium"/>
              </a:endParaRPr>
            </a:p>
          </p:txBody>
        </p:sp>
        <p:sp>
          <p:nvSpPr>
            <p:cNvPr id="2539" name="Google Shape;2539;p100"/>
            <p:cNvSpPr/>
            <p:nvPr/>
          </p:nvSpPr>
          <p:spPr>
            <a:xfrm>
              <a:off x="2879980" y="2306061"/>
              <a:ext cx="777600" cy="1203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p1</a:t>
              </a:r>
              <a:endParaRPr sz="800">
                <a:solidFill>
                  <a:schemeClr val="accent1"/>
                </a:solidFill>
                <a:latin typeface="DM Sans Medium"/>
                <a:ea typeface="DM Sans Medium"/>
                <a:cs typeface="DM Sans Medium"/>
                <a:sym typeface="DM Sans Medium"/>
              </a:endParaRPr>
            </a:p>
          </p:txBody>
        </p:sp>
        <p:sp>
          <p:nvSpPr>
            <p:cNvPr id="2540" name="Google Shape;2540;p100"/>
            <p:cNvSpPr/>
            <p:nvPr/>
          </p:nvSpPr>
          <p:spPr>
            <a:xfrm>
              <a:off x="2828951" y="2467277"/>
              <a:ext cx="828600" cy="1203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p2</a:t>
              </a:r>
              <a:endParaRPr sz="800">
                <a:solidFill>
                  <a:schemeClr val="accent1"/>
                </a:solidFill>
                <a:latin typeface="DM Sans Medium"/>
                <a:ea typeface="DM Sans Medium"/>
                <a:cs typeface="DM Sans Medium"/>
                <a:sym typeface="DM Sans Medium"/>
              </a:endParaRPr>
            </a:p>
          </p:txBody>
        </p:sp>
        <p:sp>
          <p:nvSpPr>
            <p:cNvPr id="2541" name="Google Shape;2541;p100"/>
            <p:cNvSpPr/>
            <p:nvPr/>
          </p:nvSpPr>
          <p:spPr>
            <a:xfrm>
              <a:off x="2907629" y="2628493"/>
              <a:ext cx="750000" cy="120300"/>
            </a:xfrm>
            <a:prstGeom prst="rect">
              <a:avLst/>
            </a:pr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accent1"/>
                  </a:solidFill>
                  <a:latin typeface="DM Sans Medium"/>
                  <a:ea typeface="DM Sans Medium"/>
                  <a:cs typeface="DM Sans Medium"/>
                  <a:sym typeface="DM Sans Medium"/>
                </a:rPr>
                <a:t>p3</a:t>
              </a:r>
              <a:endParaRPr sz="800">
                <a:solidFill>
                  <a:schemeClr val="accent1"/>
                </a:solidFill>
                <a:latin typeface="DM Sans Medium"/>
                <a:ea typeface="DM Sans Medium"/>
                <a:cs typeface="DM Sans Medium"/>
                <a:sym typeface="DM Sans Medium"/>
              </a:endParaRPr>
            </a:p>
          </p:txBody>
        </p:sp>
        <p:sp>
          <p:nvSpPr>
            <p:cNvPr id="2542" name="Google Shape;2542;p100"/>
            <p:cNvSpPr/>
            <p:nvPr/>
          </p:nvSpPr>
          <p:spPr>
            <a:xfrm>
              <a:off x="901928" y="2603966"/>
              <a:ext cx="1153200" cy="2727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stream</a:t>
              </a:r>
              <a:endParaRPr>
                <a:solidFill>
                  <a:schemeClr val="accent1"/>
                </a:solidFill>
                <a:latin typeface="DM Sans"/>
                <a:ea typeface="DM Sans"/>
                <a:cs typeface="DM Sans"/>
                <a:sym typeface="DM Sans"/>
              </a:endParaRPr>
            </a:p>
          </p:txBody>
        </p:sp>
        <p:cxnSp>
          <p:nvCxnSpPr>
            <p:cNvPr id="2543" name="Google Shape;2543;p100"/>
            <p:cNvCxnSpPr>
              <a:stCxn id="2542" idx="3"/>
            </p:cNvCxnSpPr>
            <p:nvPr/>
          </p:nvCxnSpPr>
          <p:spPr>
            <a:xfrm flipH="1" rot="10800000">
              <a:off x="2055128" y="2736716"/>
              <a:ext cx="415200" cy="3600"/>
            </a:xfrm>
            <a:prstGeom prst="straightConnector1">
              <a:avLst/>
            </a:prstGeom>
            <a:noFill/>
            <a:ln cap="flat" cmpd="sng" w="9525">
              <a:solidFill>
                <a:schemeClr val="accent1"/>
              </a:solidFill>
              <a:prstDash val="solid"/>
              <a:round/>
              <a:headEnd len="med" w="med" type="none"/>
              <a:tailEnd len="med" w="med" type="triangle"/>
            </a:ln>
          </p:spPr>
        </p:cxnSp>
        <p:sp>
          <p:nvSpPr>
            <p:cNvPr id="2544" name="Google Shape;2544;p100"/>
            <p:cNvSpPr/>
            <p:nvPr/>
          </p:nvSpPr>
          <p:spPr>
            <a:xfrm>
              <a:off x="4237546" y="2213351"/>
              <a:ext cx="1153200" cy="2727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read</a:t>
              </a:r>
              <a:endParaRPr>
                <a:solidFill>
                  <a:schemeClr val="accent1"/>
                </a:solidFill>
                <a:latin typeface="DM Sans"/>
                <a:ea typeface="DM Sans"/>
                <a:cs typeface="DM Sans"/>
                <a:sym typeface="DM Sans"/>
              </a:endParaRPr>
            </a:p>
          </p:txBody>
        </p:sp>
        <p:cxnSp>
          <p:nvCxnSpPr>
            <p:cNvPr id="2545" name="Google Shape;2545;p100"/>
            <p:cNvCxnSpPr>
              <a:endCxn id="2544" idx="1"/>
            </p:cNvCxnSpPr>
            <p:nvPr/>
          </p:nvCxnSpPr>
          <p:spPr>
            <a:xfrm>
              <a:off x="3715546" y="2349701"/>
              <a:ext cx="522000" cy="0"/>
            </a:xfrm>
            <a:prstGeom prst="straightConnector1">
              <a:avLst/>
            </a:prstGeom>
            <a:noFill/>
            <a:ln cap="flat" cmpd="sng" w="9525">
              <a:solidFill>
                <a:schemeClr val="accent1"/>
              </a:solidFill>
              <a:prstDash val="solid"/>
              <a:round/>
              <a:headEnd len="med" w="med" type="none"/>
              <a:tailEnd len="med" w="med" type="triangle"/>
            </a:ln>
          </p:spPr>
        </p:cxnSp>
        <p:sp>
          <p:nvSpPr>
            <p:cNvPr id="2546" name="Google Shape;2546;p100"/>
            <p:cNvSpPr/>
            <p:nvPr/>
          </p:nvSpPr>
          <p:spPr>
            <a:xfrm>
              <a:off x="4237546" y="2594351"/>
              <a:ext cx="1153200" cy="272700"/>
            </a:xfrm>
            <a:prstGeom prst="roundRect">
              <a:avLst>
                <a:gd fmla="val 16667" name="adj"/>
              </a:avLst>
            </a:prstGeom>
            <a:solidFill>
              <a:srgbClr val="FFFFFF">
                <a:alpha val="7325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a:ea typeface="DM Sans"/>
                  <a:cs typeface="DM Sans"/>
                  <a:sym typeface="DM Sans"/>
                </a:rPr>
                <a:t>stream</a:t>
              </a:r>
              <a:endParaRPr>
                <a:solidFill>
                  <a:schemeClr val="accent1"/>
                </a:solidFill>
                <a:latin typeface="DM Sans"/>
                <a:ea typeface="DM Sans"/>
                <a:cs typeface="DM Sans"/>
                <a:sym typeface="DM Sans"/>
              </a:endParaRPr>
            </a:p>
          </p:txBody>
        </p:sp>
        <p:cxnSp>
          <p:nvCxnSpPr>
            <p:cNvPr id="2547" name="Google Shape;2547;p100"/>
            <p:cNvCxnSpPr>
              <a:endCxn id="2546" idx="1"/>
            </p:cNvCxnSpPr>
            <p:nvPr/>
          </p:nvCxnSpPr>
          <p:spPr>
            <a:xfrm>
              <a:off x="3715546" y="2730701"/>
              <a:ext cx="522000" cy="0"/>
            </a:xfrm>
            <a:prstGeom prst="straightConnector1">
              <a:avLst/>
            </a:prstGeom>
            <a:noFill/>
            <a:ln cap="flat" cmpd="sng" w="9525">
              <a:solidFill>
                <a:schemeClr val="accent1"/>
              </a:solidFill>
              <a:prstDash val="solid"/>
              <a:round/>
              <a:headEnd len="med" w="med" type="none"/>
              <a:tailEnd len="med" w="med" type="triangle"/>
            </a:ln>
          </p:spPr>
        </p:cxnSp>
        <p:sp>
          <p:nvSpPr>
            <p:cNvPr id="2548" name="Google Shape;2548;p100"/>
            <p:cNvSpPr txBox="1"/>
            <p:nvPr/>
          </p:nvSpPr>
          <p:spPr>
            <a:xfrm>
              <a:off x="5340060" y="2446721"/>
              <a:ext cx="3828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accent2"/>
                  </a:solidFill>
                </a:rPr>
                <a:t>✔︎</a:t>
              </a:r>
              <a:endParaRPr sz="2400">
                <a:solidFill>
                  <a:schemeClr val="accent2"/>
                </a:solidFill>
              </a:endParaRPr>
            </a:p>
          </p:txBody>
        </p:sp>
      </p:grpSp>
      <p:sp>
        <p:nvSpPr>
          <p:cNvPr id="2549" name="Google Shape;2549;p10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4"/>
                                        </p:tgtEl>
                                        <p:attrNameLst>
                                          <p:attrName>style.visibility</p:attrName>
                                        </p:attrNameLst>
                                      </p:cBhvr>
                                      <p:to>
                                        <p:strVal val="visible"/>
                                      </p:to>
                                    </p:set>
                                    <p:animEffect filter="fade" transition="in">
                                      <p:cBhvr>
                                        <p:cTn dur="1000"/>
                                        <p:tgtEl>
                                          <p:spTgt spid="2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6"/>
                                        </p:tgtEl>
                                        <p:attrNameLst>
                                          <p:attrName>style.visibility</p:attrName>
                                        </p:attrNameLst>
                                      </p:cBhvr>
                                      <p:to>
                                        <p:strVal val="visible"/>
                                      </p:to>
                                    </p:set>
                                    <p:animEffect filter="fade" transition="in">
                                      <p:cBhvr>
                                        <p:cTn dur="1000"/>
                                        <p:tgtEl>
                                          <p:spTgt spid="2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8"/>
                                        </p:tgtEl>
                                        <p:attrNameLst>
                                          <p:attrName>style.visibility</p:attrName>
                                        </p:attrNameLst>
                                      </p:cBhvr>
                                      <p:to>
                                        <p:strVal val="visible"/>
                                      </p:to>
                                    </p:set>
                                    <p:animEffect filter="fade" transition="in">
                                      <p:cBhvr>
                                        <p:cTn dur="1000"/>
                                        <p:tgtEl>
                                          <p:spTgt spid="2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3" name="Shape 2553"/>
        <p:cNvGrpSpPr/>
        <p:nvPr/>
      </p:nvGrpSpPr>
      <p:grpSpPr>
        <a:xfrm>
          <a:off x="0" y="0"/>
          <a:ext cx="0" cy="0"/>
          <a:chOff x="0" y="0"/>
          <a:chExt cx="0" cy="0"/>
        </a:xfrm>
      </p:grpSpPr>
      <p:sp>
        <p:nvSpPr>
          <p:cNvPr id="2554" name="Google Shape;2554;p101"/>
          <p:cNvSpPr/>
          <p:nvPr/>
        </p:nvSpPr>
        <p:spPr>
          <a:xfrm>
            <a:off x="8899650" y="2422547"/>
            <a:ext cx="2585100" cy="197700"/>
          </a:xfrm>
          <a:prstGeom prst="rect">
            <a:avLst/>
          </a:prstGeom>
          <a:solidFill>
            <a:schemeClr val="lt2"/>
          </a:solidFill>
          <a:ln>
            <a:noFill/>
          </a:ln>
        </p:spPr>
        <p:txBody>
          <a:bodyPr anchorCtr="0" anchor="ctr" bIns="68575" lIns="0" spcFirstLastPara="1" rIns="0" wrap="square" tIns="68575">
            <a:noAutofit/>
          </a:bodyPr>
          <a:lstStyle/>
          <a:p>
            <a:pPr indent="0" lvl="0" marL="0" marR="0" rtl="0" algn="ctr">
              <a:lnSpc>
                <a:spcPct val="100000"/>
              </a:lnSpc>
              <a:spcBef>
                <a:spcPts val="0"/>
              </a:spcBef>
              <a:spcAft>
                <a:spcPts val="0"/>
              </a:spcAft>
              <a:buNone/>
            </a:pPr>
            <a:r>
              <a:rPr lang="en" sz="1000">
                <a:solidFill>
                  <a:schemeClr val="accent1"/>
                </a:solidFill>
                <a:latin typeface="DM Sans SemiBold"/>
                <a:ea typeface="DM Sans SemiBold"/>
                <a:cs typeface="DM Sans SemiBold"/>
                <a:sym typeface="DM Sans SemiBold"/>
              </a:rPr>
              <a:t>FOREIGN CATALOGS</a:t>
            </a:r>
            <a:endParaRPr sz="1000">
              <a:solidFill>
                <a:schemeClr val="accent1"/>
              </a:solidFill>
              <a:latin typeface="DM Sans SemiBold"/>
              <a:ea typeface="DM Sans SemiBold"/>
              <a:cs typeface="DM Sans SemiBold"/>
              <a:sym typeface="DM Sans SemiBold"/>
            </a:endParaRPr>
          </a:p>
        </p:txBody>
      </p:sp>
      <p:sp>
        <p:nvSpPr>
          <p:cNvPr id="2555" name="Google Shape;2555;p101"/>
          <p:cNvSpPr/>
          <p:nvPr/>
        </p:nvSpPr>
        <p:spPr>
          <a:xfrm>
            <a:off x="5396600" y="2595000"/>
            <a:ext cx="2102100" cy="1626300"/>
          </a:xfrm>
          <a:prstGeom prst="roundRect">
            <a:avLst>
              <a:gd fmla="val 6331" name="adj"/>
            </a:avLst>
          </a:prstGeom>
          <a:solidFill>
            <a:srgbClr val="FFFFFF"/>
          </a:solidFill>
          <a:ln cap="flat" cmpd="sng" w="19050">
            <a:solidFill>
              <a:schemeClr val="accent4"/>
            </a:solidFill>
            <a:prstDash val="solid"/>
            <a:round/>
            <a:headEnd len="sm" w="sm" type="none"/>
            <a:tailEnd len="sm" w="sm" type="none"/>
          </a:ln>
        </p:spPr>
        <p:txBody>
          <a:bodyPr anchorCtr="0" anchor="b" bIns="0" lIns="91425" spcFirstLastPara="1" rIns="91425" wrap="square" tIns="0">
            <a:noAutofit/>
          </a:bodyPr>
          <a:lstStyle/>
          <a:p>
            <a:pPr indent="0" lvl="0" marL="0" marR="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Unity Catalog</a:t>
            </a:r>
            <a:endParaRPr>
              <a:solidFill>
                <a:schemeClr val="accent1"/>
              </a:solidFill>
              <a:latin typeface="DM Sans Medium"/>
              <a:ea typeface="DM Sans Medium"/>
              <a:cs typeface="DM Sans Medium"/>
              <a:sym typeface="DM Sans Medium"/>
            </a:endParaRPr>
          </a:p>
        </p:txBody>
      </p:sp>
      <p:sp>
        <p:nvSpPr>
          <p:cNvPr id="2556" name="Google Shape;2556;p101"/>
          <p:cNvSpPr/>
          <p:nvPr/>
        </p:nvSpPr>
        <p:spPr>
          <a:xfrm>
            <a:off x="6603150" y="2840223"/>
            <a:ext cx="696000" cy="369300"/>
          </a:xfrm>
          <a:prstGeom prst="rect">
            <a:avLst/>
          </a:prstGeom>
          <a:no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lnSpc>
                <a:spcPct val="90000"/>
              </a:lnSpc>
              <a:spcBef>
                <a:spcPts val="0"/>
              </a:spcBef>
              <a:spcAft>
                <a:spcPts val="0"/>
              </a:spcAft>
              <a:buNone/>
            </a:pPr>
            <a:r>
              <a:rPr lang="en" sz="1100">
                <a:solidFill>
                  <a:schemeClr val="accent1"/>
                </a:solidFill>
                <a:latin typeface="DM Sans"/>
                <a:ea typeface="DM Sans"/>
                <a:cs typeface="DM Sans"/>
                <a:sym typeface="DM Sans"/>
              </a:rPr>
              <a:t>Foreign Catalog</a:t>
            </a:r>
            <a:endParaRPr sz="1100">
              <a:solidFill>
                <a:schemeClr val="accent1"/>
              </a:solidFill>
              <a:latin typeface="DM Sans"/>
              <a:ea typeface="DM Sans"/>
              <a:cs typeface="DM Sans"/>
              <a:sym typeface="DM Sans"/>
            </a:endParaRPr>
          </a:p>
        </p:txBody>
      </p:sp>
      <p:sp>
        <p:nvSpPr>
          <p:cNvPr id="2557" name="Google Shape;2557;p101"/>
          <p:cNvSpPr/>
          <p:nvPr/>
        </p:nvSpPr>
        <p:spPr>
          <a:xfrm>
            <a:off x="6603150" y="3516288"/>
            <a:ext cx="696000" cy="3693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lnSpc>
                <a:spcPct val="90000"/>
              </a:lnSpc>
              <a:spcBef>
                <a:spcPts val="0"/>
              </a:spcBef>
              <a:spcAft>
                <a:spcPts val="0"/>
              </a:spcAft>
              <a:buNone/>
            </a:pPr>
            <a:r>
              <a:rPr lang="en" sz="1100">
                <a:solidFill>
                  <a:schemeClr val="accent1"/>
                </a:solidFill>
                <a:latin typeface="DM Sans"/>
                <a:ea typeface="DM Sans"/>
                <a:cs typeface="DM Sans"/>
                <a:sym typeface="DM Sans"/>
              </a:rPr>
              <a:t>External Location</a:t>
            </a:r>
            <a:endParaRPr sz="1100">
              <a:solidFill>
                <a:schemeClr val="accent1"/>
              </a:solidFill>
              <a:latin typeface="DM Sans"/>
              <a:ea typeface="DM Sans"/>
              <a:cs typeface="DM Sans"/>
              <a:sym typeface="DM Sans"/>
            </a:endParaRPr>
          </a:p>
        </p:txBody>
      </p:sp>
      <p:sp>
        <p:nvSpPr>
          <p:cNvPr id="2558" name="Google Shape;2558;p101"/>
          <p:cNvSpPr/>
          <p:nvPr/>
        </p:nvSpPr>
        <p:spPr>
          <a:xfrm>
            <a:off x="8899650" y="2425672"/>
            <a:ext cx="2585100" cy="921600"/>
          </a:xfrm>
          <a:prstGeom prst="rect">
            <a:avLst/>
          </a:prstGeom>
          <a:noFill/>
          <a:ln cap="flat" cmpd="sng" w="9525">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1100">
                <a:latin typeface="DM Sans"/>
                <a:ea typeface="DM Sans"/>
                <a:cs typeface="DM Sans"/>
                <a:sym typeface="DM Sans"/>
              </a:rPr>
              <a:t>  </a:t>
            </a:r>
            <a:endParaRPr sz="1100">
              <a:latin typeface="DM Sans"/>
              <a:ea typeface="DM Sans"/>
              <a:cs typeface="DM Sans"/>
              <a:sym typeface="DM Sans"/>
            </a:endParaRPr>
          </a:p>
        </p:txBody>
      </p:sp>
      <p:sp>
        <p:nvSpPr>
          <p:cNvPr id="2559" name="Google Shape;2559;p101"/>
          <p:cNvSpPr/>
          <p:nvPr/>
        </p:nvSpPr>
        <p:spPr>
          <a:xfrm>
            <a:off x="800305" y="3468041"/>
            <a:ext cx="3182100" cy="197700"/>
          </a:xfrm>
          <a:prstGeom prst="rect">
            <a:avLst/>
          </a:prstGeom>
          <a:solidFill>
            <a:schemeClr val="lt2"/>
          </a:solidFill>
          <a:ln>
            <a:noFill/>
          </a:ln>
        </p:spPr>
        <p:txBody>
          <a:bodyPr anchorCtr="0" anchor="ctr" bIns="68575" lIns="0" spcFirstLastPara="1" rIns="0" wrap="square" tIns="68575">
            <a:noAutofit/>
          </a:bodyPr>
          <a:lstStyle/>
          <a:p>
            <a:pPr indent="0" lvl="0" marL="0" marR="0" rtl="0" algn="ctr">
              <a:lnSpc>
                <a:spcPct val="100000"/>
              </a:lnSpc>
              <a:spcBef>
                <a:spcPts val="0"/>
              </a:spcBef>
              <a:spcAft>
                <a:spcPts val="0"/>
              </a:spcAft>
              <a:buNone/>
            </a:pPr>
            <a:r>
              <a:rPr lang="en" sz="1000">
                <a:solidFill>
                  <a:schemeClr val="accent1"/>
                </a:solidFill>
                <a:latin typeface="DM Sans SemiBold"/>
                <a:ea typeface="DM Sans SemiBold"/>
                <a:cs typeface="DM Sans SemiBold"/>
                <a:sym typeface="DM Sans SemiBold"/>
              </a:rPr>
              <a:t>ICEBERG CLIENTS</a:t>
            </a:r>
            <a:endParaRPr sz="1000">
              <a:solidFill>
                <a:schemeClr val="accent1"/>
              </a:solidFill>
              <a:latin typeface="DM Sans SemiBold"/>
              <a:ea typeface="DM Sans SemiBold"/>
              <a:cs typeface="DM Sans SemiBold"/>
              <a:sym typeface="DM Sans SemiBold"/>
            </a:endParaRPr>
          </a:p>
        </p:txBody>
      </p:sp>
      <p:sp>
        <p:nvSpPr>
          <p:cNvPr id="2560" name="Google Shape;2560;p101"/>
          <p:cNvSpPr/>
          <p:nvPr/>
        </p:nvSpPr>
        <p:spPr>
          <a:xfrm>
            <a:off x="800305" y="2205950"/>
            <a:ext cx="3182100" cy="197700"/>
          </a:xfrm>
          <a:prstGeom prst="rect">
            <a:avLst/>
          </a:prstGeom>
          <a:solidFill>
            <a:schemeClr val="lt2"/>
          </a:solidFill>
          <a:ln>
            <a:noFill/>
          </a:ln>
        </p:spPr>
        <p:txBody>
          <a:bodyPr anchorCtr="0" anchor="ctr" bIns="68575" lIns="0" spcFirstLastPara="1" rIns="0" wrap="square" tIns="68575">
            <a:noAutofit/>
          </a:bodyPr>
          <a:lstStyle/>
          <a:p>
            <a:pPr indent="0" lvl="0" marL="0" marR="0" rtl="0" algn="ctr">
              <a:lnSpc>
                <a:spcPct val="100000"/>
              </a:lnSpc>
              <a:spcBef>
                <a:spcPts val="0"/>
              </a:spcBef>
              <a:spcAft>
                <a:spcPts val="0"/>
              </a:spcAft>
              <a:buNone/>
            </a:pPr>
            <a:r>
              <a:rPr lang="en" sz="1000">
                <a:solidFill>
                  <a:schemeClr val="accent1"/>
                </a:solidFill>
                <a:latin typeface="DM Sans SemiBold"/>
                <a:ea typeface="DM Sans SemiBold"/>
                <a:cs typeface="DM Sans SemiBold"/>
                <a:sym typeface="DM Sans SemiBold"/>
              </a:rPr>
              <a:t>DELTA CLIENTS</a:t>
            </a:r>
            <a:endParaRPr sz="1000">
              <a:solidFill>
                <a:schemeClr val="accent1"/>
              </a:solidFill>
              <a:latin typeface="DM Sans SemiBold"/>
              <a:ea typeface="DM Sans SemiBold"/>
              <a:cs typeface="DM Sans SemiBold"/>
              <a:sym typeface="DM Sans SemiBold"/>
            </a:endParaRPr>
          </a:p>
        </p:txBody>
      </p:sp>
      <p:sp>
        <p:nvSpPr>
          <p:cNvPr id="2561" name="Google Shape;2561;p101"/>
          <p:cNvSpPr/>
          <p:nvPr/>
        </p:nvSpPr>
        <p:spPr>
          <a:xfrm>
            <a:off x="800305" y="3468041"/>
            <a:ext cx="3182100" cy="938700"/>
          </a:xfrm>
          <a:prstGeom prst="rect">
            <a:avLst/>
          </a:prstGeom>
          <a:noFill/>
          <a:ln cap="flat" cmpd="sng" w="9525">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100">
                <a:latin typeface="DM Sans"/>
                <a:ea typeface="DM Sans"/>
                <a:cs typeface="DM Sans"/>
                <a:sym typeface="DM Sans"/>
              </a:rPr>
              <a:t>  </a:t>
            </a:r>
            <a:endParaRPr sz="1100">
              <a:latin typeface="DM Sans"/>
              <a:ea typeface="DM Sans"/>
              <a:cs typeface="DM Sans"/>
              <a:sym typeface="DM Sans"/>
            </a:endParaRPr>
          </a:p>
        </p:txBody>
      </p:sp>
      <p:sp>
        <p:nvSpPr>
          <p:cNvPr id="2562" name="Google Shape;2562;p101"/>
          <p:cNvSpPr/>
          <p:nvPr/>
        </p:nvSpPr>
        <p:spPr>
          <a:xfrm>
            <a:off x="800305" y="2205950"/>
            <a:ext cx="3182100" cy="938700"/>
          </a:xfrm>
          <a:prstGeom prst="rect">
            <a:avLst/>
          </a:prstGeom>
          <a:noFill/>
          <a:ln cap="flat" cmpd="sng" w="9525">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None/>
            </a:pPr>
            <a:r>
              <a:rPr lang="en" sz="1100">
                <a:latin typeface="DM Sans"/>
                <a:ea typeface="DM Sans"/>
                <a:cs typeface="DM Sans"/>
                <a:sym typeface="DM Sans"/>
              </a:rPr>
              <a:t>  </a:t>
            </a:r>
            <a:endParaRPr sz="1100">
              <a:latin typeface="DM Sans"/>
              <a:ea typeface="DM Sans"/>
              <a:cs typeface="DM Sans"/>
              <a:sym typeface="DM Sans"/>
            </a:endParaRPr>
          </a:p>
        </p:txBody>
      </p:sp>
      <p:sp>
        <p:nvSpPr>
          <p:cNvPr id="2563" name="Google Shape;2563;p101"/>
          <p:cNvSpPr/>
          <p:nvPr/>
        </p:nvSpPr>
        <p:spPr>
          <a:xfrm>
            <a:off x="9581400" y="3589925"/>
            <a:ext cx="615600" cy="6951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latin typeface="DM Sans"/>
                <a:ea typeface="DM Sans"/>
                <a:cs typeface="DM Sans"/>
                <a:sym typeface="DM Sans"/>
              </a:rPr>
              <a:t>  </a:t>
            </a:r>
            <a:endParaRPr sz="1500">
              <a:latin typeface="DM Sans"/>
              <a:ea typeface="DM Sans"/>
              <a:cs typeface="DM Sans"/>
              <a:sym typeface="DM Sans"/>
            </a:endParaRPr>
          </a:p>
        </p:txBody>
      </p:sp>
      <p:sp>
        <p:nvSpPr>
          <p:cNvPr id="2564" name="Google Shape;2564;p101"/>
          <p:cNvSpPr/>
          <p:nvPr/>
        </p:nvSpPr>
        <p:spPr>
          <a:xfrm>
            <a:off x="8308000" y="3589925"/>
            <a:ext cx="1207200" cy="6951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latin typeface="DM Sans"/>
                <a:ea typeface="DM Sans"/>
                <a:cs typeface="DM Sans"/>
                <a:sym typeface="DM Sans"/>
              </a:rPr>
              <a:t>  </a:t>
            </a:r>
            <a:endParaRPr sz="1500">
              <a:latin typeface="DM Sans"/>
              <a:ea typeface="DM Sans"/>
              <a:cs typeface="DM Sans"/>
              <a:sym typeface="DM Sans"/>
            </a:endParaRPr>
          </a:p>
        </p:txBody>
      </p:sp>
      <p:sp>
        <p:nvSpPr>
          <p:cNvPr id="2565" name="Google Shape;2565;p101"/>
          <p:cNvSpPr txBox="1"/>
          <p:nvPr/>
        </p:nvSpPr>
        <p:spPr>
          <a:xfrm>
            <a:off x="7492371" y="2855222"/>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accent5"/>
                </a:solidFill>
                <a:latin typeface="DM Sans Medium"/>
                <a:ea typeface="DM Sans Medium"/>
                <a:cs typeface="DM Sans Medium"/>
                <a:sym typeface="DM Sans Medium"/>
              </a:rPr>
              <a:t>read</a:t>
            </a:r>
            <a:endParaRPr sz="800">
              <a:solidFill>
                <a:schemeClr val="accent5"/>
              </a:solidFill>
              <a:latin typeface="DM Sans Medium"/>
              <a:ea typeface="DM Sans Medium"/>
              <a:cs typeface="DM Sans Medium"/>
              <a:sym typeface="DM Sans Medium"/>
            </a:endParaRPr>
          </a:p>
        </p:txBody>
      </p:sp>
      <p:cxnSp>
        <p:nvCxnSpPr>
          <p:cNvPr id="2566" name="Google Shape;2566;p101"/>
          <p:cNvCxnSpPr/>
          <p:nvPr/>
        </p:nvCxnSpPr>
        <p:spPr>
          <a:xfrm>
            <a:off x="9201425" y="3346664"/>
            <a:ext cx="0" cy="243300"/>
          </a:xfrm>
          <a:prstGeom prst="straightConnector1">
            <a:avLst/>
          </a:prstGeom>
          <a:noFill/>
          <a:ln cap="flat" cmpd="sng" w="9525">
            <a:solidFill>
              <a:schemeClr val="accent1"/>
            </a:solidFill>
            <a:prstDash val="dash"/>
            <a:round/>
            <a:headEnd len="med" w="med" type="none"/>
            <a:tailEnd len="med" w="med" type="none"/>
          </a:ln>
        </p:spPr>
      </p:cxnSp>
      <p:sp>
        <p:nvSpPr>
          <p:cNvPr id="2567" name="Google Shape;2567;p10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Reading and writing Iceberg and Delta </a:t>
            </a:r>
            <a:endParaRPr/>
          </a:p>
        </p:txBody>
      </p:sp>
      <p:sp>
        <p:nvSpPr>
          <p:cNvPr id="2568" name="Google Shape;2568;p10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Using one compute only via UC/Iceberg REST API or Catalog Federation</a:t>
            </a:r>
            <a:endParaRPr/>
          </a:p>
        </p:txBody>
      </p:sp>
      <p:cxnSp>
        <p:nvCxnSpPr>
          <p:cNvPr id="2569" name="Google Shape;2569;p101"/>
          <p:cNvCxnSpPr>
            <a:stCxn id="2556" idx="3"/>
          </p:cNvCxnSpPr>
          <p:nvPr/>
        </p:nvCxnSpPr>
        <p:spPr>
          <a:xfrm>
            <a:off x="7299150" y="3024873"/>
            <a:ext cx="1602900" cy="0"/>
          </a:xfrm>
          <a:prstGeom prst="straightConnector1">
            <a:avLst/>
          </a:prstGeom>
          <a:noFill/>
          <a:ln cap="flat" cmpd="sng" w="19050">
            <a:solidFill>
              <a:schemeClr val="accent5"/>
            </a:solidFill>
            <a:prstDash val="solid"/>
            <a:round/>
            <a:headEnd len="sm" w="sm" type="triangle"/>
            <a:tailEnd len="sm" w="sm" type="none"/>
          </a:ln>
        </p:spPr>
      </p:cxnSp>
      <p:sp>
        <p:nvSpPr>
          <p:cNvPr id="2570" name="Google Shape;2570;p101"/>
          <p:cNvSpPr/>
          <p:nvPr/>
        </p:nvSpPr>
        <p:spPr>
          <a:xfrm>
            <a:off x="5396588" y="4651200"/>
            <a:ext cx="2102100" cy="1346100"/>
          </a:xfrm>
          <a:prstGeom prst="roundRect">
            <a:avLst>
              <a:gd fmla="val 6331" name="adj"/>
            </a:avLst>
          </a:prstGeom>
          <a:noFill/>
          <a:ln cap="flat" cmpd="sng" w="9525">
            <a:solidFill>
              <a:schemeClr val="accent1"/>
            </a:solidFill>
            <a:prstDash val="solid"/>
            <a:round/>
            <a:headEnd len="sm" w="sm" type="none"/>
            <a:tailEnd len="sm" w="sm" type="none"/>
          </a:ln>
        </p:spPr>
        <p:txBody>
          <a:bodyPr anchorCtr="0" anchor="b" bIns="0" lIns="91425" spcFirstLastPara="1" rIns="91425" wrap="square" tIns="0">
            <a:noAutofit/>
          </a:bodyPr>
          <a:lstStyle/>
          <a:p>
            <a:pPr indent="0" lvl="0" marL="0" marR="0" rtl="0" algn="ctr">
              <a:lnSpc>
                <a:spcPct val="100000"/>
              </a:lnSpc>
              <a:spcBef>
                <a:spcPts val="0"/>
              </a:spcBef>
              <a:spcAft>
                <a:spcPts val="0"/>
              </a:spcAft>
              <a:buNone/>
            </a:pPr>
            <a:r>
              <a:rPr lang="en">
                <a:solidFill>
                  <a:schemeClr val="accent1"/>
                </a:solidFill>
                <a:latin typeface="DM Sans"/>
                <a:ea typeface="DM Sans"/>
                <a:cs typeface="DM Sans"/>
                <a:sym typeface="DM Sans"/>
              </a:rPr>
              <a:t>Storage</a:t>
            </a:r>
            <a:endParaRPr>
              <a:solidFill>
                <a:schemeClr val="accent1"/>
              </a:solidFill>
              <a:latin typeface="DM Sans"/>
              <a:ea typeface="DM Sans"/>
              <a:cs typeface="DM Sans"/>
              <a:sym typeface="DM Sans"/>
            </a:endParaRPr>
          </a:p>
        </p:txBody>
      </p:sp>
      <p:grpSp>
        <p:nvGrpSpPr>
          <p:cNvPr id="2571" name="Google Shape;2571;p101"/>
          <p:cNvGrpSpPr/>
          <p:nvPr/>
        </p:nvGrpSpPr>
        <p:grpSpPr>
          <a:xfrm>
            <a:off x="5944136" y="4769509"/>
            <a:ext cx="424200" cy="606911"/>
            <a:chOff x="6574042" y="4847147"/>
            <a:chExt cx="424200" cy="606911"/>
          </a:xfrm>
        </p:grpSpPr>
        <p:pic>
          <p:nvPicPr>
            <p:cNvPr id="2572" name="Google Shape;2572;p101"/>
            <p:cNvPicPr preferRelativeResize="0"/>
            <p:nvPr/>
          </p:nvPicPr>
          <p:blipFill>
            <a:blip r:embed="rId3">
              <a:alphaModFix/>
            </a:blip>
            <a:stretch>
              <a:fillRect/>
            </a:stretch>
          </p:blipFill>
          <p:spPr>
            <a:xfrm>
              <a:off x="6577676" y="4847147"/>
              <a:ext cx="387225" cy="375603"/>
            </a:xfrm>
            <a:prstGeom prst="rect">
              <a:avLst/>
            </a:prstGeom>
            <a:noFill/>
            <a:ln>
              <a:noFill/>
            </a:ln>
          </p:spPr>
        </p:pic>
        <p:sp>
          <p:nvSpPr>
            <p:cNvPr id="2573" name="Google Shape;2573;p101"/>
            <p:cNvSpPr txBox="1"/>
            <p:nvPr/>
          </p:nvSpPr>
          <p:spPr>
            <a:xfrm>
              <a:off x="6574042" y="5269258"/>
              <a:ext cx="4242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200">
                  <a:solidFill>
                    <a:schemeClr val="accent1"/>
                  </a:solidFill>
                  <a:latin typeface="DM Sans"/>
                  <a:ea typeface="DM Sans"/>
                  <a:cs typeface="DM Sans"/>
                  <a:sym typeface="DM Sans"/>
                </a:rPr>
                <a:t>Delta</a:t>
              </a:r>
              <a:endParaRPr b="0" i="0" sz="1200" u="none" cap="none" strike="noStrike">
                <a:solidFill>
                  <a:schemeClr val="accent1"/>
                </a:solidFill>
                <a:latin typeface="DM Sans"/>
                <a:ea typeface="DM Sans"/>
                <a:cs typeface="DM Sans"/>
                <a:sym typeface="DM Sans"/>
              </a:endParaRPr>
            </a:p>
          </p:txBody>
        </p:sp>
      </p:grpSp>
      <p:sp>
        <p:nvSpPr>
          <p:cNvPr id="2574" name="Google Shape;2574;p101"/>
          <p:cNvSpPr/>
          <p:nvPr/>
        </p:nvSpPr>
        <p:spPr>
          <a:xfrm>
            <a:off x="5599643" y="2839600"/>
            <a:ext cx="753600" cy="369300"/>
          </a:xfrm>
          <a:prstGeom prst="rect">
            <a:avLst/>
          </a:prstGeom>
          <a:noFill/>
          <a:ln cap="flat" cmpd="sng" w="9525">
            <a:solidFill>
              <a:schemeClr val="accent1"/>
            </a:solidFill>
            <a:prstDash val="solid"/>
            <a:round/>
            <a:headEnd len="sm" w="sm" type="none"/>
            <a:tailEnd len="sm" w="sm" type="none"/>
          </a:ln>
        </p:spPr>
        <p:txBody>
          <a:bodyPr anchorCtr="0" anchor="ctr" bIns="0" lIns="45700" spcFirstLastPara="1" rIns="0" wrap="square" tIns="0">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Managed</a:t>
            </a:r>
            <a:endParaRPr sz="1100">
              <a:solidFill>
                <a:schemeClr val="accent1"/>
              </a:solidFill>
              <a:latin typeface="DM Sans"/>
              <a:ea typeface="DM Sans"/>
              <a:cs typeface="DM Sans"/>
              <a:sym typeface="DM Sans"/>
            </a:endParaRPr>
          </a:p>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Tables</a:t>
            </a:r>
            <a:endParaRPr sz="1100">
              <a:solidFill>
                <a:schemeClr val="accent1"/>
              </a:solidFill>
              <a:latin typeface="DM Sans"/>
              <a:ea typeface="DM Sans"/>
              <a:cs typeface="DM Sans"/>
              <a:sym typeface="DM Sans"/>
            </a:endParaRPr>
          </a:p>
        </p:txBody>
      </p:sp>
      <p:grpSp>
        <p:nvGrpSpPr>
          <p:cNvPr id="2575" name="Google Shape;2575;p101"/>
          <p:cNvGrpSpPr/>
          <p:nvPr/>
        </p:nvGrpSpPr>
        <p:grpSpPr>
          <a:xfrm>
            <a:off x="6524244" y="4729939"/>
            <a:ext cx="616879" cy="647059"/>
            <a:chOff x="7275200" y="4807010"/>
            <a:chExt cx="616879" cy="647059"/>
          </a:xfrm>
        </p:grpSpPr>
        <p:pic>
          <p:nvPicPr>
            <p:cNvPr id="2576" name="Google Shape;2576;p101"/>
            <p:cNvPicPr preferRelativeResize="0"/>
            <p:nvPr/>
          </p:nvPicPr>
          <p:blipFill rotWithShape="1">
            <a:blip r:embed="rId4">
              <a:alphaModFix/>
            </a:blip>
            <a:srcRect b="0" l="0" r="0" t="23100"/>
            <a:stretch/>
          </p:blipFill>
          <p:spPr>
            <a:xfrm>
              <a:off x="7275200" y="4807010"/>
              <a:ext cx="554100" cy="422582"/>
            </a:xfrm>
            <a:prstGeom prst="rect">
              <a:avLst/>
            </a:prstGeom>
            <a:noFill/>
            <a:ln>
              <a:noFill/>
            </a:ln>
          </p:spPr>
        </p:pic>
        <p:sp>
          <p:nvSpPr>
            <p:cNvPr id="2577" name="Google Shape;2577;p101"/>
            <p:cNvSpPr txBox="1"/>
            <p:nvPr/>
          </p:nvSpPr>
          <p:spPr>
            <a:xfrm>
              <a:off x="7276478" y="5269269"/>
              <a:ext cx="6156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200">
                  <a:solidFill>
                    <a:schemeClr val="accent1"/>
                  </a:solidFill>
                  <a:latin typeface="DM Sans"/>
                  <a:ea typeface="DM Sans"/>
                  <a:cs typeface="DM Sans"/>
                  <a:sym typeface="DM Sans"/>
                </a:rPr>
                <a:t>Iceberg</a:t>
              </a:r>
              <a:endParaRPr b="0" i="0" sz="1200" u="none" cap="none" strike="noStrike">
                <a:solidFill>
                  <a:schemeClr val="accent1"/>
                </a:solidFill>
                <a:latin typeface="DM Sans"/>
                <a:ea typeface="DM Sans"/>
                <a:cs typeface="DM Sans"/>
                <a:sym typeface="DM Sans"/>
              </a:endParaRPr>
            </a:p>
          </p:txBody>
        </p:sp>
      </p:grpSp>
      <p:grpSp>
        <p:nvGrpSpPr>
          <p:cNvPr id="2578" name="Google Shape;2578;p101"/>
          <p:cNvGrpSpPr/>
          <p:nvPr/>
        </p:nvGrpSpPr>
        <p:grpSpPr>
          <a:xfrm>
            <a:off x="916036" y="2467639"/>
            <a:ext cx="410700" cy="539619"/>
            <a:chOff x="916036" y="2594014"/>
            <a:chExt cx="410700" cy="539619"/>
          </a:xfrm>
        </p:grpSpPr>
        <p:pic>
          <p:nvPicPr>
            <p:cNvPr id="2579" name="Google Shape;2579;p101"/>
            <p:cNvPicPr preferRelativeResize="0"/>
            <p:nvPr/>
          </p:nvPicPr>
          <p:blipFill>
            <a:blip r:embed="rId5">
              <a:alphaModFix/>
            </a:blip>
            <a:stretch>
              <a:fillRect/>
            </a:stretch>
          </p:blipFill>
          <p:spPr>
            <a:xfrm>
              <a:off x="977624" y="2594014"/>
              <a:ext cx="287524" cy="312443"/>
            </a:xfrm>
            <a:prstGeom prst="rect">
              <a:avLst/>
            </a:prstGeom>
            <a:noFill/>
            <a:ln>
              <a:noFill/>
            </a:ln>
          </p:spPr>
        </p:pic>
        <p:sp>
          <p:nvSpPr>
            <p:cNvPr id="2580" name="Google Shape;2580;p101"/>
            <p:cNvSpPr txBox="1"/>
            <p:nvPr/>
          </p:nvSpPr>
          <p:spPr>
            <a:xfrm>
              <a:off x="916036" y="2979732"/>
              <a:ext cx="4107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solidFill>
                    <a:srgbClr val="1B3139"/>
                  </a:solidFill>
                  <a:latin typeface="DM Sans"/>
                  <a:ea typeface="DM Sans"/>
                  <a:cs typeface="DM Sans"/>
                  <a:sym typeface="DM Sans"/>
                </a:rPr>
                <a:t>Fabric</a:t>
              </a:r>
              <a:endParaRPr b="0" i="0" sz="1000" u="none" cap="none" strike="noStrike">
                <a:solidFill>
                  <a:srgbClr val="1B3139"/>
                </a:solidFill>
                <a:latin typeface="DM Sans"/>
                <a:ea typeface="DM Sans"/>
                <a:cs typeface="DM Sans"/>
                <a:sym typeface="DM Sans"/>
              </a:endParaRPr>
            </a:p>
          </p:txBody>
        </p:sp>
      </p:grpSp>
      <p:grpSp>
        <p:nvGrpSpPr>
          <p:cNvPr id="2581" name="Google Shape;2581;p101"/>
          <p:cNvGrpSpPr/>
          <p:nvPr/>
        </p:nvGrpSpPr>
        <p:grpSpPr>
          <a:xfrm>
            <a:off x="1516288" y="2483335"/>
            <a:ext cx="554100" cy="647315"/>
            <a:chOff x="1462151" y="2609710"/>
            <a:chExt cx="554100" cy="647315"/>
          </a:xfrm>
        </p:grpSpPr>
        <p:pic>
          <p:nvPicPr>
            <p:cNvPr id="2582" name="Google Shape;2582;p101"/>
            <p:cNvPicPr preferRelativeResize="0"/>
            <p:nvPr/>
          </p:nvPicPr>
          <p:blipFill>
            <a:blip r:embed="rId6">
              <a:alphaModFix/>
            </a:blip>
            <a:stretch>
              <a:fillRect/>
            </a:stretch>
          </p:blipFill>
          <p:spPr>
            <a:xfrm>
              <a:off x="1468416" y="2609710"/>
              <a:ext cx="541569" cy="281051"/>
            </a:xfrm>
            <a:prstGeom prst="rect">
              <a:avLst/>
            </a:prstGeom>
            <a:noFill/>
            <a:ln>
              <a:noFill/>
            </a:ln>
          </p:spPr>
        </p:pic>
        <p:sp>
          <p:nvSpPr>
            <p:cNvPr id="2583" name="Google Shape;2583;p101"/>
            <p:cNvSpPr txBox="1"/>
            <p:nvPr/>
          </p:nvSpPr>
          <p:spPr>
            <a:xfrm>
              <a:off x="1462151" y="2979825"/>
              <a:ext cx="554100" cy="2772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000">
                  <a:solidFill>
                    <a:srgbClr val="1B3139"/>
                  </a:solidFill>
                  <a:latin typeface="DM Sans"/>
                  <a:ea typeface="DM Sans"/>
                  <a:cs typeface="DM Sans"/>
                  <a:sym typeface="DM Sans"/>
                </a:rPr>
                <a:t>Apache </a:t>
              </a:r>
              <a:br>
                <a:rPr lang="en" sz="1000">
                  <a:solidFill>
                    <a:srgbClr val="1B3139"/>
                  </a:solidFill>
                  <a:latin typeface="DM Sans"/>
                  <a:ea typeface="DM Sans"/>
                  <a:cs typeface="DM Sans"/>
                  <a:sym typeface="DM Sans"/>
                </a:rPr>
              </a:br>
              <a:r>
                <a:rPr lang="en" sz="1000">
                  <a:solidFill>
                    <a:srgbClr val="1B3139"/>
                  </a:solidFill>
                  <a:latin typeface="DM Sans"/>
                  <a:ea typeface="DM Sans"/>
                  <a:cs typeface="DM Sans"/>
                  <a:sym typeface="DM Sans"/>
                </a:rPr>
                <a:t>Spark</a:t>
              </a:r>
              <a:endParaRPr sz="1000">
                <a:solidFill>
                  <a:srgbClr val="1B3139"/>
                </a:solidFill>
                <a:latin typeface="DM Sans"/>
                <a:ea typeface="DM Sans"/>
                <a:cs typeface="DM Sans"/>
                <a:sym typeface="DM Sans"/>
              </a:endParaRPr>
            </a:p>
          </p:txBody>
        </p:sp>
      </p:grpSp>
      <p:grpSp>
        <p:nvGrpSpPr>
          <p:cNvPr id="2584" name="Google Shape;2584;p101"/>
          <p:cNvGrpSpPr/>
          <p:nvPr/>
        </p:nvGrpSpPr>
        <p:grpSpPr>
          <a:xfrm>
            <a:off x="2818490" y="2442263"/>
            <a:ext cx="368892" cy="564920"/>
            <a:chOff x="2781835" y="2568638"/>
            <a:chExt cx="368892" cy="564920"/>
          </a:xfrm>
        </p:grpSpPr>
        <p:sp>
          <p:nvSpPr>
            <p:cNvPr id="2585" name="Google Shape;2585;p101"/>
            <p:cNvSpPr txBox="1"/>
            <p:nvPr/>
          </p:nvSpPr>
          <p:spPr>
            <a:xfrm>
              <a:off x="2803381" y="2979657"/>
              <a:ext cx="325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3139"/>
                  </a:solidFill>
                  <a:latin typeface="DM Sans"/>
                  <a:ea typeface="DM Sans"/>
                  <a:cs typeface="DM Sans"/>
                  <a:sym typeface="DM Sans"/>
                </a:rPr>
                <a:t>Flink</a:t>
              </a:r>
              <a:endParaRPr sz="1000">
                <a:solidFill>
                  <a:srgbClr val="1B3139"/>
                </a:solidFill>
                <a:latin typeface="DM Sans"/>
                <a:ea typeface="DM Sans"/>
                <a:cs typeface="DM Sans"/>
                <a:sym typeface="DM Sans"/>
              </a:endParaRPr>
            </a:p>
          </p:txBody>
        </p:sp>
        <p:pic>
          <p:nvPicPr>
            <p:cNvPr id="2586" name="Google Shape;2586;p101"/>
            <p:cNvPicPr preferRelativeResize="0"/>
            <p:nvPr/>
          </p:nvPicPr>
          <p:blipFill rotWithShape="1">
            <a:blip r:embed="rId7">
              <a:alphaModFix/>
            </a:blip>
            <a:srcRect b="0" l="0" r="50233" t="0"/>
            <a:stretch/>
          </p:blipFill>
          <p:spPr>
            <a:xfrm>
              <a:off x="2781835" y="2568638"/>
              <a:ext cx="368892" cy="363195"/>
            </a:xfrm>
            <a:prstGeom prst="rect">
              <a:avLst/>
            </a:prstGeom>
            <a:noFill/>
            <a:ln>
              <a:noFill/>
            </a:ln>
          </p:spPr>
        </p:pic>
      </p:grpSp>
      <p:grpSp>
        <p:nvGrpSpPr>
          <p:cNvPr id="2587" name="Google Shape;2587;p101"/>
          <p:cNvGrpSpPr/>
          <p:nvPr/>
        </p:nvGrpSpPr>
        <p:grpSpPr>
          <a:xfrm>
            <a:off x="2259939" y="2415592"/>
            <a:ext cx="369000" cy="591665"/>
            <a:chOff x="2193425" y="2541967"/>
            <a:chExt cx="369000" cy="591665"/>
          </a:xfrm>
        </p:grpSpPr>
        <p:pic>
          <p:nvPicPr>
            <p:cNvPr id="2588" name="Google Shape;2588;p101"/>
            <p:cNvPicPr preferRelativeResize="0"/>
            <p:nvPr/>
          </p:nvPicPr>
          <p:blipFill rotWithShape="1">
            <a:blip r:embed="rId8">
              <a:alphaModFix/>
            </a:blip>
            <a:srcRect b="3626" l="8239" r="62950" t="3617"/>
            <a:stretch/>
          </p:blipFill>
          <p:spPr>
            <a:xfrm>
              <a:off x="2234162" y="2541967"/>
              <a:ext cx="287526" cy="416539"/>
            </a:xfrm>
            <a:prstGeom prst="rect">
              <a:avLst/>
            </a:prstGeom>
            <a:noFill/>
            <a:ln>
              <a:noFill/>
            </a:ln>
          </p:spPr>
        </p:pic>
        <p:sp>
          <p:nvSpPr>
            <p:cNvPr id="2589" name="Google Shape;2589;p101"/>
            <p:cNvSpPr txBox="1"/>
            <p:nvPr/>
          </p:nvSpPr>
          <p:spPr>
            <a:xfrm>
              <a:off x="2193425" y="2979732"/>
              <a:ext cx="3690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solidFill>
                    <a:srgbClr val="1B3139"/>
                  </a:solidFill>
                  <a:latin typeface="DM Sans"/>
                  <a:ea typeface="DM Sans"/>
                  <a:cs typeface="DM Sans"/>
                  <a:sym typeface="DM Sans"/>
                </a:rPr>
                <a:t>T</a:t>
              </a:r>
              <a:r>
                <a:rPr b="0" i="0" lang="en" sz="1000" u="none" cap="none" strike="noStrike">
                  <a:solidFill>
                    <a:srgbClr val="1B3139"/>
                  </a:solidFill>
                  <a:latin typeface="DM Sans"/>
                  <a:ea typeface="DM Sans"/>
                  <a:cs typeface="DM Sans"/>
                  <a:sym typeface="DM Sans"/>
                </a:rPr>
                <a:t>rino</a:t>
              </a:r>
              <a:endParaRPr b="0" i="0" sz="1000" u="none" cap="none" strike="noStrike">
                <a:solidFill>
                  <a:srgbClr val="1B3139"/>
                </a:solidFill>
                <a:latin typeface="DM Sans"/>
                <a:ea typeface="DM Sans"/>
                <a:cs typeface="DM Sans"/>
                <a:sym typeface="DM Sans"/>
              </a:endParaRPr>
            </a:p>
          </p:txBody>
        </p:sp>
      </p:grpSp>
      <p:grpSp>
        <p:nvGrpSpPr>
          <p:cNvPr id="2590" name="Google Shape;2590;p101"/>
          <p:cNvGrpSpPr/>
          <p:nvPr/>
        </p:nvGrpSpPr>
        <p:grpSpPr>
          <a:xfrm>
            <a:off x="1345971" y="3769327"/>
            <a:ext cx="615600" cy="564047"/>
            <a:chOff x="1437653" y="3739403"/>
            <a:chExt cx="615600" cy="564047"/>
          </a:xfrm>
        </p:grpSpPr>
        <p:pic>
          <p:nvPicPr>
            <p:cNvPr id="2591" name="Google Shape;2591;p101"/>
            <p:cNvPicPr preferRelativeResize="0"/>
            <p:nvPr/>
          </p:nvPicPr>
          <p:blipFill>
            <a:blip r:embed="rId9">
              <a:alphaModFix/>
            </a:blip>
            <a:stretch>
              <a:fillRect/>
            </a:stretch>
          </p:blipFill>
          <p:spPr>
            <a:xfrm>
              <a:off x="1504914" y="3739403"/>
              <a:ext cx="481853" cy="337185"/>
            </a:xfrm>
            <a:prstGeom prst="rect">
              <a:avLst/>
            </a:prstGeom>
            <a:noFill/>
            <a:ln>
              <a:noFill/>
            </a:ln>
          </p:spPr>
        </p:pic>
        <p:sp>
          <p:nvSpPr>
            <p:cNvPr id="2592" name="Google Shape;2592;p101"/>
            <p:cNvSpPr txBox="1"/>
            <p:nvPr/>
          </p:nvSpPr>
          <p:spPr>
            <a:xfrm>
              <a:off x="1437653" y="4164850"/>
              <a:ext cx="615600" cy="13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000">
                  <a:latin typeface="DM Sans"/>
                  <a:ea typeface="DM Sans"/>
                  <a:cs typeface="DM Sans"/>
                  <a:sym typeface="DM Sans"/>
                </a:rPr>
                <a:t>Salesforce</a:t>
              </a:r>
              <a:endParaRPr sz="1000">
                <a:latin typeface="DM Sans"/>
                <a:ea typeface="DM Sans"/>
                <a:cs typeface="DM Sans"/>
                <a:sym typeface="DM Sans"/>
              </a:endParaRPr>
            </a:p>
          </p:txBody>
        </p:sp>
      </p:grpSp>
      <p:grpSp>
        <p:nvGrpSpPr>
          <p:cNvPr id="2593" name="Google Shape;2593;p101"/>
          <p:cNvGrpSpPr/>
          <p:nvPr/>
        </p:nvGrpSpPr>
        <p:grpSpPr>
          <a:xfrm>
            <a:off x="2717127" y="3761144"/>
            <a:ext cx="567900" cy="572230"/>
            <a:chOff x="2732725" y="3731220"/>
            <a:chExt cx="567900" cy="572230"/>
          </a:xfrm>
        </p:grpSpPr>
        <p:pic>
          <p:nvPicPr>
            <p:cNvPr id="2594" name="Google Shape;2594;p101"/>
            <p:cNvPicPr preferRelativeResize="0"/>
            <p:nvPr/>
          </p:nvPicPr>
          <p:blipFill>
            <a:blip r:embed="rId10">
              <a:alphaModFix/>
            </a:blip>
            <a:stretch>
              <a:fillRect/>
            </a:stretch>
          </p:blipFill>
          <p:spPr>
            <a:xfrm>
              <a:off x="2823677" y="3731220"/>
              <a:ext cx="400483" cy="400483"/>
            </a:xfrm>
            <a:prstGeom prst="rect">
              <a:avLst/>
            </a:prstGeom>
            <a:noFill/>
            <a:ln>
              <a:noFill/>
            </a:ln>
          </p:spPr>
        </p:pic>
        <p:sp>
          <p:nvSpPr>
            <p:cNvPr id="2595" name="Google Shape;2595;p101"/>
            <p:cNvSpPr txBox="1"/>
            <p:nvPr/>
          </p:nvSpPr>
          <p:spPr>
            <a:xfrm>
              <a:off x="2732725" y="4149550"/>
              <a:ext cx="567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3139"/>
                  </a:solidFill>
                  <a:latin typeface="DM Sans"/>
                  <a:ea typeface="DM Sans"/>
                  <a:cs typeface="DM Sans"/>
                  <a:sym typeface="DM Sans"/>
                </a:rPr>
                <a:t>Starburst</a:t>
              </a:r>
              <a:endParaRPr sz="1000"/>
            </a:p>
          </p:txBody>
        </p:sp>
      </p:grpSp>
      <p:grpSp>
        <p:nvGrpSpPr>
          <p:cNvPr id="2596" name="Google Shape;2596;p101"/>
          <p:cNvGrpSpPr/>
          <p:nvPr/>
        </p:nvGrpSpPr>
        <p:grpSpPr>
          <a:xfrm>
            <a:off x="888780" y="3778573"/>
            <a:ext cx="387213" cy="554801"/>
            <a:chOff x="964980" y="3748649"/>
            <a:chExt cx="387213" cy="554801"/>
          </a:xfrm>
        </p:grpSpPr>
        <p:pic>
          <p:nvPicPr>
            <p:cNvPr id="2597" name="Google Shape;2597;p101"/>
            <p:cNvPicPr preferRelativeResize="0"/>
            <p:nvPr/>
          </p:nvPicPr>
          <p:blipFill>
            <a:blip r:embed="rId11">
              <a:alphaModFix/>
            </a:blip>
            <a:stretch>
              <a:fillRect/>
            </a:stretch>
          </p:blipFill>
          <p:spPr>
            <a:xfrm>
              <a:off x="964980" y="3748649"/>
              <a:ext cx="387213" cy="387213"/>
            </a:xfrm>
            <a:prstGeom prst="rect">
              <a:avLst/>
            </a:prstGeom>
            <a:noFill/>
            <a:ln>
              <a:noFill/>
            </a:ln>
          </p:spPr>
        </p:pic>
        <p:sp>
          <p:nvSpPr>
            <p:cNvPr id="2598" name="Google Shape;2598;p101"/>
            <p:cNvSpPr txBox="1"/>
            <p:nvPr/>
          </p:nvSpPr>
          <p:spPr>
            <a:xfrm>
              <a:off x="974187" y="4149550"/>
              <a:ext cx="3690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latin typeface="DM Sans"/>
                  <a:ea typeface="DM Sans"/>
                  <a:cs typeface="DM Sans"/>
                  <a:sym typeface="DM Sans"/>
                </a:rPr>
                <a:t>Kafka</a:t>
              </a:r>
              <a:endParaRPr b="0" i="0" sz="1000" u="none" cap="none" strike="noStrike">
                <a:solidFill>
                  <a:srgbClr val="000000"/>
                </a:solidFill>
                <a:latin typeface="DM Sans"/>
                <a:ea typeface="DM Sans"/>
                <a:cs typeface="DM Sans"/>
                <a:sym typeface="DM Sans"/>
              </a:endParaRPr>
            </a:p>
          </p:txBody>
        </p:sp>
      </p:grpSp>
      <p:sp>
        <p:nvSpPr>
          <p:cNvPr id="2599" name="Google Shape;2599;p101"/>
          <p:cNvSpPr txBox="1"/>
          <p:nvPr/>
        </p:nvSpPr>
        <p:spPr>
          <a:xfrm>
            <a:off x="3451559" y="2853369"/>
            <a:ext cx="3258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latin typeface="DM Sans"/>
                <a:ea typeface="DM Sans"/>
                <a:cs typeface="DM Sans"/>
                <a:sym typeface="DM Sans"/>
              </a:rPr>
              <a:t>EMR</a:t>
            </a:r>
            <a:endParaRPr b="0" i="0" sz="1000" u="none" cap="none" strike="noStrike">
              <a:solidFill>
                <a:srgbClr val="000000"/>
              </a:solidFill>
              <a:latin typeface="DM Sans"/>
              <a:ea typeface="DM Sans"/>
              <a:cs typeface="DM Sans"/>
              <a:sym typeface="DM Sans"/>
            </a:endParaRPr>
          </a:p>
        </p:txBody>
      </p:sp>
      <p:pic>
        <p:nvPicPr>
          <p:cNvPr id="2600" name="Google Shape;2600;p101"/>
          <p:cNvPicPr preferRelativeResize="0"/>
          <p:nvPr/>
        </p:nvPicPr>
        <p:blipFill>
          <a:blip r:embed="rId12">
            <a:alphaModFix/>
          </a:blip>
          <a:stretch>
            <a:fillRect/>
          </a:stretch>
        </p:blipFill>
        <p:spPr>
          <a:xfrm>
            <a:off x="3402363" y="2429942"/>
            <a:ext cx="424200" cy="426834"/>
          </a:xfrm>
          <a:prstGeom prst="rect">
            <a:avLst/>
          </a:prstGeom>
          <a:noFill/>
          <a:ln>
            <a:noFill/>
          </a:ln>
        </p:spPr>
      </p:pic>
      <p:cxnSp>
        <p:nvCxnSpPr>
          <p:cNvPr id="2601" name="Google Shape;2601;p101"/>
          <p:cNvCxnSpPr>
            <a:stCxn id="2570" idx="0"/>
            <a:endCxn id="2555" idx="2"/>
          </p:cNvCxnSpPr>
          <p:nvPr/>
        </p:nvCxnSpPr>
        <p:spPr>
          <a:xfrm rot="10800000">
            <a:off x="6447638" y="4221300"/>
            <a:ext cx="0" cy="429900"/>
          </a:xfrm>
          <a:prstGeom prst="straightConnector1">
            <a:avLst/>
          </a:prstGeom>
          <a:noFill/>
          <a:ln cap="flat" cmpd="sng" w="9525">
            <a:solidFill>
              <a:schemeClr val="accent1"/>
            </a:solidFill>
            <a:prstDash val="solid"/>
            <a:round/>
            <a:headEnd len="med" w="med" type="triangle"/>
            <a:tailEnd len="med" w="med" type="triangle"/>
          </a:ln>
        </p:spPr>
      </p:cxnSp>
      <p:sp>
        <p:nvSpPr>
          <p:cNvPr id="2602" name="Google Shape;2602;p101"/>
          <p:cNvSpPr txBox="1"/>
          <p:nvPr/>
        </p:nvSpPr>
        <p:spPr>
          <a:xfrm>
            <a:off x="5546845" y="5376996"/>
            <a:ext cx="180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Parquet, CSV, JSON, AVRO</a:t>
            </a:r>
            <a:endParaRPr sz="1000">
              <a:solidFill>
                <a:schemeClr val="accent1"/>
              </a:solidFill>
            </a:endParaRPr>
          </a:p>
        </p:txBody>
      </p:sp>
      <p:sp>
        <p:nvSpPr>
          <p:cNvPr id="2603" name="Google Shape;2603;p101"/>
          <p:cNvSpPr txBox="1"/>
          <p:nvPr/>
        </p:nvSpPr>
        <p:spPr>
          <a:xfrm>
            <a:off x="8947776" y="4054211"/>
            <a:ext cx="507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solidFill>
                  <a:schemeClr val="accent1"/>
                </a:solidFill>
                <a:latin typeface="DM Sans"/>
                <a:ea typeface="DM Sans"/>
                <a:cs typeface="DM Sans"/>
                <a:sym typeface="DM Sans"/>
              </a:rPr>
              <a:t>A</a:t>
            </a:r>
            <a:r>
              <a:rPr b="0" i="0" lang="en" sz="1000" u="none" cap="none" strike="noStrike">
                <a:solidFill>
                  <a:schemeClr val="accent1"/>
                </a:solidFill>
                <a:latin typeface="DM Sans"/>
                <a:ea typeface="DM Sans"/>
                <a:cs typeface="DM Sans"/>
                <a:sym typeface="DM Sans"/>
              </a:rPr>
              <a:t>thena</a:t>
            </a:r>
            <a:endParaRPr b="0" i="0" sz="1000" u="none" cap="none" strike="noStrike">
              <a:solidFill>
                <a:schemeClr val="accent1"/>
              </a:solidFill>
              <a:latin typeface="DM Sans"/>
              <a:ea typeface="DM Sans"/>
              <a:cs typeface="DM Sans"/>
              <a:sym typeface="DM Sans"/>
            </a:endParaRPr>
          </a:p>
        </p:txBody>
      </p:sp>
      <p:pic>
        <p:nvPicPr>
          <p:cNvPr id="2604" name="Google Shape;2604;p101"/>
          <p:cNvPicPr preferRelativeResize="0"/>
          <p:nvPr/>
        </p:nvPicPr>
        <p:blipFill>
          <a:blip r:embed="rId13">
            <a:alphaModFix/>
          </a:blip>
          <a:stretch>
            <a:fillRect/>
          </a:stretch>
        </p:blipFill>
        <p:spPr>
          <a:xfrm>
            <a:off x="8983275" y="3650248"/>
            <a:ext cx="454475" cy="454475"/>
          </a:xfrm>
          <a:prstGeom prst="rect">
            <a:avLst/>
          </a:prstGeom>
          <a:noFill/>
          <a:ln>
            <a:noFill/>
          </a:ln>
        </p:spPr>
      </p:pic>
      <p:pic>
        <p:nvPicPr>
          <p:cNvPr id="2605" name="Google Shape;2605;p101"/>
          <p:cNvPicPr preferRelativeResize="0"/>
          <p:nvPr/>
        </p:nvPicPr>
        <p:blipFill>
          <a:blip r:embed="rId14">
            <a:alphaModFix/>
          </a:blip>
          <a:stretch>
            <a:fillRect/>
          </a:stretch>
        </p:blipFill>
        <p:spPr>
          <a:xfrm>
            <a:off x="8417088" y="3660138"/>
            <a:ext cx="424200" cy="424200"/>
          </a:xfrm>
          <a:prstGeom prst="rect">
            <a:avLst/>
          </a:prstGeom>
          <a:noFill/>
          <a:ln>
            <a:noFill/>
          </a:ln>
        </p:spPr>
      </p:pic>
      <p:sp>
        <p:nvSpPr>
          <p:cNvPr id="2606" name="Google Shape;2606;p101"/>
          <p:cNvSpPr txBox="1"/>
          <p:nvPr/>
        </p:nvSpPr>
        <p:spPr>
          <a:xfrm>
            <a:off x="8360402" y="4062505"/>
            <a:ext cx="554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solidFill>
                  <a:schemeClr val="accent1"/>
                </a:solidFill>
                <a:latin typeface="DM Sans"/>
                <a:ea typeface="DM Sans"/>
                <a:cs typeface="DM Sans"/>
                <a:sym typeface="DM Sans"/>
              </a:rPr>
              <a:t>Redshift</a:t>
            </a:r>
            <a:endParaRPr b="0" i="0" sz="1000" u="none" cap="none" strike="noStrike">
              <a:solidFill>
                <a:schemeClr val="accent1"/>
              </a:solidFill>
              <a:latin typeface="DM Sans"/>
              <a:ea typeface="DM Sans"/>
              <a:cs typeface="DM Sans"/>
              <a:sym typeface="DM Sans"/>
            </a:endParaRPr>
          </a:p>
        </p:txBody>
      </p:sp>
      <p:pic>
        <p:nvPicPr>
          <p:cNvPr id="2607" name="Google Shape;2607;p101"/>
          <p:cNvPicPr preferRelativeResize="0"/>
          <p:nvPr/>
        </p:nvPicPr>
        <p:blipFill>
          <a:blip r:embed="rId15">
            <a:alphaModFix/>
          </a:blip>
          <a:stretch>
            <a:fillRect/>
          </a:stretch>
        </p:blipFill>
        <p:spPr>
          <a:xfrm>
            <a:off x="9695902" y="3666142"/>
            <a:ext cx="410648" cy="410538"/>
          </a:xfrm>
          <a:prstGeom prst="rect">
            <a:avLst/>
          </a:prstGeom>
          <a:noFill/>
          <a:ln>
            <a:noFill/>
          </a:ln>
        </p:spPr>
      </p:pic>
      <p:sp>
        <p:nvSpPr>
          <p:cNvPr id="2608" name="Google Shape;2608;p101"/>
          <p:cNvSpPr txBox="1"/>
          <p:nvPr/>
        </p:nvSpPr>
        <p:spPr>
          <a:xfrm>
            <a:off x="9576839" y="4059811"/>
            <a:ext cx="623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Snowflake</a:t>
            </a:r>
            <a:endParaRPr sz="1000">
              <a:solidFill>
                <a:schemeClr val="accent1"/>
              </a:solidFill>
              <a:latin typeface="DM Sans"/>
              <a:ea typeface="DM Sans"/>
              <a:cs typeface="DM Sans"/>
              <a:sym typeface="DM Sans"/>
            </a:endParaRPr>
          </a:p>
        </p:txBody>
      </p:sp>
      <p:sp>
        <p:nvSpPr>
          <p:cNvPr id="2609" name="Google Shape;2609;p101"/>
          <p:cNvSpPr txBox="1"/>
          <p:nvPr/>
        </p:nvSpPr>
        <p:spPr>
          <a:xfrm>
            <a:off x="8958113" y="3045948"/>
            <a:ext cx="507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solidFill>
                  <a:srgbClr val="1B3139"/>
                </a:solidFill>
                <a:latin typeface="DM Sans"/>
                <a:ea typeface="DM Sans"/>
                <a:cs typeface="DM Sans"/>
                <a:sym typeface="DM Sans"/>
              </a:rPr>
              <a:t>G</a:t>
            </a:r>
            <a:r>
              <a:rPr b="0" i="0" lang="en" sz="1000" u="none" cap="none" strike="noStrike">
                <a:solidFill>
                  <a:srgbClr val="1B3139"/>
                </a:solidFill>
                <a:latin typeface="DM Sans"/>
                <a:ea typeface="DM Sans"/>
                <a:cs typeface="DM Sans"/>
                <a:sym typeface="DM Sans"/>
              </a:rPr>
              <a:t>lue</a:t>
            </a:r>
            <a:endParaRPr b="0" i="0" sz="1000" u="none" cap="none" strike="noStrike">
              <a:solidFill>
                <a:srgbClr val="1B3139"/>
              </a:solidFill>
              <a:latin typeface="DM Sans"/>
              <a:ea typeface="DM Sans"/>
              <a:cs typeface="DM Sans"/>
              <a:sym typeface="DM Sans"/>
            </a:endParaRPr>
          </a:p>
        </p:txBody>
      </p:sp>
      <p:pic>
        <p:nvPicPr>
          <p:cNvPr id="2610" name="Google Shape;2610;p101"/>
          <p:cNvPicPr preferRelativeResize="0"/>
          <p:nvPr/>
        </p:nvPicPr>
        <p:blipFill>
          <a:blip r:embed="rId16">
            <a:alphaModFix/>
          </a:blip>
          <a:stretch>
            <a:fillRect/>
          </a:stretch>
        </p:blipFill>
        <p:spPr>
          <a:xfrm>
            <a:off x="9000350" y="2665137"/>
            <a:ext cx="410650" cy="410626"/>
          </a:xfrm>
          <a:prstGeom prst="rect">
            <a:avLst/>
          </a:prstGeom>
          <a:noFill/>
          <a:ln>
            <a:noFill/>
          </a:ln>
        </p:spPr>
      </p:pic>
      <p:pic>
        <p:nvPicPr>
          <p:cNvPr id="2611" name="Google Shape;2611;p101"/>
          <p:cNvPicPr preferRelativeResize="0"/>
          <p:nvPr/>
        </p:nvPicPr>
        <p:blipFill>
          <a:blip r:embed="rId15">
            <a:alphaModFix/>
          </a:blip>
          <a:stretch>
            <a:fillRect/>
          </a:stretch>
        </p:blipFill>
        <p:spPr>
          <a:xfrm>
            <a:off x="9671008" y="2651632"/>
            <a:ext cx="410766" cy="410633"/>
          </a:xfrm>
          <a:prstGeom prst="rect">
            <a:avLst/>
          </a:prstGeom>
          <a:noFill/>
          <a:ln>
            <a:noFill/>
          </a:ln>
        </p:spPr>
      </p:pic>
      <p:sp>
        <p:nvSpPr>
          <p:cNvPr id="2612" name="Google Shape;2612;p101"/>
          <p:cNvSpPr txBox="1"/>
          <p:nvPr/>
        </p:nvSpPr>
        <p:spPr>
          <a:xfrm>
            <a:off x="9636341" y="3041517"/>
            <a:ext cx="507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3139"/>
                </a:solidFill>
                <a:latin typeface="DM Sans"/>
                <a:ea typeface="DM Sans"/>
                <a:cs typeface="DM Sans"/>
                <a:sym typeface="DM Sans"/>
              </a:rPr>
              <a:t>Horizon</a:t>
            </a:r>
            <a:endParaRPr sz="1000">
              <a:solidFill>
                <a:srgbClr val="1B3139"/>
              </a:solidFill>
              <a:latin typeface="DM Sans"/>
              <a:ea typeface="DM Sans"/>
              <a:cs typeface="DM Sans"/>
              <a:sym typeface="DM Sans"/>
            </a:endParaRPr>
          </a:p>
        </p:txBody>
      </p:sp>
      <p:pic>
        <p:nvPicPr>
          <p:cNvPr id="2613" name="Google Shape;2613;p101"/>
          <p:cNvPicPr preferRelativeResize="0"/>
          <p:nvPr/>
        </p:nvPicPr>
        <p:blipFill rotWithShape="1">
          <a:blip r:embed="rId4">
            <a:alphaModFix/>
          </a:blip>
          <a:srcRect b="0" l="0" r="0" t="23100"/>
          <a:stretch/>
        </p:blipFill>
        <p:spPr>
          <a:xfrm>
            <a:off x="10259709" y="2671218"/>
            <a:ext cx="458805" cy="349910"/>
          </a:xfrm>
          <a:prstGeom prst="rect">
            <a:avLst/>
          </a:prstGeom>
          <a:noFill/>
          <a:ln>
            <a:noFill/>
          </a:ln>
        </p:spPr>
      </p:pic>
      <p:sp>
        <p:nvSpPr>
          <p:cNvPr id="2614" name="Google Shape;2614;p101"/>
          <p:cNvSpPr txBox="1"/>
          <p:nvPr/>
        </p:nvSpPr>
        <p:spPr>
          <a:xfrm>
            <a:off x="10222950" y="3044792"/>
            <a:ext cx="567900" cy="2772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000">
                <a:solidFill>
                  <a:srgbClr val="1B3139"/>
                </a:solidFill>
                <a:latin typeface="DM Sans"/>
                <a:ea typeface="DM Sans"/>
                <a:cs typeface="DM Sans"/>
                <a:sym typeface="DM Sans"/>
              </a:rPr>
              <a:t>Iceberg </a:t>
            </a:r>
            <a:br>
              <a:rPr lang="en" sz="1000">
                <a:solidFill>
                  <a:srgbClr val="1B3139"/>
                </a:solidFill>
                <a:latin typeface="DM Sans"/>
                <a:ea typeface="DM Sans"/>
                <a:cs typeface="DM Sans"/>
                <a:sym typeface="DM Sans"/>
              </a:rPr>
            </a:br>
            <a:r>
              <a:rPr lang="en" sz="1000">
                <a:solidFill>
                  <a:srgbClr val="1B3139"/>
                </a:solidFill>
                <a:latin typeface="DM Sans"/>
                <a:ea typeface="DM Sans"/>
                <a:cs typeface="DM Sans"/>
                <a:sym typeface="DM Sans"/>
              </a:rPr>
              <a:t>REST</a:t>
            </a:r>
            <a:endParaRPr sz="1000">
              <a:solidFill>
                <a:srgbClr val="1B3139"/>
              </a:solidFill>
              <a:latin typeface="DM Sans"/>
              <a:ea typeface="DM Sans"/>
              <a:cs typeface="DM Sans"/>
              <a:sym typeface="DM Sans"/>
            </a:endParaRPr>
          </a:p>
        </p:txBody>
      </p:sp>
      <p:pic>
        <p:nvPicPr>
          <p:cNvPr id="2615" name="Google Shape;2615;p101"/>
          <p:cNvPicPr preferRelativeResize="0"/>
          <p:nvPr/>
        </p:nvPicPr>
        <p:blipFill rotWithShape="1">
          <a:blip r:embed="rId17">
            <a:alphaModFix/>
          </a:blip>
          <a:srcRect b="0" l="0" r="-6281" t="-6281"/>
          <a:stretch/>
        </p:blipFill>
        <p:spPr>
          <a:xfrm>
            <a:off x="10870156" y="2646775"/>
            <a:ext cx="424014" cy="379047"/>
          </a:xfrm>
          <a:prstGeom prst="rect">
            <a:avLst/>
          </a:prstGeom>
          <a:noFill/>
          <a:ln>
            <a:noFill/>
          </a:ln>
        </p:spPr>
      </p:pic>
      <p:sp>
        <p:nvSpPr>
          <p:cNvPr id="2616" name="Google Shape;2616;p101"/>
          <p:cNvSpPr txBox="1"/>
          <p:nvPr/>
        </p:nvSpPr>
        <p:spPr>
          <a:xfrm>
            <a:off x="10894587" y="3046648"/>
            <a:ext cx="4239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
              <a:buFont typeface="Arial"/>
              <a:buNone/>
            </a:pPr>
            <a:r>
              <a:rPr lang="en" sz="1000">
                <a:solidFill>
                  <a:srgbClr val="1B3139"/>
                </a:solidFill>
                <a:latin typeface="DM Sans"/>
                <a:ea typeface="DM Sans"/>
                <a:cs typeface="DM Sans"/>
                <a:sym typeface="DM Sans"/>
              </a:rPr>
              <a:t>HMS</a:t>
            </a:r>
            <a:endParaRPr b="0" i="0" sz="1000" u="none" cap="none" strike="noStrike">
              <a:solidFill>
                <a:srgbClr val="1B3139"/>
              </a:solidFill>
              <a:latin typeface="DM Sans"/>
              <a:ea typeface="DM Sans"/>
              <a:cs typeface="DM Sans"/>
              <a:sym typeface="DM Sans"/>
            </a:endParaRPr>
          </a:p>
        </p:txBody>
      </p:sp>
      <p:sp>
        <p:nvSpPr>
          <p:cNvPr id="2617" name="Google Shape;2617;p101"/>
          <p:cNvSpPr txBox="1"/>
          <p:nvPr/>
        </p:nvSpPr>
        <p:spPr>
          <a:xfrm>
            <a:off x="7800449" y="2842050"/>
            <a:ext cx="861000" cy="3693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Catalog</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Federation</a:t>
            </a:r>
            <a:endParaRPr sz="1200">
              <a:solidFill>
                <a:schemeClr val="accent1"/>
              </a:solidFill>
              <a:latin typeface="DM Sans Medium"/>
              <a:ea typeface="DM Sans Medium"/>
              <a:cs typeface="DM Sans Medium"/>
              <a:sym typeface="DM Sans Medium"/>
            </a:endParaRPr>
          </a:p>
        </p:txBody>
      </p:sp>
      <p:grpSp>
        <p:nvGrpSpPr>
          <p:cNvPr id="2618" name="Google Shape;2618;p101"/>
          <p:cNvGrpSpPr/>
          <p:nvPr/>
        </p:nvGrpSpPr>
        <p:grpSpPr>
          <a:xfrm>
            <a:off x="2031549" y="3773168"/>
            <a:ext cx="615600" cy="560206"/>
            <a:chOff x="2068439" y="3743244"/>
            <a:chExt cx="615600" cy="560206"/>
          </a:xfrm>
        </p:grpSpPr>
        <p:pic>
          <p:nvPicPr>
            <p:cNvPr id="2619" name="Google Shape;2619;p101"/>
            <p:cNvPicPr preferRelativeResize="0"/>
            <p:nvPr/>
          </p:nvPicPr>
          <p:blipFill rotWithShape="1">
            <a:blip r:embed="rId18">
              <a:alphaModFix/>
            </a:blip>
            <a:srcRect b="38349" l="13071" r="70558" t="31581"/>
            <a:stretch/>
          </p:blipFill>
          <p:spPr>
            <a:xfrm>
              <a:off x="2204864" y="3743244"/>
              <a:ext cx="374326" cy="386749"/>
            </a:xfrm>
            <a:prstGeom prst="rect">
              <a:avLst/>
            </a:prstGeom>
            <a:noFill/>
            <a:ln>
              <a:noFill/>
            </a:ln>
          </p:spPr>
        </p:pic>
        <p:sp>
          <p:nvSpPr>
            <p:cNvPr id="2620" name="Google Shape;2620;p101"/>
            <p:cNvSpPr txBox="1"/>
            <p:nvPr/>
          </p:nvSpPr>
          <p:spPr>
            <a:xfrm>
              <a:off x="2068439" y="4149550"/>
              <a:ext cx="61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3139"/>
                  </a:solidFill>
                  <a:latin typeface="DM Sans"/>
                  <a:ea typeface="DM Sans"/>
                  <a:cs typeface="DM Sans"/>
                  <a:sym typeface="DM Sans"/>
                </a:rPr>
                <a:t>PyIceberg</a:t>
              </a:r>
              <a:endParaRPr sz="1000"/>
            </a:p>
          </p:txBody>
        </p:sp>
      </p:grpSp>
      <p:grpSp>
        <p:nvGrpSpPr>
          <p:cNvPr id="2621" name="Google Shape;2621;p101"/>
          <p:cNvGrpSpPr/>
          <p:nvPr/>
        </p:nvGrpSpPr>
        <p:grpSpPr>
          <a:xfrm>
            <a:off x="3355005" y="3769584"/>
            <a:ext cx="475200" cy="563790"/>
            <a:chOff x="3355005" y="3739660"/>
            <a:chExt cx="475200" cy="563790"/>
          </a:xfrm>
        </p:grpSpPr>
        <p:pic>
          <p:nvPicPr>
            <p:cNvPr id="2622" name="Google Shape;2622;p101"/>
            <p:cNvPicPr preferRelativeResize="0"/>
            <p:nvPr/>
          </p:nvPicPr>
          <p:blipFill>
            <a:blip r:embed="rId19">
              <a:alphaModFix/>
            </a:blip>
            <a:stretch>
              <a:fillRect/>
            </a:stretch>
          </p:blipFill>
          <p:spPr>
            <a:xfrm>
              <a:off x="3393181" y="3739660"/>
              <a:ext cx="398848" cy="398719"/>
            </a:xfrm>
            <a:prstGeom prst="rect">
              <a:avLst/>
            </a:prstGeom>
            <a:noFill/>
            <a:ln>
              <a:noFill/>
            </a:ln>
          </p:spPr>
        </p:pic>
        <p:sp>
          <p:nvSpPr>
            <p:cNvPr id="2623" name="Google Shape;2623;p101"/>
            <p:cNvSpPr txBox="1"/>
            <p:nvPr/>
          </p:nvSpPr>
          <p:spPr>
            <a:xfrm>
              <a:off x="3355005" y="4149550"/>
              <a:ext cx="475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DM Sans"/>
                  <a:ea typeface="DM Sans"/>
                  <a:cs typeface="DM Sans"/>
                  <a:sym typeface="DM Sans"/>
                </a:rPr>
                <a:t>Dremio</a:t>
              </a:r>
              <a:endParaRPr sz="1000">
                <a:latin typeface="DM Sans"/>
                <a:ea typeface="DM Sans"/>
                <a:cs typeface="DM Sans"/>
                <a:sym typeface="DM Sans"/>
              </a:endParaRPr>
            </a:p>
          </p:txBody>
        </p:sp>
      </p:grpSp>
      <p:sp>
        <p:nvSpPr>
          <p:cNvPr id="2624" name="Google Shape;2624;p101"/>
          <p:cNvSpPr txBox="1"/>
          <p:nvPr/>
        </p:nvSpPr>
        <p:spPr>
          <a:xfrm>
            <a:off x="4018084" y="2863371"/>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accent5"/>
                </a:solidFill>
                <a:latin typeface="DM Sans Medium"/>
                <a:ea typeface="DM Sans Medium"/>
                <a:cs typeface="DM Sans Medium"/>
                <a:sym typeface="DM Sans Medium"/>
              </a:rPr>
              <a:t>read</a:t>
            </a:r>
            <a:endParaRPr sz="800">
              <a:solidFill>
                <a:schemeClr val="accent5"/>
              </a:solidFill>
              <a:latin typeface="DM Sans Medium"/>
              <a:ea typeface="DM Sans Medium"/>
              <a:cs typeface="DM Sans Medium"/>
              <a:sym typeface="DM Sans Medium"/>
            </a:endParaRPr>
          </a:p>
        </p:txBody>
      </p:sp>
      <p:sp>
        <p:nvSpPr>
          <p:cNvPr id="2625" name="Google Shape;2625;p101"/>
          <p:cNvSpPr txBox="1"/>
          <p:nvPr/>
        </p:nvSpPr>
        <p:spPr>
          <a:xfrm>
            <a:off x="4018084" y="3534065"/>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accent5"/>
                </a:solidFill>
                <a:latin typeface="DM Sans Medium"/>
                <a:ea typeface="DM Sans Medium"/>
                <a:cs typeface="DM Sans Medium"/>
                <a:sym typeface="DM Sans Medium"/>
              </a:rPr>
              <a:t>read</a:t>
            </a:r>
            <a:endParaRPr sz="800">
              <a:solidFill>
                <a:schemeClr val="accent5"/>
              </a:solidFill>
              <a:latin typeface="DM Sans Medium"/>
              <a:ea typeface="DM Sans Medium"/>
              <a:cs typeface="DM Sans Medium"/>
              <a:sym typeface="DM Sans Medium"/>
            </a:endParaRPr>
          </a:p>
        </p:txBody>
      </p:sp>
      <p:sp>
        <p:nvSpPr>
          <p:cNvPr id="2626" name="Google Shape;2626;p101"/>
          <p:cNvSpPr txBox="1"/>
          <p:nvPr/>
        </p:nvSpPr>
        <p:spPr>
          <a:xfrm>
            <a:off x="5063484" y="3549662"/>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accent5"/>
                </a:solidFill>
                <a:latin typeface="DM Sans Medium"/>
                <a:ea typeface="DM Sans Medium"/>
                <a:cs typeface="DM Sans Medium"/>
                <a:sym typeface="DM Sans Medium"/>
              </a:rPr>
              <a:t>write</a:t>
            </a:r>
            <a:endParaRPr sz="800">
              <a:solidFill>
                <a:schemeClr val="accent5"/>
              </a:solidFill>
              <a:latin typeface="DM Sans Medium"/>
              <a:ea typeface="DM Sans Medium"/>
              <a:cs typeface="DM Sans Medium"/>
              <a:sym typeface="DM Sans Medium"/>
            </a:endParaRPr>
          </a:p>
        </p:txBody>
      </p:sp>
      <p:sp>
        <p:nvSpPr>
          <p:cNvPr id="2627" name="Google Shape;2627;p101"/>
          <p:cNvSpPr/>
          <p:nvPr/>
        </p:nvSpPr>
        <p:spPr>
          <a:xfrm>
            <a:off x="5396600" y="1897300"/>
            <a:ext cx="2102100" cy="378900"/>
          </a:xfrm>
          <a:prstGeom prst="roundRect">
            <a:avLst>
              <a:gd fmla="val 15450" name="adj"/>
            </a:avLst>
          </a:prstGeom>
          <a:solidFill>
            <a:srgbClr val="FFFFFF"/>
          </a:solidFill>
          <a:ln cap="flat" cmpd="sng" w="9525">
            <a:solidFill>
              <a:schemeClr val="dk2"/>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a:solidFill>
                  <a:schemeClr val="accent1"/>
                </a:solidFill>
                <a:latin typeface="DM Sans Medium"/>
                <a:ea typeface="DM Sans Medium"/>
                <a:cs typeface="DM Sans Medium"/>
                <a:sym typeface="DM Sans Medium"/>
              </a:rPr>
              <a:t>Compute</a:t>
            </a:r>
            <a:endParaRPr>
              <a:solidFill>
                <a:schemeClr val="accent1"/>
              </a:solidFill>
              <a:latin typeface="DM Sans Medium"/>
              <a:ea typeface="DM Sans Medium"/>
              <a:cs typeface="DM Sans Medium"/>
              <a:sym typeface="DM Sans Medium"/>
            </a:endParaRPr>
          </a:p>
        </p:txBody>
      </p:sp>
      <p:cxnSp>
        <p:nvCxnSpPr>
          <p:cNvPr id="2628" name="Google Shape;2628;p101"/>
          <p:cNvCxnSpPr>
            <a:stCxn id="2556" idx="0"/>
          </p:cNvCxnSpPr>
          <p:nvPr/>
        </p:nvCxnSpPr>
        <p:spPr>
          <a:xfrm rot="10800000">
            <a:off x="6951150" y="2278923"/>
            <a:ext cx="0" cy="561300"/>
          </a:xfrm>
          <a:prstGeom prst="straightConnector1">
            <a:avLst/>
          </a:prstGeom>
          <a:noFill/>
          <a:ln cap="flat" cmpd="sng" w="9525">
            <a:solidFill>
              <a:schemeClr val="dk2"/>
            </a:solidFill>
            <a:prstDash val="solid"/>
            <a:round/>
            <a:headEnd len="sm" w="sm" type="none"/>
            <a:tailEnd len="sm" w="sm" type="triangle"/>
          </a:ln>
        </p:spPr>
      </p:cxnSp>
      <p:cxnSp>
        <p:nvCxnSpPr>
          <p:cNvPr id="2629" name="Google Shape;2629;p101"/>
          <p:cNvCxnSpPr>
            <a:stCxn id="2630" idx="3"/>
            <a:endCxn id="2627" idx="2"/>
          </p:cNvCxnSpPr>
          <p:nvPr/>
        </p:nvCxnSpPr>
        <p:spPr>
          <a:xfrm flipH="1" rot="10800000">
            <a:off x="6348126" y="2276075"/>
            <a:ext cx="99600" cy="1426800"/>
          </a:xfrm>
          <a:prstGeom prst="bentConnector2">
            <a:avLst/>
          </a:prstGeom>
          <a:noFill/>
          <a:ln cap="flat" cmpd="sng" w="9525">
            <a:solidFill>
              <a:schemeClr val="dk2"/>
            </a:solidFill>
            <a:prstDash val="solid"/>
            <a:round/>
            <a:headEnd len="sm" w="sm" type="none"/>
            <a:tailEnd len="sm" w="sm" type="triangle"/>
          </a:ln>
        </p:spPr>
      </p:cxnSp>
      <p:cxnSp>
        <p:nvCxnSpPr>
          <p:cNvPr id="2631" name="Google Shape;2631;p101"/>
          <p:cNvCxnSpPr>
            <a:endCxn id="2574" idx="0"/>
          </p:cNvCxnSpPr>
          <p:nvPr/>
        </p:nvCxnSpPr>
        <p:spPr>
          <a:xfrm>
            <a:off x="5976443" y="2286700"/>
            <a:ext cx="0" cy="552900"/>
          </a:xfrm>
          <a:prstGeom prst="straightConnector1">
            <a:avLst/>
          </a:prstGeom>
          <a:noFill/>
          <a:ln cap="flat" cmpd="sng" w="9525">
            <a:solidFill>
              <a:schemeClr val="dk2"/>
            </a:solidFill>
            <a:prstDash val="solid"/>
            <a:round/>
            <a:headEnd len="sm" w="sm" type="triangle"/>
            <a:tailEnd len="sm" w="sm" type="triangle"/>
          </a:ln>
        </p:spPr>
      </p:cxnSp>
      <p:sp>
        <p:nvSpPr>
          <p:cNvPr id="2630" name="Google Shape;2630;p101"/>
          <p:cNvSpPr/>
          <p:nvPr/>
        </p:nvSpPr>
        <p:spPr>
          <a:xfrm>
            <a:off x="5594526" y="3518225"/>
            <a:ext cx="753600" cy="369300"/>
          </a:xfrm>
          <a:prstGeom prst="rect">
            <a:avLst/>
          </a:prstGeom>
          <a:noFill/>
          <a:ln cap="flat" cmpd="sng" w="9525">
            <a:solidFill>
              <a:schemeClr val="accent1"/>
            </a:solidFill>
            <a:prstDash val="solid"/>
            <a:round/>
            <a:headEnd len="sm" w="sm" type="none"/>
            <a:tailEnd len="sm" w="sm" type="none"/>
          </a:ln>
        </p:spPr>
        <p:txBody>
          <a:bodyPr anchorCtr="0" anchor="ctr" bIns="0" lIns="45700" spcFirstLastPara="1" rIns="0" wrap="square" tIns="0">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Managed</a:t>
            </a:r>
            <a:endParaRPr sz="1100">
              <a:solidFill>
                <a:schemeClr val="accent1"/>
              </a:solidFill>
              <a:latin typeface="DM Sans"/>
              <a:ea typeface="DM Sans"/>
              <a:cs typeface="DM Sans"/>
              <a:sym typeface="DM Sans"/>
            </a:endParaRPr>
          </a:p>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Tables</a:t>
            </a:r>
            <a:r>
              <a:rPr b="1" lang="en" sz="1100">
                <a:solidFill>
                  <a:schemeClr val="accent5"/>
                </a:solidFill>
                <a:latin typeface="DM Sans"/>
                <a:ea typeface="DM Sans"/>
                <a:cs typeface="DM Sans"/>
                <a:sym typeface="DM Sans"/>
              </a:rPr>
              <a:t>*</a:t>
            </a:r>
            <a:endParaRPr b="1" sz="1100">
              <a:solidFill>
                <a:schemeClr val="accent5"/>
              </a:solidFill>
              <a:latin typeface="DM Sans"/>
              <a:ea typeface="DM Sans"/>
              <a:cs typeface="DM Sans"/>
              <a:sym typeface="DM Sans"/>
            </a:endParaRPr>
          </a:p>
        </p:txBody>
      </p:sp>
      <p:cxnSp>
        <p:nvCxnSpPr>
          <p:cNvPr id="2632" name="Google Shape;2632;p101"/>
          <p:cNvCxnSpPr/>
          <p:nvPr/>
        </p:nvCxnSpPr>
        <p:spPr>
          <a:xfrm flipH="1">
            <a:off x="3985098" y="3702875"/>
            <a:ext cx="1609200" cy="600"/>
          </a:xfrm>
          <a:prstGeom prst="curvedConnector3">
            <a:avLst>
              <a:gd fmla="val 50000" name="adj1"/>
            </a:avLst>
          </a:prstGeom>
          <a:noFill/>
          <a:ln cap="flat" cmpd="sng" w="19050">
            <a:solidFill>
              <a:schemeClr val="accent5"/>
            </a:solidFill>
            <a:prstDash val="solid"/>
            <a:round/>
            <a:headEnd len="sm" w="sm" type="triangle"/>
            <a:tailEnd len="sm" w="sm" type="triangle"/>
          </a:ln>
        </p:spPr>
      </p:cxnSp>
      <p:cxnSp>
        <p:nvCxnSpPr>
          <p:cNvPr id="2633" name="Google Shape;2633;p101"/>
          <p:cNvCxnSpPr/>
          <p:nvPr/>
        </p:nvCxnSpPr>
        <p:spPr>
          <a:xfrm>
            <a:off x="3982400" y="3023650"/>
            <a:ext cx="1617300" cy="600"/>
          </a:xfrm>
          <a:prstGeom prst="curvedConnector3">
            <a:avLst>
              <a:gd fmla="val 50000" name="adj1"/>
            </a:avLst>
          </a:prstGeom>
          <a:noFill/>
          <a:ln cap="flat" cmpd="sng" w="19050">
            <a:solidFill>
              <a:schemeClr val="accent5"/>
            </a:solidFill>
            <a:prstDash val="solid"/>
            <a:round/>
            <a:headEnd len="sm" w="sm" type="triangle"/>
            <a:tailEnd len="sm" w="sm" type="none"/>
          </a:ln>
        </p:spPr>
      </p:cxnSp>
      <p:sp>
        <p:nvSpPr>
          <p:cNvPr id="2634" name="Google Shape;2634;p101"/>
          <p:cNvSpPr txBox="1"/>
          <p:nvPr/>
        </p:nvSpPr>
        <p:spPr>
          <a:xfrm>
            <a:off x="4419225" y="2857375"/>
            <a:ext cx="507300" cy="332400"/>
          </a:xfrm>
          <a:prstGeom prst="rect">
            <a:avLst/>
          </a:prstGeom>
          <a:solidFill>
            <a:srgbClr val="FFFFFF"/>
          </a:solid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200">
                <a:solidFill>
                  <a:schemeClr val="accent1"/>
                </a:solidFill>
                <a:latin typeface="DM Sans Medium"/>
                <a:ea typeface="DM Sans Medium"/>
                <a:cs typeface="DM Sans Medium"/>
                <a:sym typeface="DM Sans Medium"/>
              </a:rPr>
              <a:t>Unity  REST</a:t>
            </a:r>
            <a:endParaRPr sz="1200">
              <a:solidFill>
                <a:schemeClr val="accent1"/>
              </a:solidFill>
              <a:latin typeface="DM Sans Medium"/>
              <a:ea typeface="DM Sans Medium"/>
              <a:cs typeface="DM Sans Medium"/>
              <a:sym typeface="DM Sans Medium"/>
            </a:endParaRPr>
          </a:p>
        </p:txBody>
      </p:sp>
      <p:sp>
        <p:nvSpPr>
          <p:cNvPr id="2635" name="Google Shape;2635;p101"/>
          <p:cNvSpPr txBox="1"/>
          <p:nvPr/>
        </p:nvSpPr>
        <p:spPr>
          <a:xfrm>
            <a:off x="4338925" y="3534750"/>
            <a:ext cx="668100" cy="332400"/>
          </a:xfrm>
          <a:prstGeom prst="rect">
            <a:avLst/>
          </a:prstGeom>
          <a:solidFill>
            <a:srgbClr val="FFFFFF"/>
          </a:solid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200">
                <a:solidFill>
                  <a:schemeClr val="accent1"/>
                </a:solidFill>
                <a:latin typeface="DM Sans Medium"/>
                <a:ea typeface="DM Sans Medium"/>
                <a:cs typeface="DM Sans Medium"/>
                <a:sym typeface="DM Sans Medium"/>
              </a:rPr>
              <a:t>Iceberg  REST</a:t>
            </a:r>
            <a:endParaRPr sz="1200">
              <a:solidFill>
                <a:schemeClr val="accent1"/>
              </a:solidFill>
              <a:latin typeface="DM Sans Medium"/>
              <a:ea typeface="DM Sans Medium"/>
              <a:cs typeface="DM Sans Medium"/>
              <a:sym typeface="DM Sans Medium"/>
            </a:endParaRPr>
          </a:p>
        </p:txBody>
      </p:sp>
      <p:pic>
        <p:nvPicPr>
          <p:cNvPr id="2636" name="Google Shape;2636;p101"/>
          <p:cNvPicPr preferRelativeResize="0"/>
          <p:nvPr/>
        </p:nvPicPr>
        <p:blipFill rotWithShape="1">
          <a:blip r:embed="rId4">
            <a:alphaModFix/>
          </a:blip>
          <a:srcRect b="0" l="0" r="0" t="23100"/>
          <a:stretch/>
        </p:blipFill>
        <p:spPr>
          <a:xfrm>
            <a:off x="6107360" y="3701046"/>
            <a:ext cx="216900" cy="165405"/>
          </a:xfrm>
          <a:prstGeom prst="rect">
            <a:avLst/>
          </a:prstGeom>
          <a:noFill/>
          <a:ln>
            <a:noFill/>
          </a:ln>
        </p:spPr>
      </p:pic>
      <p:pic>
        <p:nvPicPr>
          <p:cNvPr id="2637" name="Google Shape;2637;p101"/>
          <p:cNvPicPr preferRelativeResize="0"/>
          <p:nvPr/>
        </p:nvPicPr>
        <p:blipFill>
          <a:blip r:embed="rId3">
            <a:alphaModFix/>
          </a:blip>
          <a:stretch>
            <a:fillRect/>
          </a:stretch>
        </p:blipFill>
        <p:spPr>
          <a:xfrm>
            <a:off x="6138491" y="3016451"/>
            <a:ext cx="158655" cy="153900"/>
          </a:xfrm>
          <a:prstGeom prst="rect">
            <a:avLst/>
          </a:prstGeom>
          <a:noFill/>
          <a:ln>
            <a:noFill/>
          </a:ln>
        </p:spPr>
      </p:pic>
      <p:sp>
        <p:nvSpPr>
          <p:cNvPr id="2638" name="Google Shape;2638;p101"/>
          <p:cNvSpPr txBox="1"/>
          <p:nvPr/>
        </p:nvSpPr>
        <p:spPr>
          <a:xfrm>
            <a:off x="5644113" y="2309553"/>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dk2"/>
                </a:solidFill>
                <a:latin typeface="DM Sans Medium"/>
                <a:ea typeface="DM Sans Medium"/>
                <a:cs typeface="DM Sans Medium"/>
                <a:sym typeface="DM Sans Medium"/>
              </a:rPr>
              <a:t>read</a:t>
            </a:r>
            <a:endParaRPr sz="800">
              <a:solidFill>
                <a:schemeClr val="dk2"/>
              </a:solidFill>
              <a:latin typeface="DM Sans Medium"/>
              <a:ea typeface="DM Sans Medium"/>
              <a:cs typeface="DM Sans Medium"/>
              <a:sym typeface="DM Sans Medium"/>
            </a:endParaRPr>
          </a:p>
        </p:txBody>
      </p:sp>
      <p:sp>
        <p:nvSpPr>
          <p:cNvPr id="2639" name="Google Shape;2639;p101"/>
          <p:cNvSpPr txBox="1"/>
          <p:nvPr/>
        </p:nvSpPr>
        <p:spPr>
          <a:xfrm>
            <a:off x="5644113" y="2698352"/>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dk2"/>
                </a:solidFill>
                <a:latin typeface="DM Sans Medium"/>
                <a:ea typeface="DM Sans Medium"/>
                <a:cs typeface="DM Sans Medium"/>
                <a:sym typeface="DM Sans Medium"/>
              </a:rPr>
              <a:t>write</a:t>
            </a:r>
            <a:endParaRPr sz="800">
              <a:solidFill>
                <a:schemeClr val="dk2"/>
              </a:solidFill>
              <a:latin typeface="DM Sans Medium"/>
              <a:ea typeface="DM Sans Medium"/>
              <a:cs typeface="DM Sans Medium"/>
              <a:sym typeface="DM Sans Medium"/>
            </a:endParaRPr>
          </a:p>
        </p:txBody>
      </p:sp>
      <p:sp>
        <p:nvSpPr>
          <p:cNvPr id="2640" name="Google Shape;2640;p101"/>
          <p:cNvSpPr txBox="1"/>
          <p:nvPr/>
        </p:nvSpPr>
        <p:spPr>
          <a:xfrm>
            <a:off x="6120759" y="2309553"/>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dk2"/>
                </a:solidFill>
                <a:latin typeface="DM Sans Medium"/>
                <a:ea typeface="DM Sans Medium"/>
                <a:cs typeface="DM Sans Medium"/>
                <a:sym typeface="DM Sans Medium"/>
              </a:rPr>
              <a:t>read</a:t>
            </a:r>
            <a:endParaRPr sz="800">
              <a:solidFill>
                <a:schemeClr val="dk2"/>
              </a:solidFill>
              <a:latin typeface="DM Sans Medium"/>
              <a:ea typeface="DM Sans Medium"/>
              <a:cs typeface="DM Sans Medium"/>
              <a:sym typeface="DM Sans Medium"/>
            </a:endParaRPr>
          </a:p>
        </p:txBody>
      </p:sp>
      <p:sp>
        <p:nvSpPr>
          <p:cNvPr id="2641" name="Google Shape;2641;p101"/>
          <p:cNvSpPr txBox="1"/>
          <p:nvPr/>
        </p:nvSpPr>
        <p:spPr>
          <a:xfrm>
            <a:off x="6623015" y="2309553"/>
            <a:ext cx="303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dk2"/>
                </a:solidFill>
                <a:latin typeface="DM Sans Medium"/>
                <a:ea typeface="DM Sans Medium"/>
                <a:cs typeface="DM Sans Medium"/>
                <a:sym typeface="DM Sans Medium"/>
              </a:rPr>
              <a:t>read</a:t>
            </a:r>
            <a:endParaRPr sz="800">
              <a:solidFill>
                <a:schemeClr val="dk2"/>
              </a:solidFill>
              <a:latin typeface="DM Sans Medium"/>
              <a:ea typeface="DM Sans Medium"/>
              <a:cs typeface="DM Sans Medium"/>
              <a:sym typeface="DM Sans Medium"/>
            </a:endParaRPr>
          </a:p>
        </p:txBody>
      </p:sp>
      <p:pic>
        <p:nvPicPr>
          <p:cNvPr id="2642" name="Google Shape;2642;p101"/>
          <p:cNvPicPr preferRelativeResize="0"/>
          <p:nvPr/>
        </p:nvPicPr>
        <p:blipFill>
          <a:blip r:embed="rId20">
            <a:alphaModFix/>
          </a:blip>
          <a:stretch>
            <a:fillRect/>
          </a:stretch>
        </p:blipFill>
        <p:spPr>
          <a:xfrm>
            <a:off x="5591025" y="1934800"/>
            <a:ext cx="303900" cy="303900"/>
          </a:xfrm>
          <a:prstGeom prst="rect">
            <a:avLst/>
          </a:prstGeom>
          <a:noFill/>
          <a:ln>
            <a:noFill/>
          </a:ln>
        </p:spPr>
      </p:pic>
      <p:cxnSp>
        <p:nvCxnSpPr>
          <p:cNvPr id="2643" name="Google Shape;2643;p101"/>
          <p:cNvCxnSpPr>
            <a:stCxn id="2644" idx="2"/>
            <a:endCxn id="2645" idx="2"/>
          </p:cNvCxnSpPr>
          <p:nvPr/>
        </p:nvCxnSpPr>
        <p:spPr>
          <a:xfrm flipH="1" rot="-5400000">
            <a:off x="8827725" y="2239500"/>
            <a:ext cx="399300" cy="3691800"/>
          </a:xfrm>
          <a:prstGeom prst="bentConnector3">
            <a:avLst>
              <a:gd fmla="val 159629" name="adj1"/>
            </a:avLst>
          </a:prstGeom>
          <a:noFill/>
          <a:ln cap="flat" cmpd="sng" w="9525">
            <a:solidFill>
              <a:schemeClr val="accent1"/>
            </a:solidFill>
            <a:prstDash val="dash"/>
            <a:round/>
            <a:headEnd len="sm" w="sm" type="none"/>
            <a:tailEnd len="sm" w="sm" type="triangle"/>
          </a:ln>
        </p:spPr>
      </p:cxnSp>
      <p:sp>
        <p:nvSpPr>
          <p:cNvPr id="2646" name="Google Shape;2646;p101"/>
          <p:cNvSpPr txBox="1"/>
          <p:nvPr/>
        </p:nvSpPr>
        <p:spPr>
          <a:xfrm>
            <a:off x="8555038" y="4542343"/>
            <a:ext cx="7125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accent5"/>
                </a:solidFill>
                <a:latin typeface="DM Sans Medium"/>
                <a:ea typeface="DM Sans Medium"/>
                <a:cs typeface="DM Sans Medium"/>
                <a:sym typeface="DM Sans Medium"/>
              </a:rPr>
              <a:t>For tables stored in S3</a:t>
            </a:r>
            <a:endParaRPr sz="800">
              <a:solidFill>
                <a:schemeClr val="accent5"/>
              </a:solidFill>
              <a:latin typeface="DM Sans Medium"/>
              <a:ea typeface="DM Sans Medium"/>
              <a:cs typeface="DM Sans Medium"/>
              <a:sym typeface="DM Sans Medium"/>
            </a:endParaRPr>
          </a:p>
        </p:txBody>
      </p:sp>
      <p:cxnSp>
        <p:nvCxnSpPr>
          <p:cNvPr id="2647" name="Google Shape;2647;p101"/>
          <p:cNvCxnSpPr/>
          <p:nvPr/>
        </p:nvCxnSpPr>
        <p:spPr>
          <a:xfrm rot="-5400000">
            <a:off x="8793700" y="4402253"/>
            <a:ext cx="235200" cy="600"/>
          </a:xfrm>
          <a:prstGeom prst="bentConnector3">
            <a:avLst>
              <a:gd fmla="val 50000" name="adj1"/>
            </a:avLst>
          </a:prstGeom>
          <a:noFill/>
          <a:ln cap="flat" cmpd="sng" w="9525">
            <a:solidFill>
              <a:schemeClr val="accent1"/>
            </a:solidFill>
            <a:prstDash val="dash"/>
            <a:round/>
            <a:headEnd len="sm" w="sm" type="none"/>
            <a:tailEnd len="sm" w="sm" type="triangle"/>
          </a:ln>
        </p:spPr>
      </p:cxnSp>
      <p:sp>
        <p:nvSpPr>
          <p:cNvPr id="2648" name="Google Shape;2648;p101"/>
          <p:cNvSpPr txBox="1"/>
          <p:nvPr/>
        </p:nvSpPr>
        <p:spPr>
          <a:xfrm>
            <a:off x="9540400" y="4542343"/>
            <a:ext cx="696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accent5"/>
                </a:solidFill>
                <a:latin typeface="DM Sans Medium"/>
                <a:ea typeface="DM Sans Medium"/>
                <a:cs typeface="DM Sans Medium"/>
                <a:sym typeface="DM Sans Medium"/>
              </a:rPr>
              <a:t>For managed Iceberg tables</a:t>
            </a:r>
            <a:endParaRPr sz="800">
              <a:solidFill>
                <a:schemeClr val="accent5"/>
              </a:solidFill>
              <a:latin typeface="DM Sans Medium"/>
              <a:ea typeface="DM Sans Medium"/>
              <a:cs typeface="DM Sans Medium"/>
              <a:sym typeface="DM Sans Medium"/>
            </a:endParaRPr>
          </a:p>
        </p:txBody>
      </p:sp>
      <p:cxnSp>
        <p:nvCxnSpPr>
          <p:cNvPr id="2649" name="Google Shape;2649;p101"/>
          <p:cNvCxnSpPr/>
          <p:nvPr/>
        </p:nvCxnSpPr>
        <p:spPr>
          <a:xfrm>
            <a:off x="9889200" y="3343775"/>
            <a:ext cx="0" cy="246300"/>
          </a:xfrm>
          <a:prstGeom prst="straightConnector1">
            <a:avLst/>
          </a:prstGeom>
          <a:noFill/>
          <a:ln cap="flat" cmpd="sng" w="9525">
            <a:solidFill>
              <a:schemeClr val="accent1"/>
            </a:solidFill>
            <a:prstDash val="dash"/>
            <a:round/>
            <a:headEnd len="med" w="med" type="none"/>
            <a:tailEnd len="med" w="med" type="none"/>
          </a:ln>
        </p:spPr>
      </p:cxnSp>
      <p:sp>
        <p:nvSpPr>
          <p:cNvPr id="2645" name="Google Shape;2645;p101"/>
          <p:cNvSpPr/>
          <p:nvPr/>
        </p:nvSpPr>
        <p:spPr>
          <a:xfrm>
            <a:off x="10261600" y="3589925"/>
            <a:ext cx="1223100" cy="6951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latin typeface="DM Sans"/>
                <a:ea typeface="DM Sans"/>
                <a:cs typeface="DM Sans"/>
                <a:sym typeface="DM Sans"/>
              </a:rPr>
              <a:t>  </a:t>
            </a:r>
            <a:endParaRPr sz="1500">
              <a:latin typeface="DM Sans"/>
              <a:ea typeface="DM Sans"/>
              <a:cs typeface="DM Sans"/>
              <a:sym typeface="DM Sans"/>
            </a:endParaRPr>
          </a:p>
        </p:txBody>
      </p:sp>
      <p:cxnSp>
        <p:nvCxnSpPr>
          <p:cNvPr id="2650" name="Google Shape;2650;p101"/>
          <p:cNvCxnSpPr/>
          <p:nvPr/>
        </p:nvCxnSpPr>
        <p:spPr>
          <a:xfrm>
            <a:off x="10510498" y="3343775"/>
            <a:ext cx="0" cy="246300"/>
          </a:xfrm>
          <a:prstGeom prst="straightConnector1">
            <a:avLst/>
          </a:prstGeom>
          <a:noFill/>
          <a:ln cap="flat" cmpd="sng" w="9525">
            <a:solidFill>
              <a:schemeClr val="accent1"/>
            </a:solidFill>
            <a:prstDash val="dash"/>
            <a:round/>
            <a:headEnd len="med" w="med" type="none"/>
            <a:tailEnd len="med" w="med" type="none"/>
          </a:ln>
        </p:spPr>
      </p:cxnSp>
      <p:cxnSp>
        <p:nvCxnSpPr>
          <p:cNvPr id="2651" name="Google Shape;2651;p101"/>
          <p:cNvCxnSpPr/>
          <p:nvPr/>
        </p:nvCxnSpPr>
        <p:spPr>
          <a:xfrm>
            <a:off x="11108400" y="3343775"/>
            <a:ext cx="0" cy="246300"/>
          </a:xfrm>
          <a:prstGeom prst="straightConnector1">
            <a:avLst/>
          </a:prstGeom>
          <a:noFill/>
          <a:ln cap="flat" cmpd="sng" w="9525">
            <a:solidFill>
              <a:schemeClr val="accent1"/>
            </a:solidFill>
            <a:prstDash val="dash"/>
            <a:round/>
            <a:headEnd len="med" w="med" type="none"/>
            <a:tailEnd len="med" w="med" type="none"/>
          </a:ln>
        </p:spPr>
      </p:cxnSp>
      <p:sp>
        <p:nvSpPr>
          <p:cNvPr id="2652" name="Google Shape;2652;p101"/>
          <p:cNvSpPr txBox="1"/>
          <p:nvPr/>
        </p:nvSpPr>
        <p:spPr>
          <a:xfrm>
            <a:off x="10368374" y="4059800"/>
            <a:ext cx="1021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accent1"/>
                </a:solidFill>
                <a:latin typeface="DM Sans"/>
                <a:ea typeface="DM Sans"/>
                <a:cs typeface="DM Sans"/>
                <a:sym typeface="DM Sans"/>
              </a:rPr>
              <a:t>3P data platform</a:t>
            </a:r>
            <a:endParaRPr sz="1000">
              <a:solidFill>
                <a:schemeClr val="accent1"/>
              </a:solidFill>
              <a:latin typeface="DM Sans"/>
              <a:ea typeface="DM Sans"/>
              <a:cs typeface="DM Sans"/>
              <a:sym typeface="DM Sans"/>
            </a:endParaRPr>
          </a:p>
        </p:txBody>
      </p:sp>
      <p:cxnSp>
        <p:nvCxnSpPr>
          <p:cNvPr id="2653" name="Google Shape;2653;p101"/>
          <p:cNvCxnSpPr/>
          <p:nvPr/>
        </p:nvCxnSpPr>
        <p:spPr>
          <a:xfrm rot="-5400000">
            <a:off x="9769800" y="4403750"/>
            <a:ext cx="238200" cy="600"/>
          </a:xfrm>
          <a:prstGeom prst="bentConnector3">
            <a:avLst>
              <a:gd fmla="val 50000" name="adj1"/>
            </a:avLst>
          </a:prstGeom>
          <a:noFill/>
          <a:ln cap="flat" cmpd="sng" w="9525">
            <a:solidFill>
              <a:schemeClr val="accent1"/>
            </a:solidFill>
            <a:prstDash val="dash"/>
            <a:round/>
            <a:headEnd len="sm" w="sm" type="none"/>
            <a:tailEnd len="sm" w="sm" type="triangle"/>
          </a:ln>
        </p:spPr>
      </p:cxnSp>
      <p:sp>
        <p:nvSpPr>
          <p:cNvPr id="2644" name="Google Shape;2644;p101"/>
          <p:cNvSpPr/>
          <p:nvPr/>
        </p:nvSpPr>
        <p:spPr>
          <a:xfrm>
            <a:off x="7131675" y="3831150"/>
            <a:ext cx="99600" cy="5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654" name="Google Shape;2654;p101"/>
          <p:cNvPicPr preferRelativeResize="0"/>
          <p:nvPr/>
        </p:nvPicPr>
        <p:blipFill>
          <a:blip r:embed="rId21">
            <a:alphaModFix/>
          </a:blip>
          <a:stretch>
            <a:fillRect/>
          </a:stretch>
        </p:blipFill>
        <p:spPr>
          <a:xfrm>
            <a:off x="10667825" y="3666128"/>
            <a:ext cx="410650" cy="410594"/>
          </a:xfrm>
          <a:prstGeom prst="rect">
            <a:avLst/>
          </a:prstGeom>
          <a:noFill/>
          <a:ln>
            <a:noFill/>
          </a:ln>
        </p:spPr>
      </p:pic>
      <p:sp>
        <p:nvSpPr>
          <p:cNvPr id="2655" name="Google Shape;2655;p101"/>
          <p:cNvSpPr txBox="1"/>
          <p:nvPr/>
        </p:nvSpPr>
        <p:spPr>
          <a:xfrm>
            <a:off x="6730328" y="3247739"/>
            <a:ext cx="410700" cy="221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800">
                <a:solidFill>
                  <a:srgbClr val="DD9312"/>
                </a:solidFill>
                <a:latin typeface="DM Sans Medium"/>
                <a:ea typeface="DM Sans Medium"/>
                <a:cs typeface="DM Sans Medium"/>
                <a:sym typeface="DM Sans Medium"/>
              </a:rPr>
              <a:t>d</a:t>
            </a:r>
            <a:r>
              <a:rPr lang="en" sz="800">
                <a:solidFill>
                  <a:srgbClr val="DD9312"/>
                </a:solidFill>
                <a:latin typeface="DM Sans Medium"/>
                <a:ea typeface="DM Sans Medium"/>
                <a:cs typeface="DM Sans Medium"/>
                <a:sym typeface="DM Sans Medium"/>
              </a:rPr>
              <a:t>at</a:t>
            </a:r>
            <a:r>
              <a:rPr lang="en" sz="800">
                <a:solidFill>
                  <a:srgbClr val="DD9312"/>
                </a:solidFill>
                <a:latin typeface="DM Sans Medium"/>
                <a:ea typeface="DM Sans Medium"/>
                <a:cs typeface="DM Sans Medium"/>
                <a:sym typeface="DM Sans Medium"/>
              </a:rPr>
              <a:t>a location</a:t>
            </a:r>
            <a:endParaRPr sz="800">
              <a:solidFill>
                <a:srgbClr val="DD9312"/>
              </a:solidFill>
              <a:latin typeface="DM Sans Medium"/>
              <a:ea typeface="DM Sans Medium"/>
              <a:cs typeface="DM Sans Medium"/>
              <a:sym typeface="DM Sans Medium"/>
            </a:endParaRPr>
          </a:p>
        </p:txBody>
      </p:sp>
      <p:sp>
        <p:nvSpPr>
          <p:cNvPr id="2656" name="Google Shape;2656;p101"/>
          <p:cNvSpPr/>
          <p:nvPr/>
        </p:nvSpPr>
        <p:spPr>
          <a:xfrm>
            <a:off x="7131675" y="3157018"/>
            <a:ext cx="99600" cy="5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657" name="Google Shape;2657;p101"/>
          <p:cNvSpPr/>
          <p:nvPr/>
        </p:nvSpPr>
        <p:spPr>
          <a:xfrm>
            <a:off x="7131675" y="3514682"/>
            <a:ext cx="99600" cy="5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658" name="Google Shape;2658;p101"/>
          <p:cNvCxnSpPr>
            <a:stCxn id="2656" idx="2"/>
            <a:endCxn id="2657" idx="0"/>
          </p:cNvCxnSpPr>
          <p:nvPr/>
        </p:nvCxnSpPr>
        <p:spPr>
          <a:xfrm>
            <a:off x="7181475" y="3211618"/>
            <a:ext cx="0" cy="303000"/>
          </a:xfrm>
          <a:prstGeom prst="straightConnector1">
            <a:avLst/>
          </a:prstGeom>
          <a:noFill/>
          <a:ln cap="flat" cmpd="sng" w="9525">
            <a:solidFill>
              <a:schemeClr val="accent4"/>
            </a:solidFill>
            <a:prstDash val="dash"/>
            <a:round/>
            <a:headEnd len="sm" w="sm" type="none"/>
            <a:tailEnd len="sm" w="sm"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2" name="Shape 2662"/>
        <p:cNvGrpSpPr/>
        <p:nvPr/>
      </p:nvGrpSpPr>
      <p:grpSpPr>
        <a:xfrm>
          <a:off x="0" y="0"/>
          <a:ext cx="0" cy="0"/>
          <a:chOff x="0" y="0"/>
          <a:chExt cx="0" cy="0"/>
        </a:xfrm>
      </p:grpSpPr>
      <p:sp>
        <p:nvSpPr>
          <p:cNvPr id="2663" name="Google Shape;2663;p102"/>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Lakehouse Monitoring and Observability</a:t>
            </a:r>
            <a:endParaRPr/>
          </a:p>
        </p:txBody>
      </p:sp>
      <p:sp>
        <p:nvSpPr>
          <p:cNvPr id="2664" name="Google Shape;2664;p10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8" name="Shape 2668"/>
        <p:cNvGrpSpPr/>
        <p:nvPr/>
      </p:nvGrpSpPr>
      <p:grpSpPr>
        <a:xfrm>
          <a:off x="0" y="0"/>
          <a:ext cx="0" cy="0"/>
          <a:chOff x="0" y="0"/>
          <a:chExt cx="0" cy="0"/>
        </a:xfrm>
      </p:grpSpPr>
      <p:sp>
        <p:nvSpPr>
          <p:cNvPr id="2669" name="Google Shape;2669;p103"/>
          <p:cNvSpPr/>
          <p:nvPr/>
        </p:nvSpPr>
        <p:spPr>
          <a:xfrm>
            <a:off x="4184925" y="1804900"/>
            <a:ext cx="3461700" cy="4521900"/>
          </a:xfrm>
          <a:prstGeom prst="roundRect">
            <a:avLst>
              <a:gd fmla="val 5993" name="adj"/>
            </a:avLst>
          </a:prstGeom>
          <a:noFill/>
          <a:ln cap="flat" cmpd="sng" w="19050">
            <a:solidFill>
              <a:schemeClr val="accent1"/>
            </a:solidFill>
            <a:prstDash val="solid"/>
            <a:round/>
            <a:headEnd len="sm" w="sm" type="none"/>
            <a:tailEnd len="sm" w="sm" type="none"/>
          </a:ln>
        </p:spPr>
        <p:txBody>
          <a:bodyPr anchorCtr="0" anchor="t" bIns="91425" lIns="91425" spcFirstLastPara="1" rIns="0" wrap="square" tIns="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System tables</a:t>
            </a:r>
            <a:endParaRPr sz="1600">
              <a:solidFill>
                <a:schemeClr val="accent1"/>
              </a:solidFill>
              <a:latin typeface="DM Sans Medium"/>
              <a:ea typeface="DM Sans Medium"/>
              <a:cs typeface="DM Sans Medium"/>
              <a:sym typeface="DM Sans Medium"/>
            </a:endParaRPr>
          </a:p>
        </p:txBody>
      </p:sp>
      <p:sp>
        <p:nvSpPr>
          <p:cNvPr id="2670" name="Google Shape;2670;p103"/>
          <p:cNvSpPr/>
          <p:nvPr/>
        </p:nvSpPr>
        <p:spPr>
          <a:xfrm>
            <a:off x="4473100" y="2195700"/>
            <a:ext cx="2991600" cy="3462900"/>
          </a:xfrm>
          <a:prstGeom prst="roundRect">
            <a:avLst>
              <a:gd fmla="val 5993" name="adj"/>
            </a:avLst>
          </a:prstGeom>
          <a:noFill/>
          <a:ln cap="flat" cmpd="sng" w="19050">
            <a:solidFill>
              <a:schemeClr val="accent4"/>
            </a:solidFill>
            <a:prstDash val="solid"/>
            <a:round/>
            <a:headEnd len="sm" w="sm" type="none"/>
            <a:tailEnd len="sm" w="sm" type="none"/>
          </a:ln>
        </p:spPr>
        <p:txBody>
          <a:bodyPr anchorCtr="0" anchor="t" bIns="91425" lIns="91425"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UC Metastore</a:t>
            </a:r>
            <a:endParaRPr>
              <a:solidFill>
                <a:schemeClr val="accent1"/>
              </a:solidFill>
              <a:latin typeface="DM Sans Medium"/>
              <a:ea typeface="DM Sans Medium"/>
              <a:cs typeface="DM Sans Medium"/>
              <a:sym typeface="DM Sans Medium"/>
            </a:endParaRPr>
          </a:p>
        </p:txBody>
      </p:sp>
      <p:sp>
        <p:nvSpPr>
          <p:cNvPr id="2671" name="Google Shape;2671;p10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Lakehouse Observability</a:t>
            </a:r>
            <a:endParaRPr/>
          </a:p>
        </p:txBody>
      </p:sp>
      <p:sp>
        <p:nvSpPr>
          <p:cNvPr id="2672" name="Google Shape;2672;p10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673" name="Google Shape;2673;p103"/>
          <p:cNvSpPr/>
          <p:nvPr/>
        </p:nvSpPr>
        <p:spPr>
          <a:xfrm>
            <a:off x="2357225" y="3430205"/>
            <a:ext cx="1536000" cy="1268400"/>
          </a:xfrm>
          <a:prstGeom prst="roundRect">
            <a:avLst>
              <a:gd fmla="val 5993" name="adj"/>
            </a:avLst>
          </a:prstGeom>
          <a:no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Lakehouse Pipeline Infrastructure</a:t>
            </a:r>
            <a:endParaRPr sz="1600">
              <a:solidFill>
                <a:schemeClr val="accent1"/>
              </a:solidFill>
              <a:latin typeface="DM Sans Medium"/>
              <a:ea typeface="DM Sans Medium"/>
              <a:cs typeface="DM Sans Medium"/>
              <a:sym typeface="DM Sans Medium"/>
            </a:endParaRPr>
          </a:p>
          <a:p>
            <a:pPr indent="0" lvl="0" marL="0" rtl="0" algn="ctr">
              <a:spcBef>
                <a:spcPts val="0"/>
              </a:spcBef>
              <a:spcAft>
                <a:spcPts val="0"/>
              </a:spcAft>
              <a:buNone/>
            </a:pPr>
            <a:r>
              <a:rPr lang="en" sz="1000">
                <a:solidFill>
                  <a:schemeClr val="accent1"/>
                </a:solidFill>
                <a:latin typeface="DM Sans Medium"/>
                <a:ea typeface="DM Sans Medium"/>
                <a:cs typeface="DM Sans Medium"/>
                <a:sym typeface="DM Sans Medium"/>
              </a:rPr>
              <a:t>(run by Databricks)</a:t>
            </a:r>
            <a:r>
              <a:rPr lang="en" sz="1600">
                <a:solidFill>
                  <a:schemeClr val="accent1"/>
                </a:solidFill>
                <a:latin typeface="DM Sans Medium"/>
                <a:ea typeface="DM Sans Medium"/>
                <a:cs typeface="DM Sans Medium"/>
                <a:sym typeface="DM Sans Medium"/>
              </a:rPr>
              <a:t> </a:t>
            </a:r>
            <a:endParaRPr sz="1600">
              <a:solidFill>
                <a:schemeClr val="accent1"/>
              </a:solidFill>
              <a:latin typeface="DM Sans Medium"/>
              <a:ea typeface="DM Sans Medium"/>
              <a:cs typeface="DM Sans Medium"/>
              <a:sym typeface="DM Sans Medium"/>
            </a:endParaRPr>
          </a:p>
        </p:txBody>
      </p:sp>
      <p:cxnSp>
        <p:nvCxnSpPr>
          <p:cNvPr id="2674" name="Google Shape;2674;p103"/>
          <p:cNvCxnSpPr>
            <a:stCxn id="2673" idx="3"/>
            <a:endCxn id="2669" idx="1"/>
          </p:cNvCxnSpPr>
          <p:nvPr/>
        </p:nvCxnSpPr>
        <p:spPr>
          <a:xfrm>
            <a:off x="3893225" y="4064405"/>
            <a:ext cx="291600" cy="1500"/>
          </a:xfrm>
          <a:prstGeom prst="curvedConnector3">
            <a:avLst>
              <a:gd fmla="val 50017" name="adj1"/>
            </a:avLst>
          </a:prstGeom>
          <a:noFill/>
          <a:ln cap="flat" cmpd="sng" w="9525">
            <a:solidFill>
              <a:schemeClr val="accent1"/>
            </a:solidFill>
            <a:prstDash val="solid"/>
            <a:round/>
            <a:headEnd len="med" w="med" type="none"/>
            <a:tailEnd len="med" w="med" type="triangle"/>
          </a:ln>
        </p:spPr>
      </p:cxnSp>
      <p:sp>
        <p:nvSpPr>
          <p:cNvPr id="2675" name="Google Shape;2675;p103"/>
          <p:cNvSpPr/>
          <p:nvPr/>
        </p:nvSpPr>
        <p:spPr>
          <a:xfrm>
            <a:off x="4473150" y="5755450"/>
            <a:ext cx="2991600" cy="459000"/>
          </a:xfrm>
          <a:prstGeom prst="roundRect">
            <a:avLst>
              <a:gd fmla="val 15004" name="adj"/>
            </a:avLst>
          </a:prstGeom>
          <a:noFill/>
          <a:ln cap="flat" cmpd="sng" w="19050">
            <a:solidFill>
              <a:schemeClr val="accent1"/>
            </a:solidFill>
            <a:prstDash val="solid"/>
            <a:round/>
            <a:headEnd len="sm" w="sm" type="none"/>
            <a:tailEnd len="sm" w="sm" type="none"/>
          </a:ln>
        </p:spPr>
        <p:txBody>
          <a:bodyPr anchorCtr="0" anchor="ctr" bIns="0" lIns="91425"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Delta tables</a:t>
            </a:r>
            <a:br>
              <a:rPr lang="en">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(stored in Databricks account)</a:t>
            </a:r>
            <a:endParaRPr sz="1000">
              <a:solidFill>
                <a:schemeClr val="accent1"/>
              </a:solidFill>
              <a:latin typeface="DM Sans Medium"/>
              <a:ea typeface="DM Sans Medium"/>
              <a:cs typeface="DM Sans Medium"/>
              <a:sym typeface="DM Sans Medium"/>
            </a:endParaRPr>
          </a:p>
        </p:txBody>
      </p:sp>
      <p:sp>
        <p:nvSpPr>
          <p:cNvPr id="2676" name="Google Shape;2676;p103"/>
          <p:cNvSpPr/>
          <p:nvPr/>
        </p:nvSpPr>
        <p:spPr>
          <a:xfrm>
            <a:off x="834225" y="2769108"/>
            <a:ext cx="989700" cy="4590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Billing Usage</a:t>
            </a:r>
            <a:endParaRPr sz="1200">
              <a:solidFill>
                <a:schemeClr val="accent1"/>
              </a:solidFill>
              <a:latin typeface="DM Sans Medium"/>
              <a:ea typeface="DM Sans Medium"/>
              <a:cs typeface="DM Sans Medium"/>
              <a:sym typeface="DM Sans Medium"/>
            </a:endParaRPr>
          </a:p>
        </p:txBody>
      </p:sp>
      <p:sp>
        <p:nvSpPr>
          <p:cNvPr id="2677" name="Google Shape;2677;p103"/>
          <p:cNvSpPr/>
          <p:nvPr/>
        </p:nvSpPr>
        <p:spPr>
          <a:xfrm>
            <a:off x="834225" y="3302508"/>
            <a:ext cx="989700" cy="4590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Lineage</a:t>
            </a:r>
            <a:endParaRPr sz="1200">
              <a:solidFill>
                <a:schemeClr val="accent1"/>
              </a:solidFill>
              <a:latin typeface="DM Sans Medium"/>
              <a:ea typeface="DM Sans Medium"/>
              <a:cs typeface="DM Sans Medium"/>
              <a:sym typeface="DM Sans Medium"/>
            </a:endParaRPr>
          </a:p>
        </p:txBody>
      </p:sp>
      <p:sp>
        <p:nvSpPr>
          <p:cNvPr id="2678" name="Google Shape;2678;p103"/>
          <p:cNvSpPr/>
          <p:nvPr/>
        </p:nvSpPr>
        <p:spPr>
          <a:xfrm>
            <a:off x="834225" y="3835908"/>
            <a:ext cx="989700" cy="4590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Audit </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Logs</a:t>
            </a:r>
            <a:endParaRPr sz="1200">
              <a:solidFill>
                <a:schemeClr val="accent1"/>
              </a:solidFill>
              <a:latin typeface="DM Sans Medium"/>
              <a:ea typeface="DM Sans Medium"/>
              <a:cs typeface="DM Sans Medium"/>
              <a:sym typeface="DM Sans Medium"/>
            </a:endParaRPr>
          </a:p>
        </p:txBody>
      </p:sp>
      <p:sp>
        <p:nvSpPr>
          <p:cNvPr id="2679" name="Google Shape;2679;p103"/>
          <p:cNvSpPr/>
          <p:nvPr/>
        </p:nvSpPr>
        <p:spPr>
          <a:xfrm>
            <a:off x="834225" y="4369308"/>
            <a:ext cx="989700" cy="4590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Clusters</a:t>
            </a:r>
            <a:endParaRPr sz="1200">
              <a:solidFill>
                <a:schemeClr val="accent1"/>
              </a:solidFill>
              <a:latin typeface="DM Sans Medium"/>
              <a:ea typeface="DM Sans Medium"/>
              <a:cs typeface="DM Sans Medium"/>
              <a:sym typeface="DM Sans Medium"/>
            </a:endParaRPr>
          </a:p>
        </p:txBody>
      </p:sp>
      <p:sp>
        <p:nvSpPr>
          <p:cNvPr id="2680" name="Google Shape;2680;p103"/>
          <p:cNvSpPr/>
          <p:nvPr/>
        </p:nvSpPr>
        <p:spPr>
          <a:xfrm>
            <a:off x="834225" y="4902708"/>
            <a:ext cx="989700" cy="4590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Predictive</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Optimization</a:t>
            </a:r>
            <a:endParaRPr sz="1200">
              <a:solidFill>
                <a:schemeClr val="accent1"/>
              </a:solidFill>
              <a:latin typeface="DM Sans Medium"/>
              <a:ea typeface="DM Sans Medium"/>
              <a:cs typeface="DM Sans Medium"/>
              <a:sym typeface="DM Sans Medium"/>
            </a:endParaRPr>
          </a:p>
        </p:txBody>
      </p:sp>
      <p:cxnSp>
        <p:nvCxnSpPr>
          <p:cNvPr id="2681" name="Google Shape;2681;p103"/>
          <p:cNvCxnSpPr>
            <a:stCxn id="2676" idx="3"/>
            <a:endCxn id="2682" idx="1"/>
          </p:cNvCxnSpPr>
          <p:nvPr/>
        </p:nvCxnSpPr>
        <p:spPr>
          <a:xfrm>
            <a:off x="1823925" y="2998608"/>
            <a:ext cx="440700" cy="1066800"/>
          </a:xfrm>
          <a:prstGeom prst="curvedConnector3">
            <a:avLst>
              <a:gd fmla="val 49994" name="adj1"/>
            </a:avLst>
          </a:prstGeom>
          <a:noFill/>
          <a:ln cap="flat" cmpd="sng" w="9525">
            <a:solidFill>
              <a:schemeClr val="accent1"/>
            </a:solidFill>
            <a:prstDash val="solid"/>
            <a:round/>
            <a:headEnd len="med" w="med" type="none"/>
            <a:tailEnd len="med" w="med" type="none"/>
          </a:ln>
        </p:spPr>
      </p:cxnSp>
      <p:cxnSp>
        <p:nvCxnSpPr>
          <p:cNvPr id="2683" name="Google Shape;2683;p103"/>
          <p:cNvCxnSpPr>
            <a:stCxn id="2677" idx="3"/>
            <a:endCxn id="2682" idx="1"/>
          </p:cNvCxnSpPr>
          <p:nvPr/>
        </p:nvCxnSpPr>
        <p:spPr>
          <a:xfrm>
            <a:off x="1823925" y="3532008"/>
            <a:ext cx="440700" cy="533400"/>
          </a:xfrm>
          <a:prstGeom prst="curvedConnector3">
            <a:avLst>
              <a:gd fmla="val 49994" name="adj1"/>
            </a:avLst>
          </a:prstGeom>
          <a:noFill/>
          <a:ln cap="flat" cmpd="sng" w="9525">
            <a:solidFill>
              <a:schemeClr val="accent1"/>
            </a:solidFill>
            <a:prstDash val="solid"/>
            <a:round/>
            <a:headEnd len="med" w="med" type="none"/>
            <a:tailEnd len="med" w="med" type="none"/>
          </a:ln>
        </p:spPr>
      </p:cxnSp>
      <p:sp>
        <p:nvSpPr>
          <p:cNvPr id="2684" name="Google Shape;2684;p103"/>
          <p:cNvSpPr/>
          <p:nvPr/>
        </p:nvSpPr>
        <p:spPr>
          <a:xfrm>
            <a:off x="834225" y="5436108"/>
            <a:ext cx="989700" cy="459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t>
            </a:r>
            <a:endParaRPr sz="1200">
              <a:solidFill>
                <a:schemeClr val="accent1"/>
              </a:solidFill>
              <a:latin typeface="DM Sans Medium"/>
              <a:ea typeface="DM Sans Medium"/>
              <a:cs typeface="DM Sans Medium"/>
              <a:sym typeface="DM Sans Medium"/>
            </a:endParaRPr>
          </a:p>
        </p:txBody>
      </p:sp>
      <p:cxnSp>
        <p:nvCxnSpPr>
          <p:cNvPr id="2685" name="Google Shape;2685;p103"/>
          <p:cNvCxnSpPr>
            <a:stCxn id="2678" idx="3"/>
            <a:endCxn id="2673" idx="1"/>
          </p:cNvCxnSpPr>
          <p:nvPr/>
        </p:nvCxnSpPr>
        <p:spPr>
          <a:xfrm flipH="1" rot="10800000">
            <a:off x="1823925" y="4064508"/>
            <a:ext cx="533400" cy="900"/>
          </a:xfrm>
          <a:prstGeom prst="curvedConnector3">
            <a:avLst>
              <a:gd fmla="val 49991" name="adj1"/>
            </a:avLst>
          </a:prstGeom>
          <a:noFill/>
          <a:ln cap="flat" cmpd="sng" w="9525">
            <a:solidFill>
              <a:schemeClr val="accent1"/>
            </a:solidFill>
            <a:prstDash val="solid"/>
            <a:round/>
            <a:headEnd len="med" w="med" type="none"/>
            <a:tailEnd len="med" w="med" type="triangle"/>
          </a:ln>
        </p:spPr>
      </p:cxnSp>
      <p:sp>
        <p:nvSpPr>
          <p:cNvPr id="2686" name="Google Shape;2686;p103"/>
          <p:cNvSpPr/>
          <p:nvPr/>
        </p:nvSpPr>
        <p:spPr>
          <a:xfrm>
            <a:off x="8566725" y="3013400"/>
            <a:ext cx="1395600" cy="896400"/>
          </a:xfrm>
          <a:prstGeom prst="roundRect">
            <a:avLst>
              <a:gd fmla="val 5993" name="adj"/>
            </a:avLst>
          </a:prstGeom>
          <a:no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Dashboards</a:t>
            </a:r>
            <a:endParaRPr sz="1600">
              <a:solidFill>
                <a:schemeClr val="accent1"/>
              </a:solidFill>
              <a:latin typeface="DM Sans Medium"/>
              <a:ea typeface="DM Sans Medium"/>
              <a:cs typeface="DM Sans Medium"/>
              <a:sym typeface="DM Sans Medium"/>
            </a:endParaRPr>
          </a:p>
        </p:txBody>
      </p:sp>
      <p:sp>
        <p:nvSpPr>
          <p:cNvPr id="2687" name="Google Shape;2687;p103"/>
          <p:cNvSpPr/>
          <p:nvPr/>
        </p:nvSpPr>
        <p:spPr>
          <a:xfrm>
            <a:off x="8566725" y="1804900"/>
            <a:ext cx="1395600" cy="896400"/>
          </a:xfrm>
          <a:prstGeom prst="roundRect">
            <a:avLst>
              <a:gd fmla="val 5993" name="adj"/>
            </a:avLst>
          </a:prstGeom>
          <a:no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Lakehouse </a:t>
            </a:r>
            <a:br>
              <a:rPr lang="en" sz="1600">
                <a:solidFill>
                  <a:schemeClr val="accent1"/>
                </a:solidFill>
                <a:latin typeface="DM Sans Medium"/>
                <a:ea typeface="DM Sans Medium"/>
                <a:cs typeface="DM Sans Medium"/>
                <a:sym typeface="DM Sans Medium"/>
              </a:rPr>
            </a:br>
            <a:r>
              <a:rPr lang="en" sz="1600">
                <a:solidFill>
                  <a:schemeClr val="accent1"/>
                </a:solidFill>
                <a:latin typeface="DM Sans Medium"/>
                <a:ea typeface="DM Sans Medium"/>
                <a:cs typeface="DM Sans Medium"/>
                <a:sym typeface="DM Sans Medium"/>
              </a:rPr>
              <a:t>AI or BI tools</a:t>
            </a:r>
            <a:endParaRPr sz="1600">
              <a:solidFill>
                <a:schemeClr val="accent1"/>
              </a:solidFill>
              <a:latin typeface="DM Sans Medium"/>
              <a:ea typeface="DM Sans Medium"/>
              <a:cs typeface="DM Sans Medium"/>
              <a:sym typeface="DM Sans Medium"/>
            </a:endParaRPr>
          </a:p>
        </p:txBody>
      </p:sp>
      <p:sp>
        <p:nvSpPr>
          <p:cNvPr id="2688" name="Google Shape;2688;p103"/>
          <p:cNvSpPr/>
          <p:nvPr/>
        </p:nvSpPr>
        <p:spPr>
          <a:xfrm>
            <a:off x="8566725" y="5430400"/>
            <a:ext cx="1395600" cy="896400"/>
          </a:xfrm>
          <a:prstGeom prst="roundRect">
            <a:avLst>
              <a:gd fmla="val 5993" name="adj"/>
            </a:avLst>
          </a:prstGeom>
          <a:no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3rd party tools</a:t>
            </a:r>
            <a:endParaRPr sz="1600">
              <a:solidFill>
                <a:schemeClr val="accent1"/>
              </a:solidFill>
              <a:latin typeface="DM Sans Medium"/>
              <a:ea typeface="DM Sans Medium"/>
              <a:cs typeface="DM Sans Medium"/>
              <a:sym typeface="DM Sans Medium"/>
            </a:endParaRPr>
          </a:p>
        </p:txBody>
      </p:sp>
      <p:cxnSp>
        <p:nvCxnSpPr>
          <p:cNvPr id="2689" name="Google Shape;2689;p103"/>
          <p:cNvCxnSpPr>
            <a:stCxn id="2687" idx="1"/>
            <a:endCxn id="2690" idx="3"/>
          </p:cNvCxnSpPr>
          <p:nvPr/>
        </p:nvCxnSpPr>
        <p:spPr>
          <a:xfrm flipH="1">
            <a:off x="7751325" y="2253100"/>
            <a:ext cx="815400" cy="1805700"/>
          </a:xfrm>
          <a:prstGeom prst="curvedConnector3">
            <a:avLst>
              <a:gd fmla="val 49997" name="adj1"/>
            </a:avLst>
          </a:prstGeom>
          <a:noFill/>
          <a:ln cap="flat" cmpd="sng" w="9525">
            <a:solidFill>
              <a:schemeClr val="accent1"/>
            </a:solidFill>
            <a:prstDash val="solid"/>
            <a:round/>
            <a:headEnd len="med" w="med" type="none"/>
            <a:tailEnd len="med" w="med" type="none"/>
          </a:ln>
        </p:spPr>
      </p:cxnSp>
      <p:cxnSp>
        <p:nvCxnSpPr>
          <p:cNvPr id="2691" name="Google Shape;2691;p103"/>
          <p:cNvCxnSpPr>
            <a:stCxn id="2686" idx="1"/>
            <a:endCxn id="2690" idx="3"/>
          </p:cNvCxnSpPr>
          <p:nvPr/>
        </p:nvCxnSpPr>
        <p:spPr>
          <a:xfrm flipH="1">
            <a:off x="7751325" y="3461600"/>
            <a:ext cx="815400" cy="597300"/>
          </a:xfrm>
          <a:prstGeom prst="curvedConnector3">
            <a:avLst>
              <a:gd fmla="val 49997" name="adj1"/>
            </a:avLst>
          </a:prstGeom>
          <a:noFill/>
          <a:ln cap="flat" cmpd="sng" w="9525">
            <a:solidFill>
              <a:schemeClr val="accent1"/>
            </a:solidFill>
            <a:prstDash val="solid"/>
            <a:round/>
            <a:headEnd len="med" w="med" type="none"/>
            <a:tailEnd len="med" w="med" type="none"/>
          </a:ln>
        </p:spPr>
      </p:cxnSp>
      <p:cxnSp>
        <p:nvCxnSpPr>
          <p:cNvPr id="2692" name="Google Shape;2692;p103"/>
          <p:cNvCxnSpPr>
            <a:stCxn id="2688" idx="1"/>
            <a:endCxn id="2690" idx="3"/>
          </p:cNvCxnSpPr>
          <p:nvPr/>
        </p:nvCxnSpPr>
        <p:spPr>
          <a:xfrm rot="10800000">
            <a:off x="7751325" y="4058800"/>
            <a:ext cx="815400" cy="1819800"/>
          </a:xfrm>
          <a:prstGeom prst="curvedConnector3">
            <a:avLst>
              <a:gd fmla="val 49997" name="adj1"/>
            </a:avLst>
          </a:prstGeom>
          <a:noFill/>
          <a:ln cap="flat" cmpd="sng" w="9525">
            <a:solidFill>
              <a:schemeClr val="accent1"/>
            </a:solidFill>
            <a:prstDash val="solid"/>
            <a:round/>
            <a:headEnd len="med" w="med" type="none"/>
            <a:tailEnd len="med" w="med" type="none"/>
          </a:ln>
        </p:spPr>
      </p:cxnSp>
      <p:cxnSp>
        <p:nvCxnSpPr>
          <p:cNvPr id="2693" name="Google Shape;2693;p103"/>
          <p:cNvCxnSpPr>
            <a:stCxn id="2687" idx="2"/>
            <a:endCxn id="2686" idx="0"/>
          </p:cNvCxnSpPr>
          <p:nvPr/>
        </p:nvCxnSpPr>
        <p:spPr>
          <a:xfrm flipH="1" rot="-5400000">
            <a:off x="9108825" y="2857000"/>
            <a:ext cx="312000" cy="600"/>
          </a:xfrm>
          <a:prstGeom prst="curvedConnector3">
            <a:avLst>
              <a:gd fmla="val 50016" name="adj1"/>
            </a:avLst>
          </a:prstGeom>
          <a:noFill/>
          <a:ln cap="flat" cmpd="sng" w="9525">
            <a:solidFill>
              <a:schemeClr val="accent1"/>
            </a:solidFill>
            <a:prstDash val="solid"/>
            <a:round/>
            <a:headEnd len="med" w="med" type="none"/>
            <a:tailEnd len="med" w="med" type="triangle"/>
          </a:ln>
        </p:spPr>
      </p:cxnSp>
      <p:sp>
        <p:nvSpPr>
          <p:cNvPr id="2694" name="Google Shape;2694;p103"/>
          <p:cNvSpPr txBox="1"/>
          <p:nvPr/>
        </p:nvSpPr>
        <p:spPr>
          <a:xfrm>
            <a:off x="10673575" y="4203705"/>
            <a:ext cx="9402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B5162"/>
                </a:solidFill>
                <a:latin typeface="DM Sans Medium"/>
                <a:ea typeface="DM Sans Medium"/>
                <a:cs typeface="DM Sans Medium"/>
                <a:sym typeface="DM Sans Medium"/>
              </a:rPr>
              <a:t>Users / Admins</a:t>
            </a:r>
            <a:endParaRPr sz="1600">
              <a:solidFill>
                <a:srgbClr val="1B5162"/>
              </a:solidFill>
              <a:latin typeface="DM Sans Medium"/>
              <a:ea typeface="DM Sans Medium"/>
              <a:cs typeface="DM Sans Medium"/>
              <a:sym typeface="DM Sans Medium"/>
            </a:endParaRPr>
          </a:p>
        </p:txBody>
      </p:sp>
      <p:pic>
        <p:nvPicPr>
          <p:cNvPr id="2695" name="Google Shape;2695;p103"/>
          <p:cNvPicPr preferRelativeResize="0"/>
          <p:nvPr/>
        </p:nvPicPr>
        <p:blipFill>
          <a:blip r:embed="rId3">
            <a:alphaModFix/>
          </a:blip>
          <a:stretch>
            <a:fillRect/>
          </a:stretch>
        </p:blipFill>
        <p:spPr>
          <a:xfrm>
            <a:off x="10810300" y="3725495"/>
            <a:ext cx="666600" cy="666600"/>
          </a:xfrm>
          <a:prstGeom prst="rect">
            <a:avLst/>
          </a:prstGeom>
          <a:noFill/>
          <a:ln>
            <a:noFill/>
          </a:ln>
        </p:spPr>
      </p:pic>
      <p:cxnSp>
        <p:nvCxnSpPr>
          <p:cNvPr id="2696" name="Google Shape;2696;p103"/>
          <p:cNvCxnSpPr>
            <a:stCxn id="2695" idx="1"/>
            <a:endCxn id="2687" idx="3"/>
          </p:cNvCxnSpPr>
          <p:nvPr/>
        </p:nvCxnSpPr>
        <p:spPr>
          <a:xfrm rot="10800000">
            <a:off x="9962200" y="2253095"/>
            <a:ext cx="848100" cy="1805700"/>
          </a:xfrm>
          <a:prstGeom prst="curvedConnector3">
            <a:avLst>
              <a:gd fmla="val 49993" name="adj1"/>
            </a:avLst>
          </a:prstGeom>
          <a:noFill/>
          <a:ln cap="flat" cmpd="sng" w="9525">
            <a:solidFill>
              <a:schemeClr val="accent1"/>
            </a:solidFill>
            <a:prstDash val="solid"/>
            <a:round/>
            <a:headEnd len="med" w="med" type="none"/>
            <a:tailEnd len="med" w="med" type="triangle"/>
          </a:ln>
        </p:spPr>
      </p:cxnSp>
      <p:cxnSp>
        <p:nvCxnSpPr>
          <p:cNvPr id="2697" name="Google Shape;2697;p103"/>
          <p:cNvCxnSpPr>
            <a:stCxn id="2695" idx="1"/>
            <a:endCxn id="2686" idx="3"/>
          </p:cNvCxnSpPr>
          <p:nvPr/>
        </p:nvCxnSpPr>
        <p:spPr>
          <a:xfrm rot="10800000">
            <a:off x="9962200" y="3461495"/>
            <a:ext cx="848100" cy="597300"/>
          </a:xfrm>
          <a:prstGeom prst="curvedConnector3">
            <a:avLst>
              <a:gd fmla="val 49993" name="adj1"/>
            </a:avLst>
          </a:prstGeom>
          <a:noFill/>
          <a:ln cap="flat" cmpd="sng" w="9525">
            <a:solidFill>
              <a:schemeClr val="accent1"/>
            </a:solidFill>
            <a:prstDash val="solid"/>
            <a:round/>
            <a:headEnd len="med" w="med" type="none"/>
            <a:tailEnd len="med" w="med" type="triangle"/>
          </a:ln>
        </p:spPr>
      </p:cxnSp>
      <p:cxnSp>
        <p:nvCxnSpPr>
          <p:cNvPr id="2698" name="Google Shape;2698;p103"/>
          <p:cNvCxnSpPr>
            <a:stCxn id="2695" idx="1"/>
            <a:endCxn id="2688" idx="3"/>
          </p:cNvCxnSpPr>
          <p:nvPr/>
        </p:nvCxnSpPr>
        <p:spPr>
          <a:xfrm flipH="1">
            <a:off x="9962200" y="4058795"/>
            <a:ext cx="848100" cy="1819800"/>
          </a:xfrm>
          <a:prstGeom prst="curvedConnector3">
            <a:avLst>
              <a:gd fmla="val 49993" name="adj1"/>
            </a:avLst>
          </a:prstGeom>
          <a:noFill/>
          <a:ln cap="flat" cmpd="sng" w="9525">
            <a:solidFill>
              <a:schemeClr val="accent1"/>
            </a:solidFill>
            <a:prstDash val="solid"/>
            <a:round/>
            <a:headEnd len="med" w="med" type="none"/>
            <a:tailEnd len="med" w="med" type="triangle"/>
          </a:ln>
        </p:spPr>
      </p:cxnSp>
      <p:sp>
        <p:nvSpPr>
          <p:cNvPr id="2699" name="Google Shape;2699;p103"/>
          <p:cNvSpPr/>
          <p:nvPr/>
        </p:nvSpPr>
        <p:spPr>
          <a:xfrm>
            <a:off x="8566725" y="4221900"/>
            <a:ext cx="1395600" cy="896400"/>
          </a:xfrm>
          <a:prstGeom prst="roundRect">
            <a:avLst>
              <a:gd fmla="val 5993" name="adj"/>
            </a:avLst>
          </a:prstGeom>
          <a:no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Exploratory Analysis</a:t>
            </a:r>
            <a:endParaRPr sz="1600">
              <a:solidFill>
                <a:schemeClr val="accent1"/>
              </a:solidFill>
              <a:latin typeface="DM Sans Medium"/>
              <a:ea typeface="DM Sans Medium"/>
              <a:cs typeface="DM Sans Medium"/>
              <a:sym typeface="DM Sans Medium"/>
            </a:endParaRPr>
          </a:p>
        </p:txBody>
      </p:sp>
      <p:cxnSp>
        <p:nvCxnSpPr>
          <p:cNvPr id="2700" name="Google Shape;2700;p103"/>
          <p:cNvCxnSpPr>
            <a:stCxn id="2699" idx="1"/>
            <a:endCxn id="2690" idx="3"/>
          </p:cNvCxnSpPr>
          <p:nvPr/>
        </p:nvCxnSpPr>
        <p:spPr>
          <a:xfrm rot="10800000">
            <a:off x="7751325" y="4058700"/>
            <a:ext cx="815400" cy="611400"/>
          </a:xfrm>
          <a:prstGeom prst="curvedConnector3">
            <a:avLst>
              <a:gd fmla="val 49997" name="adj1"/>
            </a:avLst>
          </a:prstGeom>
          <a:noFill/>
          <a:ln cap="flat" cmpd="sng" w="9525">
            <a:solidFill>
              <a:schemeClr val="accent1"/>
            </a:solidFill>
            <a:prstDash val="solid"/>
            <a:round/>
            <a:headEnd len="med" w="med" type="none"/>
            <a:tailEnd len="med" w="med" type="none"/>
          </a:ln>
        </p:spPr>
      </p:cxnSp>
      <p:cxnSp>
        <p:nvCxnSpPr>
          <p:cNvPr id="2701" name="Google Shape;2701;p103"/>
          <p:cNvCxnSpPr>
            <a:stCxn id="2695" idx="1"/>
            <a:endCxn id="2699" idx="3"/>
          </p:cNvCxnSpPr>
          <p:nvPr/>
        </p:nvCxnSpPr>
        <p:spPr>
          <a:xfrm flipH="1">
            <a:off x="9962200" y="4058795"/>
            <a:ext cx="848100" cy="611400"/>
          </a:xfrm>
          <a:prstGeom prst="curvedConnector3">
            <a:avLst>
              <a:gd fmla="val 49993" name="adj1"/>
            </a:avLst>
          </a:prstGeom>
          <a:noFill/>
          <a:ln cap="flat" cmpd="sng" w="9525">
            <a:solidFill>
              <a:schemeClr val="accent1"/>
            </a:solidFill>
            <a:prstDash val="solid"/>
            <a:round/>
            <a:headEnd len="med" w="med" type="none"/>
            <a:tailEnd len="med" w="med" type="triangle"/>
          </a:ln>
        </p:spPr>
      </p:cxnSp>
      <p:cxnSp>
        <p:nvCxnSpPr>
          <p:cNvPr id="2702" name="Google Shape;2702;p103"/>
          <p:cNvCxnSpPr>
            <a:stCxn id="2699" idx="0"/>
            <a:endCxn id="2686" idx="2"/>
          </p:cNvCxnSpPr>
          <p:nvPr/>
        </p:nvCxnSpPr>
        <p:spPr>
          <a:xfrm rot="-5400000">
            <a:off x="9108825" y="4065600"/>
            <a:ext cx="312000" cy="600"/>
          </a:xfrm>
          <a:prstGeom prst="curvedConnector3">
            <a:avLst>
              <a:gd fmla="val 50016" name="adj1"/>
            </a:avLst>
          </a:prstGeom>
          <a:noFill/>
          <a:ln cap="flat" cmpd="sng" w="9525">
            <a:solidFill>
              <a:schemeClr val="accent1"/>
            </a:solidFill>
            <a:prstDash val="solid"/>
            <a:round/>
            <a:headEnd len="med" w="med" type="none"/>
            <a:tailEnd len="med" w="med" type="triangle"/>
          </a:ln>
        </p:spPr>
      </p:cxnSp>
      <p:cxnSp>
        <p:nvCxnSpPr>
          <p:cNvPr id="2703" name="Google Shape;2703;p103"/>
          <p:cNvCxnSpPr>
            <a:stCxn id="2704" idx="2"/>
            <a:endCxn id="2705" idx="1"/>
          </p:cNvCxnSpPr>
          <p:nvPr/>
        </p:nvCxnSpPr>
        <p:spPr>
          <a:xfrm flipH="1" rot="-5400000">
            <a:off x="4944800" y="2812750"/>
            <a:ext cx="174900" cy="116700"/>
          </a:xfrm>
          <a:prstGeom prst="bentConnector2">
            <a:avLst/>
          </a:prstGeom>
          <a:noFill/>
          <a:ln cap="flat" cmpd="sng" w="9525">
            <a:solidFill>
              <a:srgbClr val="CCCCCC"/>
            </a:solidFill>
            <a:prstDash val="solid"/>
            <a:round/>
            <a:headEnd len="med" w="med" type="none"/>
            <a:tailEnd len="med" w="med" type="none"/>
          </a:ln>
        </p:spPr>
      </p:cxnSp>
      <p:cxnSp>
        <p:nvCxnSpPr>
          <p:cNvPr id="2706" name="Google Shape;2706;p103"/>
          <p:cNvCxnSpPr>
            <a:stCxn id="2704" idx="2"/>
            <a:endCxn id="2707" idx="1"/>
          </p:cNvCxnSpPr>
          <p:nvPr/>
        </p:nvCxnSpPr>
        <p:spPr>
          <a:xfrm flipH="1" rot="-5400000">
            <a:off x="4640000" y="3117550"/>
            <a:ext cx="784500" cy="116700"/>
          </a:xfrm>
          <a:prstGeom prst="bentConnector2">
            <a:avLst/>
          </a:prstGeom>
          <a:noFill/>
          <a:ln cap="flat" cmpd="sng" w="9525">
            <a:solidFill>
              <a:srgbClr val="CCCCCC"/>
            </a:solidFill>
            <a:prstDash val="solid"/>
            <a:round/>
            <a:headEnd len="med" w="med" type="none"/>
            <a:tailEnd len="med" w="med" type="none"/>
          </a:ln>
        </p:spPr>
      </p:cxnSp>
      <p:cxnSp>
        <p:nvCxnSpPr>
          <p:cNvPr id="2708" name="Google Shape;2708;p103"/>
          <p:cNvCxnSpPr>
            <a:stCxn id="2704" idx="2"/>
            <a:endCxn id="2709" idx="1"/>
          </p:cNvCxnSpPr>
          <p:nvPr/>
        </p:nvCxnSpPr>
        <p:spPr>
          <a:xfrm flipH="1" rot="-5400000">
            <a:off x="4335200" y="3422350"/>
            <a:ext cx="1394100" cy="116700"/>
          </a:xfrm>
          <a:prstGeom prst="bentConnector2">
            <a:avLst/>
          </a:prstGeom>
          <a:noFill/>
          <a:ln cap="flat" cmpd="sng" w="9525">
            <a:solidFill>
              <a:srgbClr val="CCCCCC"/>
            </a:solidFill>
            <a:prstDash val="solid"/>
            <a:round/>
            <a:headEnd len="med" w="med" type="none"/>
            <a:tailEnd len="med" w="med" type="none"/>
          </a:ln>
        </p:spPr>
      </p:cxnSp>
      <p:cxnSp>
        <p:nvCxnSpPr>
          <p:cNvPr id="2710" name="Google Shape;2710;p103"/>
          <p:cNvCxnSpPr>
            <a:stCxn id="2704" idx="2"/>
            <a:endCxn id="2711" idx="1"/>
          </p:cNvCxnSpPr>
          <p:nvPr/>
        </p:nvCxnSpPr>
        <p:spPr>
          <a:xfrm flipH="1" rot="-5400000">
            <a:off x="3714350" y="4043200"/>
            <a:ext cx="2635800" cy="116700"/>
          </a:xfrm>
          <a:prstGeom prst="bentConnector2">
            <a:avLst/>
          </a:prstGeom>
          <a:noFill/>
          <a:ln cap="flat" cmpd="sng" w="9525">
            <a:solidFill>
              <a:srgbClr val="CCCCCC"/>
            </a:solidFill>
            <a:prstDash val="solid"/>
            <a:round/>
            <a:headEnd len="med" w="med" type="none"/>
            <a:tailEnd len="med" w="med" type="none"/>
          </a:ln>
        </p:spPr>
      </p:cxnSp>
      <p:cxnSp>
        <p:nvCxnSpPr>
          <p:cNvPr id="2712" name="Google Shape;2712;p103"/>
          <p:cNvCxnSpPr>
            <a:stCxn id="2705" idx="2"/>
            <a:endCxn id="2713" idx="1"/>
          </p:cNvCxnSpPr>
          <p:nvPr/>
        </p:nvCxnSpPr>
        <p:spPr>
          <a:xfrm flipH="1" rot="-5400000">
            <a:off x="5876300" y="3134650"/>
            <a:ext cx="174900" cy="82500"/>
          </a:xfrm>
          <a:prstGeom prst="bentConnector2">
            <a:avLst/>
          </a:prstGeom>
          <a:noFill/>
          <a:ln cap="flat" cmpd="sng" w="9525">
            <a:solidFill>
              <a:srgbClr val="CCCCCC"/>
            </a:solidFill>
            <a:prstDash val="solid"/>
            <a:round/>
            <a:headEnd len="med" w="med" type="none"/>
            <a:tailEnd len="med" w="med" type="none"/>
          </a:ln>
        </p:spPr>
      </p:cxnSp>
      <p:cxnSp>
        <p:nvCxnSpPr>
          <p:cNvPr id="2714" name="Google Shape;2714;p103"/>
          <p:cNvCxnSpPr>
            <a:stCxn id="2707" idx="2"/>
            <a:endCxn id="2715" idx="1"/>
          </p:cNvCxnSpPr>
          <p:nvPr/>
        </p:nvCxnSpPr>
        <p:spPr>
          <a:xfrm flipH="1" rot="-5400000">
            <a:off x="5876300" y="3744250"/>
            <a:ext cx="174900" cy="82500"/>
          </a:xfrm>
          <a:prstGeom prst="bentConnector2">
            <a:avLst/>
          </a:prstGeom>
          <a:noFill/>
          <a:ln cap="flat" cmpd="sng" w="9525">
            <a:solidFill>
              <a:srgbClr val="CCCCCC"/>
            </a:solidFill>
            <a:prstDash val="solid"/>
            <a:round/>
            <a:headEnd len="med" w="med" type="none"/>
            <a:tailEnd len="med" w="med" type="none"/>
          </a:ln>
        </p:spPr>
      </p:cxnSp>
      <p:cxnSp>
        <p:nvCxnSpPr>
          <p:cNvPr id="2716" name="Google Shape;2716;p103"/>
          <p:cNvCxnSpPr>
            <a:stCxn id="2709" idx="2"/>
            <a:endCxn id="2717" idx="1"/>
          </p:cNvCxnSpPr>
          <p:nvPr/>
        </p:nvCxnSpPr>
        <p:spPr>
          <a:xfrm flipH="1" rot="-5400000">
            <a:off x="5876300" y="4353850"/>
            <a:ext cx="174900" cy="82500"/>
          </a:xfrm>
          <a:prstGeom prst="bentConnector2">
            <a:avLst/>
          </a:prstGeom>
          <a:noFill/>
          <a:ln cap="flat" cmpd="sng" w="9525">
            <a:solidFill>
              <a:srgbClr val="CCCCCC"/>
            </a:solidFill>
            <a:prstDash val="solid"/>
            <a:round/>
            <a:headEnd len="med" w="med" type="none"/>
            <a:tailEnd len="med" w="med" type="none"/>
          </a:ln>
        </p:spPr>
      </p:cxnSp>
      <p:cxnSp>
        <p:nvCxnSpPr>
          <p:cNvPr id="2718" name="Google Shape;2718;p103"/>
          <p:cNvCxnSpPr>
            <a:stCxn id="2709" idx="2"/>
            <a:endCxn id="2719" idx="1"/>
          </p:cNvCxnSpPr>
          <p:nvPr/>
        </p:nvCxnSpPr>
        <p:spPr>
          <a:xfrm flipH="1" rot="-5400000">
            <a:off x="5723900" y="4506250"/>
            <a:ext cx="479700" cy="82500"/>
          </a:xfrm>
          <a:prstGeom prst="bentConnector2">
            <a:avLst/>
          </a:prstGeom>
          <a:noFill/>
          <a:ln cap="flat" cmpd="sng" w="9525">
            <a:solidFill>
              <a:srgbClr val="CCCCCC"/>
            </a:solidFill>
            <a:prstDash val="solid"/>
            <a:round/>
            <a:headEnd len="med" w="med" type="none"/>
            <a:tailEnd len="med" w="med" type="none"/>
          </a:ln>
        </p:spPr>
      </p:cxnSp>
      <p:sp>
        <p:nvSpPr>
          <p:cNvPr id="2720" name="Google Shape;2720;p10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System Tables are the observability feature of Unity Catalog</a:t>
            </a:r>
            <a:endParaRPr/>
          </a:p>
        </p:txBody>
      </p:sp>
      <p:sp>
        <p:nvSpPr>
          <p:cNvPr id="2704" name="Google Shape;2704;p103"/>
          <p:cNvSpPr/>
          <p:nvPr/>
        </p:nvSpPr>
        <p:spPr>
          <a:xfrm>
            <a:off x="4557200" y="2523850"/>
            <a:ext cx="8334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system</a:t>
            </a:r>
            <a:endParaRPr sz="1200">
              <a:solidFill>
                <a:schemeClr val="accent1"/>
              </a:solidFill>
              <a:latin typeface="DM Sans Medium"/>
              <a:ea typeface="DM Sans Medium"/>
              <a:cs typeface="DM Sans Medium"/>
              <a:sym typeface="DM Sans Medium"/>
            </a:endParaRPr>
          </a:p>
        </p:txBody>
      </p:sp>
      <p:sp>
        <p:nvSpPr>
          <p:cNvPr id="2705" name="Google Shape;2705;p103"/>
          <p:cNvSpPr/>
          <p:nvPr/>
        </p:nvSpPr>
        <p:spPr>
          <a:xfrm>
            <a:off x="5090600" y="2828650"/>
            <a:ext cx="16638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access</a:t>
            </a:r>
            <a:endParaRPr sz="1200">
              <a:solidFill>
                <a:schemeClr val="accent1"/>
              </a:solidFill>
              <a:latin typeface="DM Sans Medium"/>
              <a:ea typeface="DM Sans Medium"/>
              <a:cs typeface="DM Sans Medium"/>
              <a:sym typeface="DM Sans Medium"/>
            </a:endParaRPr>
          </a:p>
        </p:txBody>
      </p:sp>
      <p:sp>
        <p:nvSpPr>
          <p:cNvPr id="2713" name="Google Shape;2713;p103"/>
          <p:cNvSpPr/>
          <p:nvPr/>
        </p:nvSpPr>
        <p:spPr>
          <a:xfrm>
            <a:off x="6005000" y="3133450"/>
            <a:ext cx="12774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audit</a:t>
            </a:r>
            <a:endParaRPr sz="1200">
              <a:solidFill>
                <a:schemeClr val="accent1"/>
              </a:solidFill>
              <a:latin typeface="DM Sans Medium"/>
              <a:ea typeface="DM Sans Medium"/>
              <a:cs typeface="DM Sans Medium"/>
              <a:sym typeface="DM Sans Medium"/>
            </a:endParaRPr>
          </a:p>
        </p:txBody>
      </p:sp>
      <p:sp>
        <p:nvSpPr>
          <p:cNvPr id="2717" name="Google Shape;2717;p103"/>
          <p:cNvSpPr/>
          <p:nvPr/>
        </p:nvSpPr>
        <p:spPr>
          <a:xfrm>
            <a:off x="6005000" y="4352650"/>
            <a:ext cx="12774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column lineage</a:t>
            </a:r>
            <a:endParaRPr sz="1200">
              <a:solidFill>
                <a:schemeClr val="accent1"/>
              </a:solidFill>
              <a:latin typeface="DM Sans Medium"/>
              <a:ea typeface="DM Sans Medium"/>
              <a:cs typeface="DM Sans Medium"/>
              <a:sym typeface="DM Sans Medium"/>
            </a:endParaRPr>
          </a:p>
        </p:txBody>
      </p:sp>
      <p:sp>
        <p:nvSpPr>
          <p:cNvPr id="2719" name="Google Shape;2719;p103"/>
          <p:cNvSpPr/>
          <p:nvPr/>
        </p:nvSpPr>
        <p:spPr>
          <a:xfrm>
            <a:off x="6005000" y="4657450"/>
            <a:ext cx="12774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table lineage</a:t>
            </a:r>
            <a:endParaRPr sz="1200">
              <a:solidFill>
                <a:schemeClr val="accent1"/>
              </a:solidFill>
              <a:latin typeface="DM Sans Medium"/>
              <a:ea typeface="DM Sans Medium"/>
              <a:cs typeface="DM Sans Medium"/>
              <a:sym typeface="DM Sans Medium"/>
            </a:endParaRPr>
          </a:p>
        </p:txBody>
      </p:sp>
      <p:sp>
        <p:nvSpPr>
          <p:cNvPr id="2707" name="Google Shape;2707;p103"/>
          <p:cNvSpPr/>
          <p:nvPr/>
        </p:nvSpPr>
        <p:spPr>
          <a:xfrm>
            <a:off x="5090600" y="3438250"/>
            <a:ext cx="16638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billing</a:t>
            </a:r>
            <a:endParaRPr sz="1200">
              <a:solidFill>
                <a:schemeClr val="accent1"/>
              </a:solidFill>
              <a:latin typeface="DM Sans Medium"/>
              <a:ea typeface="DM Sans Medium"/>
              <a:cs typeface="DM Sans Medium"/>
              <a:sym typeface="DM Sans Medium"/>
            </a:endParaRPr>
          </a:p>
        </p:txBody>
      </p:sp>
      <p:sp>
        <p:nvSpPr>
          <p:cNvPr id="2715" name="Google Shape;2715;p103"/>
          <p:cNvSpPr/>
          <p:nvPr/>
        </p:nvSpPr>
        <p:spPr>
          <a:xfrm>
            <a:off x="6005000" y="3743050"/>
            <a:ext cx="12774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usage</a:t>
            </a:r>
            <a:endParaRPr sz="1200">
              <a:solidFill>
                <a:schemeClr val="accent1"/>
              </a:solidFill>
              <a:latin typeface="DM Sans Medium"/>
              <a:ea typeface="DM Sans Medium"/>
              <a:cs typeface="DM Sans Medium"/>
              <a:sym typeface="DM Sans Medium"/>
            </a:endParaRPr>
          </a:p>
        </p:txBody>
      </p:sp>
      <p:sp>
        <p:nvSpPr>
          <p:cNvPr id="2709" name="Google Shape;2709;p103"/>
          <p:cNvSpPr/>
          <p:nvPr/>
        </p:nvSpPr>
        <p:spPr>
          <a:xfrm>
            <a:off x="5090600" y="4047850"/>
            <a:ext cx="16638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lineage</a:t>
            </a:r>
            <a:endParaRPr sz="1200">
              <a:solidFill>
                <a:schemeClr val="accent1"/>
              </a:solidFill>
              <a:latin typeface="DM Sans Medium"/>
              <a:ea typeface="DM Sans Medium"/>
              <a:cs typeface="DM Sans Medium"/>
              <a:sym typeface="DM Sans Medium"/>
            </a:endParaRPr>
          </a:p>
        </p:txBody>
      </p:sp>
      <p:sp>
        <p:nvSpPr>
          <p:cNvPr id="2711" name="Google Shape;2711;p103"/>
          <p:cNvSpPr/>
          <p:nvPr/>
        </p:nvSpPr>
        <p:spPr>
          <a:xfrm>
            <a:off x="5090600" y="5289535"/>
            <a:ext cx="16638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information_schema</a:t>
            </a:r>
            <a:endParaRPr sz="1200">
              <a:solidFill>
                <a:schemeClr val="accent1"/>
              </a:solidFill>
              <a:latin typeface="DM Sans Medium"/>
              <a:ea typeface="DM Sans Medium"/>
              <a:cs typeface="DM Sans Medium"/>
              <a:sym typeface="DM Sans Medium"/>
            </a:endParaRPr>
          </a:p>
        </p:txBody>
      </p:sp>
      <p:pic>
        <p:nvPicPr>
          <p:cNvPr id="2721" name="Google Shape;2721;p103"/>
          <p:cNvPicPr preferRelativeResize="0"/>
          <p:nvPr/>
        </p:nvPicPr>
        <p:blipFill rotWithShape="1">
          <a:blip r:embed="rId4">
            <a:alphaModFix/>
          </a:blip>
          <a:srcRect b="18099" l="12810" r="13393" t="0"/>
          <a:stretch/>
        </p:blipFill>
        <p:spPr>
          <a:xfrm>
            <a:off x="4601462" y="5793382"/>
            <a:ext cx="267650" cy="230743"/>
          </a:xfrm>
          <a:prstGeom prst="rect">
            <a:avLst/>
          </a:prstGeom>
          <a:noFill/>
          <a:ln>
            <a:noFill/>
          </a:ln>
        </p:spPr>
      </p:pic>
      <p:cxnSp>
        <p:nvCxnSpPr>
          <p:cNvPr id="2722" name="Google Shape;2722;p103"/>
          <p:cNvCxnSpPr>
            <a:stCxn id="2679" idx="3"/>
            <a:endCxn id="2682" idx="1"/>
          </p:cNvCxnSpPr>
          <p:nvPr/>
        </p:nvCxnSpPr>
        <p:spPr>
          <a:xfrm flipH="1" rot="10800000">
            <a:off x="1823925" y="4065408"/>
            <a:ext cx="440700" cy="533400"/>
          </a:xfrm>
          <a:prstGeom prst="curvedConnector3">
            <a:avLst>
              <a:gd fmla="val 49994" name="adj1"/>
            </a:avLst>
          </a:prstGeom>
          <a:noFill/>
          <a:ln cap="flat" cmpd="sng" w="9525">
            <a:solidFill>
              <a:schemeClr val="accent1"/>
            </a:solidFill>
            <a:prstDash val="solid"/>
            <a:round/>
            <a:headEnd len="med" w="med" type="none"/>
            <a:tailEnd len="med" w="med" type="none"/>
          </a:ln>
        </p:spPr>
      </p:cxnSp>
      <p:cxnSp>
        <p:nvCxnSpPr>
          <p:cNvPr id="2723" name="Google Shape;2723;p103"/>
          <p:cNvCxnSpPr>
            <a:stCxn id="2680" idx="3"/>
            <a:endCxn id="2682" idx="1"/>
          </p:cNvCxnSpPr>
          <p:nvPr/>
        </p:nvCxnSpPr>
        <p:spPr>
          <a:xfrm flipH="1" rot="10800000">
            <a:off x="1823925" y="4065408"/>
            <a:ext cx="440700" cy="1066800"/>
          </a:xfrm>
          <a:prstGeom prst="curvedConnector3">
            <a:avLst>
              <a:gd fmla="val 49994" name="adj1"/>
            </a:avLst>
          </a:prstGeom>
          <a:noFill/>
          <a:ln cap="flat" cmpd="sng" w="9525">
            <a:solidFill>
              <a:schemeClr val="accent1"/>
            </a:solidFill>
            <a:prstDash val="solid"/>
            <a:round/>
            <a:headEnd len="med" w="med" type="none"/>
            <a:tailEnd len="med" w="med" type="none"/>
          </a:ln>
        </p:spPr>
      </p:cxnSp>
      <p:sp>
        <p:nvSpPr>
          <p:cNvPr id="2724" name="Google Shape;2724;p103"/>
          <p:cNvSpPr/>
          <p:nvPr/>
        </p:nvSpPr>
        <p:spPr>
          <a:xfrm>
            <a:off x="5090600" y="4973493"/>
            <a:ext cx="1663800" cy="259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0" wrap="square" tIns="91425">
            <a:noAutofit/>
          </a:bodyPr>
          <a:lstStyle/>
          <a:p>
            <a:pPr indent="0" lvl="0" marL="0" rtl="0" algn="ctr">
              <a:spcBef>
                <a:spcPts val="0"/>
              </a:spcBef>
              <a:spcAft>
                <a:spcPts val="0"/>
              </a:spcAft>
              <a:buNone/>
            </a:pPr>
            <a:r>
              <a:rPr lang="en" sz="1200">
                <a:solidFill>
                  <a:schemeClr val="accent1"/>
                </a:solidFill>
                <a:latin typeface="DM Sans Medium"/>
                <a:ea typeface="DM Sans Medium"/>
                <a:cs typeface="DM Sans Medium"/>
                <a:sym typeface="DM Sans Medium"/>
              </a:rPr>
              <a:t>…</a:t>
            </a:r>
            <a:endParaRPr sz="1200">
              <a:solidFill>
                <a:schemeClr val="accent1"/>
              </a:solidFill>
              <a:latin typeface="DM Sans Medium"/>
              <a:ea typeface="DM Sans Medium"/>
              <a:cs typeface="DM Sans Medium"/>
              <a:sym typeface="DM Sans Medium"/>
            </a:endParaRPr>
          </a:p>
        </p:txBody>
      </p:sp>
      <p:cxnSp>
        <p:nvCxnSpPr>
          <p:cNvPr id="2725" name="Google Shape;2725;p103"/>
          <p:cNvCxnSpPr>
            <a:stCxn id="2704" idx="2"/>
            <a:endCxn id="2724" idx="1"/>
          </p:cNvCxnSpPr>
          <p:nvPr/>
        </p:nvCxnSpPr>
        <p:spPr>
          <a:xfrm flipH="1" rot="-5400000">
            <a:off x="3872450" y="3885100"/>
            <a:ext cx="2319600" cy="116700"/>
          </a:xfrm>
          <a:prstGeom prst="bentConnector2">
            <a:avLst/>
          </a:prstGeom>
          <a:noFill/>
          <a:ln cap="flat" cmpd="sng" w="9525">
            <a:solidFill>
              <a:srgbClr val="CCCCCC"/>
            </a:solidFill>
            <a:prstDash val="solid"/>
            <a:round/>
            <a:headEnd len="med" w="med" type="none"/>
            <a:tailEnd len="med" w="med" type="none"/>
          </a:ln>
        </p:spPr>
      </p:cxnSp>
      <p:sp>
        <p:nvSpPr>
          <p:cNvPr id="2682" name="Google Shape;2682;p103"/>
          <p:cNvSpPr/>
          <p:nvPr/>
        </p:nvSpPr>
        <p:spPr>
          <a:xfrm>
            <a:off x="2264575" y="4002100"/>
            <a:ext cx="98400" cy="12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690" name="Google Shape;2690;p103"/>
          <p:cNvSpPr/>
          <p:nvPr/>
        </p:nvSpPr>
        <p:spPr>
          <a:xfrm>
            <a:off x="7652980" y="3995500"/>
            <a:ext cx="98400" cy="12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726" name="Google Shape;2726;p103"/>
          <p:cNvCxnSpPr>
            <a:stCxn id="2690" idx="3"/>
            <a:endCxn id="2690" idx="1"/>
          </p:cNvCxnSpPr>
          <p:nvPr/>
        </p:nvCxnSpPr>
        <p:spPr>
          <a:xfrm rot="10800000">
            <a:off x="7652980" y="4058800"/>
            <a:ext cx="98400" cy="0"/>
          </a:xfrm>
          <a:prstGeom prst="straightConnector1">
            <a:avLst/>
          </a:prstGeom>
          <a:noFill/>
          <a:ln cap="flat" cmpd="sng" w="9525">
            <a:solidFill>
              <a:schemeClr val="accent1"/>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0" name="Shape 2730"/>
        <p:cNvGrpSpPr/>
        <p:nvPr/>
      </p:nvGrpSpPr>
      <p:grpSpPr>
        <a:xfrm>
          <a:off x="0" y="0"/>
          <a:ext cx="0" cy="0"/>
          <a:chOff x="0" y="0"/>
          <a:chExt cx="0" cy="0"/>
        </a:xfrm>
      </p:grpSpPr>
      <p:sp>
        <p:nvSpPr>
          <p:cNvPr id="2731" name="Google Shape;2731;p10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Lakehouse Monitoring</a:t>
            </a:r>
            <a:endParaRPr/>
          </a:p>
        </p:txBody>
      </p:sp>
      <p:sp>
        <p:nvSpPr>
          <p:cNvPr id="2732" name="Google Shape;2732;p10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Open monitoring for </a:t>
            </a:r>
            <a:r>
              <a:rPr lang="en"/>
              <a:t>tables and models</a:t>
            </a:r>
            <a:endParaRPr/>
          </a:p>
        </p:txBody>
      </p:sp>
      <p:sp>
        <p:nvSpPr>
          <p:cNvPr id="2733" name="Google Shape;2733;p10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cxnSp>
        <p:nvCxnSpPr>
          <p:cNvPr id="2734" name="Google Shape;2734;p104"/>
          <p:cNvCxnSpPr/>
          <p:nvPr/>
        </p:nvCxnSpPr>
        <p:spPr>
          <a:xfrm rot="10800000">
            <a:off x="5373475" y="3337375"/>
            <a:ext cx="0" cy="324900"/>
          </a:xfrm>
          <a:prstGeom prst="straightConnector1">
            <a:avLst/>
          </a:prstGeom>
          <a:noFill/>
          <a:ln cap="flat" cmpd="sng" w="9525">
            <a:solidFill>
              <a:srgbClr val="1B5162"/>
            </a:solidFill>
            <a:prstDash val="solid"/>
            <a:round/>
            <a:headEnd len="sm" w="sm" type="none"/>
            <a:tailEnd len="sm" w="sm" type="triangle"/>
          </a:ln>
        </p:spPr>
      </p:cxnSp>
      <p:cxnSp>
        <p:nvCxnSpPr>
          <p:cNvPr id="2735" name="Google Shape;2735;p104"/>
          <p:cNvCxnSpPr/>
          <p:nvPr/>
        </p:nvCxnSpPr>
        <p:spPr>
          <a:xfrm flipH="1" rot="10800000">
            <a:off x="6456315" y="3337225"/>
            <a:ext cx="600" cy="318900"/>
          </a:xfrm>
          <a:prstGeom prst="straightConnector1">
            <a:avLst/>
          </a:prstGeom>
          <a:noFill/>
          <a:ln cap="flat" cmpd="sng" w="9525">
            <a:solidFill>
              <a:srgbClr val="1B5162"/>
            </a:solidFill>
            <a:prstDash val="solid"/>
            <a:round/>
            <a:headEnd len="sm" w="sm" type="none"/>
            <a:tailEnd len="sm" w="sm" type="triangle"/>
          </a:ln>
        </p:spPr>
      </p:cxnSp>
      <p:cxnSp>
        <p:nvCxnSpPr>
          <p:cNvPr id="2736" name="Google Shape;2736;p104"/>
          <p:cNvCxnSpPr/>
          <p:nvPr/>
        </p:nvCxnSpPr>
        <p:spPr>
          <a:xfrm rot="10800000">
            <a:off x="7702300" y="3337358"/>
            <a:ext cx="0" cy="305100"/>
          </a:xfrm>
          <a:prstGeom prst="straightConnector1">
            <a:avLst/>
          </a:prstGeom>
          <a:noFill/>
          <a:ln cap="flat" cmpd="sng" w="9525">
            <a:solidFill>
              <a:srgbClr val="1B5162"/>
            </a:solidFill>
            <a:prstDash val="solid"/>
            <a:round/>
            <a:headEnd len="sm" w="sm" type="none"/>
            <a:tailEnd len="sm" w="sm" type="triangle"/>
          </a:ln>
        </p:spPr>
      </p:cxnSp>
      <p:sp>
        <p:nvSpPr>
          <p:cNvPr id="2737" name="Google Shape;2737;p104"/>
          <p:cNvSpPr/>
          <p:nvPr/>
        </p:nvSpPr>
        <p:spPr>
          <a:xfrm>
            <a:off x="4903332" y="2878325"/>
            <a:ext cx="940200" cy="4590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85000"/>
              </a:lnSpc>
              <a:spcBef>
                <a:spcPts val="0"/>
              </a:spcBef>
              <a:spcAft>
                <a:spcPts val="0"/>
              </a:spcAft>
              <a:buNone/>
            </a:pPr>
            <a:r>
              <a:rPr lang="en" sz="1200">
                <a:solidFill>
                  <a:schemeClr val="accent1"/>
                </a:solidFill>
                <a:latin typeface="DM Sans Medium"/>
                <a:ea typeface="DM Sans Medium"/>
                <a:cs typeface="DM Sans Medium"/>
                <a:sym typeface="DM Sans Medium"/>
              </a:rPr>
              <a:t>Profile metrics Tables</a:t>
            </a:r>
            <a:endParaRPr sz="1200">
              <a:solidFill>
                <a:srgbClr val="1B5162"/>
              </a:solidFill>
              <a:latin typeface="DM Sans Medium"/>
              <a:ea typeface="DM Sans Medium"/>
              <a:cs typeface="DM Sans Medium"/>
              <a:sym typeface="DM Sans Medium"/>
            </a:endParaRPr>
          </a:p>
        </p:txBody>
      </p:sp>
      <p:cxnSp>
        <p:nvCxnSpPr>
          <p:cNvPr id="2738" name="Google Shape;2738;p104"/>
          <p:cNvCxnSpPr>
            <a:stCxn id="2739" idx="0"/>
            <a:endCxn id="2740" idx="1"/>
          </p:cNvCxnSpPr>
          <p:nvPr/>
        </p:nvCxnSpPr>
        <p:spPr>
          <a:xfrm rot="-5400000">
            <a:off x="6322300" y="1963476"/>
            <a:ext cx="280500" cy="1539000"/>
          </a:xfrm>
          <a:prstGeom prst="curvedConnector2">
            <a:avLst/>
          </a:prstGeom>
          <a:noFill/>
          <a:ln cap="flat" cmpd="sng" w="9525">
            <a:solidFill>
              <a:schemeClr val="accent4"/>
            </a:solidFill>
            <a:prstDash val="solid"/>
            <a:round/>
            <a:headEnd len="med" w="med" type="none"/>
            <a:tailEnd len="med" w="med" type="triangle"/>
          </a:ln>
        </p:spPr>
      </p:cxnSp>
      <p:sp>
        <p:nvSpPr>
          <p:cNvPr id="2741" name="Google Shape;2741;p104"/>
          <p:cNvSpPr/>
          <p:nvPr/>
        </p:nvSpPr>
        <p:spPr>
          <a:xfrm>
            <a:off x="3376288" y="5421114"/>
            <a:ext cx="805500" cy="459000"/>
          </a:xfrm>
          <a:prstGeom prst="roundRect">
            <a:avLst>
              <a:gd fmla="val 16667"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Table</a:t>
            </a:r>
            <a:br>
              <a:rPr lang="en" sz="1200">
                <a:solidFill>
                  <a:srgbClr val="1B5162"/>
                </a:solidFill>
                <a:latin typeface="DM Sans Medium"/>
                <a:ea typeface="DM Sans Medium"/>
                <a:cs typeface="DM Sans Medium"/>
                <a:sym typeface="DM Sans Medium"/>
              </a:rPr>
            </a:br>
            <a:r>
              <a:rPr b="1" lang="en" sz="1000">
                <a:solidFill>
                  <a:srgbClr val="1B5162"/>
                </a:solidFill>
                <a:latin typeface="DM Sans"/>
                <a:ea typeface="DM Sans"/>
                <a:cs typeface="DM Sans"/>
                <a:sym typeface="DM Sans"/>
              </a:rPr>
              <a:t>(data)</a:t>
            </a:r>
            <a:endParaRPr b="1" sz="1200">
              <a:solidFill>
                <a:srgbClr val="1B5162"/>
              </a:solidFill>
              <a:latin typeface="DM Sans"/>
              <a:ea typeface="DM Sans"/>
              <a:cs typeface="DM Sans"/>
              <a:sym typeface="DM Sans"/>
            </a:endParaRPr>
          </a:p>
        </p:txBody>
      </p:sp>
      <p:sp>
        <p:nvSpPr>
          <p:cNvPr id="2742" name="Google Shape;2742;p104"/>
          <p:cNvSpPr/>
          <p:nvPr/>
        </p:nvSpPr>
        <p:spPr>
          <a:xfrm>
            <a:off x="4181788" y="5931264"/>
            <a:ext cx="805500" cy="459000"/>
          </a:xfrm>
          <a:prstGeom prst="roundRect">
            <a:avLst>
              <a:gd fmla="val 16667"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Table</a:t>
            </a:r>
            <a:br>
              <a:rPr lang="en" sz="1200">
                <a:solidFill>
                  <a:srgbClr val="1B5162"/>
                </a:solidFill>
                <a:latin typeface="DM Sans Medium"/>
                <a:ea typeface="DM Sans Medium"/>
                <a:cs typeface="DM Sans Medium"/>
                <a:sym typeface="DM Sans Medium"/>
              </a:rPr>
            </a:br>
            <a:r>
              <a:rPr b="1" lang="en" sz="1000">
                <a:solidFill>
                  <a:srgbClr val="1B5162"/>
                </a:solidFill>
                <a:latin typeface="DM Sans"/>
                <a:ea typeface="DM Sans"/>
                <a:cs typeface="DM Sans"/>
                <a:sym typeface="DM Sans"/>
              </a:rPr>
              <a:t>(data)</a:t>
            </a:r>
            <a:endParaRPr b="1" sz="1200">
              <a:solidFill>
                <a:srgbClr val="1B5162"/>
              </a:solidFill>
              <a:latin typeface="DM Sans"/>
              <a:ea typeface="DM Sans"/>
              <a:cs typeface="DM Sans"/>
              <a:sym typeface="DM Sans"/>
            </a:endParaRPr>
          </a:p>
        </p:txBody>
      </p:sp>
      <p:sp>
        <p:nvSpPr>
          <p:cNvPr id="2743" name="Google Shape;2743;p104"/>
          <p:cNvSpPr/>
          <p:nvPr/>
        </p:nvSpPr>
        <p:spPr>
          <a:xfrm>
            <a:off x="5238400" y="5422014"/>
            <a:ext cx="805500" cy="459000"/>
          </a:xfrm>
          <a:prstGeom prst="roundRect">
            <a:avLst>
              <a:gd fmla="val 16667"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Table</a:t>
            </a:r>
            <a:br>
              <a:rPr lang="en" sz="1200">
                <a:solidFill>
                  <a:srgbClr val="1B5162"/>
                </a:solidFill>
                <a:latin typeface="DM Sans Medium"/>
                <a:ea typeface="DM Sans Medium"/>
                <a:cs typeface="DM Sans Medium"/>
                <a:sym typeface="DM Sans Medium"/>
              </a:rPr>
            </a:br>
            <a:r>
              <a:rPr b="1" lang="en" sz="1000">
                <a:solidFill>
                  <a:srgbClr val="1B5162"/>
                </a:solidFill>
                <a:latin typeface="DM Sans"/>
                <a:ea typeface="DM Sans"/>
                <a:cs typeface="DM Sans"/>
                <a:sym typeface="DM Sans"/>
              </a:rPr>
              <a:t>(feature)</a:t>
            </a:r>
            <a:endParaRPr b="1" sz="1000">
              <a:solidFill>
                <a:srgbClr val="1B5162"/>
              </a:solidFill>
              <a:latin typeface="DM Sans"/>
              <a:ea typeface="DM Sans"/>
              <a:cs typeface="DM Sans"/>
              <a:sym typeface="DM Sans"/>
            </a:endParaRPr>
          </a:p>
        </p:txBody>
      </p:sp>
      <p:sp>
        <p:nvSpPr>
          <p:cNvPr id="2744" name="Google Shape;2744;p104"/>
          <p:cNvSpPr/>
          <p:nvPr/>
        </p:nvSpPr>
        <p:spPr>
          <a:xfrm>
            <a:off x="2570788" y="4902389"/>
            <a:ext cx="805500" cy="459000"/>
          </a:xfrm>
          <a:prstGeom prst="roundRect">
            <a:avLst>
              <a:gd fmla="val 16667"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Table</a:t>
            </a:r>
            <a:br>
              <a:rPr lang="en" sz="1200">
                <a:solidFill>
                  <a:srgbClr val="1B5162"/>
                </a:solidFill>
                <a:latin typeface="DM Sans Medium"/>
                <a:ea typeface="DM Sans Medium"/>
                <a:cs typeface="DM Sans Medium"/>
                <a:sym typeface="DM Sans Medium"/>
              </a:rPr>
            </a:br>
            <a:r>
              <a:rPr b="1" lang="en" sz="1000">
                <a:solidFill>
                  <a:srgbClr val="1B5162"/>
                </a:solidFill>
                <a:latin typeface="DM Sans"/>
                <a:ea typeface="DM Sans"/>
                <a:cs typeface="DM Sans"/>
                <a:sym typeface="DM Sans"/>
              </a:rPr>
              <a:t>(data)</a:t>
            </a:r>
            <a:endParaRPr b="1" sz="1200">
              <a:solidFill>
                <a:srgbClr val="1B5162"/>
              </a:solidFill>
              <a:latin typeface="DM Sans"/>
              <a:ea typeface="DM Sans"/>
              <a:cs typeface="DM Sans"/>
              <a:sym typeface="DM Sans"/>
            </a:endParaRPr>
          </a:p>
        </p:txBody>
      </p:sp>
      <p:cxnSp>
        <p:nvCxnSpPr>
          <p:cNvPr id="2745" name="Google Shape;2745;p104"/>
          <p:cNvCxnSpPr>
            <a:stCxn id="2741" idx="3"/>
            <a:endCxn id="2743" idx="1"/>
          </p:cNvCxnSpPr>
          <p:nvPr/>
        </p:nvCxnSpPr>
        <p:spPr>
          <a:xfrm>
            <a:off x="4181788" y="5650614"/>
            <a:ext cx="1056600" cy="900"/>
          </a:xfrm>
          <a:prstGeom prst="curvedConnector3">
            <a:avLst>
              <a:gd fmla="val 50001" name="adj1"/>
            </a:avLst>
          </a:prstGeom>
          <a:noFill/>
          <a:ln cap="flat" cmpd="sng" w="9525">
            <a:solidFill>
              <a:srgbClr val="1B5162"/>
            </a:solidFill>
            <a:prstDash val="solid"/>
            <a:round/>
            <a:headEnd len="sm" w="sm" type="none"/>
            <a:tailEnd len="sm" w="sm" type="triangle"/>
          </a:ln>
        </p:spPr>
      </p:cxnSp>
      <p:cxnSp>
        <p:nvCxnSpPr>
          <p:cNvPr id="2746" name="Google Shape;2746;p104"/>
          <p:cNvCxnSpPr>
            <a:stCxn id="2742" idx="3"/>
            <a:endCxn id="2743" idx="1"/>
          </p:cNvCxnSpPr>
          <p:nvPr/>
        </p:nvCxnSpPr>
        <p:spPr>
          <a:xfrm flipH="1" rot="10800000">
            <a:off x="4987288" y="5651364"/>
            <a:ext cx="251100" cy="509400"/>
          </a:xfrm>
          <a:prstGeom prst="curvedConnector3">
            <a:avLst>
              <a:gd fmla="val 50002" name="adj1"/>
            </a:avLst>
          </a:prstGeom>
          <a:noFill/>
          <a:ln cap="flat" cmpd="sng" w="9525">
            <a:solidFill>
              <a:srgbClr val="1B5162"/>
            </a:solidFill>
            <a:prstDash val="solid"/>
            <a:round/>
            <a:headEnd len="sm" w="sm" type="none"/>
            <a:tailEnd len="sm" w="sm" type="triangle"/>
          </a:ln>
        </p:spPr>
      </p:cxnSp>
      <p:sp>
        <p:nvSpPr>
          <p:cNvPr id="2747" name="Google Shape;2747;p104"/>
          <p:cNvSpPr/>
          <p:nvPr/>
        </p:nvSpPr>
        <p:spPr>
          <a:xfrm>
            <a:off x="6330963" y="4902389"/>
            <a:ext cx="805500" cy="459000"/>
          </a:xfrm>
          <a:prstGeom prst="roundRect">
            <a:avLst>
              <a:gd fmla="val 16667" name="adj"/>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Model</a:t>
            </a:r>
            <a:endParaRPr sz="1200">
              <a:solidFill>
                <a:srgbClr val="1B5162"/>
              </a:solidFill>
              <a:latin typeface="DM Sans Medium"/>
              <a:ea typeface="DM Sans Medium"/>
              <a:cs typeface="DM Sans Medium"/>
              <a:sym typeface="DM Sans Medium"/>
            </a:endParaRPr>
          </a:p>
        </p:txBody>
      </p:sp>
      <p:cxnSp>
        <p:nvCxnSpPr>
          <p:cNvPr id="2748" name="Google Shape;2748;p104"/>
          <p:cNvCxnSpPr>
            <a:stCxn id="2744" idx="3"/>
            <a:endCxn id="2747" idx="1"/>
          </p:cNvCxnSpPr>
          <p:nvPr/>
        </p:nvCxnSpPr>
        <p:spPr>
          <a:xfrm>
            <a:off x="3376288" y="5131889"/>
            <a:ext cx="2954700" cy="600"/>
          </a:xfrm>
          <a:prstGeom prst="curvedConnector3">
            <a:avLst>
              <a:gd fmla="val 50000" name="adj1"/>
            </a:avLst>
          </a:prstGeom>
          <a:noFill/>
          <a:ln cap="flat" cmpd="sng" w="9525">
            <a:solidFill>
              <a:srgbClr val="1B5162"/>
            </a:solidFill>
            <a:prstDash val="solid"/>
            <a:round/>
            <a:headEnd len="sm" w="sm" type="none"/>
            <a:tailEnd len="sm" w="sm" type="triangle"/>
          </a:ln>
        </p:spPr>
      </p:cxnSp>
      <p:cxnSp>
        <p:nvCxnSpPr>
          <p:cNvPr id="2749" name="Google Shape;2749;p104"/>
          <p:cNvCxnSpPr>
            <a:stCxn id="2743" idx="3"/>
            <a:endCxn id="2747" idx="1"/>
          </p:cNvCxnSpPr>
          <p:nvPr/>
        </p:nvCxnSpPr>
        <p:spPr>
          <a:xfrm flipH="1" rot="10800000">
            <a:off x="6043900" y="5131914"/>
            <a:ext cx="287100" cy="519600"/>
          </a:xfrm>
          <a:prstGeom prst="curvedConnector3">
            <a:avLst>
              <a:gd fmla="val 49993" name="adj1"/>
            </a:avLst>
          </a:prstGeom>
          <a:noFill/>
          <a:ln cap="flat" cmpd="sng" w="9525">
            <a:solidFill>
              <a:srgbClr val="1B5162"/>
            </a:solidFill>
            <a:prstDash val="solid"/>
            <a:round/>
            <a:headEnd len="sm" w="sm" type="none"/>
            <a:tailEnd len="sm" w="sm" type="triangle"/>
          </a:ln>
        </p:spPr>
      </p:cxnSp>
      <p:sp>
        <p:nvSpPr>
          <p:cNvPr id="2750" name="Google Shape;2750;p104"/>
          <p:cNvSpPr/>
          <p:nvPr/>
        </p:nvSpPr>
        <p:spPr>
          <a:xfrm>
            <a:off x="7366888" y="4902689"/>
            <a:ext cx="805500" cy="459000"/>
          </a:xfrm>
          <a:prstGeom prst="roundRect">
            <a:avLst>
              <a:gd fmla="val 16667"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Table</a:t>
            </a:r>
            <a:br>
              <a:rPr lang="en" sz="1200">
                <a:solidFill>
                  <a:srgbClr val="1B5162"/>
                </a:solidFill>
                <a:latin typeface="DM Sans Medium"/>
                <a:ea typeface="DM Sans Medium"/>
                <a:cs typeface="DM Sans Medium"/>
                <a:sym typeface="DM Sans Medium"/>
              </a:rPr>
            </a:br>
            <a:r>
              <a:rPr b="1" lang="en" sz="1000">
                <a:solidFill>
                  <a:srgbClr val="1B5162"/>
                </a:solidFill>
                <a:latin typeface="DM Sans"/>
                <a:ea typeface="DM Sans"/>
                <a:cs typeface="DM Sans"/>
                <a:sym typeface="DM Sans"/>
              </a:rPr>
              <a:t>(inference)</a:t>
            </a:r>
            <a:endParaRPr b="1" sz="1000">
              <a:solidFill>
                <a:srgbClr val="1B5162"/>
              </a:solidFill>
              <a:latin typeface="DM Sans"/>
              <a:ea typeface="DM Sans"/>
              <a:cs typeface="DM Sans"/>
              <a:sym typeface="DM Sans"/>
            </a:endParaRPr>
          </a:p>
        </p:txBody>
      </p:sp>
      <p:cxnSp>
        <p:nvCxnSpPr>
          <p:cNvPr id="2751" name="Google Shape;2751;p104"/>
          <p:cNvCxnSpPr>
            <a:stCxn id="2747" idx="3"/>
            <a:endCxn id="2750" idx="1"/>
          </p:cNvCxnSpPr>
          <p:nvPr/>
        </p:nvCxnSpPr>
        <p:spPr>
          <a:xfrm>
            <a:off x="7136463" y="5131889"/>
            <a:ext cx="230400" cy="600"/>
          </a:xfrm>
          <a:prstGeom prst="curvedConnector3">
            <a:avLst>
              <a:gd fmla="val 50005" name="adj1"/>
            </a:avLst>
          </a:prstGeom>
          <a:noFill/>
          <a:ln cap="flat" cmpd="sng" w="9525">
            <a:solidFill>
              <a:srgbClr val="1B5162"/>
            </a:solidFill>
            <a:prstDash val="solid"/>
            <a:round/>
            <a:headEnd len="sm" w="sm" type="none"/>
            <a:tailEnd len="sm" w="sm" type="triangle"/>
          </a:ln>
        </p:spPr>
      </p:cxnSp>
      <p:sp>
        <p:nvSpPr>
          <p:cNvPr id="2752" name="Google Shape;2752;p104"/>
          <p:cNvSpPr/>
          <p:nvPr/>
        </p:nvSpPr>
        <p:spPr>
          <a:xfrm>
            <a:off x="2570875" y="3655825"/>
            <a:ext cx="5601600" cy="4590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1827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Lakehouse Monitoring</a:t>
            </a:r>
            <a:br>
              <a:rPr lang="en" sz="12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(with AI support)</a:t>
            </a:r>
            <a:endParaRPr sz="1000">
              <a:solidFill>
                <a:srgbClr val="1B5162"/>
              </a:solidFill>
              <a:latin typeface="DM Sans Medium"/>
              <a:ea typeface="DM Sans Medium"/>
              <a:cs typeface="DM Sans Medium"/>
              <a:sym typeface="DM Sans Medium"/>
            </a:endParaRPr>
          </a:p>
        </p:txBody>
      </p:sp>
      <p:sp>
        <p:nvSpPr>
          <p:cNvPr id="2753" name="Google Shape;2753;p104"/>
          <p:cNvSpPr/>
          <p:nvPr/>
        </p:nvSpPr>
        <p:spPr>
          <a:xfrm>
            <a:off x="7232210" y="2878325"/>
            <a:ext cx="940200" cy="4590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Dashboards</a:t>
            </a:r>
            <a:endParaRPr sz="1200">
              <a:solidFill>
                <a:srgbClr val="1B5162"/>
              </a:solidFill>
              <a:latin typeface="DM Sans Medium"/>
              <a:ea typeface="DM Sans Medium"/>
              <a:cs typeface="DM Sans Medium"/>
              <a:sym typeface="DM Sans Medium"/>
            </a:endParaRPr>
          </a:p>
        </p:txBody>
      </p:sp>
      <p:sp>
        <p:nvSpPr>
          <p:cNvPr id="2754" name="Google Shape;2754;p104"/>
          <p:cNvSpPr/>
          <p:nvPr/>
        </p:nvSpPr>
        <p:spPr>
          <a:xfrm>
            <a:off x="5986820" y="2878325"/>
            <a:ext cx="940200" cy="4590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Data Drift </a:t>
            </a:r>
            <a:br>
              <a:rPr lang="en" sz="1200">
                <a:solidFill>
                  <a:srgbClr val="1B5162"/>
                </a:solidFill>
                <a:latin typeface="DM Sans Medium"/>
                <a:ea typeface="DM Sans Medium"/>
                <a:cs typeface="DM Sans Medium"/>
                <a:sym typeface="DM Sans Medium"/>
              </a:rPr>
            </a:br>
            <a:r>
              <a:rPr lang="en" sz="1200">
                <a:solidFill>
                  <a:srgbClr val="1B5162"/>
                </a:solidFill>
                <a:latin typeface="DM Sans Medium"/>
                <a:ea typeface="DM Sans Medium"/>
                <a:cs typeface="DM Sans Medium"/>
                <a:sym typeface="DM Sans Medium"/>
              </a:rPr>
              <a:t>Tables</a:t>
            </a:r>
            <a:endParaRPr sz="1200">
              <a:solidFill>
                <a:srgbClr val="1B5162"/>
              </a:solidFill>
              <a:latin typeface="DM Sans Medium"/>
              <a:ea typeface="DM Sans Medium"/>
              <a:cs typeface="DM Sans Medium"/>
              <a:sym typeface="DM Sans Medium"/>
            </a:endParaRPr>
          </a:p>
        </p:txBody>
      </p:sp>
      <p:sp>
        <p:nvSpPr>
          <p:cNvPr id="2755" name="Google Shape;2755;p104"/>
          <p:cNvSpPr/>
          <p:nvPr/>
        </p:nvSpPr>
        <p:spPr>
          <a:xfrm>
            <a:off x="2880550" y="4726661"/>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04"/>
          <p:cNvSpPr/>
          <p:nvPr/>
        </p:nvSpPr>
        <p:spPr>
          <a:xfrm>
            <a:off x="3686050" y="5252811"/>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04"/>
          <p:cNvSpPr/>
          <p:nvPr/>
        </p:nvSpPr>
        <p:spPr>
          <a:xfrm>
            <a:off x="4491550" y="5771386"/>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04"/>
          <p:cNvSpPr/>
          <p:nvPr/>
        </p:nvSpPr>
        <p:spPr>
          <a:xfrm>
            <a:off x="5548150" y="5258661"/>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04"/>
          <p:cNvSpPr/>
          <p:nvPr/>
        </p:nvSpPr>
        <p:spPr>
          <a:xfrm>
            <a:off x="7676650" y="4726661"/>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60" name="Google Shape;2760;p104"/>
          <p:cNvCxnSpPr>
            <a:stCxn id="2761" idx="2"/>
            <a:endCxn id="2762" idx="0"/>
          </p:cNvCxnSpPr>
          <p:nvPr/>
        </p:nvCxnSpPr>
        <p:spPr>
          <a:xfrm flipH="1" rot="-5400000">
            <a:off x="1374225" y="3496475"/>
            <a:ext cx="318900" cy="600"/>
          </a:xfrm>
          <a:prstGeom prst="curvedConnector3">
            <a:avLst>
              <a:gd fmla="val 49984" name="adj1"/>
            </a:avLst>
          </a:prstGeom>
          <a:noFill/>
          <a:ln cap="flat" cmpd="sng" w="9525">
            <a:solidFill>
              <a:srgbClr val="1B5162"/>
            </a:solidFill>
            <a:prstDash val="dash"/>
            <a:round/>
            <a:headEnd len="sm" w="sm" type="none"/>
            <a:tailEnd len="sm" w="sm" type="triangle"/>
          </a:ln>
        </p:spPr>
      </p:cxnSp>
      <p:sp>
        <p:nvSpPr>
          <p:cNvPr id="2763" name="Google Shape;2763;p104"/>
          <p:cNvSpPr/>
          <p:nvPr/>
        </p:nvSpPr>
        <p:spPr>
          <a:xfrm>
            <a:off x="2627025" y="4442291"/>
            <a:ext cx="693000" cy="159900"/>
          </a:xfrm>
          <a:prstGeom prst="rect">
            <a:avLst/>
          </a:prstGeom>
          <a:noFill/>
          <a:ln cap="flat" cmpd="sng" w="9525">
            <a:solidFill>
              <a:srgbClr val="FF362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Mono Medium"/>
                <a:ea typeface="DM Mono Medium"/>
                <a:cs typeface="DM Mono Medium"/>
                <a:sym typeface="DM Mono Medium"/>
              </a:rPr>
              <a:t>monitor</a:t>
            </a:r>
            <a:endParaRPr sz="800">
              <a:latin typeface="DM Mono Medium"/>
              <a:ea typeface="DM Mono Medium"/>
              <a:cs typeface="DM Mono Medium"/>
              <a:sym typeface="DM Mono Medium"/>
            </a:endParaRPr>
          </a:p>
        </p:txBody>
      </p:sp>
      <p:sp>
        <p:nvSpPr>
          <p:cNvPr id="2764" name="Google Shape;2764;p104"/>
          <p:cNvSpPr txBox="1"/>
          <p:nvPr/>
        </p:nvSpPr>
        <p:spPr>
          <a:xfrm>
            <a:off x="9131075" y="5069200"/>
            <a:ext cx="3012600" cy="1416000"/>
          </a:xfrm>
          <a:prstGeom prst="rect">
            <a:avLst/>
          </a:prstGeom>
          <a:noFill/>
          <a:ln>
            <a:noFill/>
          </a:ln>
        </p:spPr>
        <p:txBody>
          <a:bodyPr anchorCtr="0" anchor="t" bIns="91425" lIns="0" spcFirstLastPara="1" rIns="0" wrap="square" tIns="91425">
            <a:spAutoFit/>
          </a:bodyPr>
          <a:lstStyle/>
          <a:p>
            <a:pPr indent="0" lvl="0" marL="0" rtl="0" algn="l">
              <a:spcBef>
                <a:spcPts val="0"/>
              </a:spcBef>
              <a:spcAft>
                <a:spcPts val="0"/>
              </a:spcAft>
              <a:buNone/>
            </a:pPr>
            <a:r>
              <a:rPr lang="en" sz="800">
                <a:latin typeface="DM Mono"/>
                <a:ea typeface="DM Mono"/>
                <a:cs typeface="DM Mono"/>
                <a:sym typeface="DM Mono"/>
              </a:rPr>
              <a:t>import databricks.data_monitoring as dm</a:t>
            </a:r>
            <a:br>
              <a:rPr lang="en" sz="800">
                <a:latin typeface="DM Mono"/>
                <a:ea typeface="DM Mono"/>
                <a:cs typeface="DM Mono"/>
                <a:sym typeface="DM Mono"/>
              </a:rPr>
            </a:br>
            <a:br>
              <a:rPr lang="en" sz="800">
                <a:latin typeface="DM Mono"/>
                <a:ea typeface="DM Mono"/>
                <a:cs typeface="DM Mono"/>
                <a:sym typeface="DM Mono"/>
              </a:rPr>
            </a:br>
            <a:r>
              <a:rPr lang="en" sz="800">
                <a:latin typeface="DM Mono"/>
                <a:ea typeface="DM Mono"/>
                <a:cs typeface="DM Mono"/>
                <a:sym typeface="DM Mono"/>
              </a:rPr>
              <a:t>dm.create_or_update_monitor(</a:t>
            </a:r>
            <a:br>
              <a:rPr lang="en" sz="800">
                <a:latin typeface="DM Mono"/>
                <a:ea typeface="DM Mono"/>
                <a:cs typeface="DM Mono"/>
                <a:sym typeface="DM Mono"/>
              </a:rPr>
            </a:br>
            <a:r>
              <a:rPr lang="en" sz="800">
                <a:latin typeface="DM Mono"/>
                <a:ea typeface="DM Mono"/>
                <a:cs typeface="DM Mono"/>
                <a:sym typeface="DM Mono"/>
              </a:rPr>
              <a:t>    table_name=... ,</a:t>
            </a:r>
            <a:endParaRPr sz="800">
              <a:latin typeface="DM Mono"/>
              <a:ea typeface="DM Mono"/>
              <a:cs typeface="DM Mono"/>
              <a:sym typeface="DM Mono"/>
            </a:endParaRPr>
          </a:p>
          <a:p>
            <a:pPr indent="0" lvl="0" marL="0" rtl="0" algn="l">
              <a:spcBef>
                <a:spcPts val="0"/>
              </a:spcBef>
              <a:spcAft>
                <a:spcPts val="0"/>
              </a:spcAft>
              <a:buNone/>
            </a:pPr>
            <a:r>
              <a:rPr lang="en" sz="800">
                <a:latin typeface="DM Mono"/>
                <a:ea typeface="DM Mono"/>
                <a:cs typeface="DM Mono"/>
                <a:sym typeface="DM Mono"/>
              </a:rPr>
              <a:t>    analysis_type=dm.analysis.InferenceLog(...),</a:t>
            </a:r>
            <a:endParaRPr sz="800">
              <a:latin typeface="DM Mono"/>
              <a:ea typeface="DM Mono"/>
              <a:cs typeface="DM Mono"/>
              <a:sym typeface="DM Mono"/>
            </a:endParaRPr>
          </a:p>
          <a:p>
            <a:pPr indent="0" lvl="0" marL="0" rtl="0" algn="l">
              <a:spcBef>
                <a:spcPts val="0"/>
              </a:spcBef>
              <a:spcAft>
                <a:spcPts val="0"/>
              </a:spcAft>
              <a:buNone/>
            </a:pPr>
            <a:r>
              <a:rPr lang="en" sz="800">
                <a:latin typeface="DM Mono"/>
                <a:ea typeface="DM Mono"/>
                <a:cs typeface="DM Mono"/>
                <a:sym typeface="DM Mono"/>
              </a:rPr>
              <a:t>    output_schema_name=...</a:t>
            </a:r>
            <a:br>
              <a:rPr lang="en" sz="800">
                <a:latin typeface="DM Mono"/>
                <a:ea typeface="DM Mono"/>
                <a:cs typeface="DM Mono"/>
                <a:sym typeface="DM Mono"/>
              </a:rPr>
            </a:br>
            <a:r>
              <a:rPr lang="en" sz="800">
                <a:latin typeface="DM Mono"/>
                <a:ea typeface="DM Mono"/>
                <a:cs typeface="DM Mono"/>
                <a:sym typeface="DM Mono"/>
              </a:rPr>
              <a:t>    ...</a:t>
            </a:r>
            <a:br>
              <a:rPr lang="en" sz="800">
                <a:latin typeface="DM Mono"/>
                <a:ea typeface="DM Mono"/>
                <a:cs typeface="DM Mono"/>
                <a:sym typeface="DM Mono"/>
              </a:rPr>
            </a:br>
            <a:r>
              <a:rPr lang="en" sz="800">
                <a:latin typeface="DM Mono"/>
                <a:ea typeface="DM Mono"/>
                <a:cs typeface="DM Mono"/>
                <a:sym typeface="DM Mono"/>
              </a:rPr>
              <a:t>)</a:t>
            </a:r>
            <a:br>
              <a:rPr lang="en" sz="800">
                <a:latin typeface="DM Mono"/>
                <a:ea typeface="DM Mono"/>
                <a:cs typeface="DM Mono"/>
                <a:sym typeface="DM Mono"/>
              </a:rPr>
            </a:br>
            <a:br>
              <a:rPr lang="en" sz="800">
                <a:latin typeface="DM Mono"/>
                <a:ea typeface="DM Mono"/>
                <a:cs typeface="DM Mono"/>
                <a:sym typeface="DM Mono"/>
              </a:rPr>
            </a:br>
            <a:r>
              <a:rPr lang="en" sz="800">
                <a:latin typeface="DM Mono"/>
                <a:ea typeface="DM Mono"/>
                <a:cs typeface="DM Mono"/>
                <a:sym typeface="DM Mono"/>
              </a:rPr>
              <a:t>dm.refresh_metrics(...)</a:t>
            </a:r>
            <a:endParaRPr sz="800">
              <a:latin typeface="DM Mono"/>
              <a:ea typeface="DM Mono"/>
              <a:cs typeface="DM Mono"/>
              <a:sym typeface="DM Mono"/>
            </a:endParaRPr>
          </a:p>
        </p:txBody>
      </p:sp>
      <p:sp>
        <p:nvSpPr>
          <p:cNvPr id="2765" name="Google Shape;2765;p104"/>
          <p:cNvSpPr/>
          <p:nvPr/>
        </p:nvSpPr>
        <p:spPr>
          <a:xfrm>
            <a:off x="3432550" y="4442291"/>
            <a:ext cx="693000" cy="159900"/>
          </a:xfrm>
          <a:prstGeom prst="rect">
            <a:avLst/>
          </a:prstGeom>
          <a:noFill/>
          <a:ln cap="flat" cmpd="sng" w="9525">
            <a:solidFill>
              <a:srgbClr val="FF362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Mono Medium"/>
                <a:ea typeface="DM Mono Medium"/>
                <a:cs typeface="DM Mono Medium"/>
                <a:sym typeface="DM Mono Medium"/>
              </a:rPr>
              <a:t>monitor</a:t>
            </a:r>
            <a:endParaRPr sz="800">
              <a:latin typeface="DM Mono Medium"/>
              <a:ea typeface="DM Mono Medium"/>
              <a:cs typeface="DM Mono Medium"/>
              <a:sym typeface="DM Mono Medium"/>
            </a:endParaRPr>
          </a:p>
        </p:txBody>
      </p:sp>
      <p:sp>
        <p:nvSpPr>
          <p:cNvPr id="2766" name="Google Shape;2766;p104"/>
          <p:cNvSpPr/>
          <p:nvPr/>
        </p:nvSpPr>
        <p:spPr>
          <a:xfrm>
            <a:off x="4238075" y="4442291"/>
            <a:ext cx="693000" cy="159900"/>
          </a:xfrm>
          <a:prstGeom prst="rect">
            <a:avLst/>
          </a:prstGeom>
          <a:noFill/>
          <a:ln cap="flat" cmpd="sng" w="9525">
            <a:solidFill>
              <a:srgbClr val="FF362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Mono Medium"/>
                <a:ea typeface="DM Mono Medium"/>
                <a:cs typeface="DM Mono Medium"/>
                <a:sym typeface="DM Mono Medium"/>
              </a:rPr>
              <a:t>monitor</a:t>
            </a:r>
            <a:endParaRPr sz="800">
              <a:latin typeface="DM Mono Medium"/>
              <a:ea typeface="DM Mono Medium"/>
              <a:cs typeface="DM Mono Medium"/>
              <a:sym typeface="DM Mono Medium"/>
            </a:endParaRPr>
          </a:p>
        </p:txBody>
      </p:sp>
      <p:sp>
        <p:nvSpPr>
          <p:cNvPr id="2767" name="Google Shape;2767;p104"/>
          <p:cNvSpPr/>
          <p:nvPr/>
        </p:nvSpPr>
        <p:spPr>
          <a:xfrm>
            <a:off x="5294650" y="4442291"/>
            <a:ext cx="693000" cy="159900"/>
          </a:xfrm>
          <a:prstGeom prst="rect">
            <a:avLst/>
          </a:prstGeom>
          <a:noFill/>
          <a:ln cap="flat" cmpd="sng" w="9525">
            <a:solidFill>
              <a:srgbClr val="FF362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Mono Medium"/>
                <a:ea typeface="DM Mono Medium"/>
                <a:cs typeface="DM Mono Medium"/>
                <a:sym typeface="DM Mono Medium"/>
              </a:rPr>
              <a:t>monitor</a:t>
            </a:r>
            <a:endParaRPr sz="800">
              <a:latin typeface="DM Mono Medium"/>
              <a:ea typeface="DM Mono Medium"/>
              <a:cs typeface="DM Mono Medium"/>
              <a:sym typeface="DM Mono Medium"/>
            </a:endParaRPr>
          </a:p>
        </p:txBody>
      </p:sp>
      <p:sp>
        <p:nvSpPr>
          <p:cNvPr id="2768" name="Google Shape;2768;p104"/>
          <p:cNvSpPr/>
          <p:nvPr/>
        </p:nvSpPr>
        <p:spPr>
          <a:xfrm>
            <a:off x="7423150" y="4442291"/>
            <a:ext cx="693000" cy="159900"/>
          </a:xfrm>
          <a:prstGeom prst="rect">
            <a:avLst/>
          </a:prstGeom>
          <a:noFill/>
          <a:ln cap="flat" cmpd="sng" w="9525">
            <a:solidFill>
              <a:srgbClr val="FF362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Mono Medium"/>
                <a:ea typeface="DM Mono Medium"/>
                <a:cs typeface="DM Mono Medium"/>
                <a:sym typeface="DM Mono Medium"/>
              </a:rPr>
              <a:t>monitor</a:t>
            </a:r>
            <a:endParaRPr sz="800">
              <a:latin typeface="DM Mono Medium"/>
              <a:ea typeface="DM Mono Medium"/>
              <a:cs typeface="DM Mono Medium"/>
              <a:sym typeface="DM Mono Medium"/>
            </a:endParaRPr>
          </a:p>
        </p:txBody>
      </p:sp>
      <p:sp>
        <p:nvSpPr>
          <p:cNvPr id="2769" name="Google Shape;2769;p104"/>
          <p:cNvSpPr/>
          <p:nvPr/>
        </p:nvSpPr>
        <p:spPr>
          <a:xfrm>
            <a:off x="8997133" y="4442291"/>
            <a:ext cx="693000" cy="159900"/>
          </a:xfrm>
          <a:prstGeom prst="rect">
            <a:avLst/>
          </a:prstGeom>
          <a:noFill/>
          <a:ln cap="flat" cmpd="sng" w="9525">
            <a:solidFill>
              <a:srgbClr val="FF362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latin typeface="DM Mono Medium"/>
                <a:ea typeface="DM Mono Medium"/>
                <a:cs typeface="DM Mono Medium"/>
                <a:sym typeface="DM Mono Medium"/>
              </a:rPr>
              <a:t>monitor</a:t>
            </a:r>
            <a:endParaRPr sz="800">
              <a:latin typeface="DM Mono Medium"/>
              <a:ea typeface="DM Mono Medium"/>
              <a:cs typeface="DM Mono Medium"/>
              <a:sym typeface="DM Mono Medium"/>
            </a:endParaRPr>
          </a:p>
        </p:txBody>
      </p:sp>
      <p:sp>
        <p:nvSpPr>
          <p:cNvPr id="2770" name="Google Shape;2770;p104"/>
          <p:cNvSpPr txBox="1"/>
          <p:nvPr/>
        </p:nvSpPr>
        <p:spPr>
          <a:xfrm>
            <a:off x="9017625" y="4530375"/>
            <a:ext cx="2869500" cy="615600"/>
          </a:xfrm>
          <a:prstGeom prst="rect">
            <a:avLst/>
          </a:prstGeom>
          <a:noFill/>
          <a:ln>
            <a:noFill/>
          </a:ln>
        </p:spPr>
        <p:txBody>
          <a:bodyPr anchorCtr="0" anchor="t" bIns="91425" lIns="91425" spcFirstLastPara="1" rIns="0" wrap="square" tIns="91425">
            <a:spAutoFit/>
          </a:bodyPr>
          <a:lstStyle/>
          <a:p>
            <a:pPr indent="0" lvl="0" marL="0" rtl="0" algn="l">
              <a:spcBef>
                <a:spcPts val="0"/>
              </a:spcBef>
              <a:spcAft>
                <a:spcPts val="0"/>
              </a:spcAft>
              <a:buNone/>
            </a:pPr>
            <a:r>
              <a:rPr lang="en">
                <a:solidFill>
                  <a:schemeClr val="accent1"/>
                </a:solidFill>
                <a:latin typeface="DM Sans Medium"/>
                <a:ea typeface="DM Sans Medium"/>
                <a:cs typeface="DM Sans Medium"/>
                <a:sym typeface="DM Sans Medium"/>
              </a:rPr>
              <a:t>Configure in Monitoring UI or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via </a:t>
            </a:r>
            <a:r>
              <a:rPr lang="en">
                <a:solidFill>
                  <a:srgbClr val="1B5162"/>
                </a:solidFill>
                <a:latin typeface="DM Sans Medium"/>
                <a:ea typeface="DM Sans Medium"/>
                <a:cs typeface="DM Sans Medium"/>
                <a:sym typeface="DM Sans Medium"/>
              </a:rPr>
              <a:t>Python API:</a:t>
            </a:r>
            <a:endParaRPr>
              <a:solidFill>
                <a:srgbClr val="1B5162"/>
              </a:solidFill>
              <a:latin typeface="DM Sans Medium"/>
              <a:ea typeface="DM Sans Medium"/>
              <a:cs typeface="DM Sans Medium"/>
              <a:sym typeface="DM Sans Medium"/>
            </a:endParaRPr>
          </a:p>
        </p:txBody>
      </p:sp>
      <p:sp>
        <p:nvSpPr>
          <p:cNvPr id="2771" name="Google Shape;2771;p104"/>
          <p:cNvSpPr/>
          <p:nvPr/>
        </p:nvSpPr>
        <p:spPr>
          <a:xfrm>
            <a:off x="4903325" y="1771850"/>
            <a:ext cx="2023800" cy="583500"/>
          </a:xfrm>
          <a:prstGeom prst="roundRect">
            <a:avLst>
              <a:gd fmla="val 16097" name="adj"/>
            </a:avLst>
          </a:prstGeom>
          <a:noFill/>
          <a:ln cap="flat" cmpd="sng" w="19050">
            <a:solidFill>
              <a:srgbClr val="1B5162"/>
            </a:solidFill>
            <a:prstDash val="solid"/>
            <a:round/>
            <a:headEnd len="sm" w="sm" type="none"/>
            <a:tailEnd len="sm" w="sm" type="none"/>
          </a:ln>
        </p:spPr>
        <p:txBody>
          <a:bodyPr anchorCtr="0" anchor="ctr" bIns="0" lIns="91425" spcFirstLastPara="1" rIns="0" wrap="square" tIns="0">
            <a:noAutofit/>
          </a:bodyPr>
          <a:lstStyle/>
          <a:p>
            <a:pPr indent="0" lvl="0" marL="0" rtl="0" algn="ctr">
              <a:spcBef>
                <a:spcPts val="0"/>
              </a:spcBef>
              <a:spcAft>
                <a:spcPts val="0"/>
              </a:spcAft>
              <a:buNone/>
            </a:pPr>
            <a:r>
              <a:rPr lang="en" sz="1600">
                <a:solidFill>
                  <a:srgbClr val="1B5162"/>
                </a:solidFill>
                <a:latin typeface="DM Sans Medium"/>
                <a:ea typeface="DM Sans Medium"/>
                <a:cs typeface="DM Sans Medium"/>
                <a:sym typeface="DM Sans Medium"/>
              </a:rPr>
              <a:t>Lakehouse </a:t>
            </a:r>
            <a:br>
              <a:rPr lang="en" sz="1600">
                <a:solidFill>
                  <a:srgbClr val="1B5162"/>
                </a:solidFill>
                <a:latin typeface="DM Sans Medium"/>
                <a:ea typeface="DM Sans Medium"/>
                <a:cs typeface="DM Sans Medium"/>
                <a:sym typeface="DM Sans Medium"/>
              </a:rPr>
            </a:br>
            <a:r>
              <a:rPr lang="en" sz="1600">
                <a:solidFill>
                  <a:srgbClr val="1B5162"/>
                </a:solidFill>
                <a:latin typeface="DM Sans Medium"/>
                <a:ea typeface="DM Sans Medium"/>
                <a:cs typeface="DM Sans Medium"/>
                <a:sym typeface="DM Sans Medium"/>
              </a:rPr>
              <a:t>AI or BI Tools</a:t>
            </a:r>
            <a:endParaRPr sz="1600">
              <a:solidFill>
                <a:srgbClr val="1B5162"/>
              </a:solidFill>
              <a:latin typeface="DM Sans Medium"/>
              <a:ea typeface="DM Sans Medium"/>
              <a:cs typeface="DM Sans Medium"/>
              <a:sym typeface="DM Sans Medium"/>
            </a:endParaRPr>
          </a:p>
        </p:txBody>
      </p:sp>
      <p:cxnSp>
        <p:nvCxnSpPr>
          <p:cNvPr id="2772" name="Google Shape;2772;p104"/>
          <p:cNvCxnSpPr/>
          <p:nvPr/>
        </p:nvCxnSpPr>
        <p:spPr>
          <a:xfrm flipH="1" rot="-5400000">
            <a:off x="5118425" y="2623425"/>
            <a:ext cx="509400" cy="600"/>
          </a:xfrm>
          <a:prstGeom prst="curvedConnector3">
            <a:avLst>
              <a:gd fmla="val 50000" name="adj1"/>
            </a:avLst>
          </a:prstGeom>
          <a:noFill/>
          <a:ln cap="flat" cmpd="sng" w="9525">
            <a:solidFill>
              <a:srgbClr val="1B5162"/>
            </a:solidFill>
            <a:prstDash val="solid"/>
            <a:round/>
            <a:headEnd len="sm" w="sm" type="none"/>
            <a:tailEnd len="sm" w="sm" type="triangle"/>
          </a:ln>
        </p:spPr>
      </p:cxnSp>
      <p:cxnSp>
        <p:nvCxnSpPr>
          <p:cNvPr id="2773" name="Google Shape;2773;p104"/>
          <p:cNvCxnSpPr/>
          <p:nvPr/>
        </p:nvCxnSpPr>
        <p:spPr>
          <a:xfrm flipH="1" rot="-5400000">
            <a:off x="6197575" y="2617900"/>
            <a:ext cx="520500" cy="600"/>
          </a:xfrm>
          <a:prstGeom prst="curvedConnector3">
            <a:avLst>
              <a:gd fmla="val 50000" name="adj1"/>
            </a:avLst>
          </a:prstGeom>
          <a:noFill/>
          <a:ln cap="flat" cmpd="sng" w="9525">
            <a:solidFill>
              <a:srgbClr val="1B5162"/>
            </a:solidFill>
            <a:prstDash val="solid"/>
            <a:round/>
            <a:headEnd len="sm" w="sm" type="none"/>
            <a:tailEnd len="sm" w="sm" type="triangle"/>
          </a:ln>
        </p:spPr>
      </p:cxnSp>
      <p:sp>
        <p:nvSpPr>
          <p:cNvPr id="2774" name="Google Shape;2774;p104"/>
          <p:cNvSpPr/>
          <p:nvPr/>
        </p:nvSpPr>
        <p:spPr>
          <a:xfrm>
            <a:off x="2880550" y="4206044"/>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04"/>
          <p:cNvSpPr/>
          <p:nvPr/>
        </p:nvSpPr>
        <p:spPr>
          <a:xfrm>
            <a:off x="3686050" y="4206044"/>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104"/>
          <p:cNvSpPr/>
          <p:nvPr/>
        </p:nvSpPr>
        <p:spPr>
          <a:xfrm>
            <a:off x="4491550" y="4206044"/>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104"/>
          <p:cNvSpPr/>
          <p:nvPr/>
        </p:nvSpPr>
        <p:spPr>
          <a:xfrm>
            <a:off x="5548150" y="4206044"/>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04"/>
          <p:cNvSpPr/>
          <p:nvPr/>
        </p:nvSpPr>
        <p:spPr>
          <a:xfrm>
            <a:off x="7676650" y="4206044"/>
            <a:ext cx="186000" cy="108600"/>
          </a:xfrm>
          <a:prstGeom prst="upArrow">
            <a:avLst>
              <a:gd fmla="val 50000" name="adj1"/>
              <a:gd fmla="val 50000" name="adj2"/>
            </a:avLst>
          </a:prstGeom>
          <a:solidFill>
            <a:srgbClr val="FFFFFF"/>
          </a:solidFill>
          <a:ln cap="flat" cmpd="sng" w="9525">
            <a:solidFill>
              <a:srgbClr val="FF3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04"/>
          <p:cNvSpPr/>
          <p:nvPr/>
        </p:nvSpPr>
        <p:spPr>
          <a:xfrm>
            <a:off x="7232195" y="2363213"/>
            <a:ext cx="940200" cy="4590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DB SQL Alerts</a:t>
            </a:r>
            <a:endParaRPr sz="1200">
              <a:solidFill>
                <a:srgbClr val="1B5162"/>
              </a:solidFill>
              <a:latin typeface="DM Sans Medium"/>
              <a:ea typeface="DM Sans Medium"/>
              <a:cs typeface="DM Sans Medium"/>
              <a:sym typeface="DM Sans Medium"/>
            </a:endParaRPr>
          </a:p>
        </p:txBody>
      </p:sp>
      <p:sp>
        <p:nvSpPr>
          <p:cNvPr id="2779" name="Google Shape;2779;p104"/>
          <p:cNvSpPr txBox="1"/>
          <p:nvPr/>
        </p:nvSpPr>
        <p:spPr>
          <a:xfrm>
            <a:off x="7274500" y="5327483"/>
            <a:ext cx="990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1B5162"/>
                </a:solidFill>
                <a:latin typeface="DM Sans"/>
                <a:ea typeface="DM Sans"/>
                <a:cs typeface="DM Sans"/>
                <a:sym typeface="DM Sans"/>
              </a:rPr>
              <a:t>Representing</a:t>
            </a:r>
            <a:br>
              <a:rPr i="1" lang="en" sz="800">
                <a:solidFill>
                  <a:srgbClr val="1B5162"/>
                </a:solidFill>
                <a:latin typeface="DM Sans"/>
                <a:ea typeface="DM Sans"/>
                <a:cs typeface="DM Sans"/>
                <a:sym typeface="DM Sans"/>
              </a:rPr>
            </a:br>
            <a:r>
              <a:rPr i="1" lang="en" sz="800">
                <a:solidFill>
                  <a:srgbClr val="1B5162"/>
                </a:solidFill>
                <a:latin typeface="DM Sans"/>
                <a:ea typeface="DM Sans"/>
                <a:cs typeface="DM Sans"/>
                <a:sym typeface="DM Sans"/>
              </a:rPr>
              <a:t>the model for monitoring</a:t>
            </a:r>
            <a:endParaRPr i="1" sz="800"/>
          </a:p>
        </p:txBody>
      </p:sp>
      <p:sp>
        <p:nvSpPr>
          <p:cNvPr id="2762" name="Google Shape;2762;p104"/>
          <p:cNvSpPr/>
          <p:nvPr/>
        </p:nvSpPr>
        <p:spPr>
          <a:xfrm>
            <a:off x="1095675" y="3656125"/>
            <a:ext cx="875400" cy="459000"/>
          </a:xfrm>
          <a:prstGeom prst="roundRect">
            <a:avLst>
              <a:gd fmla="val 16667" name="adj"/>
            </a:avLst>
          </a:prstGeom>
          <a:solidFill>
            <a:srgbClr val="FFFFFF"/>
          </a:solidFill>
          <a:ln cap="flat" cmpd="sng" w="19050">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Databricks</a:t>
            </a:r>
            <a:br>
              <a:rPr lang="en" sz="1200">
                <a:solidFill>
                  <a:srgbClr val="1B5162"/>
                </a:solidFill>
                <a:latin typeface="DM Sans Medium"/>
                <a:ea typeface="DM Sans Medium"/>
                <a:cs typeface="DM Sans Medium"/>
                <a:sym typeface="DM Sans Medium"/>
              </a:rPr>
            </a:br>
            <a:r>
              <a:rPr lang="en" sz="1200">
                <a:solidFill>
                  <a:srgbClr val="1B5162"/>
                </a:solidFill>
                <a:latin typeface="DM Sans Medium"/>
                <a:ea typeface="DM Sans Medium"/>
                <a:cs typeface="DM Sans Medium"/>
                <a:sym typeface="DM Sans Medium"/>
              </a:rPr>
              <a:t>Serverless</a:t>
            </a:r>
            <a:endParaRPr b="1" sz="1200">
              <a:solidFill>
                <a:srgbClr val="1B5162"/>
              </a:solidFill>
              <a:latin typeface="DM Sans"/>
              <a:ea typeface="DM Sans"/>
              <a:cs typeface="DM Sans"/>
              <a:sym typeface="DM Sans"/>
            </a:endParaRPr>
          </a:p>
        </p:txBody>
      </p:sp>
      <p:cxnSp>
        <p:nvCxnSpPr>
          <p:cNvPr id="2780" name="Google Shape;2780;p104"/>
          <p:cNvCxnSpPr>
            <a:stCxn id="2752" idx="1"/>
            <a:endCxn id="2762" idx="3"/>
          </p:cNvCxnSpPr>
          <p:nvPr/>
        </p:nvCxnSpPr>
        <p:spPr>
          <a:xfrm flipH="1">
            <a:off x="1971175" y="3885325"/>
            <a:ext cx="599700" cy="300"/>
          </a:xfrm>
          <a:prstGeom prst="straightConnector1">
            <a:avLst/>
          </a:prstGeom>
          <a:noFill/>
          <a:ln cap="flat" cmpd="sng" w="9525">
            <a:solidFill>
              <a:srgbClr val="1B5162"/>
            </a:solidFill>
            <a:prstDash val="dash"/>
            <a:round/>
            <a:headEnd len="med" w="med" type="none"/>
            <a:tailEnd len="med" w="med" type="triangle"/>
          </a:ln>
        </p:spPr>
      </p:cxnSp>
      <p:sp>
        <p:nvSpPr>
          <p:cNvPr id="2761" name="Google Shape;2761;p104"/>
          <p:cNvSpPr/>
          <p:nvPr/>
        </p:nvSpPr>
        <p:spPr>
          <a:xfrm>
            <a:off x="1095675" y="2878325"/>
            <a:ext cx="875400" cy="459000"/>
          </a:xfrm>
          <a:prstGeom prst="rect">
            <a:avLst/>
          </a:prstGeom>
          <a:solidFill>
            <a:srgbClr val="FFFFFF"/>
          </a:solidFill>
          <a:ln cap="flat" cmpd="sng" w="9525">
            <a:solidFill>
              <a:srgbClr val="1B516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solidFill>
                  <a:srgbClr val="1B5162"/>
                </a:solidFill>
                <a:latin typeface="DM Sans Medium"/>
                <a:ea typeface="DM Sans Medium"/>
                <a:cs typeface="DM Sans Medium"/>
                <a:sym typeface="DM Sans Medium"/>
              </a:rPr>
              <a:t>Scheduled Pipeline</a:t>
            </a:r>
            <a:endParaRPr b="1" sz="1200">
              <a:solidFill>
                <a:srgbClr val="1B5162"/>
              </a:solidFill>
              <a:latin typeface="DM Sans"/>
              <a:ea typeface="DM Sans"/>
              <a:cs typeface="DM Sans"/>
              <a:sym typeface="DM Sans"/>
            </a:endParaRPr>
          </a:p>
        </p:txBody>
      </p:sp>
      <p:sp>
        <p:nvSpPr>
          <p:cNvPr id="2739" name="Google Shape;2739;p104"/>
          <p:cNvSpPr/>
          <p:nvPr/>
        </p:nvSpPr>
        <p:spPr>
          <a:xfrm>
            <a:off x="5651950" y="2873226"/>
            <a:ext cx="82200" cy="8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04"/>
          <p:cNvSpPr/>
          <p:nvPr/>
        </p:nvSpPr>
        <p:spPr>
          <a:xfrm>
            <a:off x="6775776" y="2873226"/>
            <a:ext cx="82200" cy="8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82" name="Google Shape;2782;p104"/>
          <p:cNvCxnSpPr>
            <a:stCxn id="2781" idx="0"/>
            <a:endCxn id="2740" idx="1"/>
          </p:cNvCxnSpPr>
          <p:nvPr/>
        </p:nvCxnSpPr>
        <p:spPr>
          <a:xfrm rot="-5400000">
            <a:off x="6884226" y="2525376"/>
            <a:ext cx="280500" cy="415200"/>
          </a:xfrm>
          <a:prstGeom prst="curvedConnector2">
            <a:avLst/>
          </a:prstGeom>
          <a:noFill/>
          <a:ln cap="flat" cmpd="sng" w="9525">
            <a:solidFill>
              <a:schemeClr val="accent4"/>
            </a:solidFill>
            <a:prstDash val="solid"/>
            <a:round/>
            <a:headEnd len="med" w="med" type="none"/>
            <a:tailEnd len="med" w="med" type="triangle"/>
          </a:ln>
        </p:spPr>
      </p:cxnSp>
      <p:sp>
        <p:nvSpPr>
          <p:cNvPr id="2783" name="Google Shape;2783;p104"/>
          <p:cNvSpPr txBox="1"/>
          <p:nvPr/>
        </p:nvSpPr>
        <p:spPr>
          <a:xfrm>
            <a:off x="8793605" y="2978041"/>
            <a:ext cx="1461900" cy="4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B5162"/>
                </a:solidFill>
                <a:latin typeface="DM Sans Medium"/>
                <a:ea typeface="DM Sans Medium"/>
                <a:cs typeface="DM Sans Medium"/>
                <a:sym typeface="DM Sans Medium"/>
              </a:rPr>
              <a:t>Users / Admins</a:t>
            </a:r>
            <a:endParaRPr>
              <a:solidFill>
                <a:srgbClr val="1B5162"/>
              </a:solidFill>
              <a:latin typeface="DM Sans Medium"/>
              <a:ea typeface="DM Sans Medium"/>
              <a:cs typeface="DM Sans Medium"/>
              <a:sym typeface="DM Sans Medium"/>
            </a:endParaRPr>
          </a:p>
        </p:txBody>
      </p:sp>
      <p:pic>
        <p:nvPicPr>
          <p:cNvPr id="2784" name="Google Shape;2784;p104"/>
          <p:cNvPicPr preferRelativeResize="0"/>
          <p:nvPr/>
        </p:nvPicPr>
        <p:blipFill>
          <a:blip r:embed="rId3">
            <a:alphaModFix/>
          </a:blip>
          <a:stretch>
            <a:fillRect/>
          </a:stretch>
        </p:blipFill>
        <p:spPr>
          <a:xfrm>
            <a:off x="9191250" y="2487095"/>
            <a:ext cx="666600" cy="666600"/>
          </a:xfrm>
          <a:prstGeom prst="rect">
            <a:avLst/>
          </a:prstGeom>
          <a:noFill/>
          <a:ln>
            <a:noFill/>
          </a:ln>
        </p:spPr>
      </p:pic>
      <p:cxnSp>
        <p:nvCxnSpPr>
          <p:cNvPr id="2785" name="Google Shape;2785;p104"/>
          <p:cNvCxnSpPr>
            <a:stCxn id="2740" idx="3"/>
            <a:endCxn id="2784" idx="1"/>
          </p:cNvCxnSpPr>
          <p:nvPr/>
        </p:nvCxnSpPr>
        <p:spPr>
          <a:xfrm>
            <a:off x="8172395" y="2592713"/>
            <a:ext cx="1018800" cy="227700"/>
          </a:xfrm>
          <a:prstGeom prst="curvedConnector3">
            <a:avLst>
              <a:gd fmla="val 50003" name="adj1"/>
            </a:avLst>
          </a:prstGeom>
          <a:noFill/>
          <a:ln cap="flat" cmpd="sng" w="9525">
            <a:solidFill>
              <a:schemeClr val="accent4"/>
            </a:solidFill>
            <a:prstDash val="dash"/>
            <a:round/>
            <a:headEnd len="med" w="med" type="none"/>
            <a:tailEnd len="med" w="med" type="triangle"/>
          </a:ln>
        </p:spPr>
      </p:cxnSp>
      <p:sp>
        <p:nvSpPr>
          <p:cNvPr id="2786" name="Google Shape;2786;p104"/>
          <p:cNvSpPr txBox="1"/>
          <p:nvPr/>
        </p:nvSpPr>
        <p:spPr>
          <a:xfrm>
            <a:off x="657825" y="4337591"/>
            <a:ext cx="1827600" cy="369300"/>
          </a:xfrm>
          <a:prstGeom prst="rect">
            <a:avLst/>
          </a:prstGeom>
          <a:noFill/>
          <a:ln>
            <a:noFill/>
          </a:ln>
        </p:spPr>
        <p:txBody>
          <a:bodyPr anchorCtr="0" anchor="t" bIns="91425" lIns="91425" spcFirstLastPara="1" rIns="0" wrap="square" tIns="91425">
            <a:spAutoFit/>
          </a:bodyPr>
          <a:lstStyle/>
          <a:p>
            <a:pPr indent="0" lvl="0" marL="0" rtl="0" algn="l">
              <a:spcBef>
                <a:spcPts val="0"/>
              </a:spcBef>
              <a:spcAft>
                <a:spcPts val="0"/>
              </a:spcAft>
              <a:buNone/>
            </a:pPr>
            <a:r>
              <a:rPr lang="en" sz="1200">
                <a:solidFill>
                  <a:srgbClr val="1B5162"/>
                </a:solidFill>
                <a:latin typeface="DM Sans Medium"/>
                <a:ea typeface="DM Sans Medium"/>
                <a:cs typeface="DM Sans Medium"/>
                <a:sym typeface="DM Sans Medium"/>
              </a:rPr>
              <a:t>Monitoring definitions:</a:t>
            </a:r>
            <a:endParaRPr sz="1200">
              <a:solidFill>
                <a:srgbClr val="1B5162"/>
              </a:solidFill>
              <a:latin typeface="DM Sans Medium"/>
              <a:ea typeface="DM Sans Medium"/>
              <a:cs typeface="DM Sans Medium"/>
              <a:sym typeface="DM Sans Medium"/>
            </a:endParaRPr>
          </a:p>
        </p:txBody>
      </p:sp>
      <p:cxnSp>
        <p:nvCxnSpPr>
          <p:cNvPr id="2787" name="Google Shape;2787;p104"/>
          <p:cNvCxnSpPr>
            <a:stCxn id="2753" idx="3"/>
            <a:endCxn id="2784" idx="1"/>
          </p:cNvCxnSpPr>
          <p:nvPr/>
        </p:nvCxnSpPr>
        <p:spPr>
          <a:xfrm flipH="1" rot="10800000">
            <a:off x="8172410" y="2820425"/>
            <a:ext cx="1018800" cy="287400"/>
          </a:xfrm>
          <a:prstGeom prst="curvedConnector3">
            <a:avLst>
              <a:gd fmla="val 50002" name="adj1"/>
            </a:avLst>
          </a:prstGeom>
          <a:noFill/>
          <a:ln cap="flat" cmpd="sng" w="9525">
            <a:solidFill>
              <a:schemeClr val="accent4"/>
            </a:solidFill>
            <a:prstDash val="dash"/>
            <a:round/>
            <a:headEnd len="med" w="med" type="none"/>
            <a:tailEnd len="med" w="med" type="triangle"/>
          </a:ln>
        </p:spPr>
      </p:cxnSp>
      <p:pic>
        <p:nvPicPr>
          <p:cNvPr id="2788" name="Google Shape;2788;p104"/>
          <p:cNvPicPr preferRelativeResize="0"/>
          <p:nvPr/>
        </p:nvPicPr>
        <p:blipFill rotWithShape="1">
          <a:blip r:embed="rId4">
            <a:alphaModFix/>
          </a:blip>
          <a:srcRect b="18099" l="12810" r="13393" t="0"/>
          <a:stretch/>
        </p:blipFill>
        <p:spPr>
          <a:xfrm>
            <a:off x="5642940" y="3179031"/>
            <a:ext cx="148565" cy="128100"/>
          </a:xfrm>
          <a:prstGeom prst="rect">
            <a:avLst/>
          </a:prstGeom>
          <a:noFill/>
          <a:ln>
            <a:noFill/>
          </a:ln>
        </p:spPr>
      </p:pic>
      <p:pic>
        <p:nvPicPr>
          <p:cNvPr id="2789" name="Google Shape;2789;p104"/>
          <p:cNvPicPr preferRelativeResize="0"/>
          <p:nvPr/>
        </p:nvPicPr>
        <p:blipFill rotWithShape="1">
          <a:blip r:embed="rId4">
            <a:alphaModFix/>
          </a:blip>
          <a:srcRect b="18099" l="12810" r="13393" t="0"/>
          <a:stretch/>
        </p:blipFill>
        <p:spPr>
          <a:xfrm>
            <a:off x="6728914" y="3179031"/>
            <a:ext cx="148565" cy="1281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3" name="Shape 2793"/>
        <p:cNvGrpSpPr/>
        <p:nvPr/>
      </p:nvGrpSpPr>
      <p:grpSpPr>
        <a:xfrm>
          <a:off x="0" y="0"/>
          <a:ext cx="0" cy="0"/>
          <a:chOff x="0" y="0"/>
          <a:chExt cx="0" cy="0"/>
        </a:xfrm>
      </p:grpSpPr>
      <p:sp>
        <p:nvSpPr>
          <p:cNvPr id="2794" name="Google Shape;2794;p105"/>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Filesystems in Databricks</a:t>
            </a:r>
            <a:endParaRPr/>
          </a:p>
        </p:txBody>
      </p:sp>
      <p:sp>
        <p:nvSpPr>
          <p:cNvPr id="2795" name="Google Shape;2795;p10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9" name="Shape 2799"/>
        <p:cNvGrpSpPr/>
        <p:nvPr/>
      </p:nvGrpSpPr>
      <p:grpSpPr>
        <a:xfrm>
          <a:off x="0" y="0"/>
          <a:ext cx="0" cy="0"/>
          <a:chOff x="0" y="0"/>
          <a:chExt cx="0" cy="0"/>
        </a:xfrm>
      </p:grpSpPr>
      <p:sp>
        <p:nvSpPr>
          <p:cNvPr id="2800" name="Google Shape;2800;p10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DBFS (Databricks File System)</a:t>
            </a:r>
            <a:endParaRPr/>
          </a:p>
        </p:txBody>
      </p:sp>
      <p:sp>
        <p:nvSpPr>
          <p:cNvPr id="2801" name="Google Shape;2801;p10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2802" name="Google Shape;2802;p106"/>
          <p:cNvSpPr/>
          <p:nvPr/>
        </p:nvSpPr>
        <p:spPr>
          <a:xfrm>
            <a:off x="3262350" y="3834775"/>
            <a:ext cx="1457100" cy="722400"/>
          </a:xfrm>
          <a:prstGeom prst="roundRect">
            <a:avLst>
              <a:gd fmla="val 16667" name="adj"/>
            </a:avLst>
          </a:prstGeom>
          <a:solidFill>
            <a:srgbClr val="FFFFFF"/>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dbfs</a:t>
            </a:r>
            <a:endParaRPr>
              <a:latin typeface="DM Sans Medium"/>
              <a:ea typeface="DM Sans Medium"/>
              <a:cs typeface="DM Sans Medium"/>
              <a:sym typeface="DM Sans Medium"/>
            </a:endParaRPr>
          </a:p>
        </p:txBody>
      </p:sp>
      <p:sp>
        <p:nvSpPr>
          <p:cNvPr id="2803" name="Google Shape;2803;p106"/>
          <p:cNvSpPr/>
          <p:nvPr/>
        </p:nvSpPr>
        <p:spPr>
          <a:xfrm>
            <a:off x="6179425" y="4222813"/>
            <a:ext cx="1457100" cy="72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Root container / bucket</a:t>
            </a:r>
            <a:endParaRPr>
              <a:latin typeface="DM Sans Medium"/>
              <a:ea typeface="DM Sans Medium"/>
              <a:cs typeface="DM Sans Medium"/>
              <a:sym typeface="DM Sans Medium"/>
            </a:endParaRPr>
          </a:p>
        </p:txBody>
      </p:sp>
      <p:sp>
        <p:nvSpPr>
          <p:cNvPr id="2804" name="Google Shape;2804;p106"/>
          <p:cNvSpPr/>
          <p:nvPr/>
        </p:nvSpPr>
        <p:spPr>
          <a:xfrm>
            <a:off x="6179425" y="5150813"/>
            <a:ext cx="1457100" cy="72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data container / bucket</a:t>
            </a:r>
            <a:endParaRPr>
              <a:latin typeface="DM Sans Medium"/>
              <a:ea typeface="DM Sans Medium"/>
              <a:cs typeface="DM Sans Medium"/>
              <a:sym typeface="DM Sans Medium"/>
            </a:endParaRPr>
          </a:p>
        </p:txBody>
      </p:sp>
      <p:sp>
        <p:nvSpPr>
          <p:cNvPr id="2805" name="Google Shape;2805;p106"/>
          <p:cNvSpPr/>
          <p:nvPr/>
        </p:nvSpPr>
        <p:spPr>
          <a:xfrm>
            <a:off x="6179425" y="2366813"/>
            <a:ext cx="1457100" cy="7224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Repos</a:t>
            </a:r>
            <a:endParaRPr>
              <a:latin typeface="DM Sans Medium"/>
              <a:ea typeface="DM Sans Medium"/>
              <a:cs typeface="DM Sans Medium"/>
              <a:sym typeface="DM Sans Medium"/>
            </a:endParaRPr>
          </a:p>
        </p:txBody>
      </p:sp>
      <p:sp>
        <p:nvSpPr>
          <p:cNvPr id="2806" name="Google Shape;2806;p106"/>
          <p:cNvSpPr/>
          <p:nvPr/>
        </p:nvSpPr>
        <p:spPr>
          <a:xfrm>
            <a:off x="6179425" y="3294813"/>
            <a:ext cx="1457100" cy="7224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Unity Catalog Volumes</a:t>
            </a:r>
            <a:endParaRPr>
              <a:latin typeface="DM Sans Medium"/>
              <a:ea typeface="DM Sans Medium"/>
              <a:cs typeface="DM Sans Medium"/>
              <a:sym typeface="DM Sans Medium"/>
            </a:endParaRPr>
          </a:p>
        </p:txBody>
      </p:sp>
      <p:cxnSp>
        <p:nvCxnSpPr>
          <p:cNvPr id="2807" name="Google Shape;2807;p106"/>
          <p:cNvCxnSpPr>
            <a:stCxn id="2802" idx="3"/>
            <a:endCxn id="2805" idx="1"/>
          </p:cNvCxnSpPr>
          <p:nvPr/>
        </p:nvCxnSpPr>
        <p:spPr>
          <a:xfrm flipH="1" rot="10800000">
            <a:off x="4719450" y="2728075"/>
            <a:ext cx="1460100" cy="1467900"/>
          </a:xfrm>
          <a:prstGeom prst="curvedConnector3">
            <a:avLst>
              <a:gd fmla="val 49996" name="adj1"/>
            </a:avLst>
          </a:prstGeom>
          <a:noFill/>
          <a:ln cap="flat" cmpd="sng" w="9525">
            <a:solidFill>
              <a:schemeClr val="accent1"/>
            </a:solidFill>
            <a:prstDash val="solid"/>
            <a:round/>
            <a:headEnd len="med" w="med" type="none"/>
            <a:tailEnd len="med" w="med" type="triangle"/>
          </a:ln>
        </p:spPr>
      </p:cxnSp>
      <p:cxnSp>
        <p:nvCxnSpPr>
          <p:cNvPr id="2808" name="Google Shape;2808;p106"/>
          <p:cNvCxnSpPr>
            <a:stCxn id="2802" idx="3"/>
            <a:endCxn id="2803" idx="1"/>
          </p:cNvCxnSpPr>
          <p:nvPr/>
        </p:nvCxnSpPr>
        <p:spPr>
          <a:xfrm>
            <a:off x="4719450" y="4195975"/>
            <a:ext cx="1460100" cy="387900"/>
          </a:xfrm>
          <a:prstGeom prst="curvedConnector3">
            <a:avLst>
              <a:gd fmla="val 49996" name="adj1"/>
            </a:avLst>
          </a:prstGeom>
          <a:noFill/>
          <a:ln cap="flat" cmpd="sng" w="9525">
            <a:solidFill>
              <a:schemeClr val="accent1"/>
            </a:solidFill>
            <a:prstDash val="solid"/>
            <a:round/>
            <a:headEnd len="med" w="med" type="none"/>
            <a:tailEnd len="med" w="med" type="triangle"/>
          </a:ln>
        </p:spPr>
      </p:cxnSp>
      <p:cxnSp>
        <p:nvCxnSpPr>
          <p:cNvPr id="2809" name="Google Shape;2809;p106"/>
          <p:cNvCxnSpPr>
            <a:stCxn id="2802" idx="3"/>
            <a:endCxn id="2804" idx="1"/>
          </p:cNvCxnSpPr>
          <p:nvPr/>
        </p:nvCxnSpPr>
        <p:spPr>
          <a:xfrm>
            <a:off x="4719450" y="4195975"/>
            <a:ext cx="1460100" cy="1316100"/>
          </a:xfrm>
          <a:prstGeom prst="curvedConnector3">
            <a:avLst>
              <a:gd fmla="val 49996" name="adj1"/>
            </a:avLst>
          </a:prstGeom>
          <a:noFill/>
          <a:ln cap="flat" cmpd="sng" w="9525">
            <a:solidFill>
              <a:schemeClr val="accent1"/>
            </a:solidFill>
            <a:prstDash val="solid"/>
            <a:round/>
            <a:headEnd len="med" w="med" type="none"/>
            <a:tailEnd len="med" w="med" type="triangle"/>
          </a:ln>
        </p:spPr>
      </p:cxnSp>
      <p:cxnSp>
        <p:nvCxnSpPr>
          <p:cNvPr id="2810" name="Google Shape;2810;p106"/>
          <p:cNvCxnSpPr>
            <a:stCxn id="2802" idx="3"/>
            <a:endCxn id="2806" idx="1"/>
          </p:cNvCxnSpPr>
          <p:nvPr/>
        </p:nvCxnSpPr>
        <p:spPr>
          <a:xfrm flipH="1" rot="10800000">
            <a:off x="4719450" y="3655975"/>
            <a:ext cx="1460100" cy="540000"/>
          </a:xfrm>
          <a:prstGeom prst="curvedConnector3">
            <a:avLst>
              <a:gd fmla="val 49996" name="adj1"/>
            </a:avLst>
          </a:prstGeom>
          <a:noFill/>
          <a:ln cap="flat" cmpd="sng" w="9525">
            <a:solidFill>
              <a:schemeClr val="accent1"/>
            </a:solidFill>
            <a:prstDash val="solid"/>
            <a:round/>
            <a:headEnd len="med" w="med" type="none"/>
            <a:tailEnd len="med" w="med" type="triangle"/>
          </a:ln>
        </p:spPr>
      </p:cxnSp>
      <p:grpSp>
        <p:nvGrpSpPr>
          <p:cNvPr id="2811" name="Google Shape;2811;p106"/>
          <p:cNvGrpSpPr/>
          <p:nvPr/>
        </p:nvGrpSpPr>
        <p:grpSpPr>
          <a:xfrm>
            <a:off x="5420958" y="4896326"/>
            <a:ext cx="260610" cy="260610"/>
            <a:chOff x="5866775" y="4030465"/>
            <a:chExt cx="372300" cy="372300"/>
          </a:xfrm>
        </p:grpSpPr>
        <p:sp>
          <p:nvSpPr>
            <p:cNvPr id="2812" name="Google Shape;2812;p106"/>
            <p:cNvSpPr/>
            <p:nvPr/>
          </p:nvSpPr>
          <p:spPr>
            <a:xfrm>
              <a:off x="5866775" y="4030465"/>
              <a:ext cx="372300" cy="372300"/>
            </a:xfrm>
            <a:prstGeom prst="ellipse">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rgbClr val="FFAB00"/>
                </a:solidFill>
              </a:endParaRPr>
            </a:p>
          </p:txBody>
        </p:sp>
        <p:pic>
          <p:nvPicPr>
            <p:cNvPr id="2813" name="Google Shape;2813;p106"/>
            <p:cNvPicPr preferRelativeResize="0"/>
            <p:nvPr/>
          </p:nvPicPr>
          <p:blipFill rotWithShape="1">
            <a:blip r:embed="rId3">
              <a:alphaModFix/>
            </a:blip>
            <a:srcRect b="0" l="0" r="0" t="0"/>
            <a:stretch/>
          </p:blipFill>
          <p:spPr>
            <a:xfrm>
              <a:off x="5922888" y="4070827"/>
              <a:ext cx="260075" cy="260046"/>
            </a:xfrm>
            <a:prstGeom prst="rect">
              <a:avLst/>
            </a:prstGeom>
            <a:noFill/>
            <a:ln>
              <a:noFill/>
            </a:ln>
          </p:spPr>
        </p:pic>
      </p:grpSp>
      <p:sp>
        <p:nvSpPr>
          <p:cNvPr id="2814" name="Google Shape;2814;p106"/>
          <p:cNvSpPr/>
          <p:nvPr/>
        </p:nvSpPr>
        <p:spPr>
          <a:xfrm>
            <a:off x="915700" y="3834775"/>
            <a:ext cx="1457100" cy="7224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e.g. Spark</a:t>
            </a:r>
            <a:endParaRPr>
              <a:latin typeface="DM Sans Medium"/>
              <a:ea typeface="DM Sans Medium"/>
              <a:cs typeface="DM Sans Medium"/>
              <a:sym typeface="DM Sans Medium"/>
            </a:endParaRPr>
          </a:p>
        </p:txBody>
      </p:sp>
      <p:cxnSp>
        <p:nvCxnSpPr>
          <p:cNvPr id="2815" name="Google Shape;2815;p106"/>
          <p:cNvCxnSpPr>
            <a:stCxn id="2814" idx="3"/>
            <a:endCxn id="2802" idx="1"/>
          </p:cNvCxnSpPr>
          <p:nvPr/>
        </p:nvCxnSpPr>
        <p:spPr>
          <a:xfrm>
            <a:off x="2372800" y="4195975"/>
            <a:ext cx="889500" cy="600"/>
          </a:xfrm>
          <a:prstGeom prst="curvedConnector3">
            <a:avLst>
              <a:gd fmla="val 50014" name="adj1"/>
            </a:avLst>
          </a:prstGeom>
          <a:noFill/>
          <a:ln cap="flat" cmpd="sng" w="9525">
            <a:solidFill>
              <a:schemeClr val="accent1"/>
            </a:solidFill>
            <a:prstDash val="solid"/>
            <a:round/>
            <a:headEnd len="med" w="med" type="none"/>
            <a:tailEnd len="med" w="med" type="triangle"/>
          </a:ln>
        </p:spPr>
      </p:cxnSp>
      <p:sp>
        <p:nvSpPr>
          <p:cNvPr id="2816" name="Google Shape;2816;p106"/>
          <p:cNvSpPr txBox="1"/>
          <p:nvPr/>
        </p:nvSpPr>
        <p:spPr>
          <a:xfrm>
            <a:off x="7868525" y="3378975"/>
            <a:ext cx="19707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accent2"/>
                </a:solidFill>
                <a:latin typeface="DM Sans Medium"/>
                <a:ea typeface="DM Sans Medium"/>
                <a:cs typeface="DM Sans Medium"/>
                <a:sym typeface="DM Sans Medium"/>
              </a:rPr>
              <a:t>User access controlled  by Unity Catalog</a:t>
            </a:r>
            <a:endParaRPr i="1" sz="1200">
              <a:solidFill>
                <a:schemeClr val="accent2"/>
              </a:solidFill>
              <a:latin typeface="DM Sans Medium"/>
              <a:ea typeface="DM Sans Medium"/>
              <a:cs typeface="DM Sans Medium"/>
              <a:sym typeface="DM Sans Medium"/>
            </a:endParaRPr>
          </a:p>
        </p:txBody>
      </p:sp>
      <p:grpSp>
        <p:nvGrpSpPr>
          <p:cNvPr id="2817" name="Google Shape;2817;p106"/>
          <p:cNvGrpSpPr/>
          <p:nvPr/>
        </p:nvGrpSpPr>
        <p:grpSpPr>
          <a:xfrm>
            <a:off x="5420958" y="3147854"/>
            <a:ext cx="260610" cy="260610"/>
            <a:chOff x="5866775" y="4030465"/>
            <a:chExt cx="372300" cy="372300"/>
          </a:xfrm>
        </p:grpSpPr>
        <p:sp>
          <p:nvSpPr>
            <p:cNvPr id="2818" name="Google Shape;2818;p106"/>
            <p:cNvSpPr/>
            <p:nvPr/>
          </p:nvSpPr>
          <p:spPr>
            <a:xfrm>
              <a:off x="5866775" y="4030465"/>
              <a:ext cx="372300" cy="372300"/>
            </a:xfrm>
            <a:prstGeom prst="ellipse">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rgbClr val="FFAB00"/>
                </a:solidFill>
              </a:endParaRPr>
            </a:p>
          </p:txBody>
        </p:sp>
        <p:pic>
          <p:nvPicPr>
            <p:cNvPr id="2819" name="Google Shape;2819;p106"/>
            <p:cNvPicPr preferRelativeResize="0"/>
            <p:nvPr/>
          </p:nvPicPr>
          <p:blipFill rotWithShape="1">
            <a:blip r:embed="rId3">
              <a:alphaModFix/>
            </a:blip>
            <a:srcRect b="0" l="0" r="0" t="0"/>
            <a:stretch/>
          </p:blipFill>
          <p:spPr>
            <a:xfrm>
              <a:off x="5922888" y="4070827"/>
              <a:ext cx="260075" cy="260046"/>
            </a:xfrm>
            <a:prstGeom prst="rect">
              <a:avLst/>
            </a:prstGeom>
            <a:noFill/>
            <a:ln>
              <a:noFill/>
            </a:ln>
          </p:spPr>
        </p:pic>
      </p:grpSp>
      <p:sp>
        <p:nvSpPr>
          <p:cNvPr id="2820" name="Google Shape;2820;p106"/>
          <p:cNvSpPr txBox="1"/>
          <p:nvPr/>
        </p:nvSpPr>
        <p:spPr>
          <a:xfrm>
            <a:off x="7868525" y="2358575"/>
            <a:ext cx="1970700" cy="73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accent2"/>
                </a:solidFill>
                <a:latin typeface="DM Sans Medium"/>
                <a:ea typeface="DM Sans Medium"/>
                <a:cs typeface="DM Sans Medium"/>
                <a:sym typeface="DM Sans Medium"/>
              </a:rPr>
              <a:t>User access controlled by Workspace object permissions</a:t>
            </a:r>
            <a:endParaRPr i="1" sz="1200">
              <a:solidFill>
                <a:schemeClr val="accent2"/>
              </a:solidFill>
              <a:latin typeface="DM Sans Medium"/>
              <a:ea typeface="DM Sans Medium"/>
              <a:cs typeface="DM Sans Medium"/>
              <a:sym typeface="DM Sans Medium"/>
            </a:endParaRPr>
          </a:p>
        </p:txBody>
      </p:sp>
      <p:sp>
        <p:nvSpPr>
          <p:cNvPr id="2821" name="Google Shape;2821;p106"/>
          <p:cNvSpPr txBox="1"/>
          <p:nvPr/>
        </p:nvSpPr>
        <p:spPr>
          <a:xfrm>
            <a:off x="7868525" y="4399375"/>
            <a:ext cx="19707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dk2"/>
                </a:solidFill>
                <a:latin typeface="DM Sans Medium"/>
                <a:ea typeface="DM Sans Medium"/>
                <a:cs typeface="DM Sans Medium"/>
                <a:sym typeface="DM Sans Medium"/>
              </a:rPr>
              <a:t>Unsecured !</a:t>
            </a:r>
            <a:endParaRPr i="1" sz="1200">
              <a:solidFill>
                <a:schemeClr val="dk2"/>
              </a:solidFill>
              <a:latin typeface="DM Sans Medium"/>
              <a:ea typeface="DM Sans Medium"/>
              <a:cs typeface="DM Sans Medium"/>
              <a:sym typeface="DM Sans Medium"/>
            </a:endParaRPr>
          </a:p>
        </p:txBody>
      </p:sp>
      <p:grpSp>
        <p:nvGrpSpPr>
          <p:cNvPr id="2822" name="Google Shape;2822;p106"/>
          <p:cNvGrpSpPr/>
          <p:nvPr/>
        </p:nvGrpSpPr>
        <p:grpSpPr>
          <a:xfrm>
            <a:off x="5420868" y="3728960"/>
            <a:ext cx="260700" cy="260700"/>
            <a:chOff x="7310018" y="3819579"/>
            <a:chExt cx="260700" cy="260700"/>
          </a:xfrm>
        </p:grpSpPr>
        <p:sp>
          <p:nvSpPr>
            <p:cNvPr id="2823" name="Google Shape;2823;p106"/>
            <p:cNvSpPr/>
            <p:nvPr/>
          </p:nvSpPr>
          <p:spPr>
            <a:xfrm>
              <a:off x="7310018" y="3819579"/>
              <a:ext cx="260700" cy="2607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rgbClr val="FFAB00"/>
                </a:solidFill>
              </a:endParaRPr>
            </a:p>
          </p:txBody>
        </p:sp>
        <p:sp>
          <p:nvSpPr>
            <p:cNvPr id="2824" name="Google Shape;2824;p106"/>
            <p:cNvSpPr/>
            <p:nvPr/>
          </p:nvSpPr>
          <p:spPr>
            <a:xfrm>
              <a:off x="7369327" y="3860409"/>
              <a:ext cx="134190" cy="171450"/>
            </a:xfrm>
            <a:prstGeom prst="lightningBol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5" name="Google Shape;2825;p106"/>
          <p:cNvGrpSpPr/>
          <p:nvPr/>
        </p:nvGrpSpPr>
        <p:grpSpPr>
          <a:xfrm>
            <a:off x="5420868" y="4307328"/>
            <a:ext cx="260700" cy="260700"/>
            <a:chOff x="7310018" y="3819579"/>
            <a:chExt cx="260700" cy="260700"/>
          </a:xfrm>
        </p:grpSpPr>
        <p:sp>
          <p:nvSpPr>
            <p:cNvPr id="2826" name="Google Shape;2826;p106"/>
            <p:cNvSpPr/>
            <p:nvPr/>
          </p:nvSpPr>
          <p:spPr>
            <a:xfrm>
              <a:off x="7310018" y="3819579"/>
              <a:ext cx="260700" cy="2607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rgbClr val="FFAB00"/>
                </a:solidFill>
              </a:endParaRPr>
            </a:p>
          </p:txBody>
        </p:sp>
        <p:sp>
          <p:nvSpPr>
            <p:cNvPr id="2827" name="Google Shape;2827;p106"/>
            <p:cNvSpPr/>
            <p:nvPr/>
          </p:nvSpPr>
          <p:spPr>
            <a:xfrm>
              <a:off x="7369327" y="3860409"/>
              <a:ext cx="134190" cy="171450"/>
            </a:xfrm>
            <a:prstGeom prst="lightningBol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8" name="Google Shape;2828;p106"/>
          <p:cNvSpPr txBox="1"/>
          <p:nvPr/>
        </p:nvSpPr>
        <p:spPr>
          <a:xfrm>
            <a:off x="7868525" y="4957916"/>
            <a:ext cx="1970700" cy="11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dk2"/>
                </a:solidFill>
                <a:latin typeface="DM Sans Medium"/>
                <a:ea typeface="DM Sans Medium"/>
                <a:cs typeface="DM Sans Medium"/>
                <a:sym typeface="DM Sans Medium"/>
              </a:rPr>
              <a:t>Mounts:</a:t>
            </a:r>
            <a:br>
              <a:rPr i="1" lang="en" sz="1200">
                <a:solidFill>
                  <a:schemeClr val="dk2"/>
                </a:solidFill>
                <a:latin typeface="DM Sans Medium"/>
                <a:ea typeface="DM Sans Medium"/>
                <a:cs typeface="DM Sans Medium"/>
                <a:sym typeface="DM Sans Medium"/>
              </a:rPr>
            </a:br>
            <a:r>
              <a:rPr i="1" lang="en" sz="1200">
                <a:solidFill>
                  <a:schemeClr val="dk2"/>
                </a:solidFill>
                <a:latin typeface="DM Sans Medium"/>
                <a:ea typeface="DM Sans Medium"/>
                <a:cs typeface="DM Sans Medium"/>
                <a:sym typeface="DM Sans Medium"/>
              </a:rPr>
              <a:t>Access control for each user via the IAM policy or Service Principal used for mounting</a:t>
            </a:r>
            <a:endParaRPr i="1" sz="1200">
              <a:solidFill>
                <a:schemeClr val="dk2"/>
              </a:solidFill>
              <a:latin typeface="DM Sans Medium"/>
              <a:ea typeface="DM Sans Medium"/>
              <a:cs typeface="DM Sans Medium"/>
              <a:sym typeface="DM Sans Medium"/>
            </a:endParaRPr>
          </a:p>
        </p:txBody>
      </p:sp>
      <p:sp>
        <p:nvSpPr>
          <p:cNvPr id="2829" name="Google Shape;2829;p106"/>
          <p:cNvSpPr/>
          <p:nvPr/>
        </p:nvSpPr>
        <p:spPr>
          <a:xfrm>
            <a:off x="2772125" y="1571150"/>
            <a:ext cx="2262600" cy="496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Abstraction of a distributed file system</a:t>
            </a:r>
            <a:endParaRPr>
              <a:latin typeface="DM Sans Medium"/>
              <a:ea typeface="DM Sans Medium"/>
              <a:cs typeface="DM Sans Medium"/>
              <a:sym typeface="DM Sans Medium"/>
            </a:endParaRPr>
          </a:p>
        </p:txBody>
      </p:sp>
      <p:sp>
        <p:nvSpPr>
          <p:cNvPr id="2830" name="Google Shape;2830;p106"/>
          <p:cNvSpPr/>
          <p:nvPr/>
        </p:nvSpPr>
        <p:spPr>
          <a:xfrm>
            <a:off x="761800" y="1571150"/>
            <a:ext cx="1764900" cy="496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Distributed Clients</a:t>
            </a:r>
            <a:endParaRPr>
              <a:latin typeface="DM Sans Medium"/>
              <a:ea typeface="DM Sans Medium"/>
              <a:cs typeface="DM Sans Medium"/>
              <a:sym typeface="DM Sans Medium"/>
            </a:endParaRPr>
          </a:p>
        </p:txBody>
      </p:sp>
      <p:sp>
        <p:nvSpPr>
          <p:cNvPr id="2831" name="Google Shape;2831;p106"/>
          <p:cNvSpPr/>
          <p:nvPr/>
        </p:nvSpPr>
        <p:spPr>
          <a:xfrm>
            <a:off x="6025525" y="1571150"/>
            <a:ext cx="1764900" cy="496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Medium"/>
                <a:ea typeface="DM Sans Medium"/>
                <a:cs typeface="DM Sans Medium"/>
                <a:sym typeface="DM Sans Medium"/>
              </a:rPr>
              <a:t>File systems</a:t>
            </a:r>
            <a:endParaRPr>
              <a:latin typeface="DM Sans Medium"/>
              <a:ea typeface="DM Sans Medium"/>
              <a:cs typeface="DM Sans Medium"/>
              <a:sym typeface="DM Sans Medium"/>
            </a:endParaRPr>
          </a:p>
        </p:txBody>
      </p:sp>
      <p:sp>
        <p:nvSpPr>
          <p:cNvPr id="2832" name="Google Shape;2832;p106"/>
          <p:cNvSpPr/>
          <p:nvPr/>
        </p:nvSpPr>
        <p:spPr>
          <a:xfrm>
            <a:off x="9959475" y="4195975"/>
            <a:ext cx="172500" cy="17106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06"/>
          <p:cNvSpPr txBox="1"/>
          <p:nvPr/>
        </p:nvSpPr>
        <p:spPr>
          <a:xfrm>
            <a:off x="10147425" y="4589575"/>
            <a:ext cx="1568400" cy="92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600">
                <a:solidFill>
                  <a:schemeClr val="dk2"/>
                </a:solidFill>
                <a:latin typeface="DM Sans Medium"/>
                <a:ea typeface="DM Sans Medium"/>
                <a:cs typeface="DM Sans Medium"/>
                <a:sym typeface="DM Sans Medium"/>
              </a:rPr>
              <a:t>Do not use for production data!</a:t>
            </a:r>
            <a:endParaRPr i="1" sz="1600">
              <a:solidFill>
                <a:schemeClr val="dk2"/>
              </a:solidFill>
              <a:latin typeface="DM Sans Medium"/>
              <a:ea typeface="DM Sans Medium"/>
              <a:cs typeface="DM Sans Medium"/>
              <a:sym typeface="DM Sans Medium"/>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7" name="Shape 2837"/>
        <p:cNvGrpSpPr/>
        <p:nvPr/>
      </p:nvGrpSpPr>
      <p:grpSpPr>
        <a:xfrm>
          <a:off x="0" y="0"/>
          <a:ext cx="0" cy="0"/>
          <a:chOff x="0" y="0"/>
          <a:chExt cx="0" cy="0"/>
        </a:xfrm>
      </p:grpSpPr>
      <p:sp>
        <p:nvSpPr>
          <p:cNvPr id="2838" name="Google Shape;2838;p107"/>
          <p:cNvSpPr/>
          <p:nvPr/>
        </p:nvSpPr>
        <p:spPr>
          <a:xfrm>
            <a:off x="7589875" y="844775"/>
            <a:ext cx="2205900" cy="2584200"/>
          </a:xfrm>
          <a:prstGeom prst="roundRect">
            <a:avLst>
              <a:gd fmla="val 5449" name="adj"/>
            </a:avLst>
          </a:prstGeom>
          <a:solidFill>
            <a:srgbClr val="FFFFFF"/>
          </a:solidFill>
          <a:ln cap="flat" cmpd="sng" w="9525">
            <a:solidFill>
              <a:schemeClr val="dk2"/>
            </a:solidFill>
            <a:prstDash val="solid"/>
            <a:round/>
            <a:headEnd len="sm" w="sm" type="none"/>
            <a:tailEnd len="sm" w="sm" type="none"/>
          </a:ln>
        </p:spPr>
        <p:txBody>
          <a:bodyPr anchorCtr="0" anchor="t" bIns="45700" lIns="91425" spcFirstLastPara="1" rIns="91425" wrap="square" tIns="9142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   Databricks </a:t>
            </a:r>
            <a:br>
              <a:rPr lang="en">
                <a:solidFill>
                  <a:schemeClr val="dk2"/>
                </a:solidFill>
                <a:latin typeface="DM Sans Medium"/>
                <a:ea typeface="DM Sans Medium"/>
                <a:cs typeface="DM Sans Medium"/>
                <a:sym typeface="DM Sans Medium"/>
              </a:rPr>
            </a:br>
            <a:r>
              <a:rPr lang="en">
                <a:solidFill>
                  <a:schemeClr val="dk2"/>
                </a:solidFill>
                <a:latin typeface="DM Sans Medium"/>
                <a:ea typeface="DM Sans Medium"/>
                <a:cs typeface="DM Sans Medium"/>
                <a:sym typeface="DM Sans Medium"/>
              </a:rPr>
              <a:t>   Control Plane</a:t>
            </a:r>
            <a:endParaRPr>
              <a:solidFill>
                <a:schemeClr val="dk2"/>
              </a:solidFill>
              <a:latin typeface="DM Sans Medium"/>
              <a:ea typeface="DM Sans Medium"/>
              <a:cs typeface="DM Sans Medium"/>
              <a:sym typeface="DM Sans Medium"/>
            </a:endParaRPr>
          </a:p>
        </p:txBody>
      </p:sp>
      <p:sp>
        <p:nvSpPr>
          <p:cNvPr id="2839" name="Google Shape;2839;p107"/>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Filesystems</a:t>
            </a:r>
            <a:r>
              <a:rPr lang="en" sz="3600"/>
              <a:t> in Databricks</a:t>
            </a:r>
            <a:endParaRPr sz="3600"/>
          </a:p>
        </p:txBody>
      </p:sp>
      <p:sp>
        <p:nvSpPr>
          <p:cNvPr id="2840" name="Google Shape;2840;p10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pic>
        <p:nvPicPr>
          <p:cNvPr id="2841" name="Google Shape;2841;p107"/>
          <p:cNvPicPr preferRelativeResize="0"/>
          <p:nvPr/>
        </p:nvPicPr>
        <p:blipFill rotWithShape="1">
          <a:blip r:embed="rId3">
            <a:alphaModFix/>
          </a:blip>
          <a:srcRect b="0" l="0" r="82955" t="0"/>
          <a:stretch/>
        </p:blipFill>
        <p:spPr>
          <a:xfrm>
            <a:off x="7735500" y="1013066"/>
            <a:ext cx="324300" cy="299466"/>
          </a:xfrm>
          <a:prstGeom prst="rect">
            <a:avLst/>
          </a:prstGeom>
          <a:noFill/>
          <a:ln>
            <a:noFill/>
          </a:ln>
        </p:spPr>
      </p:pic>
      <p:cxnSp>
        <p:nvCxnSpPr>
          <p:cNvPr id="2842" name="Google Shape;2842;p107"/>
          <p:cNvCxnSpPr>
            <a:stCxn id="2843" idx="3"/>
            <a:endCxn id="2844" idx="1"/>
          </p:cNvCxnSpPr>
          <p:nvPr/>
        </p:nvCxnSpPr>
        <p:spPr>
          <a:xfrm>
            <a:off x="8834531" y="6721350"/>
            <a:ext cx="226800" cy="0"/>
          </a:xfrm>
          <a:prstGeom prst="straightConnector1">
            <a:avLst/>
          </a:prstGeom>
          <a:noFill/>
          <a:ln cap="flat" cmpd="sng" w="9525">
            <a:solidFill>
              <a:schemeClr val="accent1"/>
            </a:solidFill>
            <a:prstDash val="solid"/>
            <a:round/>
            <a:headEnd len="med" w="med" type="oval"/>
            <a:tailEnd len="med" w="med" type="triangle"/>
          </a:ln>
        </p:spPr>
      </p:cxnSp>
      <p:sp>
        <p:nvSpPr>
          <p:cNvPr id="2843" name="Google Shape;2843;p107"/>
          <p:cNvSpPr txBox="1"/>
          <p:nvPr/>
        </p:nvSpPr>
        <p:spPr>
          <a:xfrm>
            <a:off x="8251331" y="6567450"/>
            <a:ext cx="583200" cy="307800"/>
          </a:xfrm>
          <a:prstGeom prst="rect">
            <a:avLst/>
          </a:prstGeom>
          <a:noFill/>
          <a:ln>
            <a:noFill/>
          </a:ln>
        </p:spPr>
        <p:txBody>
          <a:bodyPr anchorCtr="0" anchor="t" bIns="91425" lIns="18275" spcFirstLastPara="1" rIns="18275" wrap="square" tIns="91425">
            <a:noAutofit/>
          </a:bodyPr>
          <a:lstStyle/>
          <a:p>
            <a:pPr indent="0" lvl="0" marL="0" rtl="0" algn="ctr">
              <a:spcBef>
                <a:spcPts val="0"/>
              </a:spcBef>
              <a:spcAft>
                <a:spcPts val="0"/>
              </a:spcAft>
              <a:buNone/>
            </a:pPr>
            <a:r>
              <a:rPr i="1" lang="en" sz="800">
                <a:latin typeface="DM Sans"/>
                <a:ea typeface="DM Sans"/>
                <a:cs typeface="DM Sans"/>
                <a:sym typeface="DM Sans"/>
              </a:rPr>
              <a:t>reference</a:t>
            </a:r>
            <a:endParaRPr i="1" sz="800">
              <a:latin typeface="DM Sans"/>
              <a:ea typeface="DM Sans"/>
              <a:cs typeface="DM Sans"/>
              <a:sym typeface="DM Sans"/>
            </a:endParaRPr>
          </a:p>
        </p:txBody>
      </p:sp>
      <p:sp>
        <p:nvSpPr>
          <p:cNvPr id="2844" name="Google Shape;2844;p107"/>
          <p:cNvSpPr txBox="1"/>
          <p:nvPr/>
        </p:nvSpPr>
        <p:spPr>
          <a:xfrm>
            <a:off x="9061338" y="6505800"/>
            <a:ext cx="528600" cy="431100"/>
          </a:xfrm>
          <a:prstGeom prst="rect">
            <a:avLst/>
          </a:prstGeom>
          <a:noFill/>
          <a:ln>
            <a:noFill/>
          </a:ln>
        </p:spPr>
        <p:txBody>
          <a:bodyPr anchorCtr="0" anchor="t" bIns="91425" lIns="18275" spcFirstLastPara="1" rIns="18275" wrap="square" tIns="91425">
            <a:noAutofit/>
          </a:bodyPr>
          <a:lstStyle/>
          <a:p>
            <a:pPr indent="0" lvl="0" marL="0" rtl="0" algn="ctr">
              <a:spcBef>
                <a:spcPts val="0"/>
              </a:spcBef>
              <a:spcAft>
                <a:spcPts val="0"/>
              </a:spcAft>
              <a:buNone/>
            </a:pPr>
            <a:r>
              <a:rPr i="1" lang="en" sz="800">
                <a:latin typeface="DM Sans"/>
                <a:ea typeface="DM Sans"/>
                <a:cs typeface="DM Sans"/>
                <a:sym typeface="DM Sans"/>
              </a:rPr>
              <a:t>target filesystem</a:t>
            </a:r>
            <a:endParaRPr i="1" sz="800">
              <a:latin typeface="DM Sans"/>
              <a:ea typeface="DM Sans"/>
              <a:cs typeface="DM Sans"/>
              <a:sym typeface="DM Sans"/>
            </a:endParaRPr>
          </a:p>
        </p:txBody>
      </p:sp>
      <p:sp>
        <p:nvSpPr>
          <p:cNvPr id="2845" name="Google Shape;2845;p107"/>
          <p:cNvSpPr txBox="1"/>
          <p:nvPr/>
        </p:nvSpPr>
        <p:spPr>
          <a:xfrm>
            <a:off x="8222763" y="6344278"/>
            <a:ext cx="14856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DM Sans Medium"/>
                <a:ea typeface="DM Sans Medium"/>
                <a:cs typeface="DM Sans Medium"/>
                <a:sym typeface="DM Sans Medium"/>
              </a:rPr>
              <a:t>Legend</a:t>
            </a:r>
            <a:endParaRPr sz="1000">
              <a:latin typeface="DM Sans Medium"/>
              <a:ea typeface="DM Sans Medium"/>
              <a:cs typeface="DM Sans Medium"/>
              <a:sym typeface="DM Sans Medium"/>
            </a:endParaRPr>
          </a:p>
        </p:txBody>
      </p:sp>
      <p:sp>
        <p:nvSpPr>
          <p:cNvPr id="2846" name="Google Shape;2846;p107"/>
          <p:cNvSpPr/>
          <p:nvPr/>
        </p:nvSpPr>
        <p:spPr>
          <a:xfrm>
            <a:off x="253700" y="2030950"/>
            <a:ext cx="3336300" cy="4376400"/>
          </a:xfrm>
          <a:prstGeom prst="rect">
            <a:avLst/>
          </a:prstGeom>
          <a:solidFill>
            <a:schemeClr val="lt1"/>
          </a:solidFill>
          <a:ln cap="flat" cmpd="sng" w="9525">
            <a:solidFill>
              <a:srgbClr val="D1D1D1"/>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600"/>
              </a:spcAft>
              <a:buNone/>
            </a:pPr>
            <a:r>
              <a:t/>
            </a:r>
            <a:endParaRPr sz="800">
              <a:solidFill>
                <a:schemeClr val="accent6"/>
              </a:solidFill>
              <a:latin typeface="Roboto Mono"/>
              <a:ea typeface="Roboto Mono"/>
              <a:cs typeface="Roboto Mono"/>
              <a:sym typeface="Roboto Mono"/>
            </a:endParaRPr>
          </a:p>
        </p:txBody>
      </p:sp>
      <p:sp>
        <p:nvSpPr>
          <p:cNvPr id="2847" name="Google Shape;2847;p107"/>
          <p:cNvSpPr/>
          <p:nvPr/>
        </p:nvSpPr>
        <p:spPr>
          <a:xfrm>
            <a:off x="3937671" y="3655675"/>
            <a:ext cx="1080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07"/>
          <p:cNvSpPr/>
          <p:nvPr/>
        </p:nvSpPr>
        <p:spPr>
          <a:xfrm>
            <a:off x="5884575" y="4752564"/>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07"/>
          <p:cNvSpPr/>
          <p:nvPr/>
        </p:nvSpPr>
        <p:spPr>
          <a:xfrm>
            <a:off x="3900735" y="4011455"/>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0" name="Google Shape;2850;p107"/>
          <p:cNvGrpSpPr/>
          <p:nvPr/>
        </p:nvGrpSpPr>
        <p:grpSpPr>
          <a:xfrm>
            <a:off x="279624" y="844775"/>
            <a:ext cx="11894436" cy="2165225"/>
            <a:chOff x="279624" y="844775"/>
            <a:chExt cx="11894436" cy="2165225"/>
          </a:xfrm>
        </p:grpSpPr>
        <p:sp>
          <p:nvSpPr>
            <p:cNvPr id="2851" name="Google Shape;2851;p107"/>
            <p:cNvSpPr txBox="1"/>
            <p:nvPr/>
          </p:nvSpPr>
          <p:spPr>
            <a:xfrm>
              <a:off x="279624" y="2000100"/>
              <a:ext cx="32604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600"/>
                </a:spcAft>
                <a:buNone/>
              </a:pPr>
              <a:r>
                <a:rPr lang="en" sz="800">
                  <a:solidFill>
                    <a:schemeClr val="accent1"/>
                  </a:solidFill>
                  <a:latin typeface="Roboto Mono"/>
                  <a:ea typeface="Roboto Mono"/>
                  <a:cs typeface="Roboto Mono"/>
                  <a:sym typeface="Roboto Mono"/>
                </a:rPr>
                <a:t>%run </a:t>
              </a:r>
              <a:r>
                <a:rPr lang="en" sz="800">
                  <a:solidFill>
                    <a:schemeClr val="accent1"/>
                  </a:solidFill>
                  <a:latin typeface="Roboto Mono Medium"/>
                  <a:ea typeface="Roboto Mono Medium"/>
                  <a:cs typeface="Roboto Mono Medium"/>
                  <a:sym typeface="Roboto Mono Medium"/>
                </a:rPr>
                <a:t>/Users</a:t>
              </a:r>
              <a:r>
                <a:rPr lang="en" sz="800">
                  <a:solidFill>
                    <a:schemeClr val="accent1"/>
                  </a:solidFill>
                  <a:latin typeface="Roboto Mono"/>
                  <a:ea typeface="Roboto Mono"/>
                  <a:cs typeface="Roboto Mono"/>
                  <a:sym typeface="Roboto Mono"/>
                </a:rPr>
                <a:t>/&lt;username&gt;/step_1</a:t>
              </a:r>
              <a:endParaRPr sz="800">
                <a:solidFill>
                  <a:schemeClr val="accent6"/>
                </a:solidFill>
                <a:latin typeface="Roboto Mono"/>
                <a:ea typeface="Roboto Mono"/>
                <a:cs typeface="Roboto Mono"/>
                <a:sym typeface="Roboto Mono"/>
              </a:endParaRPr>
            </a:p>
          </p:txBody>
        </p:sp>
        <p:pic>
          <p:nvPicPr>
            <p:cNvPr id="2852" name="Google Shape;2852;p107"/>
            <p:cNvPicPr preferRelativeResize="0"/>
            <p:nvPr/>
          </p:nvPicPr>
          <p:blipFill>
            <a:blip r:embed="rId4">
              <a:alphaModFix/>
            </a:blip>
            <a:stretch>
              <a:fillRect/>
            </a:stretch>
          </p:blipFill>
          <p:spPr>
            <a:xfrm>
              <a:off x="668704" y="844775"/>
              <a:ext cx="2913667" cy="1027762"/>
            </a:xfrm>
            <a:prstGeom prst="rect">
              <a:avLst/>
            </a:prstGeom>
            <a:noFill/>
            <a:ln cap="flat" cmpd="sng" w="9525">
              <a:solidFill>
                <a:srgbClr val="D1D1D1"/>
              </a:solidFill>
              <a:prstDash val="solid"/>
              <a:round/>
              <a:headEnd len="sm" w="sm" type="none"/>
              <a:tailEnd len="sm" w="sm" type="none"/>
            </a:ln>
            <a:effectLst>
              <a:outerShdw blurRad="57150" rotWithShape="0" algn="bl" dir="5400000" dist="19050">
                <a:srgbClr val="BFBFBF">
                  <a:alpha val="50000"/>
                </a:srgbClr>
              </a:outerShdw>
            </a:effectLst>
          </p:spPr>
        </p:pic>
        <p:sp>
          <p:nvSpPr>
            <p:cNvPr id="2853" name="Google Shape;2853;p107"/>
            <p:cNvSpPr txBox="1"/>
            <p:nvPr/>
          </p:nvSpPr>
          <p:spPr>
            <a:xfrm>
              <a:off x="2482279" y="1078200"/>
              <a:ext cx="1101000" cy="1692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300"/>
                </a:spcAft>
                <a:buNone/>
              </a:pPr>
              <a:r>
                <a:rPr lang="en" sz="1100">
                  <a:solidFill>
                    <a:schemeClr val="accent1"/>
                  </a:solidFill>
                  <a:latin typeface="DM Sans Medium"/>
                  <a:ea typeface="DM Sans Medium"/>
                  <a:cs typeface="DM Sans Medium"/>
                  <a:sym typeface="DM Sans Medium"/>
                </a:rPr>
                <a:t>&lt;username&gt;</a:t>
              </a:r>
              <a:endParaRPr sz="1100">
                <a:solidFill>
                  <a:schemeClr val="accent1"/>
                </a:solidFill>
                <a:latin typeface="DM Sans Medium"/>
                <a:ea typeface="DM Sans Medium"/>
                <a:cs typeface="DM Sans Medium"/>
                <a:sym typeface="DM Sans Medium"/>
              </a:endParaRPr>
            </a:p>
          </p:txBody>
        </p:sp>
        <p:sp>
          <p:nvSpPr>
            <p:cNvPr id="2854" name="Google Shape;2854;p107"/>
            <p:cNvSpPr txBox="1"/>
            <p:nvPr/>
          </p:nvSpPr>
          <p:spPr>
            <a:xfrm>
              <a:off x="7838334" y="2137576"/>
              <a:ext cx="16209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300"/>
                </a:spcAft>
                <a:buNone/>
              </a:pPr>
              <a:r>
                <a:rPr lang="en" sz="1200">
                  <a:solidFill>
                    <a:schemeClr val="accent1"/>
                  </a:solidFill>
                  <a:latin typeface="DM Sans Medium"/>
                  <a:ea typeface="DM Sans Medium"/>
                  <a:cs typeface="DM Sans Medium"/>
                  <a:sym typeface="DM Sans Medium"/>
                </a:rPr>
                <a:t>Operational DB</a:t>
              </a:r>
              <a:endParaRPr sz="1200">
                <a:solidFill>
                  <a:schemeClr val="accent1"/>
                </a:solidFill>
                <a:latin typeface="DM Sans Medium"/>
                <a:ea typeface="DM Sans Medium"/>
                <a:cs typeface="DM Sans Medium"/>
                <a:sym typeface="DM Sans Medium"/>
              </a:endParaRPr>
            </a:p>
          </p:txBody>
        </p:sp>
        <p:sp>
          <p:nvSpPr>
            <p:cNvPr id="2855" name="Google Shape;2855;p107"/>
            <p:cNvSpPr/>
            <p:nvPr/>
          </p:nvSpPr>
          <p:spPr>
            <a:xfrm>
              <a:off x="8330821" y="1673643"/>
              <a:ext cx="666594" cy="524709"/>
            </a:xfrm>
            <a:prstGeom prst="flowChartMagneticDisk">
              <a:avLst/>
            </a:prstGeom>
            <a:solidFill>
              <a:srgbClr val="FFFFF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107"/>
            <p:cNvSpPr/>
            <p:nvPr/>
          </p:nvSpPr>
          <p:spPr>
            <a:xfrm>
              <a:off x="10737100" y="2066335"/>
              <a:ext cx="831450" cy="583500"/>
            </a:xfrm>
            <a:prstGeom prst="flowChartMagneticDisk">
              <a:avLst/>
            </a:prstGeom>
            <a:solidFill>
              <a:srgbClr val="FFFFFF"/>
            </a:solidFill>
            <a:ln cap="flat" cmpd="sng" w="19050">
              <a:solidFill>
                <a:schemeClr val="dk1"/>
              </a:solidFill>
              <a:prstDash val="solid"/>
              <a:round/>
              <a:headEnd len="sm" w="sm" type="none"/>
              <a:tailEnd len="sm" w="sm" type="none"/>
            </a:ln>
          </p:spPr>
          <p:txBody>
            <a:bodyPr anchorCtr="0" anchor="ctr" bIns="91425" lIns="0" spcFirstLastPara="1" rIns="0" wrap="square" tIns="182875">
              <a:noAutofit/>
            </a:bodyPr>
            <a:lstStyle/>
            <a:p>
              <a:pPr indent="0" lvl="0" marL="0" rtl="0" algn="ctr">
                <a:spcBef>
                  <a:spcPts val="0"/>
                </a:spcBef>
                <a:spcAft>
                  <a:spcPts val="0"/>
                </a:spcAft>
                <a:buNone/>
              </a:pPr>
              <a:r>
                <a:t/>
              </a:r>
              <a:endParaRPr sz="1200">
                <a:solidFill>
                  <a:schemeClr val="dk1"/>
                </a:solidFill>
                <a:latin typeface="DM Sans"/>
                <a:ea typeface="DM Sans"/>
                <a:cs typeface="DM Sans"/>
                <a:sym typeface="DM Sans"/>
              </a:endParaRPr>
            </a:p>
          </p:txBody>
        </p:sp>
        <p:cxnSp>
          <p:nvCxnSpPr>
            <p:cNvPr id="2857" name="Google Shape;2857;p107"/>
            <p:cNvCxnSpPr>
              <a:stCxn id="2856" idx="2"/>
              <a:endCxn id="2855" idx="4"/>
            </p:cNvCxnSpPr>
            <p:nvPr/>
          </p:nvCxnSpPr>
          <p:spPr>
            <a:xfrm rot="10800000">
              <a:off x="8997400" y="1935985"/>
              <a:ext cx="1739700" cy="422100"/>
            </a:xfrm>
            <a:prstGeom prst="bentConnector3">
              <a:avLst>
                <a:gd fmla="val 38489" name="adj1"/>
              </a:avLst>
            </a:prstGeom>
            <a:noFill/>
            <a:ln cap="flat" cmpd="sng" w="9525">
              <a:solidFill>
                <a:schemeClr val="accent1"/>
              </a:solidFill>
              <a:prstDash val="solid"/>
              <a:round/>
              <a:headEnd len="sm" w="sm" type="triangle"/>
              <a:tailEnd len="sm" w="sm" type="triangle"/>
            </a:ln>
          </p:spPr>
        </p:cxnSp>
        <p:sp>
          <p:nvSpPr>
            <p:cNvPr id="2858" name="Google Shape;2858;p107"/>
            <p:cNvSpPr txBox="1"/>
            <p:nvPr/>
          </p:nvSpPr>
          <p:spPr>
            <a:xfrm>
              <a:off x="8983609" y="1532005"/>
              <a:ext cx="666600" cy="4311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i="1" lang="en" sz="800">
                  <a:latin typeface="DM Sans"/>
                  <a:ea typeface="DM Sans"/>
                  <a:cs typeface="DM Sans"/>
                  <a:sym typeface="DM Sans"/>
                </a:rPr>
                <a:t>single notebook</a:t>
              </a:r>
              <a:endParaRPr i="1" sz="800">
                <a:latin typeface="DM Sans"/>
                <a:ea typeface="DM Sans"/>
                <a:cs typeface="DM Sans"/>
                <a:sym typeface="DM Sans"/>
              </a:endParaRPr>
            </a:p>
          </p:txBody>
        </p:sp>
        <p:sp>
          <p:nvSpPr>
            <p:cNvPr id="2859" name="Google Shape;2859;p107"/>
            <p:cNvSpPr/>
            <p:nvPr/>
          </p:nvSpPr>
          <p:spPr>
            <a:xfrm>
              <a:off x="3851850" y="1302700"/>
              <a:ext cx="3260400" cy="1037700"/>
            </a:xfrm>
            <a:prstGeom prst="roundRect">
              <a:avLst>
                <a:gd fmla="val 8616" name="adj"/>
              </a:avLst>
            </a:prstGeom>
            <a:solidFill>
              <a:srgbClr val="FFFFFF"/>
            </a:solidFill>
            <a:ln cap="flat" cmpd="sng" w="9525">
              <a:solidFill>
                <a:srgbClr val="7F7F7F"/>
              </a:solidFill>
              <a:prstDash val="solid"/>
              <a:round/>
              <a:headEnd len="sm" w="sm" type="none"/>
              <a:tailEnd len="sm" w="sm" type="none"/>
            </a:ln>
          </p:spPr>
          <p:txBody>
            <a:bodyPr anchorCtr="0" anchor="t" bIns="91425" lIns="91425" spcFirstLastPara="1" rIns="0" wrap="square" tIns="1827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Databricks Notebooks</a:t>
              </a:r>
              <a:r>
                <a:rPr lang="en">
                  <a:solidFill>
                    <a:schemeClr val="accent1"/>
                  </a:solidFill>
                  <a:latin typeface="DM Sans"/>
                  <a:ea typeface="DM Sans"/>
                  <a:cs typeface="DM Sans"/>
                  <a:sym typeface="DM Sans"/>
                </a:rPr>
                <a:t> (%run)</a:t>
              </a:r>
              <a:endParaRPr>
                <a:solidFill>
                  <a:schemeClr val="accent1"/>
                </a:solidFill>
                <a:latin typeface="DM Sans"/>
                <a:ea typeface="DM Sans"/>
                <a:cs typeface="DM Sans"/>
                <a:sym typeface="DM Sans"/>
              </a:endParaRPr>
            </a:p>
            <a:p>
              <a:pPr indent="0" lvl="0" marL="0" rtl="0" algn="l">
                <a:spcBef>
                  <a:spcPts val="300"/>
                </a:spcBef>
                <a:spcAft>
                  <a:spcPts val="0"/>
                </a:spcAft>
                <a:buNone/>
              </a:pPr>
              <a:r>
                <a:rPr lang="en" sz="1200">
                  <a:solidFill>
                    <a:schemeClr val="accent1"/>
                  </a:solidFill>
                  <a:latin typeface="DM Sans"/>
                  <a:ea typeface="DM Sans"/>
                  <a:cs typeface="DM Sans"/>
                  <a:sym typeface="DM Sans"/>
                </a:rPr>
                <a:t>/Shared</a:t>
              </a:r>
              <a:endParaRPr sz="1200">
                <a:solidFill>
                  <a:schemeClr val="accent1"/>
                </a:solidFill>
                <a:latin typeface="DM Sans"/>
                <a:ea typeface="DM Sans"/>
                <a:cs typeface="DM Sans"/>
                <a:sym typeface="DM Sans"/>
              </a:endParaRPr>
            </a:p>
            <a:p>
              <a:pPr indent="0" lvl="0" marL="0" rtl="0" algn="l">
                <a:spcBef>
                  <a:spcPts val="0"/>
                </a:spcBef>
                <a:spcAft>
                  <a:spcPts val="0"/>
                </a:spcAft>
                <a:buNone/>
              </a:pPr>
              <a:r>
                <a:rPr lang="en" sz="1200">
                  <a:solidFill>
                    <a:schemeClr val="accent1"/>
                  </a:solidFill>
                  <a:latin typeface="DM Sans"/>
                  <a:ea typeface="DM Sans"/>
                  <a:cs typeface="DM Sans"/>
                  <a:sym typeface="DM Sans"/>
                </a:rPr>
                <a:t>/Users</a:t>
              </a:r>
              <a:br>
                <a:rPr lang="en" sz="1200">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/Users/&lt;user_name&gt;/orders</a:t>
              </a:r>
              <a:endParaRPr sz="1200">
                <a:solidFill>
                  <a:schemeClr val="accent1"/>
                </a:solidFill>
                <a:latin typeface="DM Sans"/>
                <a:ea typeface="DM Sans"/>
                <a:cs typeface="DM Sans"/>
                <a:sym typeface="DM Sans"/>
              </a:endParaRPr>
            </a:p>
          </p:txBody>
        </p:sp>
        <p:cxnSp>
          <p:nvCxnSpPr>
            <p:cNvPr id="2860" name="Google Shape;2860;p107"/>
            <p:cNvCxnSpPr>
              <a:stCxn id="2861" idx="3"/>
              <a:endCxn id="2855" idx="2"/>
            </p:cNvCxnSpPr>
            <p:nvPr/>
          </p:nvCxnSpPr>
          <p:spPr>
            <a:xfrm flipH="1" rot="10800000">
              <a:off x="6212420" y="1936115"/>
              <a:ext cx="2118300" cy="12900"/>
            </a:xfrm>
            <a:prstGeom prst="curvedConnector3">
              <a:avLst>
                <a:gd fmla="val 50002" name="adj1"/>
              </a:avLst>
            </a:prstGeom>
            <a:noFill/>
            <a:ln cap="flat" cmpd="sng" w="9525">
              <a:solidFill>
                <a:schemeClr val="accent1"/>
              </a:solidFill>
              <a:prstDash val="solid"/>
              <a:round/>
              <a:headEnd len="sm" w="sm" type="oval"/>
              <a:tailEnd len="sm" w="sm" type="triangle"/>
            </a:ln>
          </p:spPr>
        </p:cxnSp>
        <p:cxnSp>
          <p:nvCxnSpPr>
            <p:cNvPr id="2862" name="Google Shape;2862;p107"/>
            <p:cNvCxnSpPr>
              <a:endCxn id="2863" idx="3"/>
            </p:cNvCxnSpPr>
            <p:nvPr/>
          </p:nvCxnSpPr>
          <p:spPr>
            <a:xfrm rot="10800000">
              <a:off x="3133475" y="1702775"/>
              <a:ext cx="794700" cy="426300"/>
            </a:xfrm>
            <a:prstGeom prst="curvedConnector3">
              <a:avLst>
                <a:gd fmla="val 50000" name="adj1"/>
              </a:avLst>
            </a:prstGeom>
            <a:noFill/>
            <a:ln cap="flat" cmpd="sng" w="9525">
              <a:solidFill>
                <a:schemeClr val="accent1"/>
              </a:solidFill>
              <a:prstDash val="dash"/>
              <a:round/>
              <a:headEnd len="med" w="med" type="none"/>
              <a:tailEnd len="med" w="med" type="none"/>
            </a:ln>
          </p:spPr>
        </p:cxnSp>
        <p:sp>
          <p:nvSpPr>
            <p:cNvPr id="2863" name="Google Shape;2863;p107"/>
            <p:cNvSpPr/>
            <p:nvPr/>
          </p:nvSpPr>
          <p:spPr>
            <a:xfrm>
              <a:off x="2466875" y="1598975"/>
              <a:ext cx="666600" cy="207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4" name="Google Shape;2864;p107"/>
            <p:cNvPicPr preferRelativeResize="0"/>
            <p:nvPr/>
          </p:nvPicPr>
          <p:blipFill>
            <a:blip r:embed="rId5">
              <a:alphaModFix/>
            </a:blip>
            <a:stretch>
              <a:fillRect/>
            </a:stretch>
          </p:blipFill>
          <p:spPr>
            <a:xfrm>
              <a:off x="11223882" y="2300219"/>
              <a:ext cx="246520" cy="271531"/>
            </a:xfrm>
            <a:prstGeom prst="rect">
              <a:avLst/>
            </a:prstGeom>
            <a:noFill/>
            <a:ln>
              <a:noFill/>
            </a:ln>
          </p:spPr>
        </p:pic>
        <p:pic>
          <p:nvPicPr>
            <p:cNvPr id="2865" name="Google Shape;2865;p107"/>
            <p:cNvPicPr preferRelativeResize="0"/>
            <p:nvPr/>
          </p:nvPicPr>
          <p:blipFill>
            <a:blip r:embed="rId6">
              <a:alphaModFix/>
            </a:blip>
            <a:stretch>
              <a:fillRect/>
            </a:stretch>
          </p:blipFill>
          <p:spPr>
            <a:xfrm>
              <a:off x="10849373" y="2300210"/>
              <a:ext cx="246521" cy="273425"/>
            </a:xfrm>
            <a:prstGeom prst="rect">
              <a:avLst/>
            </a:prstGeom>
            <a:noFill/>
            <a:ln>
              <a:noFill/>
            </a:ln>
          </p:spPr>
        </p:pic>
        <p:sp>
          <p:nvSpPr>
            <p:cNvPr id="2866" name="Google Shape;2866;p107"/>
            <p:cNvSpPr txBox="1"/>
            <p:nvPr/>
          </p:nvSpPr>
          <p:spPr>
            <a:xfrm>
              <a:off x="10191660" y="2640700"/>
              <a:ext cx="19824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B3139"/>
                  </a:solidFill>
                  <a:latin typeface="DM Sans"/>
                  <a:ea typeface="DM Sans"/>
                  <a:cs typeface="DM Sans"/>
                  <a:sym typeface="DM Sans"/>
                </a:rPr>
                <a:t>DevOps, GitHub, ...</a:t>
              </a:r>
              <a:endParaRPr sz="1200">
                <a:solidFill>
                  <a:srgbClr val="1B3139"/>
                </a:solidFill>
                <a:latin typeface="DM Sans"/>
                <a:ea typeface="DM Sans"/>
                <a:cs typeface="DM Sans"/>
                <a:sym typeface="DM Sans"/>
              </a:endParaRPr>
            </a:p>
          </p:txBody>
        </p:sp>
        <p:sp>
          <p:nvSpPr>
            <p:cNvPr id="2867" name="Google Shape;2867;p107"/>
            <p:cNvSpPr/>
            <p:nvPr/>
          </p:nvSpPr>
          <p:spPr>
            <a:xfrm>
              <a:off x="6109456" y="1686675"/>
              <a:ext cx="80400" cy="524700"/>
            </a:xfrm>
            <a:prstGeom prst="rightBrace">
              <a:avLst>
                <a:gd fmla="val 50000" name="adj1"/>
                <a:gd fmla="val 50000"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07"/>
            <p:cNvSpPr/>
            <p:nvPr/>
          </p:nvSpPr>
          <p:spPr>
            <a:xfrm>
              <a:off x="6132020" y="1910015"/>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8" name="Google Shape;2868;p107"/>
          <p:cNvGrpSpPr/>
          <p:nvPr/>
        </p:nvGrpSpPr>
        <p:grpSpPr>
          <a:xfrm>
            <a:off x="279634" y="2453304"/>
            <a:ext cx="10457470" cy="3162951"/>
            <a:chOff x="279634" y="2453304"/>
            <a:chExt cx="10457470" cy="3162951"/>
          </a:xfrm>
        </p:grpSpPr>
        <p:sp>
          <p:nvSpPr>
            <p:cNvPr id="2869" name="Google Shape;2869;p107"/>
            <p:cNvSpPr/>
            <p:nvPr/>
          </p:nvSpPr>
          <p:spPr>
            <a:xfrm>
              <a:off x="3928050" y="2453304"/>
              <a:ext cx="1358100" cy="583500"/>
            </a:xfrm>
            <a:prstGeom prst="rect">
              <a:avLst/>
            </a:prstGeom>
            <a:solidFill>
              <a:srgbClr val="FFFFFF"/>
            </a:solidFill>
            <a:ln cap="flat" cmpd="sng" w="9525">
              <a:solidFill>
                <a:srgbClr val="D1D1D1"/>
              </a:solidFill>
              <a:prstDash val="solid"/>
              <a:round/>
              <a:headEnd len="sm" w="sm" type="none"/>
              <a:tailEnd len="sm" w="sm" type="none"/>
            </a:ln>
            <a:effectLst>
              <a:outerShdw blurRad="57150" rotWithShape="0" algn="bl" dir="5400000" dist="19050">
                <a:srgbClr val="BFBFBF">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870" name="Google Shape;2870;p107"/>
            <p:cNvSpPr/>
            <p:nvPr/>
          </p:nvSpPr>
          <p:spPr>
            <a:xfrm>
              <a:off x="3851850" y="3181200"/>
              <a:ext cx="3260400" cy="1790100"/>
            </a:xfrm>
            <a:prstGeom prst="roundRect">
              <a:avLst>
                <a:gd fmla="val 6127" name="adj"/>
              </a:avLst>
            </a:prstGeom>
            <a:solidFill>
              <a:srgbClr val="FFFFFF"/>
            </a:solidFill>
            <a:ln cap="flat" cmpd="sng" w="9525">
              <a:solidFill>
                <a:srgbClr val="7F7F7F"/>
              </a:solidFill>
              <a:prstDash val="solid"/>
              <a:round/>
              <a:headEnd len="sm" w="sm" type="none"/>
              <a:tailEnd len="sm" w="sm" type="none"/>
            </a:ln>
          </p:spPr>
          <p:txBody>
            <a:bodyPr anchorCtr="0" anchor="t" bIns="91425" lIns="91425" spcFirstLastPara="1" rIns="0" wrap="square" tIns="1827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Driver &amp; worker</a:t>
              </a:r>
              <a:r>
                <a:rPr lang="en">
                  <a:solidFill>
                    <a:schemeClr val="accent1"/>
                  </a:solidFill>
                  <a:latin typeface="DM Sans"/>
                  <a:ea typeface="DM Sans"/>
                  <a:cs typeface="DM Sans"/>
                  <a:sym typeface="DM Sans"/>
                </a:rPr>
                <a:t> (POSIX filesystem)</a:t>
              </a:r>
              <a:endParaRPr>
                <a:solidFill>
                  <a:schemeClr val="accent1"/>
                </a:solidFill>
                <a:latin typeface="DM Sans"/>
                <a:ea typeface="DM Sans"/>
                <a:cs typeface="DM Sans"/>
                <a:sym typeface="DM Sans"/>
              </a:endParaRPr>
            </a:p>
            <a:p>
              <a:pPr indent="0" lvl="0" marL="0" rtl="0" algn="l">
                <a:spcBef>
                  <a:spcPts val="300"/>
                </a:spcBef>
                <a:spcAft>
                  <a:spcPts val="300"/>
                </a:spcAft>
                <a:buNone/>
              </a:pPr>
              <a:r>
                <a:rPr lang="en" sz="1200">
                  <a:solidFill>
                    <a:srgbClr val="7F7F7F"/>
                  </a:solidFill>
                  <a:latin typeface="DM Sans"/>
                  <a:ea typeface="DM Sans"/>
                  <a:cs typeface="DM Sans"/>
                  <a:sym typeface="DM Sans"/>
                </a:rPr>
                <a:t>/</a:t>
              </a:r>
              <a:endParaRPr sz="1200">
                <a:solidFill>
                  <a:schemeClr val="accent1"/>
                </a:solidFill>
                <a:latin typeface="DM Sans"/>
                <a:ea typeface="DM Sans"/>
                <a:cs typeface="DM Sans"/>
                <a:sym typeface="DM Sans"/>
              </a:endParaRPr>
            </a:p>
          </p:txBody>
        </p:sp>
        <p:pic>
          <p:nvPicPr>
            <p:cNvPr id="2871" name="Google Shape;2871;p107"/>
            <p:cNvPicPr preferRelativeResize="0"/>
            <p:nvPr/>
          </p:nvPicPr>
          <p:blipFill rotWithShape="1">
            <a:blip r:embed="rId7">
              <a:alphaModFix/>
            </a:blip>
            <a:srcRect b="50019" l="0" r="70830" t="0"/>
            <a:stretch/>
          </p:blipFill>
          <p:spPr>
            <a:xfrm>
              <a:off x="3931975" y="2474579"/>
              <a:ext cx="666600" cy="369300"/>
            </a:xfrm>
            <a:prstGeom prst="rect">
              <a:avLst/>
            </a:prstGeom>
            <a:noFill/>
            <a:ln>
              <a:noFill/>
            </a:ln>
          </p:spPr>
        </p:pic>
        <p:pic>
          <p:nvPicPr>
            <p:cNvPr id="2872" name="Google Shape;2872;p107"/>
            <p:cNvPicPr preferRelativeResize="0"/>
            <p:nvPr/>
          </p:nvPicPr>
          <p:blipFill rotWithShape="1">
            <a:blip r:embed="rId7">
              <a:alphaModFix/>
            </a:blip>
            <a:srcRect b="0" l="0" r="44830" t="71903"/>
            <a:stretch/>
          </p:blipFill>
          <p:spPr>
            <a:xfrm>
              <a:off x="3931950" y="2807579"/>
              <a:ext cx="1260775" cy="207600"/>
            </a:xfrm>
            <a:prstGeom prst="rect">
              <a:avLst/>
            </a:prstGeom>
            <a:noFill/>
            <a:ln>
              <a:noFill/>
            </a:ln>
          </p:spPr>
        </p:pic>
        <p:sp>
          <p:nvSpPr>
            <p:cNvPr id="2873" name="Google Shape;2873;p107"/>
            <p:cNvSpPr txBox="1"/>
            <p:nvPr/>
          </p:nvSpPr>
          <p:spPr>
            <a:xfrm>
              <a:off x="4413178" y="2650779"/>
              <a:ext cx="794700" cy="1539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300"/>
                </a:spcAft>
                <a:buNone/>
              </a:pPr>
              <a:r>
                <a:rPr lang="en" sz="1000">
                  <a:solidFill>
                    <a:schemeClr val="accent1"/>
                  </a:solidFill>
                  <a:latin typeface="DM Sans Medium"/>
                  <a:ea typeface="DM Sans Medium"/>
                  <a:cs typeface="DM Sans Medium"/>
                  <a:sym typeface="DM Sans Medium"/>
                </a:rPr>
                <a:t>&lt;username&gt;</a:t>
              </a:r>
              <a:endParaRPr sz="1000">
                <a:solidFill>
                  <a:schemeClr val="accent1"/>
                </a:solidFill>
                <a:latin typeface="DM Sans Medium"/>
                <a:ea typeface="DM Sans Medium"/>
                <a:cs typeface="DM Sans Medium"/>
                <a:sym typeface="DM Sans Medium"/>
              </a:endParaRPr>
            </a:p>
          </p:txBody>
        </p:sp>
        <p:sp>
          <p:nvSpPr>
            <p:cNvPr id="2874" name="Google Shape;2874;p107"/>
            <p:cNvSpPr/>
            <p:nvPr/>
          </p:nvSpPr>
          <p:spPr>
            <a:xfrm>
              <a:off x="4227374" y="2808954"/>
              <a:ext cx="1023900" cy="207600"/>
            </a:xfrm>
            <a:prstGeom prst="roundRect">
              <a:avLst>
                <a:gd fmla="val 16667" name="adj"/>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75" name="Google Shape;2875;p107"/>
            <p:cNvCxnSpPr>
              <a:stCxn id="2874" idx="1"/>
              <a:endCxn id="2849" idx="1"/>
            </p:cNvCxnSpPr>
            <p:nvPr/>
          </p:nvCxnSpPr>
          <p:spPr>
            <a:xfrm flipH="1">
              <a:off x="3900674" y="2912754"/>
              <a:ext cx="326700" cy="1137600"/>
            </a:xfrm>
            <a:prstGeom prst="bentConnector3">
              <a:avLst>
                <a:gd fmla="val 153573" name="adj1"/>
              </a:avLst>
            </a:prstGeom>
            <a:noFill/>
            <a:ln cap="flat" cmpd="sng" w="9525">
              <a:solidFill>
                <a:schemeClr val="accent1"/>
              </a:solidFill>
              <a:prstDash val="dash"/>
              <a:round/>
              <a:headEnd len="med" w="med" type="none"/>
              <a:tailEnd len="med" w="med" type="none"/>
            </a:ln>
          </p:spPr>
        </p:cxnSp>
        <p:grpSp>
          <p:nvGrpSpPr>
            <p:cNvPr id="2876" name="Google Shape;2876;p107"/>
            <p:cNvGrpSpPr/>
            <p:nvPr/>
          </p:nvGrpSpPr>
          <p:grpSpPr>
            <a:xfrm>
              <a:off x="279634" y="2465973"/>
              <a:ext cx="10457470" cy="3150282"/>
              <a:chOff x="279634" y="2465973"/>
              <a:chExt cx="10457470" cy="3150282"/>
            </a:xfrm>
          </p:grpSpPr>
          <p:sp>
            <p:nvSpPr>
              <p:cNvPr id="2877" name="Google Shape;2877;p107"/>
              <p:cNvSpPr txBox="1"/>
              <p:nvPr/>
            </p:nvSpPr>
            <p:spPr>
              <a:xfrm>
                <a:off x="7735500" y="3044083"/>
                <a:ext cx="1857300" cy="36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300"/>
                  </a:spcAft>
                  <a:buNone/>
                </a:pPr>
                <a:r>
                  <a:rPr lang="en" sz="1200">
                    <a:solidFill>
                      <a:schemeClr val="accent6"/>
                    </a:solidFill>
                    <a:latin typeface="DM Sans Medium"/>
                    <a:ea typeface="DM Sans Medium"/>
                    <a:cs typeface="DM Sans Medium"/>
                    <a:sym typeface="DM Sans Medium"/>
                  </a:rPr>
                  <a:t>Workspace Filesystem</a:t>
                </a:r>
                <a:endParaRPr sz="1200">
                  <a:solidFill>
                    <a:schemeClr val="accent6"/>
                  </a:solidFill>
                  <a:latin typeface="DM Sans Medium"/>
                  <a:ea typeface="DM Sans Medium"/>
                  <a:cs typeface="DM Sans Medium"/>
                  <a:sym typeface="DM Sans Medium"/>
                </a:endParaRPr>
              </a:p>
            </p:txBody>
          </p:sp>
          <p:sp>
            <p:nvSpPr>
              <p:cNvPr id="2878" name="Google Shape;2878;p107"/>
              <p:cNvSpPr/>
              <p:nvPr/>
            </p:nvSpPr>
            <p:spPr>
              <a:xfrm>
                <a:off x="8330839" y="2676113"/>
                <a:ext cx="666576" cy="431082"/>
              </a:xfrm>
              <a:prstGeom prst="flowChartMultidocument">
                <a:avLst/>
              </a:prstGeom>
              <a:solidFill>
                <a:srgbClr val="FFFFFF"/>
              </a:solid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2879" name="Google Shape;2879;p107"/>
              <p:cNvCxnSpPr>
                <a:stCxn id="2880" idx="3"/>
                <a:endCxn id="2878" idx="1"/>
              </p:cNvCxnSpPr>
              <p:nvPr/>
            </p:nvCxnSpPr>
            <p:spPr>
              <a:xfrm flipH="1" rot="10800000">
                <a:off x="6976679" y="2891690"/>
                <a:ext cx="1354200" cy="1017600"/>
              </a:xfrm>
              <a:prstGeom prst="bentConnector3">
                <a:avLst>
                  <a:gd fmla="val 20102" name="adj1"/>
                </a:avLst>
              </a:prstGeom>
              <a:noFill/>
              <a:ln cap="flat" cmpd="sng" w="9525">
                <a:solidFill>
                  <a:schemeClr val="accent6"/>
                </a:solidFill>
                <a:prstDash val="solid"/>
                <a:round/>
                <a:headEnd len="sm" w="sm" type="oval"/>
                <a:tailEnd len="sm" w="sm" type="triangle"/>
              </a:ln>
            </p:spPr>
          </p:cxnSp>
          <p:cxnSp>
            <p:nvCxnSpPr>
              <p:cNvPr id="2881" name="Google Shape;2881;p107"/>
              <p:cNvCxnSpPr>
                <a:stCxn id="2882" idx="1"/>
                <a:endCxn id="2878" idx="3"/>
              </p:cNvCxnSpPr>
              <p:nvPr/>
            </p:nvCxnSpPr>
            <p:spPr>
              <a:xfrm flipH="1">
                <a:off x="8997404" y="2465973"/>
                <a:ext cx="1739700" cy="425700"/>
              </a:xfrm>
              <a:prstGeom prst="bentConnector3">
                <a:avLst>
                  <a:gd fmla="val 38490" name="adj1"/>
                </a:avLst>
              </a:prstGeom>
              <a:noFill/>
              <a:ln cap="flat" cmpd="sng" w="9525">
                <a:solidFill>
                  <a:schemeClr val="accent6"/>
                </a:solidFill>
                <a:prstDash val="solid"/>
                <a:round/>
                <a:headEnd len="sm" w="sm" type="triangle"/>
                <a:tailEnd len="sm" w="sm" type="triangle"/>
              </a:ln>
            </p:spPr>
          </p:cxnSp>
          <p:sp>
            <p:nvSpPr>
              <p:cNvPr id="2883" name="Google Shape;2883;p107"/>
              <p:cNvSpPr txBox="1"/>
              <p:nvPr/>
            </p:nvSpPr>
            <p:spPr>
              <a:xfrm>
                <a:off x="8983609" y="2620910"/>
                <a:ext cx="6666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800">
                    <a:solidFill>
                      <a:schemeClr val="accent6"/>
                    </a:solidFill>
                    <a:latin typeface="DM Sans"/>
                    <a:ea typeface="DM Sans"/>
                    <a:cs typeface="DM Sans"/>
                    <a:sym typeface="DM Sans"/>
                  </a:rPr>
                  <a:t>folders</a:t>
                </a:r>
                <a:endParaRPr i="1" sz="800">
                  <a:solidFill>
                    <a:schemeClr val="accent6"/>
                  </a:solidFill>
                  <a:latin typeface="DM Sans"/>
                  <a:ea typeface="DM Sans"/>
                  <a:cs typeface="DM Sans"/>
                  <a:sym typeface="DM Sans"/>
                </a:endParaRPr>
              </a:p>
            </p:txBody>
          </p:sp>
          <p:sp>
            <p:nvSpPr>
              <p:cNvPr id="2884" name="Google Shape;2884;p107"/>
              <p:cNvSpPr txBox="1"/>
              <p:nvPr/>
            </p:nvSpPr>
            <p:spPr>
              <a:xfrm>
                <a:off x="3870750" y="3641015"/>
                <a:ext cx="3061200" cy="5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6"/>
                    </a:solidFill>
                    <a:latin typeface="DM Sans"/>
                    <a:ea typeface="DM Sans"/>
                    <a:cs typeface="DM Sans"/>
                    <a:sym typeface="DM Sans"/>
                  </a:rPr>
                  <a:t>/Workspace/Repos/</a:t>
                </a:r>
                <a:endParaRPr sz="1200">
                  <a:solidFill>
                    <a:schemeClr val="accent6"/>
                  </a:solidFill>
                  <a:latin typeface="DM Sans"/>
                  <a:ea typeface="DM Sans"/>
                  <a:cs typeface="DM Sans"/>
                  <a:sym typeface="DM Sans"/>
                </a:endParaRPr>
              </a:p>
              <a:p>
                <a:pPr indent="0" lvl="0" marL="0" rtl="0" algn="l">
                  <a:spcBef>
                    <a:spcPts val="300"/>
                  </a:spcBef>
                  <a:spcAft>
                    <a:spcPts val="300"/>
                  </a:spcAft>
                  <a:buNone/>
                </a:pPr>
                <a:r>
                  <a:rPr lang="en" sz="1200">
                    <a:solidFill>
                      <a:schemeClr val="accent6"/>
                    </a:solidFill>
                    <a:latin typeface="DM Sans"/>
                    <a:ea typeface="DM Sans"/>
                    <a:cs typeface="DM Sans"/>
                    <a:sym typeface="DM Sans"/>
                  </a:rPr>
                  <a:t>/Workspace/Repos/&lt;username&gt;/&lt;path&gt;</a:t>
                </a:r>
                <a:endParaRPr/>
              </a:p>
            </p:txBody>
          </p:sp>
          <p:sp>
            <p:nvSpPr>
              <p:cNvPr id="2885" name="Google Shape;2885;p107"/>
              <p:cNvSpPr txBox="1"/>
              <p:nvPr/>
            </p:nvSpPr>
            <p:spPr>
              <a:xfrm>
                <a:off x="279634" y="4130955"/>
                <a:ext cx="3260400" cy="14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6"/>
                    </a:solidFill>
                    <a:latin typeface="Roboto Mono"/>
                    <a:ea typeface="Roboto Mono"/>
                    <a:cs typeface="Roboto Mono"/>
                    <a:sym typeface="Roboto Mono"/>
                  </a:rPr>
                  <a:t>%sh ls /Workspace/Repos/$username/</a:t>
                </a:r>
                <a:br>
                  <a:rPr lang="en" sz="800">
                    <a:solidFill>
                      <a:schemeClr val="accent6"/>
                    </a:solidFill>
                    <a:latin typeface="Roboto Mono"/>
                    <a:ea typeface="Roboto Mono"/>
                    <a:cs typeface="Roboto Mono"/>
                    <a:sym typeface="Roboto Mono"/>
                  </a:rPr>
                </a:br>
                <a:r>
                  <a:rPr lang="en" sz="800">
                    <a:solidFill>
                      <a:schemeClr val="accent6"/>
                    </a:solidFill>
                    <a:latin typeface="Roboto Mono"/>
                    <a:ea typeface="Roboto Mono"/>
                    <a:cs typeface="Roboto Mono"/>
                    <a:sym typeface="Roboto Mono"/>
                  </a:rPr>
                  <a:t>%sh cat /Workspace/Repos/$username/n.py</a:t>
                </a:r>
                <a:endParaRPr sz="800">
                  <a:solidFill>
                    <a:schemeClr val="accent6"/>
                  </a:solidFill>
                  <a:latin typeface="Roboto Mono"/>
                  <a:ea typeface="Roboto Mono"/>
                  <a:cs typeface="Roboto Mono"/>
                  <a:sym typeface="Roboto Mono"/>
                </a:endParaRPr>
              </a:p>
              <a:p>
                <a:pPr indent="0" lvl="0" marL="0" rtl="0" algn="l">
                  <a:spcBef>
                    <a:spcPts val="300"/>
                  </a:spcBef>
                  <a:spcAft>
                    <a:spcPts val="0"/>
                  </a:spcAft>
                  <a:buNone/>
                </a:pPr>
                <a:r>
                  <a:rPr lang="en" sz="800">
                    <a:solidFill>
                      <a:schemeClr val="accent6"/>
                    </a:solidFill>
                    <a:latin typeface="Roboto Mono"/>
                    <a:ea typeface="Roboto Mono"/>
                    <a:cs typeface="Roboto Mono"/>
                    <a:sym typeface="Roboto Mono"/>
                  </a:rPr>
                  <a:t>from loc_lib import method # loc_lib in repo</a:t>
                </a:r>
                <a:endParaRPr sz="800">
                  <a:solidFill>
                    <a:schemeClr val="accent6"/>
                  </a:solidFill>
                  <a:latin typeface="Roboto Mono"/>
                  <a:ea typeface="Roboto Mono"/>
                  <a:cs typeface="Roboto Mono"/>
                  <a:sym typeface="Roboto Mono"/>
                </a:endParaRPr>
              </a:p>
              <a:p>
                <a:pPr indent="0" lvl="0" marL="0" rtl="0" algn="l">
                  <a:spcBef>
                    <a:spcPts val="300"/>
                  </a:spcBef>
                  <a:spcAft>
                    <a:spcPts val="0"/>
                  </a:spcAft>
                  <a:buNone/>
                </a:pPr>
                <a:r>
                  <a:rPr lang="en" sz="800">
                    <a:solidFill>
                      <a:schemeClr val="accent6"/>
                    </a:solidFill>
                    <a:latin typeface="Roboto Mono"/>
                    <a:ea typeface="Roboto Mono"/>
                    <a:cs typeface="Roboto Mono"/>
                    <a:sym typeface="Roboto Mono"/>
                  </a:rPr>
                  <a:t>config = open(“c.yml”).read()</a:t>
                </a:r>
                <a:endParaRPr sz="800">
                  <a:solidFill>
                    <a:schemeClr val="accent6"/>
                  </a:solidFill>
                  <a:latin typeface="Roboto Mono"/>
                  <a:ea typeface="Roboto Mono"/>
                  <a:cs typeface="Roboto Mono"/>
                  <a:sym typeface="Roboto Mono"/>
                </a:endParaRPr>
              </a:p>
              <a:p>
                <a:pPr indent="0" lvl="0" marL="0" rtl="0" algn="l">
                  <a:spcBef>
                    <a:spcPts val="300"/>
                  </a:spcBef>
                  <a:spcAft>
                    <a:spcPts val="0"/>
                  </a:spcAft>
                  <a:buNone/>
                </a:pPr>
                <a:r>
                  <a:rPr lang="en" sz="800">
                    <a:solidFill>
                      <a:schemeClr val="accent6"/>
                    </a:solidFill>
                    <a:latin typeface="Roboto Mono"/>
                    <a:ea typeface="Roboto Mono"/>
                    <a:cs typeface="Roboto Mono"/>
                    <a:sym typeface="Roboto Mono"/>
                  </a:rPr>
                  <a:t>config = open(</a:t>
                </a:r>
                <a:br>
                  <a:rPr lang="en" sz="800">
                    <a:solidFill>
                      <a:schemeClr val="accent6"/>
                    </a:solidFill>
                    <a:latin typeface="Roboto Mono"/>
                    <a:ea typeface="Roboto Mono"/>
                    <a:cs typeface="Roboto Mono"/>
                    <a:sym typeface="Roboto Mono"/>
                  </a:rPr>
                </a:br>
                <a:r>
                  <a:rPr lang="en" sz="800">
                    <a:solidFill>
                      <a:schemeClr val="accent6"/>
                    </a:solidFill>
                    <a:latin typeface="Roboto Mono"/>
                    <a:ea typeface="Roboto Mono"/>
                    <a:cs typeface="Roboto Mono"/>
                    <a:sym typeface="Roboto Mono"/>
                  </a:rPr>
                  <a:t>  “/Workspace/Repos/$username/$path/c.yml”</a:t>
                </a:r>
                <a:br>
                  <a:rPr lang="en" sz="800">
                    <a:solidFill>
                      <a:schemeClr val="accent6"/>
                    </a:solidFill>
                    <a:latin typeface="Roboto Mono"/>
                    <a:ea typeface="Roboto Mono"/>
                    <a:cs typeface="Roboto Mono"/>
                    <a:sym typeface="Roboto Mono"/>
                  </a:rPr>
                </a:br>
                <a:r>
                  <a:rPr lang="en" sz="800">
                    <a:solidFill>
                      <a:schemeClr val="accent6"/>
                    </a:solidFill>
                    <a:latin typeface="Roboto Mono"/>
                    <a:ea typeface="Roboto Mono"/>
                    <a:cs typeface="Roboto Mono"/>
                    <a:sym typeface="Roboto Mono"/>
                  </a:rPr>
                  <a:t>).read()</a:t>
                </a:r>
                <a:endParaRPr sz="800">
                  <a:solidFill>
                    <a:schemeClr val="accent6"/>
                  </a:solidFill>
                  <a:latin typeface="Roboto Mono"/>
                  <a:ea typeface="Roboto Mono"/>
                  <a:cs typeface="Roboto Mono"/>
                  <a:sym typeface="Roboto Mono"/>
                </a:endParaRPr>
              </a:p>
              <a:p>
                <a:pPr indent="0" lvl="0" marL="0" rtl="0" algn="l">
                  <a:spcBef>
                    <a:spcPts val="300"/>
                  </a:spcBef>
                  <a:spcAft>
                    <a:spcPts val="0"/>
                  </a:spcAft>
                  <a:buNone/>
                </a:pPr>
                <a:r>
                  <a:rPr lang="en" sz="800">
                    <a:solidFill>
                      <a:schemeClr val="accent6"/>
                    </a:solidFill>
                    <a:latin typeface="Roboto Mono"/>
                    <a:ea typeface="Roboto Mono"/>
                    <a:cs typeface="Roboto Mono"/>
                    <a:sym typeface="Roboto Mono"/>
                  </a:rPr>
                  <a:t>dbutils.fs.ls("file:/Workspace/Repos/&lt;username&gt;/")</a:t>
                </a:r>
                <a:endParaRPr sz="800">
                  <a:solidFill>
                    <a:schemeClr val="accent6"/>
                  </a:solidFill>
                  <a:latin typeface="Roboto Mono"/>
                  <a:ea typeface="Roboto Mono"/>
                  <a:cs typeface="Roboto Mono"/>
                  <a:sym typeface="Roboto Mono"/>
                </a:endParaRPr>
              </a:p>
              <a:p>
                <a:pPr indent="0" lvl="0" marL="0" rtl="0" algn="l">
                  <a:spcBef>
                    <a:spcPts val="300"/>
                  </a:spcBef>
                  <a:spcAft>
                    <a:spcPts val="300"/>
                  </a:spcAft>
                  <a:buNone/>
                </a:pPr>
                <a:r>
                  <a:rPr lang="en" sz="800">
                    <a:solidFill>
                      <a:schemeClr val="accent6"/>
                    </a:solidFill>
                    <a:latin typeface="Roboto Mono"/>
                    <a:ea typeface="Roboto Mono"/>
                    <a:cs typeface="Roboto Mono"/>
                    <a:sym typeface="Roboto Mono"/>
                  </a:rPr>
                  <a:t>spark.read.csv(f"file:{os.getcwd()}/data/d.csv")</a:t>
                </a:r>
                <a:endParaRPr sz="800">
                  <a:solidFill>
                    <a:schemeClr val="accent6"/>
                  </a:solidFill>
                  <a:latin typeface="Roboto Mono"/>
                  <a:ea typeface="Roboto Mono"/>
                  <a:cs typeface="Roboto Mono"/>
                  <a:sym typeface="Roboto Mono"/>
                </a:endParaRPr>
              </a:p>
            </p:txBody>
          </p:sp>
          <p:sp>
            <p:nvSpPr>
              <p:cNvPr id="2886" name="Google Shape;2886;p107"/>
              <p:cNvSpPr/>
              <p:nvPr/>
            </p:nvSpPr>
            <p:spPr>
              <a:xfrm>
                <a:off x="6870275" y="3716840"/>
                <a:ext cx="80400" cy="384900"/>
              </a:xfrm>
              <a:prstGeom prst="rightBrace">
                <a:avLst>
                  <a:gd fmla="val 50000" name="adj1"/>
                  <a:gd fmla="val 50000" name="adj2"/>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07"/>
              <p:cNvSpPr/>
              <p:nvPr/>
            </p:nvSpPr>
            <p:spPr>
              <a:xfrm>
                <a:off x="6896279" y="3870290"/>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87" name="Google Shape;2887;p107"/>
          <p:cNvSpPr/>
          <p:nvPr/>
        </p:nvSpPr>
        <p:spPr>
          <a:xfrm>
            <a:off x="7760985" y="3955215"/>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07"/>
          <p:cNvSpPr/>
          <p:nvPr/>
        </p:nvSpPr>
        <p:spPr>
          <a:xfrm>
            <a:off x="5023854" y="6242490"/>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07"/>
          <p:cNvSpPr/>
          <p:nvPr/>
        </p:nvSpPr>
        <p:spPr>
          <a:xfrm>
            <a:off x="10737104" y="2426973"/>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9" name="Google Shape;2889;p107"/>
          <p:cNvGrpSpPr/>
          <p:nvPr/>
        </p:nvGrpSpPr>
        <p:grpSpPr>
          <a:xfrm>
            <a:off x="279624" y="2185275"/>
            <a:ext cx="11773051" cy="2527340"/>
            <a:chOff x="279624" y="2185275"/>
            <a:chExt cx="11773051" cy="2527340"/>
          </a:xfrm>
        </p:grpSpPr>
        <p:sp>
          <p:nvSpPr>
            <p:cNvPr id="2890" name="Google Shape;2890;p107"/>
            <p:cNvSpPr txBox="1"/>
            <p:nvPr/>
          </p:nvSpPr>
          <p:spPr>
            <a:xfrm>
              <a:off x="279624" y="2692550"/>
              <a:ext cx="32604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600"/>
                </a:spcAft>
                <a:buNone/>
              </a:pPr>
              <a:r>
                <a:rPr lang="en" sz="800">
                  <a:solidFill>
                    <a:schemeClr val="dk2"/>
                  </a:solidFill>
                  <a:latin typeface="Roboto Mono"/>
                  <a:ea typeface="Roboto Mono"/>
                  <a:cs typeface="Roboto Mono"/>
                  <a:sym typeface="Roboto Mono"/>
                </a:rPr>
                <a:t>%sh cat /dbfs</a:t>
              </a:r>
              <a:r>
                <a:rPr lang="en" sz="800">
                  <a:solidFill>
                    <a:schemeClr val="accent2"/>
                  </a:solidFill>
                  <a:latin typeface="Roboto Mono"/>
                  <a:ea typeface="Roboto Mono"/>
                  <a:cs typeface="Roboto Mono"/>
                  <a:sym typeface="Roboto Mono"/>
                </a:rPr>
                <a:t>/FileStore/data.csv</a:t>
              </a:r>
              <a:endParaRPr sz="800">
                <a:solidFill>
                  <a:schemeClr val="accent6"/>
                </a:solidFill>
                <a:latin typeface="Roboto Mono"/>
                <a:ea typeface="Roboto Mono"/>
                <a:cs typeface="Roboto Mono"/>
                <a:sym typeface="Roboto Mono"/>
              </a:endParaRPr>
            </a:p>
          </p:txBody>
        </p:sp>
        <p:sp>
          <p:nvSpPr>
            <p:cNvPr id="2891" name="Google Shape;2891;p107"/>
            <p:cNvSpPr txBox="1"/>
            <p:nvPr/>
          </p:nvSpPr>
          <p:spPr>
            <a:xfrm>
              <a:off x="279624" y="2185275"/>
              <a:ext cx="3260400" cy="5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Roboto Mono"/>
                  <a:ea typeface="Roboto Mono"/>
                  <a:cs typeface="Roboto Mono"/>
                  <a:sym typeface="Roboto Mono"/>
                </a:rPr>
                <a:t>dbutils.fs.ls("dbfs:/FileStore/…”)</a:t>
              </a:r>
              <a:br>
                <a:rPr lang="en" sz="800">
                  <a:solidFill>
                    <a:schemeClr val="accent2"/>
                  </a:solidFill>
                  <a:latin typeface="Roboto Mono"/>
                  <a:ea typeface="Roboto Mono"/>
                  <a:cs typeface="Roboto Mono"/>
                  <a:sym typeface="Roboto Mono"/>
                </a:rPr>
              </a:br>
              <a:r>
                <a:rPr lang="en" sz="800">
                  <a:solidFill>
                    <a:schemeClr val="accent2"/>
                  </a:solidFill>
                  <a:latin typeface="Roboto Mono"/>
                  <a:ea typeface="Roboto Mono"/>
                  <a:cs typeface="Roboto Mono"/>
                  <a:sym typeface="Roboto Mono"/>
                </a:rPr>
                <a:t>dbutils.fs.ls("/databricks-data/…”)</a:t>
              </a:r>
              <a:endParaRPr sz="800">
                <a:solidFill>
                  <a:schemeClr val="accent5"/>
                </a:solidFill>
                <a:latin typeface="Roboto Mono"/>
                <a:ea typeface="Roboto Mono"/>
                <a:cs typeface="Roboto Mono"/>
                <a:sym typeface="Roboto Mono"/>
              </a:endParaRPr>
            </a:p>
            <a:p>
              <a:pPr indent="0" lvl="0" marL="0" rtl="0" algn="l">
                <a:spcBef>
                  <a:spcPts val="300"/>
                </a:spcBef>
                <a:spcAft>
                  <a:spcPts val="300"/>
                </a:spcAft>
                <a:buNone/>
              </a:pPr>
              <a:r>
                <a:rPr lang="en" sz="800">
                  <a:solidFill>
                    <a:schemeClr val="accent2"/>
                  </a:solidFill>
                  <a:latin typeface="Roboto Mono"/>
                  <a:ea typeface="Roboto Mono"/>
                  <a:cs typeface="Roboto Mono"/>
                  <a:sym typeface="Roboto Mono"/>
                </a:rPr>
                <a:t>spark.read.csv("dbfs:/FileStore/d.csv”)</a:t>
              </a:r>
              <a:endParaRPr sz="800">
                <a:solidFill>
                  <a:schemeClr val="accent6"/>
                </a:solidFill>
                <a:latin typeface="Roboto Mono"/>
                <a:ea typeface="Roboto Mono"/>
                <a:cs typeface="Roboto Mono"/>
                <a:sym typeface="Roboto Mono"/>
              </a:endParaRPr>
            </a:p>
          </p:txBody>
        </p:sp>
        <p:sp>
          <p:nvSpPr>
            <p:cNvPr id="2892" name="Google Shape;2892;p107"/>
            <p:cNvSpPr/>
            <p:nvPr/>
          </p:nvSpPr>
          <p:spPr>
            <a:xfrm>
              <a:off x="7589875" y="3593915"/>
              <a:ext cx="2205900" cy="1118700"/>
            </a:xfrm>
            <a:prstGeom prst="roundRect">
              <a:avLst>
                <a:gd fmla="val 6574"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45700">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dbfs</a:t>
              </a:r>
              <a:endParaRPr sz="1200">
                <a:solidFill>
                  <a:schemeClr val="dk2"/>
                </a:solidFill>
                <a:latin typeface="DM Sans"/>
                <a:ea typeface="DM Sans"/>
                <a:cs typeface="DM Sans"/>
                <a:sym typeface="DM Sans"/>
              </a:endParaRPr>
            </a:p>
          </p:txBody>
        </p:sp>
        <p:sp>
          <p:nvSpPr>
            <p:cNvPr id="2893" name="Google Shape;2893;p107"/>
            <p:cNvSpPr/>
            <p:nvPr/>
          </p:nvSpPr>
          <p:spPr>
            <a:xfrm>
              <a:off x="10252975" y="3456474"/>
              <a:ext cx="1799700" cy="1118700"/>
            </a:xfrm>
            <a:prstGeom prst="roundRect">
              <a:avLst>
                <a:gd fmla="val 6490" name="adj"/>
              </a:avLst>
            </a:prstGeom>
            <a:solidFill>
              <a:srgbClr val="FFFFFF"/>
            </a:solidFill>
            <a:ln cap="flat" cmpd="sng" w="9525">
              <a:solidFill>
                <a:schemeClr val="accent2"/>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a:solidFill>
                    <a:schemeClr val="accent2"/>
                  </a:solidFill>
                  <a:latin typeface="DM Sans Medium"/>
                  <a:ea typeface="DM Sans Medium"/>
                  <a:cs typeface="DM Sans Medium"/>
                  <a:sym typeface="DM Sans Medium"/>
                </a:rPr>
                <a:t>root </a:t>
              </a:r>
              <a:br>
                <a:rPr lang="en">
                  <a:solidFill>
                    <a:schemeClr val="accent2"/>
                  </a:solidFill>
                  <a:latin typeface="DM Sans Medium"/>
                  <a:ea typeface="DM Sans Medium"/>
                  <a:cs typeface="DM Sans Medium"/>
                  <a:sym typeface="DM Sans Medium"/>
                </a:rPr>
              </a:br>
              <a:r>
                <a:rPr lang="en">
                  <a:solidFill>
                    <a:schemeClr val="accent2"/>
                  </a:solidFill>
                  <a:latin typeface="DM Sans Medium"/>
                  <a:ea typeface="DM Sans Medium"/>
                  <a:cs typeface="DM Sans Medium"/>
                  <a:sym typeface="DM Sans Medium"/>
                </a:rPr>
                <a:t>container / bucket</a:t>
              </a:r>
              <a:endParaRPr>
                <a:solidFill>
                  <a:schemeClr val="accent2"/>
                </a:solidFill>
                <a:latin typeface="DM Sans Medium"/>
                <a:ea typeface="DM Sans Medium"/>
                <a:cs typeface="DM Sans Medium"/>
                <a:sym typeface="DM Sans Medium"/>
              </a:endParaRPr>
            </a:p>
            <a:p>
              <a:pPr indent="0" lvl="0" marL="0" marR="0" rtl="0" algn="l">
                <a:lnSpc>
                  <a:spcPct val="100000"/>
                </a:lnSpc>
                <a:spcBef>
                  <a:spcPts val="600"/>
                </a:spcBef>
                <a:spcAft>
                  <a:spcPts val="600"/>
                </a:spcAft>
                <a:buNone/>
              </a:pPr>
              <a:r>
                <a:rPr lang="en" sz="1200">
                  <a:solidFill>
                    <a:schemeClr val="accent2"/>
                  </a:solidFill>
                  <a:latin typeface="DM Sans"/>
                  <a:ea typeface="DM Sans"/>
                  <a:cs typeface="DM Sans"/>
                  <a:sym typeface="DM Sans"/>
                </a:rPr>
                <a:t>/</a:t>
              </a:r>
              <a:br>
                <a:rPr lang="en" sz="1200">
                  <a:solidFill>
                    <a:schemeClr val="accent2"/>
                  </a:solidFill>
                  <a:latin typeface="DM Sans"/>
                  <a:ea typeface="DM Sans"/>
                  <a:cs typeface="DM Sans"/>
                  <a:sym typeface="DM Sans"/>
                </a:rPr>
              </a:br>
              <a:r>
                <a:rPr lang="en" sz="1200">
                  <a:solidFill>
                    <a:schemeClr val="accent2"/>
                  </a:solidFill>
                  <a:latin typeface="DM Sans"/>
                  <a:ea typeface="DM Sans"/>
                  <a:cs typeface="DM Sans"/>
                  <a:sym typeface="DM Sans"/>
                </a:rPr>
                <a:t>/FileStore</a:t>
              </a:r>
              <a:br>
                <a:rPr lang="en" sz="1200">
                  <a:solidFill>
                    <a:schemeClr val="accent2"/>
                  </a:solidFill>
                  <a:latin typeface="DM Sans"/>
                  <a:ea typeface="DM Sans"/>
                  <a:cs typeface="DM Sans"/>
                  <a:sym typeface="DM Sans"/>
                </a:rPr>
              </a:br>
              <a:r>
                <a:rPr lang="en" sz="1200">
                  <a:solidFill>
                    <a:schemeClr val="accent2"/>
                  </a:solidFill>
                  <a:latin typeface="DM Sans"/>
                  <a:ea typeface="DM Sans"/>
                  <a:cs typeface="DM Sans"/>
                  <a:sym typeface="DM Sans"/>
                </a:rPr>
                <a:t>/databricks-data</a:t>
              </a:r>
              <a:endParaRPr sz="1200">
                <a:solidFill>
                  <a:schemeClr val="accent2"/>
                </a:solidFill>
                <a:latin typeface="DM Sans"/>
                <a:ea typeface="DM Sans"/>
                <a:cs typeface="DM Sans"/>
                <a:sym typeface="DM Sans"/>
              </a:endParaRPr>
            </a:p>
          </p:txBody>
        </p:sp>
        <p:cxnSp>
          <p:nvCxnSpPr>
            <p:cNvPr id="2894" name="Google Shape;2894;p107"/>
            <p:cNvCxnSpPr>
              <a:stCxn id="2895" idx="3"/>
              <a:endCxn id="2896" idx="1"/>
            </p:cNvCxnSpPr>
            <p:nvPr/>
          </p:nvCxnSpPr>
          <p:spPr>
            <a:xfrm flipH="1" rot="10800000">
              <a:off x="5205580" y="4009141"/>
              <a:ext cx="2380500" cy="381900"/>
            </a:xfrm>
            <a:prstGeom prst="bentConnector3">
              <a:avLst>
                <a:gd fmla="val 93394" name="adj1"/>
              </a:avLst>
            </a:prstGeom>
            <a:noFill/>
            <a:ln cap="flat" cmpd="sng" w="9525">
              <a:solidFill>
                <a:schemeClr val="dk2"/>
              </a:solidFill>
              <a:prstDash val="solid"/>
              <a:round/>
              <a:headEnd len="sm" w="sm" type="oval"/>
              <a:tailEnd len="sm" w="sm" type="triangle"/>
            </a:ln>
          </p:spPr>
        </p:cxnSp>
        <p:sp>
          <p:nvSpPr>
            <p:cNvPr id="2897" name="Google Shape;2897;p107"/>
            <p:cNvSpPr txBox="1"/>
            <p:nvPr/>
          </p:nvSpPr>
          <p:spPr>
            <a:xfrm>
              <a:off x="3862850" y="4129914"/>
              <a:ext cx="14856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lang="en" sz="1200">
                  <a:solidFill>
                    <a:schemeClr val="dk2"/>
                  </a:solidFill>
                  <a:latin typeface="DM Sans"/>
                  <a:ea typeface="DM Sans"/>
                  <a:cs typeface="DM Sans"/>
                  <a:sym typeface="DM Sans"/>
                </a:rPr>
                <a:t>/dbfs</a:t>
              </a:r>
              <a:br>
                <a:rPr lang="en" sz="1200">
                  <a:solidFill>
                    <a:schemeClr val="dk2"/>
                  </a:solidFill>
                  <a:latin typeface="DM Sans"/>
                  <a:ea typeface="DM Sans"/>
                  <a:cs typeface="DM Sans"/>
                  <a:sym typeface="DM Sans"/>
                </a:rPr>
              </a:br>
              <a:r>
                <a:rPr lang="en" sz="1200">
                  <a:solidFill>
                    <a:schemeClr val="dk2"/>
                  </a:solidFill>
                  <a:latin typeface="DM Sans"/>
                  <a:ea typeface="DM Sans"/>
                  <a:cs typeface="DM Sans"/>
                  <a:sym typeface="DM Sans"/>
                </a:rPr>
                <a:t>/dbfs/FileStore</a:t>
              </a:r>
              <a:endParaRPr sz="1200">
                <a:solidFill>
                  <a:schemeClr val="accent1"/>
                </a:solidFill>
                <a:latin typeface="DM Sans"/>
                <a:ea typeface="DM Sans"/>
                <a:cs typeface="DM Sans"/>
                <a:sym typeface="DM Sans"/>
              </a:endParaRPr>
            </a:p>
          </p:txBody>
        </p:sp>
        <p:cxnSp>
          <p:nvCxnSpPr>
            <p:cNvPr id="2898" name="Google Shape;2898;p107"/>
            <p:cNvCxnSpPr>
              <a:stCxn id="2899" idx="3"/>
              <a:endCxn id="2893" idx="1"/>
            </p:cNvCxnSpPr>
            <p:nvPr/>
          </p:nvCxnSpPr>
          <p:spPr>
            <a:xfrm>
              <a:off x="7823254" y="4002412"/>
              <a:ext cx="2429700" cy="13500"/>
            </a:xfrm>
            <a:prstGeom prst="curvedConnector3">
              <a:avLst>
                <a:gd fmla="val 50000" name="adj1"/>
              </a:avLst>
            </a:prstGeom>
            <a:noFill/>
            <a:ln cap="flat" cmpd="sng" w="9525">
              <a:solidFill>
                <a:schemeClr val="accent2"/>
              </a:solidFill>
              <a:prstDash val="solid"/>
              <a:round/>
              <a:headEnd len="sm" w="sm" type="oval"/>
              <a:tailEnd len="sm" w="sm" type="triangle"/>
            </a:ln>
          </p:spPr>
        </p:cxnSp>
        <p:sp>
          <p:nvSpPr>
            <p:cNvPr id="2900" name="Google Shape;2900;p107"/>
            <p:cNvSpPr/>
            <p:nvPr/>
          </p:nvSpPr>
          <p:spPr>
            <a:xfrm>
              <a:off x="5087693" y="4221991"/>
              <a:ext cx="80400" cy="338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07"/>
            <p:cNvSpPr/>
            <p:nvPr/>
          </p:nvSpPr>
          <p:spPr>
            <a:xfrm>
              <a:off x="5125180" y="4352041"/>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107"/>
            <p:cNvSpPr/>
            <p:nvPr/>
          </p:nvSpPr>
          <p:spPr>
            <a:xfrm>
              <a:off x="7586096" y="3970208"/>
              <a:ext cx="80400" cy="7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07"/>
            <p:cNvSpPr txBox="1"/>
            <p:nvPr/>
          </p:nvSpPr>
          <p:spPr>
            <a:xfrm>
              <a:off x="7596454" y="3910012"/>
              <a:ext cx="226800" cy="184800"/>
            </a:xfrm>
            <a:prstGeom prst="rect">
              <a:avLst/>
            </a:prstGeom>
            <a:noFill/>
            <a:ln>
              <a:noFill/>
            </a:ln>
          </p:spPr>
          <p:txBody>
            <a:bodyPr anchorCtr="0" anchor="t" bIns="0" lIns="91425" spcFirstLastPara="1" rIns="0" wrap="square" tIns="0">
              <a:noAutofit/>
            </a:bodyPr>
            <a:lstStyle/>
            <a:p>
              <a:pPr indent="0" lvl="0" marL="0" rtl="0" algn="l">
                <a:spcBef>
                  <a:spcPts val="0"/>
                </a:spcBef>
                <a:spcAft>
                  <a:spcPts val="0"/>
                </a:spcAft>
                <a:buNone/>
              </a:pPr>
              <a:r>
                <a:rPr lang="en" sz="1200">
                  <a:solidFill>
                    <a:schemeClr val="accent2"/>
                  </a:solidFill>
                  <a:latin typeface="DM Sans"/>
                  <a:ea typeface="DM Sans"/>
                  <a:cs typeface="DM Sans"/>
                  <a:sym typeface="DM Sans"/>
                </a:rPr>
                <a:t>/</a:t>
              </a:r>
              <a:endParaRPr sz="1200">
                <a:solidFill>
                  <a:schemeClr val="accent3"/>
                </a:solidFill>
                <a:latin typeface="DM Sans"/>
                <a:ea typeface="DM Sans"/>
                <a:cs typeface="DM Sans"/>
                <a:sym typeface="DM Sans"/>
              </a:endParaRPr>
            </a:p>
          </p:txBody>
        </p:sp>
      </p:grpSp>
      <p:grpSp>
        <p:nvGrpSpPr>
          <p:cNvPr id="2901" name="Google Shape;2901;p107"/>
          <p:cNvGrpSpPr/>
          <p:nvPr/>
        </p:nvGrpSpPr>
        <p:grpSpPr>
          <a:xfrm>
            <a:off x="279625" y="2899975"/>
            <a:ext cx="11761975" cy="2597675"/>
            <a:chOff x="279625" y="2899975"/>
            <a:chExt cx="11761975" cy="2597675"/>
          </a:xfrm>
        </p:grpSpPr>
        <p:sp>
          <p:nvSpPr>
            <p:cNvPr id="2902" name="Google Shape;2902;p107"/>
            <p:cNvSpPr txBox="1"/>
            <p:nvPr/>
          </p:nvSpPr>
          <p:spPr>
            <a:xfrm>
              <a:off x="279625" y="2899975"/>
              <a:ext cx="3260400" cy="128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Roboto Mono"/>
                  <a:ea typeface="Roboto Mono"/>
                  <a:cs typeface="Roboto Mono"/>
                  <a:sym typeface="Roboto Mono"/>
                </a:rPr>
                <a:t>%sh cat /dbfs</a:t>
              </a:r>
              <a:r>
                <a:rPr lang="en" sz="800">
                  <a:solidFill>
                    <a:srgbClr val="BD802B"/>
                  </a:solidFill>
                  <a:latin typeface="Roboto Mono"/>
                  <a:ea typeface="Roboto Mono"/>
                  <a:cs typeface="Roboto Mono"/>
                  <a:sym typeface="Roboto Mono"/>
                </a:rPr>
                <a:t>/mnt/data/bucket/data.csv</a:t>
              </a:r>
              <a:endParaRPr sz="800">
                <a:solidFill>
                  <a:srgbClr val="BD802B"/>
                </a:solidFill>
                <a:latin typeface="Roboto Mono"/>
                <a:ea typeface="Roboto Mono"/>
                <a:cs typeface="Roboto Mono"/>
                <a:sym typeface="Roboto Mono"/>
              </a:endParaRPr>
            </a:p>
            <a:p>
              <a:pPr indent="0" lvl="0" marL="0" rtl="0" algn="l">
                <a:spcBef>
                  <a:spcPts val="300"/>
                </a:spcBef>
                <a:spcAft>
                  <a:spcPts val="0"/>
                </a:spcAft>
                <a:buNone/>
              </a:pPr>
              <a:r>
                <a:rPr lang="en" sz="800">
                  <a:solidFill>
                    <a:srgbClr val="BD802B"/>
                  </a:solidFill>
                  <a:latin typeface="Roboto Mono"/>
                  <a:ea typeface="Roboto Mono"/>
                  <a:cs typeface="Roboto Mono"/>
                  <a:sym typeface="Roboto Mono"/>
                </a:rPr>
                <a:t>dbutils.fs.ls(“dbfs:/mnt/data/sales-data/…”)</a:t>
              </a:r>
              <a:br>
                <a:rPr lang="en" sz="800">
                  <a:solidFill>
                    <a:srgbClr val="BD802B"/>
                  </a:solidFill>
                  <a:latin typeface="Roboto Mono"/>
                  <a:ea typeface="Roboto Mono"/>
                  <a:cs typeface="Roboto Mono"/>
                  <a:sym typeface="Roboto Mono"/>
                </a:rPr>
              </a:br>
              <a:r>
                <a:rPr lang="en" sz="800">
                  <a:solidFill>
                    <a:srgbClr val="BD802B"/>
                  </a:solidFill>
                  <a:latin typeface="Roboto Mono"/>
                  <a:ea typeface="Roboto Mono"/>
                  <a:cs typeface="Roboto Mono"/>
                  <a:sym typeface="Roboto Mono"/>
                </a:rPr>
                <a:t>dbutils.fs.ls(“/mnt/data/sales-data/…”)</a:t>
              </a:r>
              <a:endParaRPr sz="800">
                <a:solidFill>
                  <a:srgbClr val="BD802B"/>
                </a:solidFill>
                <a:latin typeface="Roboto Mono"/>
                <a:ea typeface="Roboto Mono"/>
                <a:cs typeface="Roboto Mono"/>
                <a:sym typeface="Roboto Mono"/>
              </a:endParaRPr>
            </a:p>
            <a:p>
              <a:pPr indent="0" lvl="0" marL="0" rtl="0" algn="l">
                <a:spcBef>
                  <a:spcPts val="300"/>
                </a:spcBef>
                <a:spcAft>
                  <a:spcPts val="0"/>
                </a:spcAft>
                <a:buNone/>
              </a:pPr>
              <a:r>
                <a:rPr lang="en" sz="800">
                  <a:solidFill>
                    <a:srgbClr val="BD802B"/>
                  </a:solidFill>
                  <a:latin typeface="Roboto Mono"/>
                  <a:ea typeface="Roboto Mono"/>
                  <a:cs typeface="Roboto Mono"/>
                  <a:sym typeface="Roboto Mono"/>
                </a:rPr>
                <a:t>dbutils.fs.ls("abfss://… /mktg-data/…”)</a:t>
              </a:r>
              <a:br>
                <a:rPr lang="en" sz="800">
                  <a:solidFill>
                    <a:srgbClr val="BD802B"/>
                  </a:solidFill>
                  <a:latin typeface="Roboto Mono"/>
                  <a:ea typeface="Roboto Mono"/>
                  <a:cs typeface="Roboto Mono"/>
                  <a:sym typeface="Roboto Mono"/>
                </a:rPr>
              </a:br>
              <a:r>
                <a:rPr lang="en" sz="800">
                  <a:solidFill>
                    <a:srgbClr val="BD802B"/>
                  </a:solidFill>
                  <a:latin typeface="Roboto Mono"/>
                  <a:ea typeface="Roboto Mono"/>
                  <a:cs typeface="Roboto Mono"/>
                  <a:sym typeface="Roboto Mono"/>
                </a:rPr>
                <a:t>dbutils.fs.ls("s3a://… /mktg-data/…”)</a:t>
              </a:r>
              <a:br>
                <a:rPr lang="en" sz="800">
                  <a:solidFill>
                    <a:srgbClr val="BD802B"/>
                  </a:solidFill>
                  <a:latin typeface="Roboto Mono"/>
                  <a:ea typeface="Roboto Mono"/>
                  <a:cs typeface="Roboto Mono"/>
                  <a:sym typeface="Roboto Mono"/>
                </a:rPr>
              </a:br>
              <a:r>
                <a:rPr lang="en" sz="800">
                  <a:solidFill>
                    <a:srgbClr val="BD802B"/>
                  </a:solidFill>
                  <a:latin typeface="Roboto Mono"/>
                  <a:ea typeface="Roboto Mono"/>
                  <a:cs typeface="Roboto Mono"/>
                  <a:sym typeface="Roboto Mono"/>
                </a:rPr>
                <a:t>dbutils.fs.ls("gs://… /mktg-data/…”)</a:t>
              </a:r>
              <a:endParaRPr sz="800">
                <a:solidFill>
                  <a:srgbClr val="BD802B"/>
                </a:solidFill>
                <a:latin typeface="Roboto Mono"/>
                <a:ea typeface="Roboto Mono"/>
                <a:cs typeface="Roboto Mono"/>
                <a:sym typeface="Roboto Mono"/>
              </a:endParaRPr>
            </a:p>
            <a:p>
              <a:pPr indent="0" lvl="0" marL="0" rtl="0" algn="l">
                <a:spcBef>
                  <a:spcPts val="300"/>
                </a:spcBef>
                <a:spcAft>
                  <a:spcPts val="300"/>
                </a:spcAft>
                <a:buNone/>
              </a:pPr>
              <a:r>
                <a:rPr lang="en" sz="800">
                  <a:solidFill>
                    <a:srgbClr val="BD802B"/>
                  </a:solidFill>
                  <a:latin typeface="Roboto Mono"/>
                  <a:ea typeface="Roboto Mono"/>
                  <a:cs typeface="Roboto Mono"/>
                  <a:sym typeface="Roboto Mono"/>
                </a:rPr>
                <a:t>spark.read.csv("/mnt/data/mktg-data/… /d.csv”)</a:t>
              </a:r>
              <a:br>
                <a:rPr lang="en" sz="800">
                  <a:solidFill>
                    <a:srgbClr val="BD802B"/>
                  </a:solidFill>
                  <a:latin typeface="Roboto Mono"/>
                  <a:ea typeface="Roboto Mono"/>
                  <a:cs typeface="Roboto Mono"/>
                  <a:sym typeface="Roboto Mono"/>
                </a:rPr>
              </a:br>
              <a:r>
                <a:rPr lang="en" sz="800">
                  <a:solidFill>
                    <a:srgbClr val="BD802B"/>
                  </a:solidFill>
                  <a:latin typeface="Roboto Mono"/>
                  <a:ea typeface="Roboto Mono"/>
                  <a:cs typeface="Roboto Mono"/>
                  <a:sym typeface="Roboto Mono"/>
                </a:rPr>
                <a:t>spark.read.csv("abfss://… /mktg-data/… /d.csv”)</a:t>
              </a:r>
              <a:endParaRPr sz="800">
                <a:solidFill>
                  <a:srgbClr val="BD802B"/>
                </a:solidFill>
                <a:latin typeface="Roboto Mono"/>
                <a:ea typeface="Roboto Mono"/>
                <a:cs typeface="Roboto Mono"/>
                <a:sym typeface="Roboto Mono"/>
              </a:endParaRPr>
            </a:p>
          </p:txBody>
        </p:sp>
        <p:cxnSp>
          <p:nvCxnSpPr>
            <p:cNvPr id="2903" name="Google Shape;2903;p107"/>
            <p:cNvCxnSpPr>
              <a:stCxn id="2904" idx="3"/>
            </p:cNvCxnSpPr>
            <p:nvPr/>
          </p:nvCxnSpPr>
          <p:spPr>
            <a:xfrm>
              <a:off x="8461652" y="4381583"/>
              <a:ext cx="1780200" cy="474000"/>
            </a:xfrm>
            <a:prstGeom prst="bentConnector3">
              <a:avLst>
                <a:gd fmla="val 90627" name="adj1"/>
              </a:avLst>
            </a:prstGeom>
            <a:noFill/>
            <a:ln cap="flat" cmpd="sng" w="9525">
              <a:solidFill>
                <a:schemeClr val="accent4"/>
              </a:solidFill>
              <a:prstDash val="solid"/>
              <a:round/>
              <a:headEnd len="sm" w="sm" type="oval"/>
              <a:tailEnd len="sm" w="sm" type="triangle"/>
            </a:ln>
          </p:spPr>
        </p:cxnSp>
        <p:sp>
          <p:nvSpPr>
            <p:cNvPr id="2905" name="Google Shape;2905;p107"/>
            <p:cNvSpPr/>
            <p:nvPr/>
          </p:nvSpPr>
          <p:spPr>
            <a:xfrm>
              <a:off x="10241900" y="4719450"/>
              <a:ext cx="1799700" cy="778200"/>
            </a:xfrm>
            <a:prstGeom prst="roundRect">
              <a:avLst>
                <a:gd fmla="val 6490" name="adj"/>
              </a:avLst>
            </a:prstGeom>
            <a:solidFill>
              <a:srgbClr val="FFFFFF"/>
            </a:solidFill>
            <a:ln cap="flat" cmpd="sng" w="9525">
              <a:solidFill>
                <a:schemeClr val="accent4"/>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a:solidFill>
                    <a:srgbClr val="BD802B"/>
                  </a:solidFill>
                  <a:latin typeface="DM Sans Medium"/>
                  <a:ea typeface="DM Sans Medium"/>
                  <a:cs typeface="DM Sans Medium"/>
                  <a:sym typeface="DM Sans Medium"/>
                </a:rPr>
                <a:t>container / bucket</a:t>
              </a:r>
              <a:endParaRPr>
                <a:solidFill>
                  <a:srgbClr val="BD802B"/>
                </a:solidFill>
                <a:latin typeface="DM Sans Medium"/>
                <a:ea typeface="DM Sans Medium"/>
                <a:cs typeface="DM Sans Medium"/>
                <a:sym typeface="DM Sans Medium"/>
              </a:endParaRPr>
            </a:p>
            <a:p>
              <a:pPr indent="0" lvl="0" marL="0" marR="0" rtl="0" algn="l">
                <a:lnSpc>
                  <a:spcPct val="100000"/>
                </a:lnSpc>
                <a:spcBef>
                  <a:spcPts val="600"/>
                </a:spcBef>
                <a:spcAft>
                  <a:spcPts val="600"/>
                </a:spcAft>
                <a:buNone/>
              </a:pPr>
              <a:r>
                <a:rPr lang="en" sz="1200">
                  <a:solidFill>
                    <a:srgbClr val="BD802B"/>
                  </a:solidFill>
                  <a:latin typeface="DM Sans"/>
                  <a:ea typeface="DM Sans"/>
                  <a:cs typeface="DM Sans"/>
                  <a:sym typeface="DM Sans"/>
                </a:rPr>
                <a:t>/sales-data</a:t>
              </a:r>
              <a:br>
                <a:rPr lang="en" sz="1200">
                  <a:solidFill>
                    <a:srgbClr val="BD802B"/>
                  </a:solidFill>
                  <a:latin typeface="DM Sans"/>
                  <a:ea typeface="DM Sans"/>
                  <a:cs typeface="DM Sans"/>
                  <a:sym typeface="DM Sans"/>
                </a:rPr>
              </a:br>
              <a:r>
                <a:rPr lang="en" sz="1200">
                  <a:solidFill>
                    <a:srgbClr val="BD802B"/>
                  </a:solidFill>
                  <a:latin typeface="DM Sans"/>
                  <a:ea typeface="DM Sans"/>
                  <a:cs typeface="DM Sans"/>
                  <a:sym typeface="DM Sans"/>
                </a:rPr>
                <a:t>/mktg-data</a:t>
              </a:r>
              <a:endParaRPr sz="1200">
                <a:solidFill>
                  <a:srgbClr val="BD802B"/>
                </a:solidFill>
                <a:latin typeface="DM Sans"/>
                <a:ea typeface="DM Sans"/>
                <a:cs typeface="DM Sans"/>
                <a:sym typeface="DM Sans"/>
              </a:endParaRPr>
            </a:p>
          </p:txBody>
        </p:sp>
        <p:sp>
          <p:nvSpPr>
            <p:cNvPr id="2906" name="Google Shape;2906;p107"/>
            <p:cNvSpPr txBox="1"/>
            <p:nvPr/>
          </p:nvSpPr>
          <p:spPr>
            <a:xfrm>
              <a:off x="7596453" y="4099597"/>
              <a:ext cx="501600" cy="184800"/>
            </a:xfrm>
            <a:prstGeom prst="rect">
              <a:avLst/>
            </a:prstGeom>
            <a:noFill/>
            <a:ln>
              <a:noFill/>
            </a:ln>
          </p:spPr>
          <p:txBody>
            <a:bodyPr anchorCtr="0" anchor="t" bIns="0" lIns="91425" spcFirstLastPara="1" rIns="0" wrap="square" tIns="0">
              <a:noAutofit/>
            </a:bodyPr>
            <a:lstStyle/>
            <a:p>
              <a:pPr indent="0" lvl="0" marL="0" marR="0" rtl="0" algn="l">
                <a:lnSpc>
                  <a:spcPct val="100000"/>
                </a:lnSpc>
                <a:spcBef>
                  <a:spcPts val="0"/>
                </a:spcBef>
                <a:spcAft>
                  <a:spcPts val="0"/>
                </a:spcAft>
                <a:buNone/>
              </a:pPr>
              <a:r>
                <a:rPr lang="en" sz="1200">
                  <a:solidFill>
                    <a:srgbClr val="BD802B"/>
                  </a:solidFill>
                  <a:latin typeface="DM Sans"/>
                  <a:ea typeface="DM Sans"/>
                  <a:cs typeface="DM Sans"/>
                  <a:sym typeface="DM Sans"/>
                </a:rPr>
                <a:t>/mnt</a:t>
              </a:r>
              <a:endParaRPr sz="1200">
                <a:solidFill>
                  <a:schemeClr val="accent3"/>
                </a:solidFill>
                <a:latin typeface="DM Sans"/>
                <a:ea typeface="DM Sans"/>
                <a:cs typeface="DM Sans"/>
                <a:sym typeface="DM Sans"/>
              </a:endParaRPr>
            </a:p>
          </p:txBody>
        </p:sp>
        <p:sp>
          <p:nvSpPr>
            <p:cNvPr id="2904" name="Google Shape;2904;p107"/>
            <p:cNvSpPr txBox="1"/>
            <p:nvPr/>
          </p:nvSpPr>
          <p:spPr>
            <a:xfrm>
              <a:off x="7596452" y="4289183"/>
              <a:ext cx="865200" cy="184800"/>
            </a:xfrm>
            <a:prstGeom prst="rect">
              <a:avLst/>
            </a:prstGeom>
            <a:noFill/>
            <a:ln>
              <a:noFill/>
            </a:ln>
          </p:spPr>
          <p:txBody>
            <a:bodyPr anchorCtr="0" anchor="t" bIns="0" lIns="91425" spcFirstLastPara="1" rIns="0" wrap="square" tIns="0">
              <a:noAutofit/>
            </a:bodyPr>
            <a:lstStyle/>
            <a:p>
              <a:pPr indent="0" lvl="0" marL="0" rtl="0" algn="l">
                <a:spcBef>
                  <a:spcPts val="0"/>
                </a:spcBef>
                <a:spcAft>
                  <a:spcPts val="0"/>
                </a:spcAft>
                <a:buNone/>
              </a:pPr>
              <a:r>
                <a:rPr lang="en" sz="1200">
                  <a:solidFill>
                    <a:srgbClr val="BD802B"/>
                  </a:solidFill>
                  <a:latin typeface="DM Sans"/>
                  <a:ea typeface="DM Sans"/>
                  <a:cs typeface="DM Sans"/>
                  <a:sym typeface="DM Sans"/>
                </a:rPr>
                <a:t>/mnt/data</a:t>
              </a:r>
              <a:endParaRPr sz="1200">
                <a:solidFill>
                  <a:schemeClr val="accent3"/>
                </a:solidFill>
                <a:latin typeface="DM Sans"/>
                <a:ea typeface="DM Sans"/>
                <a:cs typeface="DM Sans"/>
                <a:sym typeface="DM Sans"/>
              </a:endParaRPr>
            </a:p>
          </p:txBody>
        </p:sp>
      </p:grpSp>
      <p:grpSp>
        <p:nvGrpSpPr>
          <p:cNvPr id="2907" name="Google Shape;2907;p107"/>
          <p:cNvGrpSpPr/>
          <p:nvPr/>
        </p:nvGrpSpPr>
        <p:grpSpPr>
          <a:xfrm>
            <a:off x="279624" y="4478769"/>
            <a:ext cx="11761976" cy="1958977"/>
            <a:chOff x="279624" y="4478769"/>
            <a:chExt cx="11761976" cy="1958977"/>
          </a:xfrm>
        </p:grpSpPr>
        <p:sp>
          <p:nvSpPr>
            <p:cNvPr id="2908" name="Google Shape;2908;p107"/>
            <p:cNvSpPr txBox="1"/>
            <p:nvPr/>
          </p:nvSpPr>
          <p:spPr>
            <a:xfrm>
              <a:off x="279624" y="5521845"/>
              <a:ext cx="3260400" cy="9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Roboto Mono"/>
                  <a:ea typeface="Roboto Mono"/>
                  <a:cs typeface="Roboto Mono"/>
                  <a:sym typeface="Roboto Mono"/>
                </a:rPr>
                <a:t>dbutils.fs.ls("dbfs:/Volumes/&lt;c&gt;/&lt;s&gt;/&lt;v&gt;/&lt;p&gt;”)</a:t>
              </a:r>
              <a:br>
                <a:rPr lang="en" sz="800">
                  <a:solidFill>
                    <a:schemeClr val="accent3"/>
                  </a:solidFill>
                  <a:latin typeface="Roboto Mono"/>
                  <a:ea typeface="Roboto Mono"/>
                  <a:cs typeface="Roboto Mono"/>
                  <a:sym typeface="Roboto Mono"/>
                </a:rPr>
              </a:br>
              <a:r>
                <a:rPr lang="en" sz="800">
                  <a:solidFill>
                    <a:schemeClr val="accent3"/>
                  </a:solidFill>
                  <a:latin typeface="Roboto Mono"/>
                  <a:ea typeface="Roboto Mono"/>
                  <a:cs typeface="Roboto Mono"/>
                  <a:sym typeface="Roboto Mono"/>
                </a:rPr>
                <a:t>dbutils.fs.ls("/Volumes/&lt;c&gt;/&lt;s&gt;/&lt;v&gt;/&lt;p&gt;”)</a:t>
              </a:r>
              <a:endParaRPr sz="800">
                <a:solidFill>
                  <a:schemeClr val="accent3"/>
                </a:solidFill>
                <a:latin typeface="Roboto Mono"/>
                <a:ea typeface="Roboto Mono"/>
                <a:cs typeface="Roboto Mono"/>
                <a:sym typeface="Roboto Mono"/>
              </a:endParaRPr>
            </a:p>
            <a:p>
              <a:pPr indent="0" lvl="0" marL="0" rtl="0" algn="l">
                <a:spcBef>
                  <a:spcPts val="300"/>
                </a:spcBef>
                <a:spcAft>
                  <a:spcPts val="0"/>
                </a:spcAft>
                <a:buNone/>
              </a:pPr>
              <a:r>
                <a:rPr lang="en" sz="800">
                  <a:solidFill>
                    <a:schemeClr val="accent3"/>
                  </a:solidFill>
                  <a:latin typeface="Roboto Mono"/>
                  <a:ea typeface="Roboto Mono"/>
                  <a:cs typeface="Roboto Mono"/>
                  <a:sym typeface="Roboto Mono"/>
                </a:rPr>
                <a:t>%sh ls /Volumes/&lt;c&gt;/&lt;s&gt;/&lt;v&gt;/&lt;p&gt;</a:t>
              </a:r>
              <a:endParaRPr sz="800">
                <a:solidFill>
                  <a:schemeClr val="accent3"/>
                </a:solidFill>
                <a:latin typeface="Roboto Mono"/>
                <a:ea typeface="Roboto Mono"/>
                <a:cs typeface="Roboto Mono"/>
                <a:sym typeface="Roboto Mono"/>
              </a:endParaRPr>
            </a:p>
            <a:p>
              <a:pPr indent="0" lvl="0" marL="0" rtl="0" algn="l">
                <a:spcBef>
                  <a:spcPts val="300"/>
                </a:spcBef>
                <a:spcAft>
                  <a:spcPts val="0"/>
                </a:spcAft>
                <a:buNone/>
              </a:pPr>
              <a:r>
                <a:rPr lang="en" sz="800">
                  <a:solidFill>
                    <a:schemeClr val="accent3"/>
                  </a:solidFill>
                  <a:latin typeface="Roboto Mono"/>
                  <a:ea typeface="Roboto Mono"/>
                  <a:cs typeface="Roboto Mono"/>
                  <a:sym typeface="Roboto Mono"/>
                </a:rPr>
                <a:t>%sql LIST ‘/Volumes/&lt;c&gt;/&lt;s&gt;/&lt;v&gt;/&lt;p&gt;’</a:t>
              </a:r>
              <a:endParaRPr sz="800">
                <a:solidFill>
                  <a:schemeClr val="accent3"/>
                </a:solidFill>
                <a:latin typeface="Roboto Mono"/>
                <a:ea typeface="Roboto Mono"/>
                <a:cs typeface="Roboto Mono"/>
                <a:sym typeface="Roboto Mono"/>
              </a:endParaRPr>
            </a:p>
            <a:p>
              <a:pPr indent="0" lvl="0" marL="0" rtl="0" algn="l">
                <a:spcBef>
                  <a:spcPts val="300"/>
                </a:spcBef>
                <a:spcAft>
                  <a:spcPts val="300"/>
                </a:spcAft>
                <a:buNone/>
              </a:pPr>
              <a:r>
                <a:rPr lang="en" sz="800">
                  <a:solidFill>
                    <a:schemeClr val="accent3"/>
                  </a:solidFill>
                  <a:latin typeface="Roboto Mono"/>
                  <a:ea typeface="Roboto Mono"/>
                  <a:cs typeface="Roboto Mono"/>
                  <a:sym typeface="Roboto Mono"/>
                </a:rPr>
                <a:t>spark.read.csv(‘/Volumes/&lt;c&gt;/&lt;s&gt;/&lt;v&gt;/’)</a:t>
              </a:r>
              <a:endParaRPr sz="800">
                <a:solidFill>
                  <a:schemeClr val="accent3"/>
                </a:solidFill>
                <a:latin typeface="Roboto Mono"/>
                <a:ea typeface="Roboto Mono"/>
                <a:cs typeface="Roboto Mono"/>
                <a:sym typeface="Roboto Mono"/>
              </a:endParaRPr>
            </a:p>
          </p:txBody>
        </p:sp>
        <p:sp>
          <p:nvSpPr>
            <p:cNvPr id="2909" name="Google Shape;2909;p107"/>
            <p:cNvSpPr txBox="1"/>
            <p:nvPr/>
          </p:nvSpPr>
          <p:spPr>
            <a:xfrm>
              <a:off x="3862862" y="4602106"/>
              <a:ext cx="32097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300"/>
                </a:spcAft>
                <a:buNone/>
              </a:pPr>
              <a:r>
                <a:rPr lang="en" sz="1200">
                  <a:solidFill>
                    <a:schemeClr val="accent3"/>
                  </a:solidFill>
                  <a:latin typeface="DM Sans"/>
                  <a:ea typeface="DM Sans"/>
                  <a:cs typeface="DM Sans"/>
                  <a:sym typeface="DM Sans"/>
                </a:rPr>
                <a:t>/Volumes/&lt;c&gt;/&lt;s&gt;/&lt;v&gt;/&lt;p&gt;</a:t>
              </a:r>
              <a:endParaRPr sz="1200">
                <a:solidFill>
                  <a:schemeClr val="accent3"/>
                </a:solidFill>
                <a:latin typeface="DM Sans"/>
                <a:ea typeface="DM Sans"/>
                <a:cs typeface="DM Sans"/>
                <a:sym typeface="DM Sans"/>
              </a:endParaRPr>
            </a:p>
          </p:txBody>
        </p:sp>
        <p:sp>
          <p:nvSpPr>
            <p:cNvPr id="2910" name="Google Shape;2910;p107"/>
            <p:cNvSpPr/>
            <p:nvPr/>
          </p:nvSpPr>
          <p:spPr>
            <a:xfrm>
              <a:off x="3851850" y="5269800"/>
              <a:ext cx="2205900" cy="1137600"/>
            </a:xfrm>
            <a:prstGeom prst="roundRect">
              <a:avLst>
                <a:gd fmla="val 6127" name="adj"/>
              </a:avLst>
            </a:prstGeom>
            <a:solidFill>
              <a:srgbClr val="FFFFFF"/>
            </a:solidFill>
            <a:ln cap="flat" cmpd="sng" w="9525">
              <a:solidFill>
                <a:srgbClr val="7F7F7F"/>
              </a:solidFill>
              <a:prstDash val="solid"/>
              <a:round/>
              <a:headEnd len="sm" w="sm" type="none"/>
              <a:tailEnd len="sm" w="sm" type="none"/>
            </a:ln>
          </p:spPr>
          <p:txBody>
            <a:bodyPr anchorCtr="0" anchor="t" bIns="91425" lIns="91425" spcFirstLastPara="1" rIns="91425" wrap="square" tIns="1827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Unity Catalog Volumes</a:t>
              </a:r>
              <a:endParaRPr>
                <a:solidFill>
                  <a:srgbClr val="7F7F7F"/>
                </a:solidFill>
                <a:latin typeface="DM Sans Medium"/>
                <a:ea typeface="DM Sans Medium"/>
                <a:cs typeface="DM Sans Medium"/>
                <a:sym typeface="DM Sans Medium"/>
              </a:endParaRPr>
            </a:p>
            <a:p>
              <a:pPr indent="0" lvl="0" marL="0" rtl="0" algn="l">
                <a:spcBef>
                  <a:spcPts val="400"/>
                </a:spcBef>
                <a:spcAft>
                  <a:spcPts val="0"/>
                </a:spcAft>
                <a:buNone/>
              </a:pPr>
              <a:r>
                <a:rPr lang="en" sz="1200">
                  <a:solidFill>
                    <a:srgbClr val="7F7F7F"/>
                  </a:solidFill>
                  <a:latin typeface="DM Sans"/>
                  <a:ea typeface="DM Sans"/>
                  <a:cs typeface="DM Sans"/>
                  <a:sym typeface="DM Sans"/>
                </a:rPr>
                <a:t>Metastore</a:t>
              </a:r>
              <a:endParaRPr sz="1200">
                <a:solidFill>
                  <a:srgbClr val="7F7F7F"/>
                </a:solidFill>
                <a:latin typeface="DM Sans"/>
                <a:ea typeface="DM Sans"/>
                <a:cs typeface="DM Sans"/>
                <a:sym typeface="DM Sans"/>
              </a:endParaRPr>
            </a:p>
            <a:p>
              <a:pPr indent="0" lvl="0" marL="0" rtl="0" algn="l">
                <a:spcBef>
                  <a:spcPts val="400"/>
                </a:spcBef>
                <a:spcAft>
                  <a:spcPts val="400"/>
                </a:spcAft>
                <a:buNone/>
              </a:pPr>
              <a:r>
                <a:rPr lang="en" sz="1200">
                  <a:solidFill>
                    <a:srgbClr val="7F7F7F"/>
                  </a:solidFill>
                  <a:latin typeface="DM Sans"/>
                  <a:ea typeface="DM Sans"/>
                  <a:cs typeface="DM Sans"/>
                  <a:sym typeface="DM Sans"/>
                </a:rPr>
                <a:t>    </a:t>
              </a:r>
              <a:r>
                <a:rPr lang="en" sz="1200">
                  <a:solidFill>
                    <a:schemeClr val="accent3"/>
                  </a:solidFill>
                  <a:latin typeface="DM Sans"/>
                  <a:ea typeface="DM Sans"/>
                  <a:cs typeface="DM Sans"/>
                  <a:sym typeface="DM Sans"/>
                </a:rPr>
                <a:t>catalog</a:t>
              </a:r>
              <a:br>
                <a:rPr lang="en" sz="1200">
                  <a:solidFill>
                    <a:schemeClr val="accent3"/>
                  </a:solidFill>
                  <a:latin typeface="DM Sans"/>
                  <a:ea typeface="DM Sans"/>
                  <a:cs typeface="DM Sans"/>
                  <a:sym typeface="DM Sans"/>
                </a:rPr>
              </a:br>
              <a:r>
                <a:rPr lang="en" sz="1200">
                  <a:solidFill>
                    <a:srgbClr val="7F7F7F"/>
                  </a:solidFill>
                  <a:latin typeface="DM Sans"/>
                  <a:ea typeface="DM Sans"/>
                  <a:cs typeface="DM Sans"/>
                  <a:sym typeface="DM Sans"/>
                </a:rPr>
                <a:t>        </a:t>
              </a:r>
              <a:r>
                <a:rPr lang="en" sz="1200">
                  <a:solidFill>
                    <a:schemeClr val="accent3"/>
                  </a:solidFill>
                  <a:latin typeface="DM Sans"/>
                  <a:ea typeface="DM Sans"/>
                  <a:cs typeface="DM Sans"/>
                  <a:sym typeface="DM Sans"/>
                </a:rPr>
                <a:t>schema</a:t>
              </a:r>
              <a:br>
                <a:rPr lang="en" sz="1200">
                  <a:solidFill>
                    <a:srgbClr val="7F7F7F"/>
                  </a:solidFill>
                  <a:latin typeface="DM Sans"/>
                  <a:ea typeface="DM Sans"/>
                  <a:cs typeface="DM Sans"/>
                  <a:sym typeface="DM Sans"/>
                </a:rPr>
              </a:br>
              <a:r>
                <a:rPr lang="en" sz="1200">
                  <a:solidFill>
                    <a:srgbClr val="7F7F7F"/>
                  </a:solidFill>
                  <a:latin typeface="DM Sans"/>
                  <a:ea typeface="DM Sans"/>
                  <a:cs typeface="DM Sans"/>
                  <a:sym typeface="DM Sans"/>
                </a:rPr>
                <a:t>             </a:t>
              </a:r>
              <a:r>
                <a:rPr lang="en" sz="1200">
                  <a:solidFill>
                    <a:schemeClr val="accent3"/>
                  </a:solidFill>
                  <a:latin typeface="DM Sans"/>
                  <a:ea typeface="DM Sans"/>
                  <a:cs typeface="DM Sans"/>
                  <a:sym typeface="DM Sans"/>
                </a:rPr>
                <a:t>volume</a:t>
              </a:r>
              <a:endParaRPr sz="1200">
                <a:solidFill>
                  <a:schemeClr val="accent3"/>
                </a:solidFill>
                <a:latin typeface="DM Sans"/>
                <a:ea typeface="DM Sans"/>
                <a:cs typeface="DM Sans"/>
                <a:sym typeface="DM Sans"/>
              </a:endParaRPr>
            </a:p>
          </p:txBody>
        </p:sp>
        <p:sp>
          <p:nvSpPr>
            <p:cNvPr id="2911" name="Google Shape;2911;p107"/>
            <p:cNvSpPr/>
            <p:nvPr/>
          </p:nvSpPr>
          <p:spPr>
            <a:xfrm>
              <a:off x="4363164" y="6178979"/>
              <a:ext cx="80475" cy="102102"/>
            </a:xfrm>
            <a:custGeom>
              <a:rect b="b" l="l" r="r" t="t"/>
              <a:pathLst>
                <a:path extrusionOk="0" h="4862" w="3219">
                  <a:moveTo>
                    <a:pt x="0" y="0"/>
                  </a:moveTo>
                  <a:lnTo>
                    <a:pt x="37" y="4834"/>
                  </a:lnTo>
                  <a:lnTo>
                    <a:pt x="3219" y="4862"/>
                  </a:lnTo>
                </a:path>
              </a:pathLst>
            </a:custGeom>
            <a:noFill/>
            <a:ln cap="flat" cmpd="sng" w="9525">
              <a:solidFill>
                <a:schemeClr val="accent3"/>
              </a:solidFill>
              <a:prstDash val="solid"/>
              <a:round/>
              <a:headEnd len="med" w="med" type="none"/>
              <a:tailEnd len="med" w="med" type="none"/>
            </a:ln>
          </p:spPr>
        </p:sp>
        <p:sp>
          <p:nvSpPr>
            <p:cNvPr id="2912" name="Google Shape;2912;p107"/>
            <p:cNvSpPr/>
            <p:nvPr/>
          </p:nvSpPr>
          <p:spPr>
            <a:xfrm>
              <a:off x="10241900" y="5660956"/>
              <a:ext cx="1799700" cy="656100"/>
            </a:xfrm>
            <a:prstGeom prst="roundRect">
              <a:avLst>
                <a:gd fmla="val 6490" name="adj"/>
              </a:avLst>
            </a:prstGeom>
            <a:solidFill>
              <a:srgbClr val="FFFFFF"/>
            </a:solidFill>
            <a:ln cap="flat" cmpd="sng" w="9525">
              <a:solidFill>
                <a:schemeClr val="accent3"/>
              </a:solidFill>
              <a:prstDash val="solid"/>
              <a:round/>
              <a:headEnd len="sm" w="sm" type="none"/>
              <a:tailEnd len="sm" w="sm" type="none"/>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lang="en">
                  <a:solidFill>
                    <a:schemeClr val="accent3"/>
                  </a:solidFill>
                  <a:latin typeface="DM Sans Medium"/>
                  <a:ea typeface="DM Sans Medium"/>
                  <a:cs typeface="DM Sans Medium"/>
                  <a:sym typeface="DM Sans Medium"/>
                </a:rPr>
                <a:t>container / bucket</a:t>
              </a:r>
              <a:endParaRPr>
                <a:solidFill>
                  <a:schemeClr val="accent3"/>
                </a:solidFill>
                <a:latin typeface="DM Sans Medium"/>
                <a:ea typeface="DM Sans Medium"/>
                <a:cs typeface="DM Sans Medium"/>
                <a:sym typeface="DM Sans Medium"/>
              </a:endParaRPr>
            </a:p>
            <a:p>
              <a:pPr indent="0" lvl="0" marL="0" marR="0" rtl="0" algn="l">
                <a:lnSpc>
                  <a:spcPct val="100000"/>
                </a:lnSpc>
                <a:spcBef>
                  <a:spcPts val="600"/>
                </a:spcBef>
                <a:spcAft>
                  <a:spcPts val="600"/>
                </a:spcAft>
                <a:buNone/>
              </a:pPr>
              <a:r>
                <a:rPr lang="en" sz="1200">
                  <a:solidFill>
                    <a:schemeClr val="accent3"/>
                  </a:solidFill>
                  <a:latin typeface="DM Sans"/>
                  <a:ea typeface="DM Sans"/>
                  <a:cs typeface="DM Sans"/>
                  <a:sym typeface="DM Sans"/>
                </a:rPr>
                <a:t>/images</a:t>
              </a:r>
              <a:endParaRPr sz="1200">
                <a:solidFill>
                  <a:schemeClr val="accent3"/>
                </a:solidFill>
                <a:latin typeface="DM Sans"/>
                <a:ea typeface="DM Sans"/>
                <a:cs typeface="DM Sans"/>
                <a:sym typeface="DM Sans"/>
              </a:endParaRPr>
            </a:p>
          </p:txBody>
        </p:sp>
        <p:cxnSp>
          <p:nvCxnSpPr>
            <p:cNvPr id="2913" name="Google Shape;2913;p107"/>
            <p:cNvCxnSpPr>
              <a:stCxn id="2888" idx="3"/>
              <a:endCxn id="2912" idx="1"/>
            </p:cNvCxnSpPr>
            <p:nvPr/>
          </p:nvCxnSpPr>
          <p:spPr>
            <a:xfrm flipH="1" rot="10800000">
              <a:off x="5104254" y="5988990"/>
              <a:ext cx="5137500" cy="292500"/>
            </a:xfrm>
            <a:prstGeom prst="bentConnector3">
              <a:avLst>
                <a:gd fmla="val 45831" name="adj1"/>
              </a:avLst>
            </a:prstGeom>
            <a:noFill/>
            <a:ln cap="flat" cmpd="sng" w="9525">
              <a:solidFill>
                <a:schemeClr val="accent3"/>
              </a:solidFill>
              <a:prstDash val="solid"/>
              <a:round/>
              <a:headEnd len="sm" w="sm" type="oval"/>
              <a:tailEnd len="sm" w="sm" type="triangle"/>
            </a:ln>
          </p:spPr>
        </p:cxnSp>
        <p:cxnSp>
          <p:nvCxnSpPr>
            <p:cNvPr id="2914" name="Google Shape;2914;p107"/>
            <p:cNvCxnSpPr>
              <a:stCxn id="2915" idx="3"/>
              <a:endCxn id="2912" idx="1"/>
            </p:cNvCxnSpPr>
            <p:nvPr/>
          </p:nvCxnSpPr>
          <p:spPr>
            <a:xfrm>
              <a:off x="9652650" y="4571169"/>
              <a:ext cx="589200" cy="1417800"/>
            </a:xfrm>
            <a:prstGeom prst="bentConnector3">
              <a:avLst>
                <a:gd fmla="val 50004" name="adj1"/>
              </a:avLst>
            </a:prstGeom>
            <a:noFill/>
            <a:ln cap="flat" cmpd="sng" w="9525">
              <a:solidFill>
                <a:schemeClr val="accent3"/>
              </a:solidFill>
              <a:prstDash val="solid"/>
              <a:round/>
              <a:headEnd len="sm" w="sm" type="oval"/>
              <a:tailEnd len="sm" w="sm" type="triangle"/>
            </a:ln>
          </p:spPr>
        </p:cxnSp>
        <p:sp>
          <p:nvSpPr>
            <p:cNvPr id="2916" name="Google Shape;2916;p107"/>
            <p:cNvSpPr txBox="1"/>
            <p:nvPr/>
          </p:nvSpPr>
          <p:spPr>
            <a:xfrm>
              <a:off x="7586100" y="4832163"/>
              <a:ext cx="9432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DM Sans"/>
                  <a:ea typeface="DM Sans"/>
                  <a:cs typeface="DM Sans"/>
                  <a:sym typeface="DM Sans"/>
                </a:rPr>
                <a:t>&lt;c&gt; = catalog</a:t>
              </a:r>
              <a:endParaRPr sz="900">
                <a:solidFill>
                  <a:schemeClr val="accent3"/>
                </a:solidFill>
                <a:latin typeface="DM Sans"/>
                <a:ea typeface="DM Sans"/>
                <a:cs typeface="DM Sans"/>
                <a:sym typeface="DM Sans"/>
              </a:endParaRPr>
            </a:p>
            <a:p>
              <a:pPr indent="0" lvl="0" marL="0" rtl="0" algn="l">
                <a:spcBef>
                  <a:spcPts val="0"/>
                </a:spcBef>
                <a:spcAft>
                  <a:spcPts val="0"/>
                </a:spcAft>
                <a:buNone/>
              </a:pPr>
              <a:r>
                <a:rPr lang="en" sz="900">
                  <a:solidFill>
                    <a:schemeClr val="accent3"/>
                  </a:solidFill>
                  <a:latin typeface="DM Sans"/>
                  <a:ea typeface="DM Sans"/>
                  <a:cs typeface="DM Sans"/>
                  <a:sym typeface="DM Sans"/>
                </a:rPr>
                <a:t>&lt;s&gt; = schema</a:t>
              </a:r>
              <a:endParaRPr sz="900">
                <a:solidFill>
                  <a:schemeClr val="accent3"/>
                </a:solidFill>
                <a:latin typeface="DM Sans"/>
                <a:ea typeface="DM Sans"/>
                <a:cs typeface="DM Sans"/>
                <a:sym typeface="DM Sans"/>
              </a:endParaRPr>
            </a:p>
            <a:p>
              <a:pPr indent="0" lvl="0" marL="0" rtl="0" algn="l">
                <a:spcBef>
                  <a:spcPts val="0"/>
                </a:spcBef>
                <a:spcAft>
                  <a:spcPts val="0"/>
                </a:spcAft>
                <a:buNone/>
              </a:pPr>
              <a:r>
                <a:rPr lang="en" sz="900">
                  <a:solidFill>
                    <a:schemeClr val="accent3"/>
                  </a:solidFill>
                  <a:latin typeface="DM Sans"/>
                  <a:ea typeface="DM Sans"/>
                  <a:cs typeface="DM Sans"/>
                  <a:sym typeface="DM Sans"/>
                </a:rPr>
                <a:t>&lt;v&gt; = volume</a:t>
              </a:r>
              <a:endParaRPr sz="900">
                <a:solidFill>
                  <a:schemeClr val="accent3"/>
                </a:solidFill>
                <a:latin typeface="DM Sans"/>
                <a:ea typeface="DM Sans"/>
                <a:cs typeface="DM Sans"/>
                <a:sym typeface="DM Sans"/>
              </a:endParaRPr>
            </a:p>
            <a:p>
              <a:pPr indent="0" lvl="0" marL="0" rtl="0" algn="l">
                <a:spcBef>
                  <a:spcPts val="0"/>
                </a:spcBef>
                <a:spcAft>
                  <a:spcPts val="0"/>
                </a:spcAft>
                <a:buNone/>
              </a:pPr>
              <a:r>
                <a:rPr lang="en" sz="900">
                  <a:solidFill>
                    <a:schemeClr val="accent3"/>
                  </a:solidFill>
                  <a:latin typeface="DM Sans"/>
                  <a:ea typeface="DM Sans"/>
                  <a:cs typeface="DM Sans"/>
                  <a:sym typeface="DM Sans"/>
                </a:rPr>
                <a:t>&lt;p&gt; = path</a:t>
              </a:r>
              <a:endParaRPr sz="900">
                <a:latin typeface="DM Sans"/>
                <a:ea typeface="DM Sans"/>
                <a:cs typeface="DM Sans"/>
                <a:sym typeface="DM Sans"/>
              </a:endParaRPr>
            </a:p>
          </p:txBody>
        </p:sp>
        <p:sp>
          <p:nvSpPr>
            <p:cNvPr id="2917" name="Google Shape;2917;p107"/>
            <p:cNvSpPr/>
            <p:nvPr/>
          </p:nvSpPr>
          <p:spPr>
            <a:xfrm>
              <a:off x="4179549" y="5992836"/>
              <a:ext cx="80475" cy="102102"/>
            </a:xfrm>
            <a:custGeom>
              <a:rect b="b" l="l" r="r" t="t"/>
              <a:pathLst>
                <a:path extrusionOk="0" h="4862" w="3219">
                  <a:moveTo>
                    <a:pt x="0" y="0"/>
                  </a:moveTo>
                  <a:lnTo>
                    <a:pt x="37" y="4834"/>
                  </a:lnTo>
                  <a:lnTo>
                    <a:pt x="3219" y="4862"/>
                  </a:lnTo>
                </a:path>
              </a:pathLst>
            </a:custGeom>
            <a:noFill/>
            <a:ln cap="flat" cmpd="sng" w="9525">
              <a:solidFill>
                <a:schemeClr val="accent3"/>
              </a:solidFill>
              <a:prstDash val="solid"/>
              <a:round/>
              <a:headEnd len="med" w="med" type="none"/>
              <a:tailEnd len="med" w="med" type="none"/>
            </a:ln>
          </p:spPr>
        </p:sp>
        <p:sp>
          <p:nvSpPr>
            <p:cNvPr id="2918" name="Google Shape;2918;p107"/>
            <p:cNvSpPr/>
            <p:nvPr/>
          </p:nvSpPr>
          <p:spPr>
            <a:xfrm>
              <a:off x="4013593" y="5771227"/>
              <a:ext cx="80475" cy="141521"/>
            </a:xfrm>
            <a:custGeom>
              <a:rect b="b" l="l" r="r" t="t"/>
              <a:pathLst>
                <a:path extrusionOk="0" h="4862" w="3219">
                  <a:moveTo>
                    <a:pt x="0" y="0"/>
                  </a:moveTo>
                  <a:lnTo>
                    <a:pt x="37" y="4834"/>
                  </a:lnTo>
                  <a:lnTo>
                    <a:pt x="3219" y="4862"/>
                  </a:lnTo>
                </a:path>
              </a:pathLst>
            </a:custGeom>
            <a:noFill/>
            <a:ln cap="flat" cmpd="sng" w="9525">
              <a:solidFill>
                <a:srgbClr val="9E9E9E"/>
              </a:solidFill>
              <a:prstDash val="solid"/>
              <a:round/>
              <a:headEnd len="med" w="med" type="none"/>
              <a:tailEnd len="med" w="med" type="none"/>
            </a:ln>
          </p:spPr>
        </p:sp>
        <p:cxnSp>
          <p:nvCxnSpPr>
            <p:cNvPr id="2919" name="Google Shape;2919;p107"/>
            <p:cNvCxnSpPr>
              <a:stCxn id="2848" idx="3"/>
              <a:endCxn id="2912" idx="1"/>
            </p:cNvCxnSpPr>
            <p:nvPr/>
          </p:nvCxnSpPr>
          <p:spPr>
            <a:xfrm>
              <a:off x="5964975" y="4791564"/>
              <a:ext cx="4276800" cy="1197300"/>
            </a:xfrm>
            <a:prstGeom prst="bentConnector3">
              <a:avLst>
                <a:gd fmla="val 34929" name="adj1"/>
              </a:avLst>
            </a:prstGeom>
            <a:noFill/>
            <a:ln cap="flat" cmpd="sng" w="9525">
              <a:solidFill>
                <a:schemeClr val="accent3"/>
              </a:solidFill>
              <a:prstDash val="solid"/>
              <a:round/>
              <a:headEnd len="sm" w="sm" type="oval"/>
              <a:tailEnd len="sm" w="sm" type="triangle"/>
            </a:ln>
          </p:spPr>
        </p:cxnSp>
        <p:sp>
          <p:nvSpPr>
            <p:cNvPr id="2915" name="Google Shape;2915;p107"/>
            <p:cNvSpPr txBox="1"/>
            <p:nvPr/>
          </p:nvSpPr>
          <p:spPr>
            <a:xfrm>
              <a:off x="7596450" y="4478769"/>
              <a:ext cx="2056200" cy="184800"/>
            </a:xfrm>
            <a:prstGeom prst="rect">
              <a:avLst/>
            </a:prstGeom>
            <a:noFill/>
            <a:ln>
              <a:noFill/>
            </a:ln>
          </p:spPr>
          <p:txBody>
            <a:bodyPr anchorCtr="0" anchor="t" bIns="0" lIns="91425" spcFirstLastPara="1" rIns="0" wrap="square" tIns="0">
              <a:noAutofit/>
            </a:bodyPr>
            <a:lstStyle/>
            <a:p>
              <a:pPr indent="0" lvl="0" marL="0" rtl="0" algn="l">
                <a:spcBef>
                  <a:spcPts val="0"/>
                </a:spcBef>
                <a:spcAft>
                  <a:spcPts val="0"/>
                </a:spcAft>
                <a:buNone/>
              </a:pPr>
              <a:r>
                <a:rPr lang="en" sz="1200">
                  <a:solidFill>
                    <a:schemeClr val="accent3"/>
                  </a:solidFill>
                  <a:latin typeface="DM Sans"/>
                  <a:ea typeface="DM Sans"/>
                  <a:cs typeface="DM Sans"/>
                  <a:sym typeface="DM Sans"/>
                </a:rPr>
                <a:t>/Volumes/&lt;c&gt;/&lt;s&gt;/&lt;v&gt;/&lt;p&gt;</a:t>
              </a:r>
              <a:endParaRPr sz="1200">
                <a:solidFill>
                  <a:schemeClr val="accent3"/>
                </a:solidFill>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3" name="Shape 2923"/>
        <p:cNvGrpSpPr/>
        <p:nvPr/>
      </p:nvGrpSpPr>
      <p:grpSpPr>
        <a:xfrm>
          <a:off x="0" y="0"/>
          <a:ext cx="0" cy="0"/>
          <a:chOff x="0" y="0"/>
          <a:chExt cx="0" cy="0"/>
        </a:xfrm>
      </p:grpSpPr>
      <p:sp>
        <p:nvSpPr>
          <p:cNvPr id="2924" name="Google Shape;2924;p108"/>
          <p:cNvSpPr txBox="1"/>
          <p:nvPr>
            <p:ph type="title"/>
          </p:nvPr>
        </p:nvSpPr>
        <p:spPr>
          <a:xfrm>
            <a:off x="749250" y="535625"/>
            <a:ext cx="104970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Reference  Architecture</a:t>
            </a:r>
            <a:endParaRPr/>
          </a:p>
        </p:txBody>
      </p:sp>
      <p:sp>
        <p:nvSpPr>
          <p:cNvPr id="2925" name="Google Shape;2925;p10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9" name="Shape 2929"/>
        <p:cNvGrpSpPr/>
        <p:nvPr/>
      </p:nvGrpSpPr>
      <p:grpSpPr>
        <a:xfrm>
          <a:off x="0" y="0"/>
          <a:ext cx="0" cy="0"/>
          <a:chOff x="0" y="0"/>
          <a:chExt cx="0" cy="0"/>
        </a:xfrm>
      </p:grpSpPr>
      <p:sp>
        <p:nvSpPr>
          <p:cNvPr id="2930" name="Google Shape;2930;p109"/>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2931" name="Google Shape;2931;p109"/>
          <p:cNvGrpSpPr/>
          <p:nvPr/>
        </p:nvGrpSpPr>
        <p:grpSpPr>
          <a:xfrm rot="-5400000">
            <a:off x="8118194" y="4175940"/>
            <a:ext cx="198576" cy="208513"/>
            <a:chOff x="3295749" y="3922446"/>
            <a:chExt cx="198576" cy="208513"/>
          </a:xfrm>
        </p:grpSpPr>
        <p:sp>
          <p:nvSpPr>
            <p:cNvPr id="2932" name="Google Shape;2932;p109"/>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33" name="Google Shape;2933;p109"/>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2934" name="Google Shape;2934;p109"/>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2935" name="Google Shape;2935;p109"/>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2936" name="Google Shape;2936;p109"/>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2937" name="Google Shape;2937;p109"/>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2938" name="Google Shape;2938;p109"/>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2939" name="Google Shape;2939;p109"/>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AI / ML and GenAI Apps - Mosaic AI</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2940" name="Google Shape;2940;p109"/>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b="1" sz="3600">
              <a:latin typeface="DM Sans"/>
              <a:ea typeface="DM Sans"/>
              <a:cs typeface="DM Sans"/>
              <a:sym typeface="DM Sans"/>
            </a:endParaRPr>
          </a:p>
        </p:txBody>
      </p:sp>
      <p:sp>
        <p:nvSpPr>
          <p:cNvPr id="2941" name="Google Shape;2941;p10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grpSp>
        <p:nvGrpSpPr>
          <p:cNvPr id="2942" name="Google Shape;2942;p109"/>
          <p:cNvGrpSpPr/>
          <p:nvPr/>
        </p:nvGrpSpPr>
        <p:grpSpPr>
          <a:xfrm>
            <a:off x="2986792" y="3550528"/>
            <a:ext cx="198576" cy="211709"/>
            <a:chOff x="3295749" y="3919250"/>
            <a:chExt cx="198576" cy="211709"/>
          </a:xfrm>
        </p:grpSpPr>
        <p:sp>
          <p:nvSpPr>
            <p:cNvPr id="2943" name="Google Shape;2943;p109"/>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44" name="Google Shape;2944;p109"/>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2945" name="Google Shape;2945;p109"/>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2946" name="Google Shape;2946;p109"/>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2947" name="Google Shape;2947;p109"/>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2948" name="Google Shape;2948;p109"/>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2949" name="Google Shape;2949;p109"/>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2950" name="Google Shape;2950;p109"/>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2951" name="Google Shape;2951;p109"/>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2952" name="Google Shape;2952;p109"/>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2953" name="Google Shape;2953;p109"/>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2954" name="Google Shape;2954;p109"/>
          <p:cNvSpPr/>
          <p:nvPr/>
        </p:nvSpPr>
        <p:spPr>
          <a:xfrm>
            <a:off x="9133775" y="5563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2955" name="Google Shape;2955;p109"/>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2956" name="Google Shape;2956;p109"/>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2957" name="Google Shape;2957;p109"/>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2958" name="Google Shape;2958;p109"/>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2959" name="Google Shape;2959;p109"/>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cxnSp>
        <p:nvCxnSpPr>
          <p:cNvPr id="2960" name="Google Shape;2960;p109"/>
          <p:cNvCxnSpPr/>
          <p:nvPr/>
        </p:nvCxnSpPr>
        <p:spPr>
          <a:xfrm>
            <a:off x="1765606" y="3948550"/>
            <a:ext cx="2229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2961" name="Google Shape;2961;p109"/>
          <p:cNvCxnSpPr>
            <a:stCxn id="2962" idx="3"/>
          </p:cNvCxnSpPr>
          <p:nvPr/>
        </p:nvCxnSpPr>
        <p:spPr>
          <a:xfrm>
            <a:off x="1765746" y="3027425"/>
            <a:ext cx="1668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2963" name="Google Shape;2963;p109"/>
          <p:cNvCxnSpPr>
            <a:stCxn id="2946" idx="2"/>
            <a:endCxn id="2954" idx="1"/>
          </p:cNvCxnSpPr>
          <p:nvPr/>
        </p:nvCxnSpPr>
        <p:spPr>
          <a:xfrm flipH="1" rot="-5400000">
            <a:off x="8080375" y="4799750"/>
            <a:ext cx="346200" cy="1760400"/>
          </a:xfrm>
          <a:prstGeom prst="bentConnector2">
            <a:avLst/>
          </a:prstGeom>
          <a:noFill/>
          <a:ln cap="flat" cmpd="sng" w="9525">
            <a:solidFill>
              <a:schemeClr val="accent1"/>
            </a:solidFill>
            <a:prstDash val="solid"/>
            <a:round/>
            <a:headEnd len="sm" w="sm" type="none"/>
            <a:tailEnd len="sm" w="sm" type="triangle"/>
          </a:ln>
        </p:spPr>
      </p:cxnSp>
      <p:cxnSp>
        <p:nvCxnSpPr>
          <p:cNvPr id="2964" name="Google Shape;2964;p109"/>
          <p:cNvCxnSpPr/>
          <p:nvPr/>
        </p:nvCxnSpPr>
        <p:spPr>
          <a:xfrm>
            <a:off x="8978650" y="5336450"/>
            <a:ext cx="159000" cy="0"/>
          </a:xfrm>
          <a:prstGeom prst="straightConnector1">
            <a:avLst/>
          </a:prstGeom>
          <a:noFill/>
          <a:ln cap="flat" cmpd="sng" w="9525">
            <a:solidFill>
              <a:schemeClr val="accent1"/>
            </a:solidFill>
            <a:prstDash val="solid"/>
            <a:round/>
            <a:headEnd len="sm" w="sm" type="none"/>
            <a:tailEnd len="sm" w="sm" type="triangle"/>
          </a:ln>
        </p:spPr>
      </p:cxnSp>
      <p:cxnSp>
        <p:nvCxnSpPr>
          <p:cNvPr id="2965" name="Google Shape;2965;p109"/>
          <p:cNvCxnSpPr>
            <a:stCxn id="2966" idx="2"/>
            <a:endCxn id="2934" idx="0"/>
          </p:cNvCxnSpPr>
          <p:nvPr/>
        </p:nvCxnSpPr>
        <p:spPr>
          <a:xfrm>
            <a:off x="8575712" y="4182857"/>
            <a:ext cx="0" cy="99900"/>
          </a:xfrm>
          <a:prstGeom prst="straightConnector1">
            <a:avLst/>
          </a:prstGeom>
          <a:noFill/>
          <a:ln cap="flat" cmpd="sng" w="9525">
            <a:solidFill>
              <a:schemeClr val="accent1"/>
            </a:solidFill>
            <a:prstDash val="solid"/>
            <a:round/>
            <a:headEnd len="sm" w="sm" type="none"/>
            <a:tailEnd len="sm" w="sm" type="triangle"/>
          </a:ln>
        </p:spPr>
      </p:cxnSp>
      <p:sp>
        <p:nvSpPr>
          <p:cNvPr id="2967" name="Google Shape;2967;p109"/>
          <p:cNvSpPr/>
          <p:nvPr/>
        </p:nvSpPr>
        <p:spPr>
          <a:xfrm>
            <a:off x="7503748"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sp>
        <p:nvSpPr>
          <p:cNvPr id="2968" name="Google Shape;2968;p109"/>
          <p:cNvSpPr/>
          <p:nvPr/>
        </p:nvSpPr>
        <p:spPr>
          <a:xfrm>
            <a:off x="2143275" y="3179562"/>
            <a:ext cx="8796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sp>
        <p:nvSpPr>
          <p:cNvPr id="2969" name="Google Shape;2969;p109"/>
          <p:cNvSpPr/>
          <p:nvPr/>
        </p:nvSpPr>
        <p:spPr>
          <a:xfrm>
            <a:off x="7446063" y="4997825"/>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Market</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place</a:t>
            </a:r>
            <a:endParaRPr sz="900">
              <a:solidFill>
                <a:schemeClr val="accent2"/>
              </a:solidFill>
              <a:latin typeface="DM Sans SemiBold"/>
              <a:ea typeface="DM Sans SemiBold"/>
              <a:cs typeface="DM Sans SemiBold"/>
              <a:sym typeface="DM Sans SemiBold"/>
            </a:endParaRPr>
          </a:p>
        </p:txBody>
      </p:sp>
      <p:sp>
        <p:nvSpPr>
          <p:cNvPr id="2970" name="Google Shape;2970;p109"/>
          <p:cNvSpPr/>
          <p:nvPr/>
        </p:nvSpPr>
        <p:spPr>
          <a:xfrm>
            <a:off x="7254663" y="4423213"/>
            <a:ext cx="740400" cy="274200"/>
          </a:xfrm>
          <a:prstGeom prst="roundRect">
            <a:avLst>
              <a:gd fmla="val 18778"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2971" name="Google Shape;2971;p109"/>
          <p:cNvSpPr/>
          <p:nvPr/>
        </p:nvSpPr>
        <p:spPr>
          <a:xfrm>
            <a:off x="8279375" y="2268975"/>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2972" name="Google Shape;2972;p109"/>
          <p:cNvSpPr/>
          <p:nvPr/>
        </p:nvSpPr>
        <p:spPr>
          <a:xfrm>
            <a:off x="7503751" y="2582483"/>
            <a:ext cx="6858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Vector </a:t>
            </a:r>
            <a:r>
              <a:rPr lang="en" sz="900">
                <a:solidFill>
                  <a:schemeClr val="accent2"/>
                </a:solidFill>
                <a:latin typeface="DM Sans SemiBold"/>
                <a:ea typeface="DM Sans SemiBold"/>
                <a:cs typeface="DM Sans SemiBold"/>
                <a:sym typeface="DM Sans SemiBold"/>
              </a:rPr>
              <a:t>Search</a:t>
            </a:r>
            <a:endParaRPr sz="900">
              <a:solidFill>
                <a:schemeClr val="accent2"/>
              </a:solidFill>
              <a:latin typeface="DM Sans SemiBold"/>
              <a:ea typeface="DM Sans SemiBold"/>
              <a:cs typeface="DM Sans SemiBold"/>
              <a:sym typeface="DM Sans SemiBold"/>
            </a:endParaRPr>
          </a:p>
        </p:txBody>
      </p:sp>
      <p:sp>
        <p:nvSpPr>
          <p:cNvPr id="2973" name="Google Shape;2973;p109"/>
          <p:cNvSpPr/>
          <p:nvPr/>
        </p:nvSpPr>
        <p:spPr>
          <a:xfrm>
            <a:off x="4121924" y="4423213"/>
            <a:ext cx="640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2974" name="Google Shape;2974;p109"/>
          <p:cNvSpPr/>
          <p:nvPr/>
        </p:nvSpPr>
        <p:spPr>
          <a:xfrm>
            <a:off x="6727831" y="2583983"/>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Serving</a:t>
            </a:r>
            <a:endParaRPr sz="900">
              <a:solidFill>
                <a:schemeClr val="accent2"/>
              </a:solidFill>
              <a:latin typeface="DM Sans SemiBold"/>
              <a:ea typeface="DM Sans SemiBold"/>
              <a:cs typeface="DM Sans SemiBold"/>
              <a:sym typeface="DM Sans SemiBold"/>
            </a:endParaRPr>
          </a:p>
        </p:txBody>
      </p:sp>
      <p:cxnSp>
        <p:nvCxnSpPr>
          <p:cNvPr id="2975" name="Google Shape;2975;p109"/>
          <p:cNvCxnSpPr>
            <a:stCxn id="2976" idx="3"/>
          </p:cNvCxnSpPr>
          <p:nvPr/>
        </p:nvCxnSpPr>
        <p:spPr>
          <a:xfrm>
            <a:off x="3053925" y="4259350"/>
            <a:ext cx="131100" cy="600"/>
          </a:xfrm>
          <a:prstGeom prst="bentConnector3">
            <a:avLst>
              <a:gd fmla="val 50000" name="adj1"/>
            </a:avLst>
          </a:prstGeom>
          <a:noFill/>
          <a:ln cap="flat" cmpd="sng" w="9525">
            <a:solidFill>
              <a:schemeClr val="accent1"/>
            </a:solidFill>
            <a:prstDash val="solid"/>
            <a:round/>
            <a:headEnd len="sm" w="sm" type="none"/>
            <a:tailEnd len="sm" w="sm" type="triangle"/>
          </a:ln>
        </p:spPr>
      </p:cxnSp>
      <p:sp>
        <p:nvSpPr>
          <p:cNvPr id="2977" name="Google Shape;2977;p109"/>
          <p:cNvSpPr/>
          <p:nvPr/>
        </p:nvSpPr>
        <p:spPr>
          <a:xfrm>
            <a:off x="5693094"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2978" name="Google Shape;2978;p109"/>
          <p:cNvGrpSpPr/>
          <p:nvPr/>
        </p:nvGrpSpPr>
        <p:grpSpPr>
          <a:xfrm>
            <a:off x="9152825" y="5742257"/>
            <a:ext cx="1044000" cy="400292"/>
            <a:chOff x="9534531" y="5311470"/>
            <a:chExt cx="1044000" cy="400292"/>
          </a:xfrm>
        </p:grpSpPr>
        <p:sp>
          <p:nvSpPr>
            <p:cNvPr id="2979" name="Google Shape;2979;p109"/>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2980" name="Google Shape;2980;p109"/>
            <p:cNvPicPr preferRelativeResize="0"/>
            <p:nvPr/>
          </p:nvPicPr>
          <p:blipFill>
            <a:blip r:embed="rId3">
              <a:alphaModFix/>
            </a:blip>
            <a:stretch>
              <a:fillRect/>
            </a:stretch>
          </p:blipFill>
          <p:spPr>
            <a:xfrm>
              <a:off x="9908871" y="5311470"/>
              <a:ext cx="265176" cy="265176"/>
            </a:xfrm>
            <a:prstGeom prst="rect">
              <a:avLst/>
            </a:prstGeom>
            <a:noFill/>
            <a:ln>
              <a:noFill/>
            </a:ln>
          </p:spPr>
        </p:pic>
      </p:grpSp>
      <p:grpSp>
        <p:nvGrpSpPr>
          <p:cNvPr id="2981" name="Google Shape;2981;p109"/>
          <p:cNvGrpSpPr/>
          <p:nvPr/>
        </p:nvGrpSpPr>
        <p:grpSpPr>
          <a:xfrm>
            <a:off x="9133775" y="5106027"/>
            <a:ext cx="1082100" cy="391902"/>
            <a:chOff x="9515475" y="4663855"/>
            <a:chExt cx="1082100" cy="391902"/>
          </a:xfrm>
        </p:grpSpPr>
        <p:sp>
          <p:nvSpPr>
            <p:cNvPr id="2982" name="Google Shape;2982;p109"/>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2983" name="Google Shape;2983;p109"/>
            <p:cNvPicPr preferRelativeResize="0"/>
            <p:nvPr/>
          </p:nvPicPr>
          <p:blipFill>
            <a:blip r:embed="rId3">
              <a:alphaModFix/>
            </a:blip>
            <a:stretch>
              <a:fillRect/>
            </a:stretch>
          </p:blipFill>
          <p:spPr>
            <a:xfrm>
              <a:off x="9908871" y="4663855"/>
              <a:ext cx="265176" cy="265176"/>
            </a:xfrm>
            <a:prstGeom prst="rect">
              <a:avLst/>
            </a:prstGeom>
            <a:noFill/>
            <a:ln>
              <a:noFill/>
            </a:ln>
          </p:spPr>
        </p:pic>
      </p:grpSp>
      <p:grpSp>
        <p:nvGrpSpPr>
          <p:cNvPr id="2984" name="Google Shape;2984;p109"/>
          <p:cNvGrpSpPr/>
          <p:nvPr/>
        </p:nvGrpSpPr>
        <p:grpSpPr>
          <a:xfrm>
            <a:off x="4283501" y="5741943"/>
            <a:ext cx="1044000" cy="397683"/>
            <a:chOff x="4661400" y="6214292"/>
            <a:chExt cx="1044000" cy="397683"/>
          </a:xfrm>
        </p:grpSpPr>
        <p:sp>
          <p:nvSpPr>
            <p:cNvPr id="2985" name="Google Shape;2985;p109"/>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2986" name="Google Shape;2986;p109"/>
            <p:cNvPicPr preferRelativeResize="0"/>
            <p:nvPr/>
          </p:nvPicPr>
          <p:blipFill>
            <a:blip r:embed="rId4">
              <a:alphaModFix/>
            </a:blip>
            <a:stretch>
              <a:fillRect/>
            </a:stretch>
          </p:blipFill>
          <p:spPr>
            <a:xfrm>
              <a:off x="5035638" y="6214292"/>
              <a:ext cx="265176" cy="265176"/>
            </a:xfrm>
            <a:prstGeom prst="rect">
              <a:avLst/>
            </a:prstGeom>
            <a:noFill/>
            <a:ln>
              <a:noFill/>
            </a:ln>
          </p:spPr>
        </p:pic>
      </p:grpSp>
      <p:sp>
        <p:nvSpPr>
          <p:cNvPr id="2987" name="Google Shape;2987;p109"/>
          <p:cNvSpPr/>
          <p:nvPr/>
        </p:nvSpPr>
        <p:spPr>
          <a:xfrm>
            <a:off x="6727000" y="5129400"/>
            <a:ext cx="666600" cy="292500"/>
          </a:xfrm>
          <a:prstGeom prst="roundRect">
            <a:avLst>
              <a:gd fmla="val 17511"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Sharing</a:t>
            </a:r>
            <a:endParaRPr sz="900">
              <a:solidFill>
                <a:schemeClr val="accent2"/>
              </a:solidFill>
              <a:latin typeface="DM Sans SemiBold"/>
              <a:ea typeface="DM Sans SemiBold"/>
              <a:cs typeface="DM Sans SemiBold"/>
              <a:sym typeface="DM Sans SemiBold"/>
            </a:endParaRPr>
          </a:p>
        </p:txBody>
      </p:sp>
      <p:pic>
        <p:nvPicPr>
          <p:cNvPr id="2988" name="Google Shape;2988;p109"/>
          <p:cNvPicPr preferRelativeResize="0"/>
          <p:nvPr/>
        </p:nvPicPr>
        <p:blipFill>
          <a:blip r:embed="rId5">
            <a:alphaModFix/>
          </a:blip>
          <a:stretch>
            <a:fillRect/>
          </a:stretch>
        </p:blipFill>
        <p:spPr>
          <a:xfrm>
            <a:off x="6754210" y="5201783"/>
            <a:ext cx="173400" cy="145181"/>
          </a:xfrm>
          <a:prstGeom prst="rect">
            <a:avLst/>
          </a:prstGeom>
          <a:noFill/>
          <a:ln>
            <a:noFill/>
          </a:ln>
        </p:spPr>
      </p:pic>
      <p:sp>
        <p:nvSpPr>
          <p:cNvPr id="2989" name="Google Shape;2989;p109"/>
          <p:cNvSpPr/>
          <p:nvPr/>
        </p:nvSpPr>
        <p:spPr>
          <a:xfrm>
            <a:off x="2143275" y="2825260"/>
            <a:ext cx="879600" cy="274200"/>
          </a:xfrm>
          <a:prstGeom prst="roundRect">
            <a:avLst>
              <a:gd fmla="val 16667"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2990" name="Google Shape;2990;p109"/>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grpSp>
        <p:nvGrpSpPr>
          <p:cNvPr id="2991" name="Google Shape;2991;p109"/>
          <p:cNvGrpSpPr/>
          <p:nvPr/>
        </p:nvGrpSpPr>
        <p:grpSpPr>
          <a:xfrm>
            <a:off x="9357275" y="4466615"/>
            <a:ext cx="635100" cy="393231"/>
            <a:chOff x="9738981" y="3936515"/>
            <a:chExt cx="635100" cy="393231"/>
          </a:xfrm>
        </p:grpSpPr>
        <p:sp>
          <p:nvSpPr>
            <p:cNvPr id="2992" name="Google Shape;2992;p109"/>
            <p:cNvSpPr txBox="1"/>
            <p:nvPr/>
          </p:nvSpPr>
          <p:spPr>
            <a:xfrm>
              <a:off x="9738981" y="4175845"/>
              <a:ext cx="63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BI Tool</a:t>
              </a:r>
              <a:endParaRPr sz="900">
                <a:solidFill>
                  <a:schemeClr val="accent1"/>
                </a:solidFill>
                <a:latin typeface="DM Sans Medium"/>
                <a:ea typeface="DM Sans Medium"/>
                <a:cs typeface="DM Sans Medium"/>
                <a:sym typeface="DM Sans Medium"/>
              </a:endParaRPr>
            </a:p>
          </p:txBody>
        </p:sp>
        <p:pic>
          <p:nvPicPr>
            <p:cNvPr id="2993" name="Google Shape;2993;p109"/>
            <p:cNvPicPr preferRelativeResize="0"/>
            <p:nvPr/>
          </p:nvPicPr>
          <p:blipFill>
            <a:blip r:embed="rId6">
              <a:alphaModFix/>
            </a:blip>
            <a:stretch>
              <a:fillRect/>
            </a:stretch>
          </p:blipFill>
          <p:spPr>
            <a:xfrm>
              <a:off x="9923943" y="3936515"/>
              <a:ext cx="265176" cy="265176"/>
            </a:xfrm>
            <a:prstGeom prst="rect">
              <a:avLst/>
            </a:prstGeom>
            <a:noFill/>
            <a:ln>
              <a:noFill/>
            </a:ln>
          </p:spPr>
        </p:pic>
      </p:grpSp>
      <p:sp>
        <p:nvSpPr>
          <p:cNvPr id="2994" name="Google Shape;2994;p109"/>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95" name="Google Shape;2995;p109"/>
          <p:cNvCxnSpPr>
            <a:stCxn id="2994" idx="2"/>
            <a:endCxn id="2955" idx="1"/>
          </p:cNvCxnSpPr>
          <p:nvPr/>
        </p:nvCxnSpPr>
        <p:spPr>
          <a:xfrm flipH="1" rot="-5400000">
            <a:off x="8560121" y="4643598"/>
            <a:ext cx="1042200" cy="105000"/>
          </a:xfrm>
          <a:prstGeom prst="bentConnector2">
            <a:avLst/>
          </a:prstGeom>
          <a:noFill/>
          <a:ln cap="flat" cmpd="sng" w="9525">
            <a:solidFill>
              <a:schemeClr val="accent1"/>
            </a:solidFill>
            <a:prstDash val="solid"/>
            <a:round/>
            <a:headEnd len="sm" w="sm" type="none"/>
            <a:tailEnd len="sm" w="sm" type="triangle"/>
          </a:ln>
        </p:spPr>
      </p:cxnSp>
      <p:cxnSp>
        <p:nvCxnSpPr>
          <p:cNvPr id="2996" name="Google Shape;2996;p109"/>
          <p:cNvCxnSpPr>
            <a:stCxn id="2994" idx="2"/>
            <a:endCxn id="2990" idx="1"/>
          </p:cNvCxnSpPr>
          <p:nvPr/>
        </p:nvCxnSpPr>
        <p:spPr>
          <a:xfrm flipH="1" rot="-5400000">
            <a:off x="8882471" y="4321248"/>
            <a:ext cx="397500" cy="105000"/>
          </a:xfrm>
          <a:prstGeom prst="bentConnector2">
            <a:avLst/>
          </a:prstGeom>
          <a:noFill/>
          <a:ln cap="flat" cmpd="sng" w="9525">
            <a:solidFill>
              <a:schemeClr val="accent1"/>
            </a:solidFill>
            <a:prstDash val="solid"/>
            <a:round/>
            <a:headEnd len="sm" w="sm" type="none"/>
            <a:tailEnd len="sm" w="sm" type="triangle"/>
          </a:ln>
        </p:spPr>
      </p:cxnSp>
      <p:sp>
        <p:nvSpPr>
          <p:cNvPr id="2997" name="Google Shape;2997;p109"/>
          <p:cNvSpPr/>
          <p:nvPr/>
        </p:nvSpPr>
        <p:spPr>
          <a:xfrm>
            <a:off x="6727824"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2998" name="Google Shape;2998;p109"/>
          <p:cNvSpPr/>
          <p:nvPr/>
        </p:nvSpPr>
        <p:spPr>
          <a:xfrm>
            <a:off x="332284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2999" name="Google Shape;2999;p109"/>
          <p:cNvPicPr preferRelativeResize="0"/>
          <p:nvPr/>
        </p:nvPicPr>
        <p:blipFill>
          <a:blip r:embed="rId7">
            <a:alphaModFix/>
          </a:blip>
          <a:stretch>
            <a:fillRect/>
          </a:stretch>
        </p:blipFill>
        <p:spPr>
          <a:xfrm>
            <a:off x="3367671" y="5181455"/>
            <a:ext cx="200700" cy="191237"/>
          </a:xfrm>
          <a:prstGeom prst="rect">
            <a:avLst/>
          </a:prstGeom>
          <a:noFill/>
          <a:ln>
            <a:noFill/>
          </a:ln>
        </p:spPr>
      </p:pic>
      <p:sp>
        <p:nvSpPr>
          <p:cNvPr id="3000" name="Google Shape;3000;p109"/>
          <p:cNvSpPr/>
          <p:nvPr/>
        </p:nvSpPr>
        <p:spPr>
          <a:xfrm>
            <a:off x="4857709" y="4423213"/>
            <a:ext cx="7404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3001" name="Google Shape;3001;p109"/>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3002" name="Google Shape;3002;p109"/>
          <p:cNvSpPr/>
          <p:nvPr/>
        </p:nvSpPr>
        <p:spPr>
          <a:xfrm>
            <a:off x="433225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3003" name="Google Shape;3003;p109"/>
          <p:cNvSpPr/>
          <p:nvPr/>
        </p:nvSpPr>
        <p:spPr>
          <a:xfrm>
            <a:off x="3449100" y="2582475"/>
            <a:ext cx="7611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sp>
        <p:nvSpPr>
          <p:cNvPr id="3004" name="Google Shape;3004;p109"/>
          <p:cNvSpPr/>
          <p:nvPr/>
        </p:nvSpPr>
        <p:spPr>
          <a:xfrm>
            <a:off x="3322840" y="4423213"/>
            <a:ext cx="7041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Federation</a:t>
            </a:r>
            <a:endParaRPr sz="900">
              <a:solidFill>
                <a:schemeClr val="accent2"/>
              </a:solidFill>
              <a:latin typeface="DM Sans SemiBold"/>
              <a:ea typeface="DM Sans SemiBold"/>
              <a:cs typeface="DM Sans SemiBold"/>
              <a:sym typeface="DM Sans SemiBold"/>
            </a:endParaRPr>
          </a:p>
        </p:txBody>
      </p:sp>
      <p:cxnSp>
        <p:nvCxnSpPr>
          <p:cNvPr id="3005" name="Google Shape;3005;p109"/>
          <p:cNvCxnSpPr/>
          <p:nvPr/>
        </p:nvCxnSpPr>
        <p:spPr>
          <a:xfrm>
            <a:off x="1768354" y="537154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3006" name="Google Shape;3006;p109"/>
          <p:cNvCxnSpPr>
            <a:stCxn id="3007" idx="2"/>
            <a:endCxn id="2986" idx="1"/>
          </p:cNvCxnSpPr>
          <p:nvPr/>
        </p:nvCxnSpPr>
        <p:spPr>
          <a:xfrm flipH="1" rot="-5400000">
            <a:off x="4243734" y="5460355"/>
            <a:ext cx="326100" cy="502200"/>
          </a:xfrm>
          <a:prstGeom prst="bentConnector2">
            <a:avLst/>
          </a:prstGeom>
          <a:noFill/>
          <a:ln cap="flat" cmpd="sng" w="9525">
            <a:solidFill>
              <a:schemeClr val="accent1"/>
            </a:solidFill>
            <a:prstDash val="solid"/>
            <a:round/>
            <a:headEnd len="sm" w="sm" type="triangle"/>
            <a:tailEnd len="sm" w="sm" type="triangle"/>
          </a:ln>
        </p:spPr>
      </p:cxnSp>
      <p:sp>
        <p:nvSpPr>
          <p:cNvPr id="2966" name="Google Shape;2966;p109"/>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62" name="Google Shape;2962;p109"/>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3008" name="Google Shape;3008;p109"/>
          <p:cNvPicPr preferRelativeResize="0"/>
          <p:nvPr/>
        </p:nvPicPr>
        <p:blipFill>
          <a:blip r:embed="rId8">
            <a:alphaModFix/>
          </a:blip>
          <a:stretch>
            <a:fillRect/>
          </a:stretch>
        </p:blipFill>
        <p:spPr>
          <a:xfrm>
            <a:off x="4998129" y="1403077"/>
            <a:ext cx="259650" cy="279625"/>
          </a:xfrm>
          <a:prstGeom prst="rect">
            <a:avLst/>
          </a:prstGeom>
          <a:noFill/>
          <a:ln>
            <a:noFill/>
          </a:ln>
        </p:spPr>
      </p:pic>
      <p:sp>
        <p:nvSpPr>
          <p:cNvPr id="3007" name="Google Shape;3007;p109"/>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009" name="Google Shape;3009;p109"/>
          <p:cNvSpPr/>
          <p:nvPr/>
        </p:nvSpPr>
        <p:spPr>
          <a:xfrm>
            <a:off x="8279671" y="2582483"/>
            <a:ext cx="6855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3010" name="Google Shape;3010;p109"/>
          <p:cNvGrpSpPr/>
          <p:nvPr/>
        </p:nvGrpSpPr>
        <p:grpSpPr>
          <a:xfrm>
            <a:off x="5357469" y="5168059"/>
            <a:ext cx="1015163" cy="210402"/>
            <a:chOff x="6995676" y="6025175"/>
            <a:chExt cx="1015163" cy="210402"/>
          </a:xfrm>
        </p:grpSpPr>
        <p:sp>
          <p:nvSpPr>
            <p:cNvPr id="3011" name="Google Shape;3011;p109"/>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3012" name="Google Shape;3012;p109"/>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3013" name="Google Shape;3013;p109"/>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3014" name="Google Shape;3014;p109"/>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015" name="Google Shape;3015;p109"/>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016" name="Google Shape;3016;p109"/>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017" name="Google Shape;3017;p109"/>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018" name="Google Shape;3018;p109"/>
            <p:cNvCxnSpPr>
              <a:stCxn id="3015" idx="4"/>
              <a:endCxn id="3019"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3019" name="Google Shape;3019;p109"/>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020" name="Google Shape;3020;p109"/>
            <p:cNvCxnSpPr>
              <a:stCxn id="3014" idx="4"/>
              <a:endCxn id="3017"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3021" name="Google Shape;3021;p109"/>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sp>
        <p:nvSpPr>
          <p:cNvPr id="3022" name="Google Shape;3022;p109"/>
          <p:cNvSpPr/>
          <p:nvPr/>
        </p:nvSpPr>
        <p:spPr>
          <a:xfrm>
            <a:off x="3727425" y="3799000"/>
            <a:ext cx="704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3023" name="Google Shape;3023;p109"/>
          <p:cNvSpPr/>
          <p:nvPr/>
        </p:nvSpPr>
        <p:spPr>
          <a:xfrm>
            <a:off x="5461775" y="3802250"/>
            <a:ext cx="6858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3024" name="Google Shape;3024;p109"/>
          <p:cNvSpPr/>
          <p:nvPr/>
        </p:nvSpPr>
        <p:spPr>
          <a:xfrm>
            <a:off x="4564824" y="3802250"/>
            <a:ext cx="761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3025" name="Google Shape;3025;p109"/>
          <p:cNvGrpSpPr/>
          <p:nvPr/>
        </p:nvGrpSpPr>
        <p:grpSpPr>
          <a:xfrm>
            <a:off x="861763" y="1388635"/>
            <a:ext cx="879600" cy="565670"/>
            <a:chOff x="820734" y="1742570"/>
            <a:chExt cx="879600" cy="565670"/>
          </a:xfrm>
        </p:grpSpPr>
        <p:sp>
          <p:nvSpPr>
            <p:cNvPr id="3026" name="Google Shape;3026;p109"/>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027" name="Google Shape;3027;p109"/>
            <p:cNvPicPr preferRelativeResize="0"/>
            <p:nvPr/>
          </p:nvPicPr>
          <p:blipFill>
            <a:blip r:embed="rId9">
              <a:alphaModFix/>
            </a:blip>
            <a:stretch>
              <a:fillRect/>
            </a:stretch>
          </p:blipFill>
          <p:spPr>
            <a:xfrm>
              <a:off x="1127949" y="1742570"/>
              <a:ext cx="265176" cy="265176"/>
            </a:xfrm>
            <a:prstGeom prst="rect">
              <a:avLst/>
            </a:prstGeom>
            <a:noFill/>
            <a:ln>
              <a:noFill/>
            </a:ln>
          </p:spPr>
        </p:pic>
      </p:grpSp>
      <p:grpSp>
        <p:nvGrpSpPr>
          <p:cNvPr id="3028" name="Google Shape;3028;p109"/>
          <p:cNvGrpSpPr/>
          <p:nvPr/>
        </p:nvGrpSpPr>
        <p:grpSpPr>
          <a:xfrm>
            <a:off x="1278400" y="4282495"/>
            <a:ext cx="462900" cy="422268"/>
            <a:chOff x="1296935" y="4254734"/>
            <a:chExt cx="462900" cy="422268"/>
          </a:xfrm>
        </p:grpSpPr>
        <p:pic>
          <p:nvPicPr>
            <p:cNvPr id="3029" name="Google Shape;3029;p109"/>
            <p:cNvPicPr preferRelativeResize="0"/>
            <p:nvPr/>
          </p:nvPicPr>
          <p:blipFill rotWithShape="1">
            <a:blip r:embed="rId10">
              <a:alphaModFix/>
            </a:blip>
            <a:srcRect b="0" l="0" r="0" t="0"/>
            <a:stretch/>
          </p:blipFill>
          <p:spPr>
            <a:xfrm>
              <a:off x="1395798" y="4254734"/>
              <a:ext cx="265176" cy="265176"/>
            </a:xfrm>
            <a:prstGeom prst="rect">
              <a:avLst/>
            </a:prstGeom>
            <a:noFill/>
            <a:ln>
              <a:noFill/>
            </a:ln>
          </p:spPr>
        </p:pic>
        <p:sp>
          <p:nvSpPr>
            <p:cNvPr id="3030" name="Google Shape;3030;p109"/>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3031" name="Google Shape;3031;p109"/>
          <p:cNvGrpSpPr/>
          <p:nvPr/>
        </p:nvGrpSpPr>
        <p:grpSpPr>
          <a:xfrm>
            <a:off x="861800" y="1970622"/>
            <a:ext cx="879600" cy="558086"/>
            <a:chOff x="820771" y="2866176"/>
            <a:chExt cx="879600" cy="558086"/>
          </a:xfrm>
        </p:grpSpPr>
        <p:sp>
          <p:nvSpPr>
            <p:cNvPr id="3032" name="Google Shape;3032;p109"/>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3033" name="Google Shape;3033;p109"/>
            <p:cNvPicPr preferRelativeResize="0"/>
            <p:nvPr/>
          </p:nvPicPr>
          <p:blipFill>
            <a:blip r:embed="rId11">
              <a:alphaModFix/>
            </a:blip>
            <a:stretch>
              <a:fillRect/>
            </a:stretch>
          </p:blipFill>
          <p:spPr>
            <a:xfrm>
              <a:off x="1127949" y="2866176"/>
              <a:ext cx="265176" cy="265176"/>
            </a:xfrm>
            <a:prstGeom prst="rect">
              <a:avLst/>
            </a:prstGeom>
            <a:noFill/>
            <a:ln>
              <a:noFill/>
            </a:ln>
          </p:spPr>
        </p:pic>
      </p:grpSp>
      <p:grpSp>
        <p:nvGrpSpPr>
          <p:cNvPr id="3034" name="Google Shape;3034;p109"/>
          <p:cNvGrpSpPr/>
          <p:nvPr/>
        </p:nvGrpSpPr>
        <p:grpSpPr>
          <a:xfrm>
            <a:off x="903312" y="2545026"/>
            <a:ext cx="796500" cy="542824"/>
            <a:chOff x="862283" y="2315806"/>
            <a:chExt cx="796500" cy="542824"/>
          </a:xfrm>
        </p:grpSpPr>
        <p:sp>
          <p:nvSpPr>
            <p:cNvPr id="3035" name="Google Shape;3035;p109"/>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036" name="Google Shape;3036;p109"/>
            <p:cNvPicPr preferRelativeResize="0"/>
            <p:nvPr/>
          </p:nvPicPr>
          <p:blipFill>
            <a:blip r:embed="rId10">
              <a:alphaModFix/>
            </a:blip>
            <a:stretch>
              <a:fillRect/>
            </a:stretch>
          </p:blipFill>
          <p:spPr>
            <a:xfrm>
              <a:off x="1127949" y="2315806"/>
              <a:ext cx="265176" cy="265176"/>
            </a:xfrm>
            <a:prstGeom prst="rect">
              <a:avLst/>
            </a:prstGeom>
            <a:noFill/>
            <a:ln>
              <a:noFill/>
            </a:ln>
          </p:spPr>
        </p:pic>
      </p:grpSp>
      <p:grpSp>
        <p:nvGrpSpPr>
          <p:cNvPr id="3037" name="Google Shape;3037;p109"/>
          <p:cNvGrpSpPr/>
          <p:nvPr/>
        </p:nvGrpSpPr>
        <p:grpSpPr>
          <a:xfrm>
            <a:off x="861700" y="3104161"/>
            <a:ext cx="879600" cy="559474"/>
            <a:chOff x="820671" y="3997940"/>
            <a:chExt cx="879600" cy="559474"/>
          </a:xfrm>
        </p:grpSpPr>
        <p:pic>
          <p:nvPicPr>
            <p:cNvPr id="3038" name="Google Shape;3038;p109"/>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3039" name="Google Shape;3039;p109"/>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3040" name="Google Shape;3040;p109"/>
          <p:cNvGrpSpPr/>
          <p:nvPr/>
        </p:nvGrpSpPr>
        <p:grpSpPr>
          <a:xfrm>
            <a:off x="920210" y="3679952"/>
            <a:ext cx="761100" cy="558519"/>
            <a:chOff x="880006" y="3431841"/>
            <a:chExt cx="761100" cy="558519"/>
          </a:xfrm>
        </p:grpSpPr>
        <p:pic>
          <p:nvPicPr>
            <p:cNvPr id="3041" name="Google Shape;3041;p109"/>
            <p:cNvPicPr preferRelativeResize="0"/>
            <p:nvPr/>
          </p:nvPicPr>
          <p:blipFill>
            <a:blip r:embed="rId12">
              <a:alphaModFix/>
            </a:blip>
            <a:stretch>
              <a:fillRect/>
            </a:stretch>
          </p:blipFill>
          <p:spPr>
            <a:xfrm>
              <a:off x="1127949" y="3431841"/>
              <a:ext cx="265176" cy="265176"/>
            </a:xfrm>
            <a:prstGeom prst="rect">
              <a:avLst/>
            </a:prstGeom>
            <a:noFill/>
            <a:ln>
              <a:noFill/>
            </a:ln>
          </p:spPr>
        </p:pic>
        <p:sp>
          <p:nvSpPr>
            <p:cNvPr id="3042" name="Google Shape;3042;p109"/>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3043" name="Google Shape;3043;p109"/>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3044" name="Google Shape;3044;p109"/>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3045" name="Google Shape;3045;p109"/>
          <p:cNvSpPr/>
          <p:nvPr/>
        </p:nvSpPr>
        <p:spPr>
          <a:xfrm>
            <a:off x="7446063" y="5249871"/>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Clean Rooms</a:t>
            </a:r>
            <a:endParaRPr sz="900">
              <a:solidFill>
                <a:schemeClr val="accent2"/>
              </a:solidFill>
              <a:latin typeface="DM Sans SemiBold"/>
              <a:ea typeface="DM Sans SemiBold"/>
              <a:cs typeface="DM Sans SemiBold"/>
              <a:sym typeface="DM Sans SemiBold"/>
            </a:endParaRPr>
          </a:p>
        </p:txBody>
      </p:sp>
      <p:sp>
        <p:nvSpPr>
          <p:cNvPr id="3046" name="Google Shape;3046;p109"/>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3047" name="Google Shape;3047;p109"/>
          <p:cNvGrpSpPr/>
          <p:nvPr/>
        </p:nvGrpSpPr>
        <p:grpSpPr>
          <a:xfrm>
            <a:off x="10745081" y="3937546"/>
            <a:ext cx="549000" cy="366196"/>
            <a:chOff x="10745081" y="3937546"/>
            <a:chExt cx="549000" cy="366196"/>
          </a:xfrm>
        </p:grpSpPr>
        <p:pic>
          <p:nvPicPr>
            <p:cNvPr id="3048" name="Google Shape;3048;p109"/>
            <p:cNvPicPr preferRelativeResize="0"/>
            <p:nvPr/>
          </p:nvPicPr>
          <p:blipFill>
            <a:blip r:embed="rId13">
              <a:alphaModFix/>
            </a:blip>
            <a:stretch>
              <a:fillRect/>
            </a:stretch>
          </p:blipFill>
          <p:spPr>
            <a:xfrm>
              <a:off x="10912331" y="3937546"/>
              <a:ext cx="214500" cy="217452"/>
            </a:xfrm>
            <a:prstGeom prst="rect">
              <a:avLst/>
            </a:prstGeom>
            <a:noFill/>
            <a:ln>
              <a:noFill/>
            </a:ln>
          </p:spPr>
        </p:pic>
        <p:sp>
          <p:nvSpPr>
            <p:cNvPr id="3049" name="Google Shape;3049;p109"/>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3050" name="Google Shape;3050;p109"/>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3051" name="Google Shape;3051;p109"/>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3052" name="Google Shape;3052;p109"/>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3053" name="Google Shape;3053;p109"/>
          <p:cNvSpPr/>
          <p:nvPr/>
        </p:nvSpPr>
        <p:spPr>
          <a:xfrm>
            <a:off x="10521581" y="1368053"/>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3054" name="Google Shape;3054;p109"/>
          <p:cNvGrpSpPr/>
          <p:nvPr/>
        </p:nvGrpSpPr>
        <p:grpSpPr>
          <a:xfrm>
            <a:off x="10597029" y="1623535"/>
            <a:ext cx="845100" cy="405937"/>
            <a:chOff x="10597029" y="1623535"/>
            <a:chExt cx="845100" cy="405937"/>
          </a:xfrm>
        </p:grpSpPr>
        <p:sp>
          <p:nvSpPr>
            <p:cNvPr id="3055" name="Google Shape;3055;p109"/>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3056" name="Google Shape;3056;p109"/>
            <p:cNvPicPr preferRelativeResize="0"/>
            <p:nvPr/>
          </p:nvPicPr>
          <p:blipFill>
            <a:blip r:embed="rId14">
              <a:alphaModFix/>
            </a:blip>
            <a:stretch>
              <a:fillRect/>
            </a:stretch>
          </p:blipFill>
          <p:spPr>
            <a:xfrm>
              <a:off x="10850739" y="1623535"/>
              <a:ext cx="265176" cy="265176"/>
            </a:xfrm>
            <a:prstGeom prst="rect">
              <a:avLst/>
            </a:prstGeom>
            <a:noFill/>
            <a:ln>
              <a:noFill/>
            </a:ln>
          </p:spPr>
        </p:pic>
      </p:grpSp>
      <p:sp>
        <p:nvSpPr>
          <p:cNvPr id="3057" name="Google Shape;3057;p109"/>
          <p:cNvSpPr/>
          <p:nvPr/>
        </p:nvSpPr>
        <p:spPr>
          <a:xfrm>
            <a:off x="10521581" y="221927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3058" name="Google Shape;3058;p109"/>
          <p:cNvGrpSpPr/>
          <p:nvPr/>
        </p:nvGrpSpPr>
        <p:grpSpPr>
          <a:xfrm>
            <a:off x="10702031" y="2486073"/>
            <a:ext cx="635100" cy="543395"/>
            <a:chOff x="10702031" y="2486073"/>
            <a:chExt cx="635100" cy="543395"/>
          </a:xfrm>
        </p:grpSpPr>
        <p:sp>
          <p:nvSpPr>
            <p:cNvPr id="3059" name="Google Shape;3059;p109"/>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3060" name="Google Shape;3060;p109"/>
            <p:cNvPicPr preferRelativeResize="0"/>
            <p:nvPr/>
          </p:nvPicPr>
          <p:blipFill>
            <a:blip r:embed="rId15">
              <a:alphaModFix/>
            </a:blip>
            <a:stretch>
              <a:fillRect/>
            </a:stretch>
          </p:blipFill>
          <p:spPr>
            <a:xfrm>
              <a:off x="10850716" y="2486073"/>
              <a:ext cx="265176" cy="265176"/>
            </a:xfrm>
            <a:prstGeom prst="rect">
              <a:avLst/>
            </a:prstGeom>
            <a:noFill/>
            <a:ln>
              <a:noFill/>
            </a:ln>
          </p:spPr>
        </p:pic>
      </p:grpSp>
      <p:sp>
        <p:nvSpPr>
          <p:cNvPr id="3061" name="Google Shape;3061;p109"/>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3062" name="Google Shape;3062;p109"/>
          <p:cNvGrpSpPr/>
          <p:nvPr/>
        </p:nvGrpSpPr>
        <p:grpSpPr>
          <a:xfrm>
            <a:off x="10621328" y="4994250"/>
            <a:ext cx="796500" cy="553688"/>
            <a:chOff x="10621328" y="4994250"/>
            <a:chExt cx="796500" cy="553688"/>
          </a:xfrm>
        </p:grpSpPr>
        <p:sp>
          <p:nvSpPr>
            <p:cNvPr id="3063" name="Google Shape;3063;p109"/>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3064" name="Google Shape;3064;p109"/>
            <p:cNvPicPr preferRelativeResize="0"/>
            <p:nvPr/>
          </p:nvPicPr>
          <p:blipFill>
            <a:blip r:embed="rId16">
              <a:alphaModFix/>
            </a:blip>
            <a:stretch>
              <a:fillRect/>
            </a:stretch>
          </p:blipFill>
          <p:spPr>
            <a:xfrm>
              <a:off x="10864167" y="4994250"/>
              <a:ext cx="265176" cy="265176"/>
            </a:xfrm>
            <a:prstGeom prst="rect">
              <a:avLst/>
            </a:prstGeom>
            <a:noFill/>
            <a:ln>
              <a:noFill/>
            </a:ln>
          </p:spPr>
        </p:pic>
      </p:grpSp>
      <p:sp>
        <p:nvSpPr>
          <p:cNvPr id="3065" name="Google Shape;3065;p109"/>
          <p:cNvSpPr/>
          <p:nvPr/>
        </p:nvSpPr>
        <p:spPr>
          <a:xfrm>
            <a:off x="8279671"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3066" name="Google Shape;3066;p109"/>
          <p:cNvPicPr preferRelativeResize="0"/>
          <p:nvPr/>
        </p:nvPicPr>
        <p:blipFill>
          <a:blip r:embed="rId17">
            <a:alphaModFix/>
          </a:blip>
          <a:stretch>
            <a:fillRect/>
          </a:stretch>
        </p:blipFill>
        <p:spPr>
          <a:xfrm>
            <a:off x="4351863" y="5186555"/>
            <a:ext cx="173400" cy="173400"/>
          </a:xfrm>
          <a:prstGeom prst="rect">
            <a:avLst/>
          </a:prstGeom>
          <a:noFill/>
          <a:ln>
            <a:noFill/>
          </a:ln>
        </p:spPr>
      </p:pic>
      <p:sp>
        <p:nvSpPr>
          <p:cNvPr id="3067" name="Google Shape;3067;p109"/>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cxnSp>
        <p:nvCxnSpPr>
          <p:cNvPr id="3068" name="Google Shape;3068;p109"/>
          <p:cNvCxnSpPr/>
          <p:nvPr/>
        </p:nvCxnSpPr>
        <p:spPr>
          <a:xfrm>
            <a:off x="1768354" y="502579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grpSp>
        <p:nvGrpSpPr>
          <p:cNvPr id="3069" name="Google Shape;3069;p109"/>
          <p:cNvGrpSpPr/>
          <p:nvPr/>
        </p:nvGrpSpPr>
        <p:grpSpPr>
          <a:xfrm>
            <a:off x="911400" y="4663311"/>
            <a:ext cx="336000" cy="426753"/>
            <a:chOff x="929785" y="4678386"/>
            <a:chExt cx="336000" cy="426753"/>
          </a:xfrm>
        </p:grpSpPr>
        <p:sp>
          <p:nvSpPr>
            <p:cNvPr id="3070" name="Google Shape;3070;p109"/>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3071" name="Google Shape;3071;p109" title="primary-icon-navy-spark-cluster.png"/>
            <p:cNvPicPr preferRelativeResize="0"/>
            <p:nvPr/>
          </p:nvPicPr>
          <p:blipFill>
            <a:blip r:embed="rId18">
              <a:alphaModFix/>
            </a:blip>
            <a:stretch>
              <a:fillRect/>
            </a:stretch>
          </p:blipFill>
          <p:spPr>
            <a:xfrm>
              <a:off x="963302" y="4678386"/>
              <a:ext cx="269065" cy="269063"/>
            </a:xfrm>
            <a:prstGeom prst="rect">
              <a:avLst/>
            </a:prstGeom>
            <a:noFill/>
            <a:ln>
              <a:noFill/>
            </a:ln>
          </p:spPr>
        </p:pic>
      </p:grpSp>
      <p:grpSp>
        <p:nvGrpSpPr>
          <p:cNvPr id="3072" name="Google Shape;3072;p109"/>
          <p:cNvGrpSpPr/>
          <p:nvPr/>
        </p:nvGrpSpPr>
        <p:grpSpPr>
          <a:xfrm>
            <a:off x="1366236" y="4655157"/>
            <a:ext cx="324300" cy="434522"/>
            <a:chOff x="1377357" y="4647990"/>
            <a:chExt cx="324300" cy="434522"/>
          </a:xfrm>
        </p:grpSpPr>
        <p:sp>
          <p:nvSpPr>
            <p:cNvPr id="3073" name="Google Shape;3073;p109"/>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3074" name="Google Shape;3074;p109" title="primary-icon-navy-hive-metastore-execution.png"/>
            <p:cNvPicPr preferRelativeResize="0"/>
            <p:nvPr/>
          </p:nvPicPr>
          <p:blipFill>
            <a:blip r:embed="rId19">
              <a:alphaModFix/>
            </a:blip>
            <a:stretch>
              <a:fillRect/>
            </a:stretch>
          </p:blipFill>
          <p:spPr>
            <a:xfrm>
              <a:off x="1379822" y="4647990"/>
              <a:ext cx="282300" cy="282300"/>
            </a:xfrm>
            <a:prstGeom prst="rect">
              <a:avLst/>
            </a:prstGeom>
            <a:noFill/>
            <a:ln>
              <a:noFill/>
            </a:ln>
          </p:spPr>
        </p:pic>
      </p:grpSp>
      <p:grpSp>
        <p:nvGrpSpPr>
          <p:cNvPr id="3075" name="Google Shape;3075;p109"/>
          <p:cNvGrpSpPr/>
          <p:nvPr/>
        </p:nvGrpSpPr>
        <p:grpSpPr>
          <a:xfrm>
            <a:off x="899750" y="4283846"/>
            <a:ext cx="359100" cy="422318"/>
            <a:chOff x="899750" y="4215307"/>
            <a:chExt cx="359100" cy="422318"/>
          </a:xfrm>
        </p:grpSpPr>
        <p:sp>
          <p:nvSpPr>
            <p:cNvPr id="3076" name="Google Shape;3076;p109"/>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3077" name="Google Shape;3077;p109" title="primary-icon-navy-data-warehouse-2.png"/>
            <p:cNvPicPr preferRelativeResize="0"/>
            <p:nvPr/>
          </p:nvPicPr>
          <p:blipFill>
            <a:blip r:embed="rId20">
              <a:alphaModFix/>
            </a:blip>
            <a:stretch>
              <a:fillRect/>
            </a:stretch>
          </p:blipFill>
          <p:spPr>
            <a:xfrm>
              <a:off x="912450" y="4215307"/>
              <a:ext cx="336000" cy="273665"/>
            </a:xfrm>
            <a:prstGeom prst="rect">
              <a:avLst/>
            </a:prstGeom>
            <a:noFill/>
            <a:ln>
              <a:noFill/>
            </a:ln>
          </p:spPr>
        </p:pic>
      </p:grpSp>
      <p:pic>
        <p:nvPicPr>
          <p:cNvPr id="3078" name="Google Shape;3078;p109"/>
          <p:cNvPicPr preferRelativeResize="0"/>
          <p:nvPr/>
        </p:nvPicPr>
        <p:blipFill>
          <a:blip r:embed="rId5">
            <a:alphaModFix/>
          </a:blip>
          <a:stretch>
            <a:fillRect/>
          </a:stretch>
        </p:blipFill>
        <p:spPr>
          <a:xfrm>
            <a:off x="2341000" y="5180940"/>
            <a:ext cx="191100" cy="160007"/>
          </a:xfrm>
          <a:prstGeom prst="rect">
            <a:avLst/>
          </a:prstGeom>
          <a:noFill/>
          <a:ln>
            <a:noFill/>
          </a:ln>
        </p:spPr>
      </p:pic>
      <p:sp>
        <p:nvSpPr>
          <p:cNvPr id="3079" name="Google Shape;3079;p109"/>
          <p:cNvSpPr/>
          <p:nvPr/>
        </p:nvSpPr>
        <p:spPr>
          <a:xfrm>
            <a:off x="1989525" y="3622000"/>
            <a:ext cx="1064400" cy="13275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grpSp>
        <p:nvGrpSpPr>
          <p:cNvPr id="3080" name="Google Shape;3080;p109"/>
          <p:cNvGrpSpPr/>
          <p:nvPr/>
        </p:nvGrpSpPr>
        <p:grpSpPr>
          <a:xfrm>
            <a:off x="1964154" y="4131367"/>
            <a:ext cx="524700" cy="534103"/>
            <a:chOff x="2128750" y="4862972"/>
            <a:chExt cx="524700" cy="534103"/>
          </a:xfrm>
        </p:grpSpPr>
        <p:sp>
          <p:nvSpPr>
            <p:cNvPr id="3081" name="Google Shape;3081;p109"/>
            <p:cNvSpPr txBox="1"/>
            <p:nvPr/>
          </p:nvSpPr>
          <p:spPr>
            <a:xfrm>
              <a:off x="2128750" y="5119875"/>
              <a:ext cx="5247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Ingest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tool</a:t>
              </a:r>
              <a:endParaRPr sz="900">
                <a:solidFill>
                  <a:schemeClr val="accent1"/>
                </a:solidFill>
                <a:latin typeface="DM Sans Medium"/>
                <a:ea typeface="DM Sans Medium"/>
                <a:cs typeface="DM Sans Medium"/>
                <a:sym typeface="DM Sans Medium"/>
              </a:endParaRPr>
            </a:p>
          </p:txBody>
        </p:sp>
        <p:pic>
          <p:nvPicPr>
            <p:cNvPr id="3082" name="Google Shape;3082;p109"/>
            <p:cNvPicPr preferRelativeResize="0"/>
            <p:nvPr/>
          </p:nvPicPr>
          <p:blipFill>
            <a:blip r:embed="rId21">
              <a:alphaModFix/>
            </a:blip>
            <a:stretch>
              <a:fillRect/>
            </a:stretch>
          </p:blipFill>
          <p:spPr>
            <a:xfrm>
              <a:off x="2243967" y="4862972"/>
              <a:ext cx="265176" cy="265176"/>
            </a:xfrm>
            <a:prstGeom prst="rect">
              <a:avLst/>
            </a:prstGeom>
            <a:noFill/>
            <a:ln>
              <a:noFill/>
            </a:ln>
          </p:spPr>
        </p:pic>
      </p:grpSp>
      <p:grpSp>
        <p:nvGrpSpPr>
          <p:cNvPr id="3083" name="Google Shape;3083;p109"/>
          <p:cNvGrpSpPr/>
          <p:nvPr/>
        </p:nvGrpSpPr>
        <p:grpSpPr>
          <a:xfrm>
            <a:off x="2394933" y="4131350"/>
            <a:ext cx="685500" cy="534119"/>
            <a:chOff x="2654875" y="4862956"/>
            <a:chExt cx="685500" cy="534119"/>
          </a:xfrm>
        </p:grpSpPr>
        <p:sp>
          <p:nvSpPr>
            <p:cNvPr id="3084" name="Google Shape;3084;p109"/>
            <p:cNvSpPr txBox="1"/>
            <p:nvPr/>
          </p:nvSpPr>
          <p:spPr>
            <a:xfrm>
              <a:off x="2654875" y="5119875"/>
              <a:ext cx="685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Event Streaming</a:t>
              </a:r>
              <a:endParaRPr sz="900">
                <a:solidFill>
                  <a:schemeClr val="accent1"/>
                </a:solidFill>
                <a:latin typeface="DM Sans Medium"/>
                <a:ea typeface="DM Sans Medium"/>
                <a:cs typeface="DM Sans Medium"/>
                <a:sym typeface="DM Sans Medium"/>
              </a:endParaRPr>
            </a:p>
          </p:txBody>
        </p:sp>
        <p:pic>
          <p:nvPicPr>
            <p:cNvPr id="3085" name="Google Shape;3085;p109"/>
            <p:cNvPicPr preferRelativeResize="0"/>
            <p:nvPr/>
          </p:nvPicPr>
          <p:blipFill>
            <a:blip r:embed="rId22">
              <a:alphaModFix/>
            </a:blip>
            <a:stretch>
              <a:fillRect/>
            </a:stretch>
          </p:blipFill>
          <p:spPr>
            <a:xfrm>
              <a:off x="2858432" y="4862956"/>
              <a:ext cx="265176" cy="265176"/>
            </a:xfrm>
            <a:prstGeom prst="rect">
              <a:avLst/>
            </a:prstGeom>
            <a:noFill/>
            <a:ln>
              <a:noFill/>
            </a:ln>
          </p:spPr>
        </p:pic>
      </p:grpSp>
      <p:sp>
        <p:nvSpPr>
          <p:cNvPr id="3086" name="Google Shape;3086;p109"/>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3087" name="Google Shape;3087;p109"/>
          <p:cNvGrpSpPr/>
          <p:nvPr/>
        </p:nvGrpSpPr>
        <p:grpSpPr>
          <a:xfrm>
            <a:off x="1247501" y="5175655"/>
            <a:ext cx="524700" cy="496901"/>
            <a:chOff x="1266036" y="5196700"/>
            <a:chExt cx="524700" cy="496901"/>
          </a:xfrm>
        </p:grpSpPr>
        <p:sp>
          <p:nvSpPr>
            <p:cNvPr id="3088" name="Google Shape;3088;p109"/>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3089" name="Google Shape;3089;p109" title="primary-icon-navy-data-sharing.png"/>
            <p:cNvPicPr preferRelativeResize="0"/>
            <p:nvPr/>
          </p:nvPicPr>
          <p:blipFill>
            <a:blip r:embed="rId23">
              <a:alphaModFix/>
            </a:blip>
            <a:stretch>
              <a:fillRect/>
            </a:stretch>
          </p:blipFill>
          <p:spPr>
            <a:xfrm>
              <a:off x="1393854" y="5196700"/>
              <a:ext cx="269065" cy="269063"/>
            </a:xfrm>
            <a:prstGeom prst="rect">
              <a:avLst/>
            </a:prstGeom>
            <a:noFill/>
            <a:ln>
              <a:noFill/>
            </a:ln>
          </p:spPr>
        </p:pic>
      </p:grpSp>
      <p:grpSp>
        <p:nvGrpSpPr>
          <p:cNvPr id="3090" name="Google Shape;3090;p109"/>
          <p:cNvGrpSpPr/>
          <p:nvPr/>
        </p:nvGrpSpPr>
        <p:grpSpPr>
          <a:xfrm>
            <a:off x="816949" y="5175643"/>
            <a:ext cx="524700" cy="496193"/>
            <a:chOff x="835484" y="5196688"/>
            <a:chExt cx="524700" cy="496193"/>
          </a:xfrm>
        </p:grpSpPr>
        <p:sp>
          <p:nvSpPr>
            <p:cNvPr id="3091" name="Google Shape;3091;p109"/>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3092" name="Google Shape;3092;p109" title="primary-icon-navy-distribution.png"/>
            <p:cNvPicPr preferRelativeResize="0"/>
            <p:nvPr/>
          </p:nvPicPr>
          <p:blipFill>
            <a:blip r:embed="rId24">
              <a:alphaModFix/>
            </a:blip>
            <a:stretch>
              <a:fillRect/>
            </a:stretch>
          </p:blipFill>
          <p:spPr>
            <a:xfrm>
              <a:off x="963302" y="5196688"/>
              <a:ext cx="269065" cy="269063"/>
            </a:xfrm>
            <a:prstGeom prst="rect">
              <a:avLst/>
            </a:prstGeom>
            <a:noFill/>
            <a:ln>
              <a:noFill/>
            </a:ln>
          </p:spPr>
        </p:pic>
      </p:grpSp>
      <p:sp>
        <p:nvSpPr>
          <p:cNvPr id="3093" name="Google Shape;3093;p109"/>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3094" name="Google Shape;3094;p109"/>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3095" name="Google Shape;3095;p109"/>
          <p:cNvSpPr/>
          <p:nvPr/>
        </p:nvSpPr>
        <p:spPr>
          <a:xfrm>
            <a:off x="9276575" y="3179562"/>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Genie</a:t>
            </a:r>
            <a:endParaRPr sz="900">
              <a:solidFill>
                <a:schemeClr val="accent2"/>
              </a:solidFill>
              <a:latin typeface="DM Sans SemiBold"/>
              <a:ea typeface="DM Sans SemiBold"/>
              <a:cs typeface="DM Sans SemiBold"/>
              <a:sym typeface="DM Sans SemiBold"/>
            </a:endParaRPr>
          </a:p>
        </p:txBody>
      </p:sp>
      <p:sp>
        <p:nvSpPr>
          <p:cNvPr id="3096" name="Google Shape;3096;p109"/>
          <p:cNvSpPr/>
          <p:nvPr/>
        </p:nvSpPr>
        <p:spPr>
          <a:xfrm>
            <a:off x="9276575" y="282526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Dashboards</a:t>
            </a:r>
            <a:endParaRPr sz="900">
              <a:solidFill>
                <a:schemeClr val="accent2"/>
              </a:solidFill>
              <a:latin typeface="DM Sans SemiBold"/>
              <a:ea typeface="DM Sans SemiBold"/>
              <a:cs typeface="DM Sans SemiBold"/>
              <a:sym typeface="DM Sans SemiBold"/>
            </a:endParaRPr>
          </a:p>
        </p:txBody>
      </p:sp>
      <p:sp>
        <p:nvSpPr>
          <p:cNvPr id="3097" name="Google Shape;3097;p109"/>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3098" name="Google Shape;3098;p109"/>
          <p:cNvSpPr/>
          <p:nvPr/>
        </p:nvSpPr>
        <p:spPr>
          <a:xfrm>
            <a:off x="9276575" y="379899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3099" name="Google Shape;3099;p109"/>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 CI/CD, MLOps and DataOps</a:t>
            </a:r>
            <a:endParaRPr sz="1100">
              <a:solidFill>
                <a:schemeClr val="accent5"/>
              </a:solidFill>
              <a:latin typeface="DM Sans Medium"/>
              <a:ea typeface="DM Sans Medium"/>
              <a:cs typeface="DM Sans Medium"/>
              <a:sym typeface="DM Sans Medium"/>
            </a:endParaRPr>
          </a:p>
        </p:txBody>
      </p:sp>
      <p:sp>
        <p:nvSpPr>
          <p:cNvPr id="3100" name="Google Shape;3100;p109"/>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3101" name="Google Shape;3101;p109"/>
          <p:cNvSpPr/>
          <p:nvPr/>
        </p:nvSpPr>
        <p:spPr>
          <a:xfrm>
            <a:off x="7503750" y="3798990"/>
            <a:ext cx="685800" cy="2742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sp>
        <p:nvSpPr>
          <p:cNvPr id="3102" name="Google Shape;3102;p109"/>
          <p:cNvSpPr/>
          <p:nvPr/>
        </p:nvSpPr>
        <p:spPr>
          <a:xfrm>
            <a:off x="3638700" y="3179550"/>
            <a:ext cx="1343400" cy="274200"/>
          </a:xfrm>
          <a:prstGeom prst="roundRect">
            <a:avLst>
              <a:gd fmla="val 1811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endParaRPr sz="900">
              <a:solidFill>
                <a:schemeClr val="accent2"/>
              </a:solidFill>
              <a:latin typeface="DM Sans SemiBold"/>
              <a:ea typeface="DM Sans SemiBold"/>
              <a:cs typeface="DM Sans SemiBold"/>
              <a:sym typeface="DM Sans SemiBold"/>
            </a:endParaRPr>
          </a:p>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Declarative Pipelines</a:t>
            </a:r>
            <a:endParaRPr baseline="30000" sz="900">
              <a:solidFill>
                <a:schemeClr val="accent2"/>
              </a:solidFill>
              <a:latin typeface="DM Sans SemiBold"/>
              <a:ea typeface="DM Sans SemiBold"/>
              <a:cs typeface="DM Sans SemiBold"/>
              <a:sym typeface="DM Sans SemiBold"/>
            </a:endParaRPr>
          </a:p>
        </p:txBody>
      </p:sp>
      <p:sp>
        <p:nvSpPr>
          <p:cNvPr id="3103" name="Google Shape;3103;p109"/>
          <p:cNvSpPr/>
          <p:nvPr/>
        </p:nvSpPr>
        <p:spPr>
          <a:xfrm>
            <a:off x="5115450" y="3179550"/>
            <a:ext cx="761100" cy="274200"/>
          </a:xfrm>
          <a:prstGeom prst="roundRect">
            <a:avLst>
              <a:gd fmla="val 19944"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3104" name="Google Shape;3104;p109"/>
          <p:cNvSpPr/>
          <p:nvPr/>
        </p:nvSpPr>
        <p:spPr>
          <a:xfrm>
            <a:off x="6473878"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Business Semantics</a:t>
            </a:r>
            <a:endParaRPr sz="900">
              <a:solidFill>
                <a:schemeClr val="accent2"/>
              </a:solidFill>
              <a:latin typeface="DM Sans SemiBold"/>
              <a:ea typeface="DM Sans SemiBold"/>
              <a:cs typeface="DM Sans SemiBold"/>
              <a:sym typeface="DM Sans SemiBold"/>
            </a:endParaRPr>
          </a:p>
        </p:txBody>
      </p:sp>
      <p:pic>
        <p:nvPicPr>
          <p:cNvPr id="3105" name="Google Shape;3105;p109"/>
          <p:cNvPicPr preferRelativeResize="0"/>
          <p:nvPr/>
        </p:nvPicPr>
        <p:blipFill>
          <a:blip r:embed="rId5">
            <a:alphaModFix/>
          </a:blip>
          <a:stretch>
            <a:fillRect/>
          </a:stretch>
        </p:blipFill>
        <p:spPr>
          <a:xfrm>
            <a:off x="8403950" y="5666965"/>
            <a:ext cx="191100" cy="160007"/>
          </a:xfrm>
          <a:prstGeom prst="rect">
            <a:avLst/>
          </a:prstGeom>
          <a:noFill/>
          <a:ln>
            <a:noFill/>
          </a:ln>
        </p:spPr>
      </p:pic>
      <p:sp>
        <p:nvSpPr>
          <p:cNvPr id="3106" name="Google Shape;3106;p109"/>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3107" name="Google Shape;3107;p109"/>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3108" name="Google Shape;3108;p109"/>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3109" name="Google Shape;3109;p109"/>
          <p:cNvGrpSpPr/>
          <p:nvPr/>
        </p:nvGrpSpPr>
        <p:grpSpPr>
          <a:xfrm>
            <a:off x="8234791" y="4535238"/>
            <a:ext cx="685500" cy="465911"/>
            <a:chOff x="8536471" y="4748911"/>
            <a:chExt cx="685500" cy="465911"/>
          </a:xfrm>
        </p:grpSpPr>
        <p:sp>
          <p:nvSpPr>
            <p:cNvPr id="3110" name="Google Shape;3110;p109"/>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RDBMs</a:t>
              </a:r>
              <a:endParaRPr sz="900">
                <a:solidFill>
                  <a:schemeClr val="accent1"/>
                </a:solidFill>
                <a:latin typeface="DM Sans Medium"/>
                <a:ea typeface="DM Sans Medium"/>
                <a:cs typeface="DM Sans Medium"/>
                <a:sym typeface="DM Sans Medium"/>
              </a:endParaRPr>
            </a:p>
          </p:txBody>
        </p:sp>
        <p:pic>
          <p:nvPicPr>
            <p:cNvPr id="3111" name="Google Shape;3111;p109"/>
            <p:cNvPicPr preferRelativeResize="0"/>
            <p:nvPr/>
          </p:nvPicPr>
          <p:blipFill>
            <a:blip r:embed="rId10">
              <a:alphaModFix/>
            </a:blip>
            <a:stretch>
              <a:fillRect/>
            </a:stretch>
          </p:blipFill>
          <p:spPr>
            <a:xfrm>
              <a:off x="8731571" y="4748911"/>
              <a:ext cx="265176" cy="265176"/>
            </a:xfrm>
            <a:prstGeom prst="rect">
              <a:avLst/>
            </a:prstGeom>
            <a:noFill/>
            <a:ln>
              <a:noFill/>
            </a:ln>
          </p:spPr>
        </p:pic>
      </p:grpSp>
      <p:grpSp>
        <p:nvGrpSpPr>
          <p:cNvPr id="3112" name="Google Shape;3112;p109"/>
          <p:cNvGrpSpPr/>
          <p:nvPr/>
        </p:nvGrpSpPr>
        <p:grpSpPr>
          <a:xfrm>
            <a:off x="8234791" y="4992438"/>
            <a:ext cx="685500" cy="465911"/>
            <a:chOff x="8536471" y="4748911"/>
            <a:chExt cx="685500" cy="465911"/>
          </a:xfrm>
        </p:grpSpPr>
        <p:sp>
          <p:nvSpPr>
            <p:cNvPr id="3113" name="Google Shape;3113;p109"/>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KV store</a:t>
              </a:r>
              <a:endParaRPr sz="900">
                <a:solidFill>
                  <a:schemeClr val="accent1"/>
                </a:solidFill>
                <a:latin typeface="DM Sans Medium"/>
                <a:ea typeface="DM Sans Medium"/>
                <a:cs typeface="DM Sans Medium"/>
                <a:sym typeface="DM Sans Medium"/>
              </a:endParaRPr>
            </a:p>
          </p:txBody>
        </p:sp>
        <p:pic>
          <p:nvPicPr>
            <p:cNvPr id="3114" name="Google Shape;3114;p109"/>
            <p:cNvPicPr preferRelativeResize="0"/>
            <p:nvPr/>
          </p:nvPicPr>
          <p:blipFill>
            <a:blip r:embed="rId10">
              <a:alphaModFix/>
            </a:blip>
            <a:stretch>
              <a:fillRect/>
            </a:stretch>
          </p:blipFill>
          <p:spPr>
            <a:xfrm>
              <a:off x="8731571" y="4748911"/>
              <a:ext cx="265176" cy="265176"/>
            </a:xfrm>
            <a:prstGeom prst="rect">
              <a:avLst/>
            </a:prstGeom>
            <a:noFill/>
            <a:ln>
              <a:noFill/>
            </a:ln>
          </p:spPr>
        </p:pic>
      </p:grpSp>
      <p:sp>
        <p:nvSpPr>
          <p:cNvPr id="3115" name="Google Shape;3115;p109"/>
          <p:cNvSpPr/>
          <p:nvPr/>
        </p:nvSpPr>
        <p:spPr>
          <a:xfrm>
            <a:off x="6558251" y="1945900"/>
            <a:ext cx="466200" cy="1737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SDKs</a:t>
            </a:r>
            <a:endParaRPr sz="900">
              <a:solidFill>
                <a:schemeClr val="accent2"/>
              </a:solidFill>
              <a:latin typeface="DM Sans SemiBold"/>
              <a:ea typeface="DM Sans SemiBold"/>
              <a:cs typeface="DM Sans SemiBold"/>
              <a:sym typeface="DM Sans SemiBold"/>
            </a:endParaRPr>
          </a:p>
        </p:txBody>
      </p:sp>
      <p:sp>
        <p:nvSpPr>
          <p:cNvPr id="3116" name="Google Shape;3116;p109"/>
          <p:cNvSpPr/>
          <p:nvPr/>
        </p:nvSpPr>
        <p:spPr>
          <a:xfrm>
            <a:off x="3927433" y="1945900"/>
            <a:ext cx="879600" cy="1737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3117" name="Google Shape;3117;p109"/>
          <p:cNvSpPr/>
          <p:nvPr/>
        </p:nvSpPr>
        <p:spPr>
          <a:xfrm>
            <a:off x="4879229" y="1945900"/>
            <a:ext cx="685800" cy="1737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MLFlow</a:t>
            </a:r>
            <a:endParaRPr sz="900">
              <a:solidFill>
                <a:schemeClr val="accent2"/>
              </a:solidFill>
              <a:latin typeface="DM Sans SemiBold"/>
              <a:ea typeface="DM Sans SemiBold"/>
              <a:cs typeface="DM Sans SemiBold"/>
              <a:sym typeface="DM Sans SemiBold"/>
            </a:endParaRPr>
          </a:p>
        </p:txBody>
      </p:sp>
      <p:sp>
        <p:nvSpPr>
          <p:cNvPr id="3118" name="Google Shape;3118;p109"/>
          <p:cNvSpPr/>
          <p:nvPr/>
        </p:nvSpPr>
        <p:spPr>
          <a:xfrm>
            <a:off x="5617235" y="1945900"/>
            <a:ext cx="887100" cy="1737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Asset Bundles</a:t>
            </a:r>
            <a:endParaRPr sz="900">
              <a:solidFill>
                <a:schemeClr val="accent2"/>
              </a:solidFill>
              <a:latin typeface="DM Sans SemiBold"/>
              <a:ea typeface="DM Sans SemiBold"/>
              <a:cs typeface="DM Sans SemiBold"/>
              <a:sym typeface="DM Sans SemiBold"/>
            </a:endParaRPr>
          </a:p>
        </p:txBody>
      </p:sp>
      <p:sp>
        <p:nvSpPr>
          <p:cNvPr id="3119" name="Google Shape;3119;p109"/>
          <p:cNvSpPr/>
          <p:nvPr/>
        </p:nvSpPr>
        <p:spPr>
          <a:xfrm>
            <a:off x="7096647" y="1945900"/>
            <a:ext cx="1143000" cy="1737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Terraform Provider</a:t>
            </a:r>
            <a:endParaRPr sz="900">
              <a:solidFill>
                <a:schemeClr val="accent2"/>
              </a:solidFill>
              <a:latin typeface="DM Sans SemiBold"/>
              <a:ea typeface="DM Sans SemiBold"/>
              <a:cs typeface="DM Sans SemiBold"/>
              <a:sym typeface="DM Sans SemiBold"/>
            </a:endParaRPr>
          </a:p>
        </p:txBody>
      </p:sp>
      <p:grpSp>
        <p:nvGrpSpPr>
          <p:cNvPr id="3120" name="Google Shape;3120;p109"/>
          <p:cNvGrpSpPr/>
          <p:nvPr/>
        </p:nvGrpSpPr>
        <p:grpSpPr>
          <a:xfrm>
            <a:off x="10606481" y="3507444"/>
            <a:ext cx="826200" cy="363728"/>
            <a:chOff x="10606481" y="3507444"/>
            <a:chExt cx="826200" cy="363728"/>
          </a:xfrm>
        </p:grpSpPr>
        <p:sp>
          <p:nvSpPr>
            <p:cNvPr id="3121" name="Google Shape;3121;p109"/>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3122" name="Google Shape;3122;p109"/>
            <p:cNvPicPr preferRelativeResize="0"/>
            <p:nvPr/>
          </p:nvPicPr>
          <p:blipFill>
            <a:blip r:embed="rId25">
              <a:alphaModFix/>
            </a:blip>
            <a:stretch>
              <a:fillRect/>
            </a:stretch>
          </p:blipFill>
          <p:spPr>
            <a:xfrm>
              <a:off x="10914442" y="3507444"/>
              <a:ext cx="219600" cy="219600"/>
            </a:xfrm>
            <a:prstGeom prst="ellipse">
              <a:avLst/>
            </a:prstGeom>
            <a:noFill/>
            <a:ln>
              <a:noFill/>
            </a:ln>
          </p:spPr>
        </p:pic>
      </p:grpSp>
      <p:sp>
        <p:nvSpPr>
          <p:cNvPr id="3123" name="Google Shape;3123;p109"/>
          <p:cNvSpPr/>
          <p:nvPr/>
        </p:nvSpPr>
        <p:spPr>
          <a:xfrm>
            <a:off x="5317652" y="2582475"/>
            <a:ext cx="549000" cy="274200"/>
          </a:xfrm>
          <a:prstGeom prst="roundRect">
            <a:avLst>
              <a:gd fmla="val 17595"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Agent Bricks</a:t>
            </a:r>
            <a:endParaRPr sz="900">
              <a:solidFill>
                <a:srgbClr val="00A972"/>
              </a:solidFill>
              <a:latin typeface="DM Sans SemiBold"/>
              <a:ea typeface="DM Sans SemiBold"/>
              <a:cs typeface="DM Sans SemiBold"/>
              <a:sym typeface="DM Sans SemiBold"/>
            </a:endParaRPr>
          </a:p>
        </p:txBody>
      </p:sp>
      <p:sp>
        <p:nvSpPr>
          <p:cNvPr id="3124" name="Google Shape;3124;p109"/>
          <p:cNvSpPr/>
          <p:nvPr/>
        </p:nvSpPr>
        <p:spPr>
          <a:xfrm>
            <a:off x="4606712" y="2582475"/>
            <a:ext cx="640800" cy="274200"/>
          </a:xfrm>
          <a:prstGeom prst="roundRect">
            <a:avLst>
              <a:gd fmla="val 17595"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Traditional ML</a:t>
            </a:r>
            <a:endParaRPr sz="900">
              <a:solidFill>
                <a:srgbClr val="00A972"/>
              </a:solidFill>
              <a:latin typeface="DM Sans SemiBold"/>
              <a:ea typeface="DM Sans SemiBold"/>
              <a:cs typeface="DM Sans SemiBold"/>
              <a:sym typeface="DM Sans SemiBold"/>
            </a:endParaRPr>
          </a:p>
        </p:txBody>
      </p:sp>
      <p:sp>
        <p:nvSpPr>
          <p:cNvPr id="3125" name="Google Shape;3125;p109"/>
          <p:cNvSpPr/>
          <p:nvPr/>
        </p:nvSpPr>
        <p:spPr>
          <a:xfrm>
            <a:off x="5936792" y="2583025"/>
            <a:ext cx="685800" cy="274200"/>
          </a:xfrm>
          <a:prstGeom prst="roundRect">
            <a:avLst>
              <a:gd fmla="val 17595"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Agent Framework</a:t>
            </a:r>
            <a:endParaRPr sz="900">
              <a:solidFill>
                <a:srgbClr val="00A972"/>
              </a:solidFill>
              <a:latin typeface="DM Sans SemiBold"/>
              <a:ea typeface="DM Sans SemiBold"/>
              <a:cs typeface="DM Sans SemiBold"/>
              <a:sym typeface="DM Sans SemiBo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9" name="Shape 3129"/>
        <p:cNvGrpSpPr/>
        <p:nvPr/>
      </p:nvGrpSpPr>
      <p:grpSpPr>
        <a:xfrm>
          <a:off x="0" y="0"/>
          <a:ext cx="0" cy="0"/>
          <a:chOff x="0" y="0"/>
          <a:chExt cx="0" cy="0"/>
        </a:xfrm>
      </p:grpSpPr>
      <p:sp>
        <p:nvSpPr>
          <p:cNvPr id="3130" name="Google Shape;3130;p110"/>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131" name="Google Shape;3131;p110"/>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132" name="Google Shape;3132;p110"/>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133" name="Google Shape;3133;p110"/>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134" name="Google Shape;3134;p110"/>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3135" name="Google Shape;3135;p110"/>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l">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3136" name="Google Shape;3136;p110"/>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1 Built in ingestion from SaaS and databases</a:t>
            </a:r>
            <a:endParaRPr b="1" sz="3600">
              <a:latin typeface="DM Sans"/>
              <a:ea typeface="DM Sans"/>
              <a:cs typeface="DM Sans"/>
              <a:sym typeface="DM Sans"/>
            </a:endParaRPr>
          </a:p>
        </p:txBody>
      </p:sp>
      <p:sp>
        <p:nvSpPr>
          <p:cNvPr id="3137" name="Google Shape;3137;p11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grpSp>
        <p:nvGrpSpPr>
          <p:cNvPr id="3138" name="Google Shape;3138;p110"/>
          <p:cNvGrpSpPr/>
          <p:nvPr/>
        </p:nvGrpSpPr>
        <p:grpSpPr>
          <a:xfrm>
            <a:off x="2986792" y="3550528"/>
            <a:ext cx="198576" cy="211709"/>
            <a:chOff x="3295749" y="3919250"/>
            <a:chExt cx="198576" cy="211709"/>
          </a:xfrm>
        </p:grpSpPr>
        <p:sp>
          <p:nvSpPr>
            <p:cNvPr id="3139" name="Google Shape;3139;p110"/>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140" name="Google Shape;3140;p110"/>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141" name="Google Shape;3141;p110"/>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3142" name="Google Shape;3142;p110"/>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rgbClr val="CCCCCC"/>
              </a:solidFill>
              <a:latin typeface="DM Sans Medium"/>
              <a:ea typeface="DM Sans Medium"/>
              <a:cs typeface="DM Sans Medium"/>
              <a:sym typeface="DM Sans Medium"/>
            </a:endParaRPr>
          </a:p>
        </p:txBody>
      </p:sp>
      <p:grpSp>
        <p:nvGrpSpPr>
          <p:cNvPr id="3143" name="Google Shape;3143;p110"/>
          <p:cNvGrpSpPr/>
          <p:nvPr/>
        </p:nvGrpSpPr>
        <p:grpSpPr>
          <a:xfrm rot="-5400000">
            <a:off x="8118194" y="4175940"/>
            <a:ext cx="198576" cy="208513"/>
            <a:chOff x="3295749" y="3922446"/>
            <a:chExt cx="198576" cy="208513"/>
          </a:xfrm>
        </p:grpSpPr>
        <p:sp>
          <p:nvSpPr>
            <p:cNvPr id="3144" name="Google Shape;3144;p110"/>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145" name="Google Shape;3145;p110"/>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146" name="Google Shape;3146;p110"/>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3147" name="Google Shape;3147;p110"/>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3148" name="Google Shape;3148;p110"/>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3149" name="Google Shape;3149;p110"/>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3150" name="Google Shape;3150;p110"/>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rgbClr val="CCCCCC"/>
              </a:solidFill>
              <a:latin typeface="DM Sans Medium"/>
              <a:ea typeface="DM Sans Medium"/>
              <a:cs typeface="DM Sans Medium"/>
              <a:sym typeface="DM Sans Medium"/>
            </a:endParaRPr>
          </a:p>
        </p:txBody>
      </p:sp>
      <p:sp>
        <p:nvSpPr>
          <p:cNvPr id="3151" name="Google Shape;3151;p110"/>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3152" name="Google Shape;3152;p110"/>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3153" name="Google Shape;3153;p110"/>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3154" name="Google Shape;3154;p110"/>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3155" name="Google Shape;3155;p110"/>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3156" name="Google Shape;3156;p110"/>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3157" name="Google Shape;3157;p110"/>
          <p:cNvSpPr/>
          <p:nvPr/>
        </p:nvSpPr>
        <p:spPr>
          <a:xfrm>
            <a:off x="2143275" y="2825260"/>
            <a:ext cx="8796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3158" name="Google Shape;3158;p110"/>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3159" name="Google Shape;3159;p110"/>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3160" name="Google Shape;3160;p110"/>
          <p:cNvGrpSpPr/>
          <p:nvPr/>
        </p:nvGrpSpPr>
        <p:grpSpPr>
          <a:xfrm>
            <a:off x="4283501" y="5741943"/>
            <a:ext cx="1044000" cy="397683"/>
            <a:chOff x="4661400" y="6214292"/>
            <a:chExt cx="1044000" cy="397683"/>
          </a:xfrm>
        </p:grpSpPr>
        <p:sp>
          <p:nvSpPr>
            <p:cNvPr id="3161" name="Google Shape;3161;p110"/>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3162" name="Google Shape;3162;p110"/>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3163" name="Google Shape;3163;p110"/>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3164" name="Google Shape;3164;p110"/>
          <p:cNvPicPr preferRelativeResize="0"/>
          <p:nvPr/>
        </p:nvPicPr>
        <p:blipFill>
          <a:blip r:embed="rId4">
            <a:alphaModFix/>
          </a:blip>
          <a:stretch>
            <a:fillRect/>
          </a:stretch>
        </p:blipFill>
        <p:spPr>
          <a:xfrm>
            <a:off x="3367671" y="5181455"/>
            <a:ext cx="200700" cy="191237"/>
          </a:xfrm>
          <a:prstGeom prst="rect">
            <a:avLst/>
          </a:prstGeom>
          <a:noFill/>
          <a:ln>
            <a:noFill/>
          </a:ln>
        </p:spPr>
      </p:pic>
      <p:sp>
        <p:nvSpPr>
          <p:cNvPr id="3165" name="Google Shape;3165;p110"/>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3166" name="Google Shape;3166;p110"/>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3167" name="Google Shape;3167;p110"/>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3168" name="Google Shape;3168;p110"/>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3169" name="Google Shape;3169;p110"/>
          <p:cNvPicPr preferRelativeResize="0"/>
          <p:nvPr/>
        </p:nvPicPr>
        <p:blipFill>
          <a:blip r:embed="rId5">
            <a:alphaModFix/>
          </a:blip>
          <a:stretch>
            <a:fillRect/>
          </a:stretch>
        </p:blipFill>
        <p:spPr>
          <a:xfrm>
            <a:off x="4998129" y="1403077"/>
            <a:ext cx="259650" cy="279625"/>
          </a:xfrm>
          <a:prstGeom prst="rect">
            <a:avLst/>
          </a:prstGeom>
          <a:noFill/>
          <a:ln>
            <a:noFill/>
          </a:ln>
        </p:spPr>
      </p:pic>
      <p:grpSp>
        <p:nvGrpSpPr>
          <p:cNvPr id="3170" name="Google Shape;3170;p110"/>
          <p:cNvGrpSpPr/>
          <p:nvPr/>
        </p:nvGrpSpPr>
        <p:grpSpPr>
          <a:xfrm>
            <a:off x="5357469" y="5168059"/>
            <a:ext cx="1015163" cy="210402"/>
            <a:chOff x="6995676" y="6025175"/>
            <a:chExt cx="1015163" cy="210402"/>
          </a:xfrm>
        </p:grpSpPr>
        <p:sp>
          <p:nvSpPr>
            <p:cNvPr id="3171" name="Google Shape;3171;p110"/>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3172" name="Google Shape;3172;p110"/>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3173" name="Google Shape;3173;p110"/>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3174" name="Google Shape;3174;p110"/>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175" name="Google Shape;3175;p110"/>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176" name="Google Shape;3176;p110"/>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177" name="Google Shape;3177;p110"/>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178" name="Google Shape;3178;p110"/>
            <p:cNvCxnSpPr>
              <a:stCxn id="3175" idx="4"/>
              <a:endCxn id="3179"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3179" name="Google Shape;3179;p110"/>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180" name="Google Shape;3180;p110"/>
            <p:cNvCxnSpPr>
              <a:stCxn id="3174" idx="4"/>
              <a:endCxn id="3177"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3181" name="Google Shape;3181;p110"/>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                       Data Intelligence</a:t>
            </a:r>
            <a:endParaRPr sz="1100">
              <a:solidFill>
                <a:schemeClr val="accent5"/>
              </a:solidFill>
              <a:latin typeface="DM Sans Medium"/>
              <a:ea typeface="DM Sans Medium"/>
              <a:cs typeface="DM Sans Medium"/>
              <a:sym typeface="DM Sans Medium"/>
            </a:endParaRPr>
          </a:p>
        </p:txBody>
      </p:sp>
      <p:sp>
        <p:nvSpPr>
          <p:cNvPr id="3182" name="Google Shape;3182;p110"/>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3183" name="Google Shape;3183;p110"/>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3184" name="Google Shape;3184;p110"/>
          <p:cNvGrpSpPr/>
          <p:nvPr/>
        </p:nvGrpSpPr>
        <p:grpSpPr>
          <a:xfrm>
            <a:off x="861763" y="1388635"/>
            <a:ext cx="879600" cy="565670"/>
            <a:chOff x="820734" y="1742570"/>
            <a:chExt cx="879600" cy="565670"/>
          </a:xfrm>
        </p:grpSpPr>
        <p:sp>
          <p:nvSpPr>
            <p:cNvPr id="3185" name="Google Shape;3185;p110"/>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186" name="Google Shape;3186;p110"/>
            <p:cNvPicPr preferRelativeResize="0"/>
            <p:nvPr/>
          </p:nvPicPr>
          <p:blipFill>
            <a:blip r:embed="rId6">
              <a:alphaModFix/>
            </a:blip>
            <a:stretch>
              <a:fillRect/>
            </a:stretch>
          </p:blipFill>
          <p:spPr>
            <a:xfrm>
              <a:off x="1127949" y="1742570"/>
              <a:ext cx="265176" cy="265176"/>
            </a:xfrm>
            <a:prstGeom prst="rect">
              <a:avLst/>
            </a:prstGeom>
            <a:noFill/>
            <a:ln>
              <a:noFill/>
            </a:ln>
          </p:spPr>
        </p:pic>
      </p:grpSp>
      <p:grpSp>
        <p:nvGrpSpPr>
          <p:cNvPr id="3187" name="Google Shape;3187;p110"/>
          <p:cNvGrpSpPr/>
          <p:nvPr/>
        </p:nvGrpSpPr>
        <p:grpSpPr>
          <a:xfrm>
            <a:off x="1278400" y="4282495"/>
            <a:ext cx="462900" cy="422268"/>
            <a:chOff x="1296935" y="4254734"/>
            <a:chExt cx="462900" cy="422268"/>
          </a:xfrm>
        </p:grpSpPr>
        <p:pic>
          <p:nvPicPr>
            <p:cNvPr id="3188" name="Google Shape;3188;p110"/>
            <p:cNvPicPr preferRelativeResize="0"/>
            <p:nvPr/>
          </p:nvPicPr>
          <p:blipFill rotWithShape="1">
            <a:blip r:embed="rId7">
              <a:alphaModFix/>
            </a:blip>
            <a:srcRect b="0" l="0" r="0" t="0"/>
            <a:stretch/>
          </p:blipFill>
          <p:spPr>
            <a:xfrm>
              <a:off x="1395798" y="4254734"/>
              <a:ext cx="265176" cy="265176"/>
            </a:xfrm>
            <a:prstGeom prst="rect">
              <a:avLst/>
            </a:prstGeom>
            <a:noFill/>
            <a:ln>
              <a:noFill/>
            </a:ln>
          </p:spPr>
        </p:pic>
        <p:sp>
          <p:nvSpPr>
            <p:cNvPr id="3189" name="Google Shape;3189;p110"/>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3190" name="Google Shape;3190;p110"/>
          <p:cNvGrpSpPr/>
          <p:nvPr/>
        </p:nvGrpSpPr>
        <p:grpSpPr>
          <a:xfrm>
            <a:off x="861800" y="1970622"/>
            <a:ext cx="879600" cy="558086"/>
            <a:chOff x="820771" y="2866176"/>
            <a:chExt cx="879600" cy="558086"/>
          </a:xfrm>
        </p:grpSpPr>
        <p:sp>
          <p:nvSpPr>
            <p:cNvPr id="3191" name="Google Shape;3191;p110"/>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3192" name="Google Shape;3192;p110"/>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3193" name="Google Shape;3193;p110"/>
          <p:cNvGrpSpPr/>
          <p:nvPr/>
        </p:nvGrpSpPr>
        <p:grpSpPr>
          <a:xfrm>
            <a:off x="903312" y="2545026"/>
            <a:ext cx="796500" cy="542824"/>
            <a:chOff x="862283" y="2315806"/>
            <a:chExt cx="796500" cy="542824"/>
          </a:xfrm>
        </p:grpSpPr>
        <p:sp>
          <p:nvSpPr>
            <p:cNvPr id="3194" name="Google Shape;3194;p110"/>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195" name="Google Shape;3195;p110"/>
            <p:cNvPicPr preferRelativeResize="0"/>
            <p:nvPr/>
          </p:nvPicPr>
          <p:blipFill>
            <a:blip r:embed="rId7">
              <a:alphaModFix/>
            </a:blip>
            <a:stretch>
              <a:fillRect/>
            </a:stretch>
          </p:blipFill>
          <p:spPr>
            <a:xfrm>
              <a:off x="1127949" y="2315806"/>
              <a:ext cx="265176" cy="265176"/>
            </a:xfrm>
            <a:prstGeom prst="rect">
              <a:avLst/>
            </a:prstGeom>
            <a:noFill/>
            <a:ln>
              <a:noFill/>
            </a:ln>
          </p:spPr>
        </p:pic>
      </p:grpSp>
      <p:grpSp>
        <p:nvGrpSpPr>
          <p:cNvPr id="3196" name="Google Shape;3196;p110"/>
          <p:cNvGrpSpPr/>
          <p:nvPr/>
        </p:nvGrpSpPr>
        <p:grpSpPr>
          <a:xfrm>
            <a:off x="861700" y="3104161"/>
            <a:ext cx="879600" cy="559474"/>
            <a:chOff x="820671" y="3997940"/>
            <a:chExt cx="879600" cy="559474"/>
          </a:xfrm>
        </p:grpSpPr>
        <p:pic>
          <p:nvPicPr>
            <p:cNvPr id="3197" name="Google Shape;3197;p110"/>
            <p:cNvPicPr preferRelativeResize="0"/>
            <p:nvPr/>
          </p:nvPicPr>
          <p:blipFill>
            <a:blip r:embed="rId9">
              <a:alphaModFix/>
            </a:blip>
            <a:stretch>
              <a:fillRect/>
            </a:stretch>
          </p:blipFill>
          <p:spPr>
            <a:xfrm>
              <a:off x="1127949" y="3997940"/>
              <a:ext cx="265176" cy="265176"/>
            </a:xfrm>
            <a:prstGeom prst="rect">
              <a:avLst/>
            </a:prstGeom>
            <a:noFill/>
            <a:ln>
              <a:noFill/>
            </a:ln>
          </p:spPr>
        </p:pic>
        <p:sp>
          <p:nvSpPr>
            <p:cNvPr id="3198" name="Google Shape;3198;p110"/>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3199" name="Google Shape;3199;p110"/>
          <p:cNvGrpSpPr/>
          <p:nvPr/>
        </p:nvGrpSpPr>
        <p:grpSpPr>
          <a:xfrm>
            <a:off x="920210" y="3679952"/>
            <a:ext cx="761100" cy="558519"/>
            <a:chOff x="880006" y="3431841"/>
            <a:chExt cx="761100" cy="558519"/>
          </a:xfrm>
        </p:grpSpPr>
        <p:pic>
          <p:nvPicPr>
            <p:cNvPr id="3200" name="Google Shape;3200;p110"/>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3201" name="Google Shape;3201;p110"/>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3202" name="Google Shape;3202;p110"/>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3203" name="Google Shape;3203;p110"/>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3204" name="Google Shape;3204;p110"/>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3205" name="Google Shape;3205;p110"/>
          <p:cNvGrpSpPr/>
          <p:nvPr/>
        </p:nvGrpSpPr>
        <p:grpSpPr>
          <a:xfrm>
            <a:off x="10745081" y="3937546"/>
            <a:ext cx="549000" cy="366196"/>
            <a:chOff x="10745081" y="3937546"/>
            <a:chExt cx="549000" cy="366196"/>
          </a:xfrm>
        </p:grpSpPr>
        <p:pic>
          <p:nvPicPr>
            <p:cNvPr id="3206" name="Google Shape;3206;p110"/>
            <p:cNvPicPr preferRelativeResize="0"/>
            <p:nvPr/>
          </p:nvPicPr>
          <p:blipFill>
            <a:blip r:embed="rId11">
              <a:alphaModFix/>
            </a:blip>
            <a:stretch>
              <a:fillRect/>
            </a:stretch>
          </p:blipFill>
          <p:spPr>
            <a:xfrm>
              <a:off x="10912331" y="3937546"/>
              <a:ext cx="214500" cy="217452"/>
            </a:xfrm>
            <a:prstGeom prst="rect">
              <a:avLst/>
            </a:prstGeom>
            <a:noFill/>
            <a:ln>
              <a:noFill/>
            </a:ln>
          </p:spPr>
        </p:pic>
        <p:sp>
          <p:nvSpPr>
            <p:cNvPr id="3207" name="Google Shape;3207;p110"/>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3208" name="Google Shape;3208;p110"/>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3209" name="Google Shape;3209;p110"/>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3210" name="Google Shape;3210;p110"/>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3211" name="Google Shape;3211;p110"/>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3212" name="Google Shape;3212;p110"/>
          <p:cNvGrpSpPr/>
          <p:nvPr/>
        </p:nvGrpSpPr>
        <p:grpSpPr>
          <a:xfrm>
            <a:off x="10597029" y="1623535"/>
            <a:ext cx="845100" cy="405937"/>
            <a:chOff x="10597029" y="1623535"/>
            <a:chExt cx="845100" cy="405937"/>
          </a:xfrm>
        </p:grpSpPr>
        <p:sp>
          <p:nvSpPr>
            <p:cNvPr id="3213" name="Google Shape;3213;p110"/>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3214" name="Google Shape;3214;p110"/>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3215" name="Google Shape;3215;p110"/>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3216" name="Google Shape;3216;p110"/>
          <p:cNvGrpSpPr/>
          <p:nvPr/>
        </p:nvGrpSpPr>
        <p:grpSpPr>
          <a:xfrm>
            <a:off x="10702031" y="2486073"/>
            <a:ext cx="635100" cy="543395"/>
            <a:chOff x="10702031" y="2486073"/>
            <a:chExt cx="635100" cy="543395"/>
          </a:xfrm>
        </p:grpSpPr>
        <p:sp>
          <p:nvSpPr>
            <p:cNvPr id="3217" name="Google Shape;3217;p110"/>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3218" name="Google Shape;3218;p110"/>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3219" name="Google Shape;3219;p110"/>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3220" name="Google Shape;3220;p110"/>
          <p:cNvGrpSpPr/>
          <p:nvPr/>
        </p:nvGrpSpPr>
        <p:grpSpPr>
          <a:xfrm>
            <a:off x="10621328" y="4994250"/>
            <a:ext cx="796500" cy="553688"/>
            <a:chOff x="10621328" y="4994250"/>
            <a:chExt cx="796500" cy="553688"/>
          </a:xfrm>
        </p:grpSpPr>
        <p:sp>
          <p:nvSpPr>
            <p:cNvPr id="3221" name="Google Shape;3221;p110"/>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3222" name="Google Shape;3222;p110"/>
            <p:cNvPicPr preferRelativeResize="0"/>
            <p:nvPr/>
          </p:nvPicPr>
          <p:blipFill>
            <a:blip r:embed="rId14">
              <a:alphaModFix/>
            </a:blip>
            <a:stretch>
              <a:fillRect/>
            </a:stretch>
          </p:blipFill>
          <p:spPr>
            <a:xfrm>
              <a:off x="10864167" y="4994250"/>
              <a:ext cx="265176" cy="265176"/>
            </a:xfrm>
            <a:prstGeom prst="rect">
              <a:avLst/>
            </a:prstGeom>
            <a:noFill/>
            <a:ln>
              <a:noFill/>
            </a:ln>
          </p:spPr>
        </p:pic>
      </p:grpSp>
      <p:pic>
        <p:nvPicPr>
          <p:cNvPr id="3223" name="Google Shape;3223;p110"/>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3224" name="Google Shape;3224;p110"/>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3225" name="Google Shape;3225;p110"/>
          <p:cNvGrpSpPr/>
          <p:nvPr/>
        </p:nvGrpSpPr>
        <p:grpSpPr>
          <a:xfrm>
            <a:off x="911400" y="4663311"/>
            <a:ext cx="336000" cy="426753"/>
            <a:chOff x="929785" y="4678386"/>
            <a:chExt cx="336000" cy="426753"/>
          </a:xfrm>
        </p:grpSpPr>
        <p:sp>
          <p:nvSpPr>
            <p:cNvPr id="3226" name="Google Shape;3226;p110"/>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3227" name="Google Shape;3227;p110"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3228" name="Google Shape;3228;p110"/>
          <p:cNvGrpSpPr/>
          <p:nvPr/>
        </p:nvGrpSpPr>
        <p:grpSpPr>
          <a:xfrm>
            <a:off x="1366236" y="4655157"/>
            <a:ext cx="324300" cy="434522"/>
            <a:chOff x="1377357" y="4647990"/>
            <a:chExt cx="324300" cy="434522"/>
          </a:xfrm>
        </p:grpSpPr>
        <p:sp>
          <p:nvSpPr>
            <p:cNvPr id="3229" name="Google Shape;3229;p110"/>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3230" name="Google Shape;3230;p110"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sp>
        <p:nvSpPr>
          <p:cNvPr id="3231" name="Google Shape;3231;p110"/>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3232" name="Google Shape;3232;p110"/>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3233" name="Google Shape;3233;p110"/>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3234" name="Google Shape;3234;p110"/>
          <p:cNvGrpSpPr/>
          <p:nvPr/>
        </p:nvGrpSpPr>
        <p:grpSpPr>
          <a:xfrm>
            <a:off x="899750" y="4283846"/>
            <a:ext cx="359100" cy="422318"/>
            <a:chOff x="899750" y="4215307"/>
            <a:chExt cx="359100" cy="422318"/>
          </a:xfrm>
        </p:grpSpPr>
        <p:sp>
          <p:nvSpPr>
            <p:cNvPr id="3235" name="Google Shape;3235;p110"/>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3236" name="Google Shape;3236;p110"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sp>
        <p:nvSpPr>
          <p:cNvPr id="3237" name="Google Shape;3237;p110"/>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3238" name="Google Shape;3238;p110"/>
          <p:cNvGrpSpPr/>
          <p:nvPr/>
        </p:nvGrpSpPr>
        <p:grpSpPr>
          <a:xfrm>
            <a:off x="1247501" y="5175655"/>
            <a:ext cx="524700" cy="496901"/>
            <a:chOff x="1266036" y="5196700"/>
            <a:chExt cx="524700" cy="496901"/>
          </a:xfrm>
        </p:grpSpPr>
        <p:sp>
          <p:nvSpPr>
            <p:cNvPr id="3239" name="Google Shape;3239;p110"/>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3240" name="Google Shape;3240;p110" title="primary-icon-navy-data-sharing.png"/>
            <p:cNvPicPr preferRelativeResize="0"/>
            <p:nvPr/>
          </p:nvPicPr>
          <p:blipFill>
            <a:blip r:embed="rId19">
              <a:alphaModFix/>
            </a:blip>
            <a:stretch>
              <a:fillRect/>
            </a:stretch>
          </p:blipFill>
          <p:spPr>
            <a:xfrm>
              <a:off x="1393854" y="5196700"/>
              <a:ext cx="269065" cy="269063"/>
            </a:xfrm>
            <a:prstGeom prst="rect">
              <a:avLst/>
            </a:prstGeom>
            <a:noFill/>
            <a:ln>
              <a:noFill/>
            </a:ln>
          </p:spPr>
        </p:pic>
      </p:grpSp>
      <p:grpSp>
        <p:nvGrpSpPr>
          <p:cNvPr id="3241" name="Google Shape;3241;p110"/>
          <p:cNvGrpSpPr/>
          <p:nvPr/>
        </p:nvGrpSpPr>
        <p:grpSpPr>
          <a:xfrm>
            <a:off x="816949" y="5175643"/>
            <a:ext cx="524700" cy="496193"/>
            <a:chOff x="835484" y="5196688"/>
            <a:chExt cx="524700" cy="496193"/>
          </a:xfrm>
        </p:grpSpPr>
        <p:sp>
          <p:nvSpPr>
            <p:cNvPr id="3242" name="Google Shape;3242;p110"/>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3243" name="Google Shape;3243;p110" title="primary-icon-navy-distribution.png"/>
            <p:cNvPicPr preferRelativeResize="0"/>
            <p:nvPr/>
          </p:nvPicPr>
          <p:blipFill>
            <a:blip r:embed="rId20">
              <a:alphaModFix/>
            </a:blip>
            <a:stretch>
              <a:fillRect/>
            </a:stretch>
          </p:blipFill>
          <p:spPr>
            <a:xfrm>
              <a:off x="963302" y="5196688"/>
              <a:ext cx="269065" cy="269063"/>
            </a:xfrm>
            <a:prstGeom prst="rect">
              <a:avLst/>
            </a:prstGeom>
            <a:noFill/>
            <a:ln>
              <a:noFill/>
            </a:ln>
          </p:spPr>
        </p:pic>
      </p:grpSp>
      <p:sp>
        <p:nvSpPr>
          <p:cNvPr id="3244" name="Google Shape;3244;p110"/>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3245" name="Google Shape;3245;p110"/>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rgbClr val="CCCCCC"/>
              </a:solidFill>
              <a:latin typeface="DM Sans Medium"/>
              <a:ea typeface="DM Sans Medium"/>
              <a:cs typeface="DM Sans Medium"/>
              <a:sym typeface="DM Sans Medium"/>
            </a:endParaRPr>
          </a:p>
        </p:txBody>
      </p:sp>
      <p:sp>
        <p:nvSpPr>
          <p:cNvPr id="3246" name="Google Shape;3246;p110"/>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rgbClr val="CCCCCC"/>
              </a:solidFill>
              <a:latin typeface="DM Sans Medium"/>
              <a:ea typeface="DM Sans Medium"/>
              <a:cs typeface="DM Sans Medium"/>
              <a:sym typeface="DM Sans Medium"/>
            </a:endParaRPr>
          </a:p>
        </p:txBody>
      </p:sp>
      <p:sp>
        <p:nvSpPr>
          <p:cNvPr id="3247" name="Google Shape;3247;p110"/>
          <p:cNvSpPr/>
          <p:nvPr/>
        </p:nvSpPr>
        <p:spPr>
          <a:xfrm>
            <a:off x="3449100" y="3179550"/>
            <a:ext cx="1224300" cy="274200"/>
          </a:xfrm>
          <a:prstGeom prst="roundRect">
            <a:avLst>
              <a:gd fmla="val 18115"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endParaRPr sz="900">
              <a:solidFill>
                <a:schemeClr val="accent2"/>
              </a:solidFill>
              <a:latin typeface="DM Sans SemiBold"/>
              <a:ea typeface="DM Sans SemiBold"/>
              <a:cs typeface="DM Sans SemiBold"/>
              <a:sym typeface="DM Sans SemiBold"/>
            </a:endParaRPr>
          </a:p>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Declarative Pipelines</a:t>
            </a:r>
            <a:endParaRPr baseline="30000" sz="900">
              <a:solidFill>
                <a:schemeClr val="accent2"/>
              </a:solidFill>
              <a:latin typeface="DM Sans SemiBold"/>
              <a:ea typeface="DM Sans SemiBold"/>
              <a:cs typeface="DM Sans SemiBold"/>
              <a:sym typeface="DM Sans SemiBold"/>
            </a:endParaRPr>
          </a:p>
        </p:txBody>
      </p:sp>
      <p:sp>
        <p:nvSpPr>
          <p:cNvPr id="3248" name="Google Shape;3248;p110"/>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3249" name="Google Shape;3249;p110"/>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rgbClr val="CCCCCC"/>
              </a:solidFill>
              <a:latin typeface="DM Sans Medium"/>
              <a:ea typeface="DM Sans Medium"/>
              <a:cs typeface="DM Sans Medium"/>
              <a:sym typeface="DM Sans Medium"/>
            </a:endParaRPr>
          </a:p>
        </p:txBody>
      </p:sp>
      <p:sp>
        <p:nvSpPr>
          <p:cNvPr id="3250" name="Google Shape;3250;p110"/>
          <p:cNvSpPr/>
          <p:nvPr/>
        </p:nvSpPr>
        <p:spPr>
          <a:xfrm>
            <a:off x="4867081" y="3179550"/>
            <a:ext cx="761100" cy="274200"/>
          </a:xfrm>
          <a:prstGeom prst="roundRect">
            <a:avLst>
              <a:gd fmla="val 19944"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cxnSp>
        <p:nvCxnSpPr>
          <p:cNvPr id="3251" name="Google Shape;3251;p110"/>
          <p:cNvCxnSpPr>
            <a:stCxn id="3195" idx="3"/>
            <a:endCxn id="3252" idx="0"/>
          </p:cNvCxnSpPr>
          <p:nvPr/>
        </p:nvCxnSpPr>
        <p:spPr>
          <a:xfrm>
            <a:off x="1434155" y="2677614"/>
            <a:ext cx="394800" cy="183300"/>
          </a:xfrm>
          <a:prstGeom prst="bentConnector2">
            <a:avLst/>
          </a:prstGeom>
          <a:noFill/>
          <a:ln cap="flat" cmpd="sng" w="19050">
            <a:solidFill>
              <a:schemeClr val="accent4"/>
            </a:solidFill>
            <a:prstDash val="solid"/>
            <a:round/>
            <a:headEnd len="sm" w="sm" type="none"/>
            <a:tailEnd len="sm" w="sm" type="none"/>
          </a:ln>
        </p:spPr>
      </p:cxnSp>
      <p:sp>
        <p:nvSpPr>
          <p:cNvPr id="3253" name="Google Shape;3253;p110"/>
          <p:cNvSpPr txBox="1"/>
          <p:nvPr/>
        </p:nvSpPr>
        <p:spPr>
          <a:xfrm>
            <a:off x="1966662" y="2676532"/>
            <a:ext cx="12243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900">
                <a:solidFill>
                  <a:srgbClr val="DD9312"/>
                </a:solidFill>
                <a:latin typeface="DM Sans Medium"/>
                <a:ea typeface="DM Sans Medium"/>
                <a:cs typeface="DM Sans Medium"/>
                <a:sym typeface="DM Sans Medium"/>
              </a:rPr>
              <a:t>Streaming and batch</a:t>
            </a:r>
            <a:endParaRPr i="1" sz="900">
              <a:solidFill>
                <a:srgbClr val="DD9312"/>
              </a:solidFill>
              <a:latin typeface="DM Sans Medium"/>
              <a:ea typeface="DM Sans Medium"/>
              <a:cs typeface="DM Sans Medium"/>
              <a:sym typeface="DM Sans Medium"/>
            </a:endParaRPr>
          </a:p>
        </p:txBody>
      </p:sp>
      <p:cxnSp>
        <p:nvCxnSpPr>
          <p:cNvPr id="3254" name="Google Shape;3254;p110"/>
          <p:cNvCxnSpPr>
            <a:stCxn id="3157" idx="2"/>
            <a:endCxn id="3247" idx="1"/>
          </p:cNvCxnSpPr>
          <p:nvPr/>
        </p:nvCxnSpPr>
        <p:spPr>
          <a:xfrm flipH="1" rot="-5400000">
            <a:off x="2907525" y="2775010"/>
            <a:ext cx="217200" cy="866100"/>
          </a:xfrm>
          <a:prstGeom prst="bentConnector2">
            <a:avLst/>
          </a:prstGeom>
          <a:noFill/>
          <a:ln cap="flat" cmpd="sng" w="19050">
            <a:solidFill>
              <a:schemeClr val="accent4"/>
            </a:solidFill>
            <a:prstDash val="solid"/>
            <a:round/>
            <a:headEnd len="sm" w="sm" type="none"/>
            <a:tailEnd len="sm" w="sm" type="triangle"/>
          </a:ln>
        </p:spPr>
      </p:cxnSp>
      <p:cxnSp>
        <p:nvCxnSpPr>
          <p:cNvPr id="3255" name="Google Shape;3255;p110"/>
          <p:cNvCxnSpPr>
            <a:stCxn id="3247" idx="3"/>
            <a:endCxn id="3250" idx="1"/>
          </p:cNvCxnSpPr>
          <p:nvPr/>
        </p:nvCxnSpPr>
        <p:spPr>
          <a:xfrm>
            <a:off x="4673400" y="3316650"/>
            <a:ext cx="193800" cy="600"/>
          </a:xfrm>
          <a:prstGeom prst="bentConnector3">
            <a:avLst>
              <a:gd fmla="val 49969" name="adj1"/>
            </a:avLst>
          </a:prstGeom>
          <a:noFill/>
          <a:ln cap="flat" cmpd="sng" w="19050">
            <a:solidFill>
              <a:schemeClr val="accent4"/>
            </a:solidFill>
            <a:prstDash val="solid"/>
            <a:round/>
            <a:headEnd len="sm" w="sm" type="none"/>
            <a:tailEnd len="sm" w="sm" type="triangle"/>
          </a:ln>
        </p:spPr>
      </p:cxnSp>
      <p:cxnSp>
        <p:nvCxnSpPr>
          <p:cNvPr id="3256" name="Google Shape;3256;p110"/>
          <p:cNvCxnSpPr>
            <a:stCxn id="3252" idx="6"/>
            <a:endCxn id="3157" idx="1"/>
          </p:cNvCxnSpPr>
          <p:nvPr/>
        </p:nvCxnSpPr>
        <p:spPr>
          <a:xfrm flipH="1" rot="10800000">
            <a:off x="1931522" y="2962261"/>
            <a:ext cx="211800" cy="1200"/>
          </a:xfrm>
          <a:prstGeom prst="bentConnector3">
            <a:avLst>
              <a:gd fmla="val 49989" name="adj1"/>
            </a:avLst>
          </a:prstGeom>
          <a:noFill/>
          <a:ln cap="flat" cmpd="sng" w="19050">
            <a:solidFill>
              <a:schemeClr val="accent4"/>
            </a:solidFill>
            <a:prstDash val="solid"/>
            <a:round/>
            <a:headEnd len="sm" w="sm" type="none"/>
            <a:tailEnd len="sm" w="sm" type="triangle"/>
          </a:ln>
        </p:spPr>
      </p:cxnSp>
      <p:cxnSp>
        <p:nvCxnSpPr>
          <p:cNvPr id="3257" name="Google Shape;3257;p110"/>
          <p:cNvCxnSpPr>
            <a:stCxn id="3258" idx="2"/>
            <a:endCxn id="3259" idx="0"/>
          </p:cNvCxnSpPr>
          <p:nvPr/>
        </p:nvCxnSpPr>
        <p:spPr>
          <a:xfrm rot="5400000">
            <a:off x="3919015" y="3620552"/>
            <a:ext cx="1353300" cy="1019700"/>
          </a:xfrm>
          <a:prstGeom prst="bentConnector3">
            <a:avLst>
              <a:gd fmla="val 22696" name="adj1"/>
            </a:avLst>
          </a:prstGeom>
          <a:noFill/>
          <a:ln cap="flat" cmpd="sng" w="19050">
            <a:solidFill>
              <a:schemeClr val="accent4"/>
            </a:solidFill>
            <a:prstDash val="solid"/>
            <a:round/>
            <a:headEnd len="sm" w="sm" type="none"/>
            <a:tailEnd len="sm" w="sm" type="triangle"/>
          </a:ln>
        </p:spPr>
      </p:cxnSp>
      <p:cxnSp>
        <p:nvCxnSpPr>
          <p:cNvPr id="3260" name="Google Shape;3260;p110"/>
          <p:cNvCxnSpPr>
            <a:stCxn id="3261" idx="2"/>
            <a:endCxn id="3158" idx="3"/>
          </p:cNvCxnSpPr>
          <p:nvPr/>
        </p:nvCxnSpPr>
        <p:spPr>
          <a:xfrm flipH="1">
            <a:off x="3963695" y="4560313"/>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3262" name="Google Shape;3262;p110"/>
          <p:cNvCxnSpPr>
            <a:stCxn id="3165" idx="1"/>
            <a:endCxn id="3261" idx="6"/>
          </p:cNvCxnSpPr>
          <p:nvPr/>
        </p:nvCxnSpPr>
        <p:spPr>
          <a:xfrm flipH="1">
            <a:off x="4120750" y="4560313"/>
            <a:ext cx="175200" cy="600"/>
          </a:xfrm>
          <a:prstGeom prst="bentConnector3">
            <a:avLst>
              <a:gd fmla="val 49959" name="adj1"/>
            </a:avLst>
          </a:prstGeom>
          <a:noFill/>
          <a:ln cap="flat" cmpd="sng" w="19050">
            <a:solidFill>
              <a:schemeClr val="accent4"/>
            </a:solidFill>
            <a:prstDash val="solid"/>
            <a:round/>
            <a:headEnd len="sm" w="sm" type="triangle"/>
            <a:tailEnd len="sm" w="sm" type="none"/>
          </a:ln>
        </p:spPr>
      </p:cxnSp>
      <p:sp>
        <p:nvSpPr>
          <p:cNvPr id="3261" name="Google Shape;3261;p110"/>
          <p:cNvSpPr/>
          <p:nvPr/>
        </p:nvSpPr>
        <p:spPr>
          <a:xfrm>
            <a:off x="4053095" y="4526413"/>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263" name="Google Shape;3263;p110"/>
          <p:cNvCxnSpPr>
            <a:stCxn id="3159" idx="1"/>
            <a:endCxn id="3165"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triangle"/>
            <a:tailEnd len="sm" w="sm" type="none"/>
          </a:ln>
        </p:spPr>
      </p:cxnSp>
      <p:cxnSp>
        <p:nvCxnSpPr>
          <p:cNvPr id="3264" name="Google Shape;3264;p110"/>
          <p:cNvCxnSpPr>
            <a:stCxn id="3265" idx="2"/>
            <a:endCxn id="3162" idx="1"/>
          </p:cNvCxnSpPr>
          <p:nvPr/>
        </p:nvCxnSpPr>
        <p:spPr>
          <a:xfrm flipH="1" rot="-5400000">
            <a:off x="4234763" y="5451562"/>
            <a:ext cx="368400" cy="477600"/>
          </a:xfrm>
          <a:prstGeom prst="bentConnector2">
            <a:avLst/>
          </a:prstGeom>
          <a:noFill/>
          <a:ln cap="flat" cmpd="sng" w="19050">
            <a:solidFill>
              <a:schemeClr val="accent4"/>
            </a:solidFill>
            <a:prstDash val="solid"/>
            <a:round/>
            <a:headEnd len="sm" w="sm" type="none"/>
            <a:tailEnd len="sm" w="sm" type="triangle"/>
          </a:ln>
        </p:spPr>
      </p:cxnSp>
      <p:sp>
        <p:nvSpPr>
          <p:cNvPr id="3259" name="Google Shape;3259;p110"/>
          <p:cNvSpPr/>
          <p:nvPr/>
        </p:nvSpPr>
        <p:spPr>
          <a:xfrm>
            <a:off x="4066499" y="4807108"/>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58" name="Google Shape;3258;p110"/>
          <p:cNvSpPr/>
          <p:nvPr/>
        </p:nvSpPr>
        <p:spPr>
          <a:xfrm>
            <a:off x="5071615" y="3385952"/>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66" name="Google Shape;3266;p110"/>
          <p:cNvSpPr/>
          <p:nvPr/>
        </p:nvSpPr>
        <p:spPr>
          <a:xfrm>
            <a:off x="7254663" y="4423213"/>
            <a:ext cx="740400" cy="274200"/>
          </a:xfrm>
          <a:prstGeom prst="roundRect">
            <a:avLst>
              <a:gd fmla="val 18778"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3267" name="Google Shape;3267;p110"/>
          <p:cNvSpPr/>
          <p:nvPr/>
        </p:nvSpPr>
        <p:spPr>
          <a:xfrm>
            <a:off x="6726100" y="5967925"/>
            <a:ext cx="36345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68" name="Google Shape;3268;p110"/>
          <p:cNvSpPr txBox="1"/>
          <p:nvPr/>
        </p:nvSpPr>
        <p:spPr>
          <a:xfrm>
            <a:off x="7004100" y="6007825"/>
            <a:ext cx="3141900" cy="356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Ingest sources supported by Lakeflow Connect</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Check permissions and save data</a:t>
            </a:r>
            <a:endParaRPr sz="1100">
              <a:solidFill>
                <a:schemeClr val="accent5"/>
              </a:solidFill>
              <a:latin typeface="DM Sans"/>
              <a:ea typeface="DM Sans"/>
              <a:cs typeface="DM Sans"/>
              <a:sym typeface="DM Sans"/>
            </a:endParaRPr>
          </a:p>
        </p:txBody>
      </p:sp>
      <p:sp>
        <p:nvSpPr>
          <p:cNvPr id="3269" name="Google Shape;3269;p110"/>
          <p:cNvSpPr/>
          <p:nvPr/>
        </p:nvSpPr>
        <p:spPr>
          <a:xfrm>
            <a:off x="6782856" y="6205460"/>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3270" name="Google Shape;3270;p110"/>
          <p:cNvSpPr/>
          <p:nvPr/>
        </p:nvSpPr>
        <p:spPr>
          <a:xfrm>
            <a:off x="6782856" y="5999409"/>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3271" name="Google Shape;3271;p110"/>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3252" name="Google Shape;3252;p110"/>
          <p:cNvSpPr/>
          <p:nvPr/>
        </p:nvSpPr>
        <p:spPr>
          <a:xfrm>
            <a:off x="1726622" y="286101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cxnSp>
        <p:nvCxnSpPr>
          <p:cNvPr id="3272" name="Google Shape;3272;p110"/>
          <p:cNvCxnSpPr>
            <a:stCxn id="3197" idx="3"/>
            <a:endCxn id="3252" idx="4"/>
          </p:cNvCxnSpPr>
          <p:nvPr/>
        </p:nvCxnSpPr>
        <p:spPr>
          <a:xfrm flipH="1" rot="10800000">
            <a:off x="1434155" y="3066049"/>
            <a:ext cx="394800" cy="170700"/>
          </a:xfrm>
          <a:prstGeom prst="bentConnector2">
            <a:avLst/>
          </a:prstGeom>
          <a:noFill/>
          <a:ln cap="flat" cmpd="sng" w="19050">
            <a:solidFill>
              <a:schemeClr val="accent4"/>
            </a:solidFill>
            <a:prstDash val="solid"/>
            <a:round/>
            <a:headEnd len="sm" w="sm" type="none"/>
            <a:tailEnd len="sm" w="sm" type="none"/>
          </a:ln>
        </p:spPr>
      </p:cxnSp>
      <p:sp>
        <p:nvSpPr>
          <p:cNvPr id="3265" name="Google Shape;3265;p110"/>
          <p:cNvSpPr/>
          <p:nvPr/>
        </p:nvSpPr>
        <p:spPr>
          <a:xfrm>
            <a:off x="4160813" y="5461462"/>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73" name="Google Shape;3273;p110"/>
          <p:cNvSpPr/>
          <p:nvPr/>
        </p:nvSpPr>
        <p:spPr>
          <a:xfrm>
            <a:off x="4318824" y="379900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grpSp>
        <p:nvGrpSpPr>
          <p:cNvPr id="3274" name="Google Shape;3274;p110"/>
          <p:cNvGrpSpPr/>
          <p:nvPr/>
        </p:nvGrpSpPr>
        <p:grpSpPr>
          <a:xfrm>
            <a:off x="10606481" y="3507444"/>
            <a:ext cx="826200" cy="363728"/>
            <a:chOff x="10606481" y="3507444"/>
            <a:chExt cx="826200" cy="363728"/>
          </a:xfrm>
        </p:grpSpPr>
        <p:sp>
          <p:nvSpPr>
            <p:cNvPr id="3275" name="Google Shape;3275;p110"/>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3276" name="Google Shape;3276;p110"/>
            <p:cNvPicPr preferRelativeResize="0"/>
            <p:nvPr/>
          </p:nvPicPr>
          <p:blipFill>
            <a:blip r:embed="rId21">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0" name="Shape 3280"/>
        <p:cNvGrpSpPr/>
        <p:nvPr/>
      </p:nvGrpSpPr>
      <p:grpSpPr>
        <a:xfrm>
          <a:off x="0" y="0"/>
          <a:ext cx="0" cy="0"/>
          <a:chOff x="0" y="0"/>
          <a:chExt cx="0" cy="0"/>
        </a:xfrm>
      </p:grpSpPr>
      <p:sp>
        <p:nvSpPr>
          <p:cNvPr id="3281" name="Google Shape;3281;p111"/>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2 Batch ingestion and ETL</a:t>
            </a:r>
            <a:endParaRPr sz="3600"/>
          </a:p>
        </p:txBody>
      </p:sp>
      <p:sp>
        <p:nvSpPr>
          <p:cNvPr id="3282" name="Google Shape;3282;p111"/>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283" name="Google Shape;3283;p111"/>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284" name="Google Shape;3284;p111"/>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285" name="Google Shape;3285;p111"/>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286" name="Google Shape;3286;p111"/>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287" name="Google Shape;3287;p111"/>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3288" name="Google Shape;3288;p111"/>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l">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grpSp>
        <p:nvGrpSpPr>
          <p:cNvPr id="3289" name="Google Shape;3289;p111"/>
          <p:cNvGrpSpPr/>
          <p:nvPr/>
        </p:nvGrpSpPr>
        <p:grpSpPr>
          <a:xfrm>
            <a:off x="2986792" y="3550528"/>
            <a:ext cx="198576" cy="211709"/>
            <a:chOff x="3295749" y="3919250"/>
            <a:chExt cx="198576" cy="211709"/>
          </a:xfrm>
        </p:grpSpPr>
        <p:sp>
          <p:nvSpPr>
            <p:cNvPr id="3290" name="Google Shape;3290;p111"/>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91" name="Google Shape;3291;p111"/>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292" name="Google Shape;3292;p111"/>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3293" name="Google Shape;3293;p111"/>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rgbClr val="CCCCCC"/>
              </a:solidFill>
              <a:latin typeface="DM Sans Medium"/>
              <a:ea typeface="DM Sans Medium"/>
              <a:cs typeface="DM Sans Medium"/>
              <a:sym typeface="DM Sans Medium"/>
            </a:endParaRPr>
          </a:p>
        </p:txBody>
      </p:sp>
      <p:grpSp>
        <p:nvGrpSpPr>
          <p:cNvPr id="3294" name="Google Shape;3294;p111"/>
          <p:cNvGrpSpPr/>
          <p:nvPr/>
        </p:nvGrpSpPr>
        <p:grpSpPr>
          <a:xfrm rot="-5400000">
            <a:off x="8118194" y="4175940"/>
            <a:ext cx="198576" cy="208513"/>
            <a:chOff x="3295749" y="3922446"/>
            <a:chExt cx="198576" cy="208513"/>
          </a:xfrm>
        </p:grpSpPr>
        <p:sp>
          <p:nvSpPr>
            <p:cNvPr id="3295" name="Google Shape;3295;p111"/>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96" name="Google Shape;3296;p111"/>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297" name="Google Shape;3297;p111"/>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3298" name="Google Shape;3298;p111"/>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3299" name="Google Shape;3299;p111"/>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3300" name="Google Shape;3300;p111"/>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t>
            </a:r>
            <a:r>
              <a:rPr lang="en" sz="1100">
                <a:solidFill>
                  <a:srgbClr val="CCCCCC"/>
                </a:solidFill>
                <a:latin typeface="DM Sans Medium"/>
                <a:ea typeface="DM Sans Medium"/>
                <a:cs typeface="DM Sans Medium"/>
                <a:sym typeface="DM Sans Medium"/>
              </a:rPr>
              <a:t>and Streaming</a:t>
            </a:r>
            <a:endParaRPr sz="1100">
              <a:solidFill>
                <a:schemeClr val="accent5"/>
              </a:solidFill>
              <a:latin typeface="DM Sans Medium"/>
              <a:ea typeface="DM Sans Medium"/>
              <a:cs typeface="DM Sans Medium"/>
              <a:sym typeface="DM Sans Medium"/>
            </a:endParaRPr>
          </a:p>
        </p:txBody>
      </p:sp>
      <p:sp>
        <p:nvSpPr>
          <p:cNvPr id="3301" name="Google Shape;3301;p111"/>
          <p:cNvSpPr/>
          <p:nvPr/>
        </p:nvSpPr>
        <p:spPr>
          <a:xfrm>
            <a:off x="6687325"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3302" name="Google Shape;3302;p111"/>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3303" name="Google Shape;3303;p111"/>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3304" name="Google Shape;3304;p111"/>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3305" name="Google Shape;3305;p111"/>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3306" name="Google Shape;3306;p111"/>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3307" name="Google Shape;3307;p111"/>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3308" name="Google Shape;3308;p111"/>
          <p:cNvSpPr/>
          <p:nvPr/>
        </p:nvSpPr>
        <p:spPr>
          <a:xfrm>
            <a:off x="2143275" y="2825260"/>
            <a:ext cx="8796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3309" name="Google Shape;3309;p111"/>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3310" name="Google Shape;3310;p111"/>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3311" name="Google Shape;3311;p111"/>
          <p:cNvGrpSpPr/>
          <p:nvPr/>
        </p:nvGrpSpPr>
        <p:grpSpPr>
          <a:xfrm>
            <a:off x="4283501" y="5741943"/>
            <a:ext cx="1044000" cy="397683"/>
            <a:chOff x="4661400" y="6214292"/>
            <a:chExt cx="1044000" cy="397683"/>
          </a:xfrm>
        </p:grpSpPr>
        <p:sp>
          <p:nvSpPr>
            <p:cNvPr id="3312" name="Google Shape;3312;p111"/>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3313" name="Google Shape;3313;p111"/>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3314" name="Google Shape;3314;p111"/>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3315" name="Google Shape;3315;p111"/>
          <p:cNvPicPr preferRelativeResize="0"/>
          <p:nvPr/>
        </p:nvPicPr>
        <p:blipFill>
          <a:blip r:embed="rId4">
            <a:alphaModFix/>
          </a:blip>
          <a:stretch>
            <a:fillRect/>
          </a:stretch>
        </p:blipFill>
        <p:spPr>
          <a:xfrm>
            <a:off x="3367671" y="5181455"/>
            <a:ext cx="200700" cy="191237"/>
          </a:xfrm>
          <a:prstGeom prst="rect">
            <a:avLst/>
          </a:prstGeom>
          <a:noFill/>
          <a:ln>
            <a:noFill/>
          </a:ln>
        </p:spPr>
      </p:pic>
      <p:sp>
        <p:nvSpPr>
          <p:cNvPr id="3316" name="Google Shape;3316;p111"/>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3317" name="Google Shape;3317;p111"/>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3318" name="Google Shape;3318;p111"/>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pic>
        <p:nvPicPr>
          <p:cNvPr id="3319" name="Google Shape;3319;p111"/>
          <p:cNvPicPr preferRelativeResize="0"/>
          <p:nvPr/>
        </p:nvPicPr>
        <p:blipFill>
          <a:blip r:embed="rId5">
            <a:alphaModFix/>
          </a:blip>
          <a:stretch>
            <a:fillRect/>
          </a:stretch>
        </p:blipFill>
        <p:spPr>
          <a:xfrm>
            <a:off x="4998129" y="1403077"/>
            <a:ext cx="259650" cy="279625"/>
          </a:xfrm>
          <a:prstGeom prst="rect">
            <a:avLst/>
          </a:prstGeom>
          <a:noFill/>
          <a:ln>
            <a:noFill/>
          </a:ln>
        </p:spPr>
      </p:pic>
      <p:grpSp>
        <p:nvGrpSpPr>
          <p:cNvPr id="3320" name="Google Shape;3320;p111"/>
          <p:cNvGrpSpPr/>
          <p:nvPr/>
        </p:nvGrpSpPr>
        <p:grpSpPr>
          <a:xfrm>
            <a:off x="5357469" y="5168059"/>
            <a:ext cx="1015163" cy="210402"/>
            <a:chOff x="6995676" y="6025175"/>
            <a:chExt cx="1015163" cy="210402"/>
          </a:xfrm>
        </p:grpSpPr>
        <p:sp>
          <p:nvSpPr>
            <p:cNvPr id="3321" name="Google Shape;3321;p111"/>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3322" name="Google Shape;3322;p111"/>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3323" name="Google Shape;3323;p111"/>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3324" name="Google Shape;3324;p111"/>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325" name="Google Shape;3325;p111"/>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326" name="Google Shape;3326;p111"/>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327" name="Google Shape;3327;p111"/>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328" name="Google Shape;3328;p111"/>
            <p:cNvCxnSpPr>
              <a:stCxn id="3325" idx="4"/>
              <a:endCxn id="3329"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3329" name="Google Shape;3329;p111"/>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330" name="Google Shape;3330;p111"/>
            <p:cNvCxnSpPr>
              <a:stCxn id="3324" idx="4"/>
              <a:endCxn id="3327"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3331" name="Google Shape;3331;p111"/>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                       Data Intelligence</a:t>
            </a:r>
            <a:endParaRPr sz="1100">
              <a:solidFill>
                <a:schemeClr val="accent5"/>
              </a:solidFill>
              <a:latin typeface="DM Sans Medium"/>
              <a:ea typeface="DM Sans Medium"/>
              <a:cs typeface="DM Sans Medium"/>
              <a:sym typeface="DM Sans Medium"/>
            </a:endParaRPr>
          </a:p>
        </p:txBody>
      </p:sp>
      <p:sp>
        <p:nvSpPr>
          <p:cNvPr id="3332" name="Google Shape;3332;p111"/>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3333" name="Google Shape;3333;p111"/>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3334" name="Google Shape;3334;p111"/>
          <p:cNvGrpSpPr/>
          <p:nvPr/>
        </p:nvGrpSpPr>
        <p:grpSpPr>
          <a:xfrm>
            <a:off x="861763" y="1388635"/>
            <a:ext cx="879600" cy="565670"/>
            <a:chOff x="820734" y="1742570"/>
            <a:chExt cx="879600" cy="565670"/>
          </a:xfrm>
        </p:grpSpPr>
        <p:sp>
          <p:nvSpPr>
            <p:cNvPr id="3335" name="Google Shape;3335;p111"/>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336" name="Google Shape;3336;p111"/>
            <p:cNvPicPr preferRelativeResize="0"/>
            <p:nvPr/>
          </p:nvPicPr>
          <p:blipFill>
            <a:blip r:embed="rId6">
              <a:alphaModFix/>
            </a:blip>
            <a:stretch>
              <a:fillRect/>
            </a:stretch>
          </p:blipFill>
          <p:spPr>
            <a:xfrm>
              <a:off x="1127949" y="1742570"/>
              <a:ext cx="265176" cy="265176"/>
            </a:xfrm>
            <a:prstGeom prst="rect">
              <a:avLst/>
            </a:prstGeom>
            <a:noFill/>
            <a:ln>
              <a:noFill/>
            </a:ln>
          </p:spPr>
        </p:pic>
      </p:grpSp>
      <p:grpSp>
        <p:nvGrpSpPr>
          <p:cNvPr id="3337" name="Google Shape;3337;p111"/>
          <p:cNvGrpSpPr/>
          <p:nvPr/>
        </p:nvGrpSpPr>
        <p:grpSpPr>
          <a:xfrm>
            <a:off x="1278400" y="4282495"/>
            <a:ext cx="462900" cy="422268"/>
            <a:chOff x="1296935" y="4254734"/>
            <a:chExt cx="462900" cy="422268"/>
          </a:xfrm>
        </p:grpSpPr>
        <p:pic>
          <p:nvPicPr>
            <p:cNvPr id="3338" name="Google Shape;3338;p111"/>
            <p:cNvPicPr preferRelativeResize="0"/>
            <p:nvPr/>
          </p:nvPicPr>
          <p:blipFill rotWithShape="1">
            <a:blip r:embed="rId7">
              <a:alphaModFix/>
            </a:blip>
            <a:srcRect b="0" l="0" r="0" t="0"/>
            <a:stretch/>
          </p:blipFill>
          <p:spPr>
            <a:xfrm>
              <a:off x="1395798" y="4254734"/>
              <a:ext cx="265176" cy="265176"/>
            </a:xfrm>
            <a:prstGeom prst="rect">
              <a:avLst/>
            </a:prstGeom>
            <a:noFill/>
            <a:ln>
              <a:noFill/>
            </a:ln>
          </p:spPr>
        </p:pic>
        <p:sp>
          <p:nvSpPr>
            <p:cNvPr id="3339" name="Google Shape;3339;p111"/>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3340" name="Google Shape;3340;p111"/>
          <p:cNvGrpSpPr/>
          <p:nvPr/>
        </p:nvGrpSpPr>
        <p:grpSpPr>
          <a:xfrm>
            <a:off x="861800" y="1970622"/>
            <a:ext cx="879600" cy="558086"/>
            <a:chOff x="820771" y="2866176"/>
            <a:chExt cx="879600" cy="558086"/>
          </a:xfrm>
        </p:grpSpPr>
        <p:sp>
          <p:nvSpPr>
            <p:cNvPr id="3341" name="Google Shape;3341;p111"/>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3342" name="Google Shape;3342;p111"/>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3343" name="Google Shape;3343;p111"/>
          <p:cNvGrpSpPr/>
          <p:nvPr/>
        </p:nvGrpSpPr>
        <p:grpSpPr>
          <a:xfrm>
            <a:off x="903312" y="2545026"/>
            <a:ext cx="796500" cy="542824"/>
            <a:chOff x="862283" y="2315806"/>
            <a:chExt cx="796500" cy="542824"/>
          </a:xfrm>
        </p:grpSpPr>
        <p:sp>
          <p:nvSpPr>
            <p:cNvPr id="3344" name="Google Shape;3344;p111"/>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345" name="Google Shape;3345;p111"/>
            <p:cNvPicPr preferRelativeResize="0"/>
            <p:nvPr/>
          </p:nvPicPr>
          <p:blipFill>
            <a:blip r:embed="rId7">
              <a:alphaModFix/>
            </a:blip>
            <a:stretch>
              <a:fillRect/>
            </a:stretch>
          </p:blipFill>
          <p:spPr>
            <a:xfrm>
              <a:off x="1127949" y="2315806"/>
              <a:ext cx="265176" cy="265176"/>
            </a:xfrm>
            <a:prstGeom prst="rect">
              <a:avLst/>
            </a:prstGeom>
            <a:noFill/>
            <a:ln>
              <a:noFill/>
            </a:ln>
          </p:spPr>
        </p:pic>
      </p:grpSp>
      <p:grpSp>
        <p:nvGrpSpPr>
          <p:cNvPr id="3346" name="Google Shape;3346;p111"/>
          <p:cNvGrpSpPr/>
          <p:nvPr/>
        </p:nvGrpSpPr>
        <p:grpSpPr>
          <a:xfrm>
            <a:off x="861700" y="3104161"/>
            <a:ext cx="879600" cy="559474"/>
            <a:chOff x="820671" y="3997940"/>
            <a:chExt cx="879600" cy="559474"/>
          </a:xfrm>
        </p:grpSpPr>
        <p:pic>
          <p:nvPicPr>
            <p:cNvPr id="3347" name="Google Shape;3347;p111"/>
            <p:cNvPicPr preferRelativeResize="0"/>
            <p:nvPr/>
          </p:nvPicPr>
          <p:blipFill>
            <a:blip r:embed="rId9">
              <a:alphaModFix/>
            </a:blip>
            <a:stretch>
              <a:fillRect/>
            </a:stretch>
          </p:blipFill>
          <p:spPr>
            <a:xfrm>
              <a:off x="1127949" y="3997940"/>
              <a:ext cx="265176" cy="265176"/>
            </a:xfrm>
            <a:prstGeom prst="rect">
              <a:avLst/>
            </a:prstGeom>
            <a:noFill/>
            <a:ln>
              <a:noFill/>
            </a:ln>
          </p:spPr>
        </p:pic>
        <p:sp>
          <p:nvSpPr>
            <p:cNvPr id="3348" name="Google Shape;3348;p111"/>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3349" name="Google Shape;3349;p111"/>
          <p:cNvGrpSpPr/>
          <p:nvPr/>
        </p:nvGrpSpPr>
        <p:grpSpPr>
          <a:xfrm>
            <a:off x="920210" y="3679952"/>
            <a:ext cx="761100" cy="558519"/>
            <a:chOff x="880006" y="3431841"/>
            <a:chExt cx="761100" cy="558519"/>
          </a:xfrm>
        </p:grpSpPr>
        <p:pic>
          <p:nvPicPr>
            <p:cNvPr id="3350" name="Google Shape;3350;p111"/>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3351" name="Google Shape;3351;p111"/>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3352" name="Google Shape;3352;p111"/>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3353" name="Google Shape;3353;p111"/>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3354" name="Google Shape;3354;p111"/>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3355" name="Google Shape;3355;p111"/>
          <p:cNvGrpSpPr/>
          <p:nvPr/>
        </p:nvGrpSpPr>
        <p:grpSpPr>
          <a:xfrm>
            <a:off x="10745081" y="3937546"/>
            <a:ext cx="549000" cy="366196"/>
            <a:chOff x="10745081" y="3937546"/>
            <a:chExt cx="549000" cy="366196"/>
          </a:xfrm>
        </p:grpSpPr>
        <p:pic>
          <p:nvPicPr>
            <p:cNvPr id="3356" name="Google Shape;3356;p111"/>
            <p:cNvPicPr preferRelativeResize="0"/>
            <p:nvPr/>
          </p:nvPicPr>
          <p:blipFill>
            <a:blip r:embed="rId11">
              <a:alphaModFix/>
            </a:blip>
            <a:stretch>
              <a:fillRect/>
            </a:stretch>
          </p:blipFill>
          <p:spPr>
            <a:xfrm>
              <a:off x="10912331" y="3937546"/>
              <a:ext cx="214500" cy="217452"/>
            </a:xfrm>
            <a:prstGeom prst="rect">
              <a:avLst/>
            </a:prstGeom>
            <a:noFill/>
            <a:ln>
              <a:noFill/>
            </a:ln>
          </p:spPr>
        </p:pic>
        <p:sp>
          <p:nvSpPr>
            <p:cNvPr id="3357" name="Google Shape;3357;p111"/>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3358" name="Google Shape;3358;p111"/>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3359" name="Google Shape;3359;p111"/>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3360" name="Google Shape;3360;p111"/>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3361" name="Google Shape;3361;p111"/>
          <p:cNvGrpSpPr/>
          <p:nvPr/>
        </p:nvGrpSpPr>
        <p:grpSpPr>
          <a:xfrm>
            <a:off x="10597029" y="1623535"/>
            <a:ext cx="845100" cy="405937"/>
            <a:chOff x="10597029" y="1623535"/>
            <a:chExt cx="845100" cy="405937"/>
          </a:xfrm>
        </p:grpSpPr>
        <p:sp>
          <p:nvSpPr>
            <p:cNvPr id="3362" name="Google Shape;3362;p111"/>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3363" name="Google Shape;3363;p111"/>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3364" name="Google Shape;3364;p111"/>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3365" name="Google Shape;3365;p111"/>
          <p:cNvGrpSpPr/>
          <p:nvPr/>
        </p:nvGrpSpPr>
        <p:grpSpPr>
          <a:xfrm>
            <a:off x="10702031" y="2486073"/>
            <a:ext cx="635100" cy="543395"/>
            <a:chOff x="10702031" y="2486073"/>
            <a:chExt cx="635100" cy="543395"/>
          </a:xfrm>
        </p:grpSpPr>
        <p:sp>
          <p:nvSpPr>
            <p:cNvPr id="3366" name="Google Shape;3366;p111"/>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3367" name="Google Shape;3367;p111"/>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3368" name="Google Shape;3368;p111"/>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3369" name="Google Shape;3369;p111"/>
          <p:cNvGrpSpPr/>
          <p:nvPr/>
        </p:nvGrpSpPr>
        <p:grpSpPr>
          <a:xfrm>
            <a:off x="10621328" y="4994250"/>
            <a:ext cx="796500" cy="553688"/>
            <a:chOff x="10621328" y="4994250"/>
            <a:chExt cx="796500" cy="553688"/>
          </a:xfrm>
        </p:grpSpPr>
        <p:sp>
          <p:nvSpPr>
            <p:cNvPr id="3370" name="Google Shape;3370;p111"/>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3371" name="Google Shape;3371;p111"/>
            <p:cNvPicPr preferRelativeResize="0"/>
            <p:nvPr/>
          </p:nvPicPr>
          <p:blipFill>
            <a:blip r:embed="rId14">
              <a:alphaModFix/>
            </a:blip>
            <a:stretch>
              <a:fillRect/>
            </a:stretch>
          </p:blipFill>
          <p:spPr>
            <a:xfrm>
              <a:off x="10864167" y="4994250"/>
              <a:ext cx="265176" cy="265176"/>
            </a:xfrm>
            <a:prstGeom prst="rect">
              <a:avLst/>
            </a:prstGeom>
            <a:noFill/>
            <a:ln>
              <a:noFill/>
            </a:ln>
          </p:spPr>
        </p:pic>
      </p:grpSp>
      <p:pic>
        <p:nvPicPr>
          <p:cNvPr id="3372" name="Google Shape;3372;p111"/>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3373" name="Google Shape;3373;p111"/>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3374" name="Google Shape;3374;p111"/>
          <p:cNvGrpSpPr/>
          <p:nvPr/>
        </p:nvGrpSpPr>
        <p:grpSpPr>
          <a:xfrm>
            <a:off x="911400" y="4663311"/>
            <a:ext cx="336000" cy="426753"/>
            <a:chOff x="929785" y="4678386"/>
            <a:chExt cx="336000" cy="426753"/>
          </a:xfrm>
        </p:grpSpPr>
        <p:sp>
          <p:nvSpPr>
            <p:cNvPr id="3375" name="Google Shape;3375;p111"/>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3376" name="Google Shape;3376;p111"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3377" name="Google Shape;3377;p111"/>
          <p:cNvGrpSpPr/>
          <p:nvPr/>
        </p:nvGrpSpPr>
        <p:grpSpPr>
          <a:xfrm>
            <a:off x="1366236" y="4655157"/>
            <a:ext cx="324300" cy="434522"/>
            <a:chOff x="1377357" y="4647990"/>
            <a:chExt cx="324300" cy="434522"/>
          </a:xfrm>
        </p:grpSpPr>
        <p:sp>
          <p:nvSpPr>
            <p:cNvPr id="3378" name="Google Shape;3378;p111"/>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3379" name="Google Shape;3379;p111"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sp>
        <p:nvSpPr>
          <p:cNvPr id="3380" name="Google Shape;3380;p111"/>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3381" name="Google Shape;3381;p111"/>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3382" name="Google Shape;3382;p111"/>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3383" name="Google Shape;3383;p111"/>
          <p:cNvGrpSpPr/>
          <p:nvPr/>
        </p:nvGrpSpPr>
        <p:grpSpPr>
          <a:xfrm>
            <a:off x="899750" y="4283846"/>
            <a:ext cx="359100" cy="422318"/>
            <a:chOff x="899750" y="4215307"/>
            <a:chExt cx="359100" cy="422318"/>
          </a:xfrm>
        </p:grpSpPr>
        <p:sp>
          <p:nvSpPr>
            <p:cNvPr id="3384" name="Google Shape;3384;p111"/>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3385" name="Google Shape;3385;p111"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sp>
        <p:nvSpPr>
          <p:cNvPr id="3386" name="Google Shape;3386;p111"/>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3387" name="Google Shape;3387;p111"/>
          <p:cNvGrpSpPr/>
          <p:nvPr/>
        </p:nvGrpSpPr>
        <p:grpSpPr>
          <a:xfrm>
            <a:off x="1247501" y="5175655"/>
            <a:ext cx="524700" cy="496901"/>
            <a:chOff x="1266036" y="5196700"/>
            <a:chExt cx="524700" cy="496901"/>
          </a:xfrm>
        </p:grpSpPr>
        <p:sp>
          <p:nvSpPr>
            <p:cNvPr id="3388" name="Google Shape;3388;p111"/>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3389" name="Google Shape;3389;p111" title="primary-icon-navy-data-sharing.png"/>
            <p:cNvPicPr preferRelativeResize="0"/>
            <p:nvPr/>
          </p:nvPicPr>
          <p:blipFill>
            <a:blip r:embed="rId19">
              <a:alphaModFix/>
            </a:blip>
            <a:stretch>
              <a:fillRect/>
            </a:stretch>
          </p:blipFill>
          <p:spPr>
            <a:xfrm>
              <a:off x="1393854" y="5196700"/>
              <a:ext cx="269065" cy="269063"/>
            </a:xfrm>
            <a:prstGeom prst="rect">
              <a:avLst/>
            </a:prstGeom>
            <a:noFill/>
            <a:ln>
              <a:noFill/>
            </a:ln>
          </p:spPr>
        </p:pic>
      </p:grpSp>
      <p:grpSp>
        <p:nvGrpSpPr>
          <p:cNvPr id="3390" name="Google Shape;3390;p111"/>
          <p:cNvGrpSpPr/>
          <p:nvPr/>
        </p:nvGrpSpPr>
        <p:grpSpPr>
          <a:xfrm>
            <a:off x="816949" y="5175643"/>
            <a:ext cx="524700" cy="496193"/>
            <a:chOff x="835484" y="5196688"/>
            <a:chExt cx="524700" cy="496193"/>
          </a:xfrm>
        </p:grpSpPr>
        <p:sp>
          <p:nvSpPr>
            <p:cNvPr id="3391" name="Google Shape;3391;p111"/>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3392" name="Google Shape;3392;p111" title="primary-icon-navy-distribution.png"/>
            <p:cNvPicPr preferRelativeResize="0"/>
            <p:nvPr/>
          </p:nvPicPr>
          <p:blipFill>
            <a:blip r:embed="rId20">
              <a:alphaModFix/>
            </a:blip>
            <a:stretch>
              <a:fillRect/>
            </a:stretch>
          </p:blipFill>
          <p:spPr>
            <a:xfrm>
              <a:off x="963302" y="5196688"/>
              <a:ext cx="269065" cy="269063"/>
            </a:xfrm>
            <a:prstGeom prst="rect">
              <a:avLst/>
            </a:prstGeom>
            <a:noFill/>
            <a:ln>
              <a:noFill/>
            </a:ln>
          </p:spPr>
        </p:pic>
      </p:grpSp>
      <p:sp>
        <p:nvSpPr>
          <p:cNvPr id="3393" name="Google Shape;3393;p111"/>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3394" name="Google Shape;3394;p111"/>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rgbClr val="CCCCCC"/>
              </a:solidFill>
              <a:latin typeface="DM Sans Medium"/>
              <a:ea typeface="DM Sans Medium"/>
              <a:cs typeface="DM Sans Medium"/>
              <a:sym typeface="DM Sans Medium"/>
            </a:endParaRPr>
          </a:p>
        </p:txBody>
      </p:sp>
      <p:sp>
        <p:nvSpPr>
          <p:cNvPr id="3395" name="Google Shape;3395;p111"/>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rgbClr val="CCCCCC"/>
              </a:solidFill>
              <a:latin typeface="DM Sans Medium"/>
              <a:ea typeface="DM Sans Medium"/>
              <a:cs typeface="DM Sans Medium"/>
              <a:sym typeface="DM Sans Medium"/>
            </a:endParaRPr>
          </a:p>
        </p:txBody>
      </p:sp>
      <p:sp>
        <p:nvSpPr>
          <p:cNvPr id="3396" name="Google Shape;3396;p111"/>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 CI/CD, MLOps and DataOps</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3397" name="Google Shape;3397;p111"/>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3398" name="Google Shape;3398;p111"/>
          <p:cNvSpPr txBox="1"/>
          <p:nvPr/>
        </p:nvSpPr>
        <p:spPr>
          <a:xfrm>
            <a:off x="1966662" y="2676532"/>
            <a:ext cx="1224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800">
                <a:solidFill>
                  <a:srgbClr val="DD9312"/>
                </a:solidFill>
                <a:latin typeface="DM Sans Medium"/>
                <a:ea typeface="DM Sans Medium"/>
                <a:cs typeface="DM Sans Medium"/>
                <a:sym typeface="DM Sans Medium"/>
              </a:rPr>
              <a:t>See use case 1</a:t>
            </a:r>
            <a:endParaRPr i="1" sz="900">
              <a:solidFill>
                <a:srgbClr val="DD9312"/>
              </a:solidFill>
              <a:latin typeface="DM Sans Medium"/>
              <a:ea typeface="DM Sans Medium"/>
              <a:cs typeface="DM Sans Medium"/>
              <a:sym typeface="DM Sans Medium"/>
            </a:endParaRPr>
          </a:p>
        </p:txBody>
      </p:sp>
      <p:cxnSp>
        <p:nvCxnSpPr>
          <p:cNvPr id="3399" name="Google Shape;3399;p111"/>
          <p:cNvCxnSpPr>
            <a:stCxn id="3400" idx="2"/>
            <a:endCxn id="3309" idx="3"/>
          </p:cNvCxnSpPr>
          <p:nvPr/>
        </p:nvCxnSpPr>
        <p:spPr>
          <a:xfrm flipH="1">
            <a:off x="3963695" y="4560313"/>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3401" name="Google Shape;3401;p111"/>
          <p:cNvCxnSpPr>
            <a:stCxn id="3316" idx="1"/>
            <a:endCxn id="3400" idx="6"/>
          </p:cNvCxnSpPr>
          <p:nvPr/>
        </p:nvCxnSpPr>
        <p:spPr>
          <a:xfrm flipH="1">
            <a:off x="4120750" y="4560313"/>
            <a:ext cx="175200" cy="600"/>
          </a:xfrm>
          <a:prstGeom prst="bentConnector3">
            <a:avLst>
              <a:gd fmla="val 49959" name="adj1"/>
            </a:avLst>
          </a:prstGeom>
          <a:noFill/>
          <a:ln cap="flat" cmpd="sng" w="19050">
            <a:solidFill>
              <a:schemeClr val="accent4"/>
            </a:solidFill>
            <a:prstDash val="solid"/>
            <a:round/>
            <a:headEnd len="sm" w="sm" type="triangle"/>
            <a:tailEnd len="sm" w="sm" type="none"/>
          </a:ln>
        </p:spPr>
      </p:cxnSp>
      <p:cxnSp>
        <p:nvCxnSpPr>
          <p:cNvPr id="3402" name="Google Shape;3402;p111"/>
          <p:cNvCxnSpPr>
            <a:stCxn id="3310" idx="1"/>
            <a:endCxn id="3316"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triangle"/>
            <a:tailEnd len="sm" w="sm" type="none"/>
          </a:ln>
        </p:spPr>
      </p:cxnSp>
      <p:cxnSp>
        <p:nvCxnSpPr>
          <p:cNvPr id="3403" name="Google Shape;3403;p111"/>
          <p:cNvCxnSpPr>
            <a:stCxn id="3404" idx="2"/>
            <a:endCxn id="3313" idx="1"/>
          </p:cNvCxnSpPr>
          <p:nvPr/>
        </p:nvCxnSpPr>
        <p:spPr>
          <a:xfrm flipH="1" rot="-5400000">
            <a:off x="4234763" y="5451562"/>
            <a:ext cx="368400" cy="477600"/>
          </a:xfrm>
          <a:prstGeom prst="bentConnector2">
            <a:avLst/>
          </a:prstGeom>
          <a:noFill/>
          <a:ln cap="flat" cmpd="sng" w="19050">
            <a:solidFill>
              <a:schemeClr val="accent4"/>
            </a:solidFill>
            <a:prstDash val="solid"/>
            <a:round/>
            <a:headEnd len="sm" w="sm" type="none"/>
            <a:tailEnd len="sm" w="sm" type="triangle"/>
          </a:ln>
        </p:spPr>
      </p:cxnSp>
      <p:sp>
        <p:nvSpPr>
          <p:cNvPr id="3405" name="Google Shape;3405;p111"/>
          <p:cNvSpPr/>
          <p:nvPr/>
        </p:nvSpPr>
        <p:spPr>
          <a:xfrm>
            <a:off x="4066499" y="4807108"/>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04" name="Google Shape;3404;p111"/>
          <p:cNvSpPr/>
          <p:nvPr/>
        </p:nvSpPr>
        <p:spPr>
          <a:xfrm>
            <a:off x="4160813" y="5461462"/>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06" name="Google Shape;3406;p111"/>
          <p:cNvSpPr/>
          <p:nvPr/>
        </p:nvSpPr>
        <p:spPr>
          <a:xfrm>
            <a:off x="4660074" y="3385952"/>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07" name="Google Shape;3407;p111"/>
          <p:cNvSpPr/>
          <p:nvPr/>
        </p:nvSpPr>
        <p:spPr>
          <a:xfrm>
            <a:off x="7254663" y="4423213"/>
            <a:ext cx="740400" cy="274200"/>
          </a:xfrm>
          <a:prstGeom prst="roundRect">
            <a:avLst>
              <a:gd fmla="val 18778"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3408" name="Google Shape;3408;p111"/>
          <p:cNvSpPr/>
          <p:nvPr/>
        </p:nvSpPr>
        <p:spPr>
          <a:xfrm>
            <a:off x="1741297" y="1419213"/>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sp>
        <p:nvSpPr>
          <p:cNvPr id="3409" name="Google Shape;3409;p111"/>
          <p:cNvSpPr/>
          <p:nvPr/>
        </p:nvSpPr>
        <p:spPr>
          <a:xfrm>
            <a:off x="1723760" y="3613712"/>
            <a:ext cx="38700" cy="4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10" name="Google Shape;3410;p111"/>
          <p:cNvSpPr/>
          <p:nvPr/>
        </p:nvSpPr>
        <p:spPr>
          <a:xfrm>
            <a:off x="1989529" y="3622000"/>
            <a:ext cx="1064400" cy="13530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t>
            </a:r>
            <a:r>
              <a:rPr lang="en" sz="1100">
                <a:solidFill>
                  <a:srgbClr val="CCCCCC"/>
                </a:solidFill>
                <a:latin typeface="DM Sans Medium"/>
                <a:ea typeface="DM Sans Medium"/>
                <a:cs typeface="DM Sans Medium"/>
                <a:sym typeface="DM Sans Medium"/>
              </a:rPr>
              <a:t>and Streaming</a:t>
            </a:r>
            <a:endParaRPr sz="1100">
              <a:solidFill>
                <a:srgbClr val="CCCCCC"/>
              </a:solidFill>
              <a:latin typeface="DM Sans Medium"/>
              <a:ea typeface="DM Sans Medium"/>
              <a:cs typeface="DM Sans Medium"/>
              <a:sym typeface="DM Sans Medium"/>
            </a:endParaRPr>
          </a:p>
        </p:txBody>
      </p:sp>
      <p:grpSp>
        <p:nvGrpSpPr>
          <p:cNvPr id="3411" name="Google Shape;3411;p111"/>
          <p:cNvGrpSpPr/>
          <p:nvPr/>
        </p:nvGrpSpPr>
        <p:grpSpPr>
          <a:xfrm>
            <a:off x="2244854" y="4070489"/>
            <a:ext cx="524700" cy="534103"/>
            <a:chOff x="2128750" y="4862972"/>
            <a:chExt cx="524700" cy="534103"/>
          </a:xfrm>
        </p:grpSpPr>
        <p:sp>
          <p:nvSpPr>
            <p:cNvPr id="3412" name="Google Shape;3412;p111"/>
            <p:cNvSpPr txBox="1"/>
            <p:nvPr/>
          </p:nvSpPr>
          <p:spPr>
            <a:xfrm>
              <a:off x="2128750" y="5119875"/>
              <a:ext cx="5247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Ingest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tool</a:t>
              </a:r>
              <a:endParaRPr sz="900">
                <a:solidFill>
                  <a:schemeClr val="accent1"/>
                </a:solidFill>
                <a:latin typeface="DM Sans Medium"/>
                <a:ea typeface="DM Sans Medium"/>
                <a:cs typeface="DM Sans Medium"/>
                <a:sym typeface="DM Sans Medium"/>
              </a:endParaRPr>
            </a:p>
          </p:txBody>
        </p:sp>
        <p:pic>
          <p:nvPicPr>
            <p:cNvPr id="3413" name="Google Shape;3413;p111"/>
            <p:cNvPicPr preferRelativeResize="0"/>
            <p:nvPr/>
          </p:nvPicPr>
          <p:blipFill>
            <a:blip r:embed="rId21">
              <a:alphaModFix/>
            </a:blip>
            <a:stretch>
              <a:fillRect/>
            </a:stretch>
          </p:blipFill>
          <p:spPr>
            <a:xfrm>
              <a:off x="2273029" y="4862972"/>
              <a:ext cx="265176" cy="265176"/>
            </a:xfrm>
            <a:prstGeom prst="rect">
              <a:avLst/>
            </a:prstGeom>
            <a:noFill/>
            <a:ln>
              <a:noFill/>
            </a:ln>
          </p:spPr>
        </p:pic>
      </p:grpSp>
      <p:cxnSp>
        <p:nvCxnSpPr>
          <p:cNvPr id="3414" name="Google Shape;3414;p111"/>
          <p:cNvCxnSpPr>
            <a:stCxn id="3415" idx="6"/>
            <a:endCxn id="3413" idx="1"/>
          </p:cNvCxnSpPr>
          <p:nvPr/>
        </p:nvCxnSpPr>
        <p:spPr>
          <a:xfrm>
            <a:off x="2186892" y="4201876"/>
            <a:ext cx="202200" cy="1200"/>
          </a:xfrm>
          <a:prstGeom prst="bentConnector3">
            <a:avLst>
              <a:gd fmla="val 50010" name="adj1"/>
            </a:avLst>
          </a:prstGeom>
          <a:noFill/>
          <a:ln cap="flat" cmpd="sng" w="19050">
            <a:solidFill>
              <a:schemeClr val="accent4"/>
            </a:solidFill>
            <a:prstDash val="solid"/>
            <a:round/>
            <a:headEnd len="sm" w="sm" type="none"/>
            <a:tailEnd len="sm" w="sm" type="triangle"/>
          </a:ln>
        </p:spPr>
      </p:cxnSp>
      <p:cxnSp>
        <p:nvCxnSpPr>
          <p:cNvPr id="3416" name="Google Shape;3416;p111"/>
          <p:cNvCxnSpPr>
            <a:stCxn id="3413" idx="3"/>
            <a:endCxn id="3417" idx="1"/>
          </p:cNvCxnSpPr>
          <p:nvPr/>
        </p:nvCxnSpPr>
        <p:spPr>
          <a:xfrm flipH="1" rot="10800000">
            <a:off x="2654309" y="3408077"/>
            <a:ext cx="592800" cy="795000"/>
          </a:xfrm>
          <a:prstGeom prst="bentConnector3">
            <a:avLst>
              <a:gd fmla="val 76150" name="adj1"/>
            </a:avLst>
          </a:prstGeom>
          <a:noFill/>
          <a:ln cap="flat" cmpd="sng" w="19050">
            <a:solidFill>
              <a:schemeClr val="accent4"/>
            </a:solidFill>
            <a:prstDash val="solid"/>
            <a:round/>
            <a:headEnd len="sm" w="sm" type="none"/>
            <a:tailEnd len="sm" w="sm" type="triangle"/>
          </a:ln>
        </p:spPr>
      </p:cxnSp>
      <p:cxnSp>
        <p:nvCxnSpPr>
          <p:cNvPr id="3418" name="Google Shape;3418;p111"/>
          <p:cNvCxnSpPr>
            <a:stCxn id="3413" idx="3"/>
            <a:endCxn id="3292" idx="1"/>
          </p:cNvCxnSpPr>
          <p:nvPr/>
        </p:nvCxnSpPr>
        <p:spPr>
          <a:xfrm>
            <a:off x="2654309" y="4203077"/>
            <a:ext cx="593100" cy="954000"/>
          </a:xfrm>
          <a:prstGeom prst="bentConnector3">
            <a:avLst>
              <a:gd fmla="val 75938" name="adj1"/>
            </a:avLst>
          </a:prstGeom>
          <a:noFill/>
          <a:ln cap="flat" cmpd="sng" w="19050">
            <a:solidFill>
              <a:schemeClr val="accent4"/>
            </a:solidFill>
            <a:prstDash val="solid"/>
            <a:round/>
            <a:headEnd len="sm" w="sm" type="none"/>
            <a:tailEnd len="sm" w="sm" type="triangle"/>
          </a:ln>
        </p:spPr>
      </p:cxnSp>
      <p:sp>
        <p:nvSpPr>
          <p:cNvPr id="3417" name="Google Shape;3417;p111"/>
          <p:cNvSpPr/>
          <p:nvPr/>
        </p:nvSpPr>
        <p:spPr>
          <a:xfrm>
            <a:off x="3247109" y="3385403"/>
            <a:ext cx="56700" cy="4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15" name="Google Shape;3415;p111"/>
          <p:cNvSpPr/>
          <p:nvPr/>
        </p:nvSpPr>
        <p:spPr>
          <a:xfrm>
            <a:off x="1981992" y="4099426"/>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3419" name="Google Shape;3419;p111"/>
          <p:cNvSpPr/>
          <p:nvPr/>
        </p:nvSpPr>
        <p:spPr>
          <a:xfrm>
            <a:off x="2143275" y="3179562"/>
            <a:ext cx="8796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cxnSp>
        <p:nvCxnSpPr>
          <p:cNvPr id="3420" name="Google Shape;3420;p111"/>
          <p:cNvCxnSpPr>
            <a:stCxn id="3408" idx="4"/>
            <a:endCxn id="3419" idx="1"/>
          </p:cNvCxnSpPr>
          <p:nvPr/>
        </p:nvCxnSpPr>
        <p:spPr>
          <a:xfrm flipH="1" rot="-5400000">
            <a:off x="1147147" y="2320713"/>
            <a:ext cx="1692600" cy="299400"/>
          </a:xfrm>
          <a:prstGeom prst="bentConnector2">
            <a:avLst/>
          </a:prstGeom>
          <a:noFill/>
          <a:ln cap="flat" cmpd="sng" w="19050">
            <a:solidFill>
              <a:schemeClr val="accent4"/>
            </a:solidFill>
            <a:prstDash val="solid"/>
            <a:round/>
            <a:headEnd len="sm" w="sm" type="none"/>
            <a:tailEnd len="sm" w="sm" type="triangle"/>
          </a:ln>
        </p:spPr>
      </p:cxnSp>
      <p:cxnSp>
        <p:nvCxnSpPr>
          <p:cNvPr id="3421" name="Google Shape;3421;p111"/>
          <p:cNvCxnSpPr>
            <a:stCxn id="3336" idx="3"/>
            <a:endCxn id="3408" idx="2"/>
          </p:cNvCxnSpPr>
          <p:nvPr/>
        </p:nvCxnSpPr>
        <p:spPr>
          <a:xfrm>
            <a:off x="1434155" y="1521223"/>
            <a:ext cx="307200" cy="600"/>
          </a:xfrm>
          <a:prstGeom prst="bentConnector3">
            <a:avLst>
              <a:gd fmla="val 49991" name="adj1"/>
            </a:avLst>
          </a:prstGeom>
          <a:noFill/>
          <a:ln cap="flat" cmpd="sng" w="19050">
            <a:solidFill>
              <a:schemeClr val="accent4"/>
            </a:solidFill>
            <a:prstDash val="solid"/>
            <a:round/>
            <a:headEnd len="sm" w="sm" type="none"/>
            <a:tailEnd len="sm" w="sm" type="none"/>
          </a:ln>
        </p:spPr>
      </p:cxnSp>
      <p:cxnSp>
        <p:nvCxnSpPr>
          <p:cNvPr id="3422" name="Google Shape;3422;p111"/>
          <p:cNvCxnSpPr>
            <a:stCxn id="3409" idx="3"/>
            <a:endCxn id="3415" idx="2"/>
          </p:cNvCxnSpPr>
          <p:nvPr/>
        </p:nvCxnSpPr>
        <p:spPr>
          <a:xfrm>
            <a:off x="1762460" y="3637112"/>
            <a:ext cx="219600" cy="564900"/>
          </a:xfrm>
          <a:prstGeom prst="bentConnector3">
            <a:avLst>
              <a:gd fmla="val 49985" name="adj1"/>
            </a:avLst>
          </a:prstGeom>
          <a:noFill/>
          <a:ln cap="flat" cmpd="sng" w="19050">
            <a:solidFill>
              <a:schemeClr val="accent4"/>
            </a:solidFill>
            <a:prstDash val="solid"/>
            <a:round/>
            <a:headEnd len="sm" w="sm" type="none"/>
            <a:tailEnd len="sm" w="sm" type="none"/>
          </a:ln>
        </p:spPr>
      </p:cxnSp>
      <p:sp>
        <p:nvSpPr>
          <p:cNvPr id="3423" name="Google Shape;3423;p111"/>
          <p:cNvSpPr/>
          <p:nvPr/>
        </p:nvSpPr>
        <p:spPr>
          <a:xfrm>
            <a:off x="6726100" y="5967925"/>
            <a:ext cx="36345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24" name="Google Shape;3424;p111"/>
          <p:cNvSpPr txBox="1"/>
          <p:nvPr/>
        </p:nvSpPr>
        <p:spPr>
          <a:xfrm>
            <a:off x="7004106" y="6010027"/>
            <a:ext cx="1297200" cy="508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File ingest</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Batch ingest via partner tools</a:t>
            </a:r>
            <a:endParaRPr sz="1100">
              <a:solidFill>
                <a:schemeClr val="accent5"/>
              </a:solidFill>
              <a:latin typeface="DM Sans"/>
              <a:ea typeface="DM Sans"/>
              <a:cs typeface="DM Sans"/>
              <a:sym typeface="DM Sans"/>
            </a:endParaRPr>
          </a:p>
        </p:txBody>
      </p:sp>
      <p:sp>
        <p:nvSpPr>
          <p:cNvPr id="3425" name="Google Shape;3425;p111"/>
          <p:cNvSpPr txBox="1"/>
          <p:nvPr/>
        </p:nvSpPr>
        <p:spPr>
          <a:xfrm>
            <a:off x="8599320" y="6010025"/>
            <a:ext cx="1777200" cy="660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Check permissions and save data</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Optional: Reverse ETL into operational databases</a:t>
            </a:r>
            <a:endParaRPr sz="1100">
              <a:solidFill>
                <a:schemeClr val="accent5"/>
              </a:solidFill>
              <a:latin typeface="DM Sans"/>
              <a:ea typeface="DM Sans"/>
              <a:cs typeface="DM Sans"/>
              <a:sym typeface="DM Sans"/>
            </a:endParaRPr>
          </a:p>
        </p:txBody>
      </p:sp>
      <p:sp>
        <p:nvSpPr>
          <p:cNvPr id="3426" name="Google Shape;3426;p111"/>
          <p:cNvSpPr/>
          <p:nvPr/>
        </p:nvSpPr>
        <p:spPr>
          <a:xfrm>
            <a:off x="6782856" y="5999409"/>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3427" name="Google Shape;3427;p111"/>
          <p:cNvSpPr/>
          <p:nvPr/>
        </p:nvSpPr>
        <p:spPr>
          <a:xfrm>
            <a:off x="6782856" y="6210485"/>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3428" name="Google Shape;3428;p111"/>
          <p:cNvSpPr/>
          <p:nvPr/>
        </p:nvSpPr>
        <p:spPr>
          <a:xfrm>
            <a:off x="8397390" y="5999409"/>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3429" name="Google Shape;3429;p111"/>
          <p:cNvSpPr/>
          <p:nvPr/>
        </p:nvSpPr>
        <p:spPr>
          <a:xfrm>
            <a:off x="8397390" y="6355097"/>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4</a:t>
            </a:r>
            <a:endParaRPr b="1" sz="1000">
              <a:latin typeface="DM Sans"/>
              <a:ea typeface="DM Sans"/>
              <a:cs typeface="DM Sans"/>
              <a:sym typeface="DM Sans"/>
            </a:endParaRPr>
          </a:p>
        </p:txBody>
      </p:sp>
      <p:sp>
        <p:nvSpPr>
          <p:cNvPr id="3430" name="Google Shape;3430;p111"/>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3431" name="Google Shape;3431;p111"/>
          <p:cNvSpPr/>
          <p:nvPr/>
        </p:nvSpPr>
        <p:spPr>
          <a:xfrm>
            <a:off x="6773700" y="3798990"/>
            <a:ext cx="685800" cy="2742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cxnSp>
        <p:nvCxnSpPr>
          <p:cNvPr id="3432" name="Google Shape;3432;p111"/>
          <p:cNvCxnSpPr>
            <a:stCxn id="3433" idx="4"/>
            <a:endCxn id="3431" idx="0"/>
          </p:cNvCxnSpPr>
          <p:nvPr/>
        </p:nvCxnSpPr>
        <p:spPr>
          <a:xfrm flipH="1" rot="-5400000">
            <a:off x="6928808" y="3610642"/>
            <a:ext cx="376200" cy="600"/>
          </a:xfrm>
          <a:prstGeom prst="bentConnector3">
            <a:avLst>
              <a:gd fmla="val 49993" name="adj1"/>
            </a:avLst>
          </a:prstGeom>
          <a:noFill/>
          <a:ln cap="flat" cmpd="sng" w="19050">
            <a:solidFill>
              <a:schemeClr val="accent4"/>
            </a:solidFill>
            <a:prstDash val="solid"/>
            <a:round/>
            <a:headEnd len="sm" w="sm" type="none"/>
            <a:tailEnd len="sm" w="sm" type="triangle"/>
          </a:ln>
        </p:spPr>
      </p:cxnSp>
      <p:cxnSp>
        <p:nvCxnSpPr>
          <p:cNvPr id="3434" name="Google Shape;3434;p111"/>
          <p:cNvCxnSpPr>
            <a:stCxn id="3435" idx="3"/>
            <a:endCxn id="3430" idx="0"/>
          </p:cNvCxnSpPr>
          <p:nvPr/>
        </p:nvCxnSpPr>
        <p:spPr>
          <a:xfrm>
            <a:off x="5327300" y="3316646"/>
            <a:ext cx="3248400" cy="966000"/>
          </a:xfrm>
          <a:prstGeom prst="bentConnector2">
            <a:avLst/>
          </a:prstGeom>
          <a:noFill/>
          <a:ln cap="flat" cmpd="sng" w="19050">
            <a:solidFill>
              <a:schemeClr val="accent4"/>
            </a:solidFill>
            <a:prstDash val="solid"/>
            <a:round/>
            <a:headEnd len="sm" w="sm" type="none"/>
            <a:tailEnd len="sm" w="sm" type="triangle"/>
          </a:ln>
        </p:spPr>
      </p:cxnSp>
      <p:sp>
        <p:nvSpPr>
          <p:cNvPr id="3433" name="Google Shape;3433;p111"/>
          <p:cNvSpPr/>
          <p:nvPr/>
        </p:nvSpPr>
        <p:spPr>
          <a:xfrm>
            <a:off x="7014158" y="3217942"/>
            <a:ext cx="204900" cy="2049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4</a:t>
            </a:r>
            <a:endParaRPr b="1" sz="1200">
              <a:latin typeface="DM Sans"/>
              <a:ea typeface="DM Sans"/>
              <a:cs typeface="DM Sans"/>
              <a:sym typeface="DM Sans"/>
            </a:endParaRPr>
          </a:p>
        </p:txBody>
      </p:sp>
      <p:cxnSp>
        <p:nvCxnSpPr>
          <p:cNvPr id="3436" name="Google Shape;3436;p111"/>
          <p:cNvCxnSpPr>
            <a:stCxn id="3419" idx="3"/>
            <a:endCxn id="3437" idx="1"/>
          </p:cNvCxnSpPr>
          <p:nvPr/>
        </p:nvCxnSpPr>
        <p:spPr>
          <a:xfrm>
            <a:off x="3022875" y="3316662"/>
            <a:ext cx="426300" cy="600"/>
          </a:xfrm>
          <a:prstGeom prst="bentConnector3">
            <a:avLst>
              <a:gd fmla="val 50000" name="adj1"/>
            </a:avLst>
          </a:prstGeom>
          <a:noFill/>
          <a:ln cap="flat" cmpd="sng" w="19050">
            <a:solidFill>
              <a:schemeClr val="accent4"/>
            </a:solidFill>
            <a:prstDash val="solid"/>
            <a:round/>
            <a:headEnd len="sm" w="sm" type="none"/>
            <a:tailEnd len="sm" w="sm" type="triangle"/>
          </a:ln>
        </p:spPr>
      </p:cxnSp>
      <p:cxnSp>
        <p:nvCxnSpPr>
          <p:cNvPr id="3438" name="Google Shape;3438;p111"/>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3439" name="Google Shape;3439;p111"/>
          <p:cNvSpPr/>
          <p:nvPr/>
        </p:nvSpPr>
        <p:spPr>
          <a:xfrm>
            <a:off x="4318824" y="379900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grpSp>
        <p:nvGrpSpPr>
          <p:cNvPr id="3440" name="Google Shape;3440;p111"/>
          <p:cNvGrpSpPr/>
          <p:nvPr/>
        </p:nvGrpSpPr>
        <p:grpSpPr>
          <a:xfrm>
            <a:off x="8234791" y="4535238"/>
            <a:ext cx="685500" cy="465911"/>
            <a:chOff x="8536471" y="4748911"/>
            <a:chExt cx="685500" cy="465911"/>
          </a:xfrm>
        </p:grpSpPr>
        <p:sp>
          <p:nvSpPr>
            <p:cNvPr id="3441" name="Google Shape;3441;p111"/>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RDBMs</a:t>
              </a:r>
              <a:endParaRPr sz="900">
                <a:solidFill>
                  <a:schemeClr val="accent1"/>
                </a:solidFill>
                <a:latin typeface="DM Sans Medium"/>
                <a:ea typeface="DM Sans Medium"/>
                <a:cs typeface="DM Sans Medium"/>
                <a:sym typeface="DM Sans Medium"/>
              </a:endParaRPr>
            </a:p>
          </p:txBody>
        </p:sp>
        <p:pic>
          <p:nvPicPr>
            <p:cNvPr id="3442" name="Google Shape;3442;p111"/>
            <p:cNvPicPr preferRelativeResize="0"/>
            <p:nvPr/>
          </p:nvPicPr>
          <p:blipFill>
            <a:blip r:embed="rId7">
              <a:alphaModFix/>
            </a:blip>
            <a:stretch>
              <a:fillRect/>
            </a:stretch>
          </p:blipFill>
          <p:spPr>
            <a:xfrm>
              <a:off x="8731571" y="4748911"/>
              <a:ext cx="265176" cy="265176"/>
            </a:xfrm>
            <a:prstGeom prst="rect">
              <a:avLst/>
            </a:prstGeom>
            <a:noFill/>
            <a:ln>
              <a:noFill/>
            </a:ln>
          </p:spPr>
        </p:pic>
      </p:grpSp>
      <p:grpSp>
        <p:nvGrpSpPr>
          <p:cNvPr id="3443" name="Google Shape;3443;p111"/>
          <p:cNvGrpSpPr/>
          <p:nvPr/>
        </p:nvGrpSpPr>
        <p:grpSpPr>
          <a:xfrm>
            <a:off x="8234791" y="4992438"/>
            <a:ext cx="685500" cy="465911"/>
            <a:chOff x="8536471" y="4748911"/>
            <a:chExt cx="685500" cy="465911"/>
          </a:xfrm>
        </p:grpSpPr>
        <p:sp>
          <p:nvSpPr>
            <p:cNvPr id="3444" name="Google Shape;3444;p111"/>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KV store</a:t>
              </a:r>
              <a:endParaRPr sz="900">
                <a:solidFill>
                  <a:schemeClr val="accent1"/>
                </a:solidFill>
                <a:latin typeface="DM Sans Medium"/>
                <a:ea typeface="DM Sans Medium"/>
                <a:cs typeface="DM Sans Medium"/>
                <a:sym typeface="DM Sans Medium"/>
              </a:endParaRPr>
            </a:p>
          </p:txBody>
        </p:sp>
        <p:pic>
          <p:nvPicPr>
            <p:cNvPr id="3445" name="Google Shape;3445;p111"/>
            <p:cNvPicPr preferRelativeResize="0"/>
            <p:nvPr/>
          </p:nvPicPr>
          <p:blipFill>
            <a:blip r:embed="rId7">
              <a:alphaModFix/>
            </a:blip>
            <a:stretch>
              <a:fillRect/>
            </a:stretch>
          </p:blipFill>
          <p:spPr>
            <a:xfrm>
              <a:off x="8731571" y="4748911"/>
              <a:ext cx="265176" cy="265176"/>
            </a:xfrm>
            <a:prstGeom prst="rect">
              <a:avLst/>
            </a:prstGeom>
            <a:noFill/>
            <a:ln>
              <a:noFill/>
            </a:ln>
          </p:spPr>
        </p:pic>
      </p:grpSp>
      <p:grpSp>
        <p:nvGrpSpPr>
          <p:cNvPr id="3446" name="Google Shape;3446;p111"/>
          <p:cNvGrpSpPr/>
          <p:nvPr/>
        </p:nvGrpSpPr>
        <p:grpSpPr>
          <a:xfrm>
            <a:off x="10606481" y="3507444"/>
            <a:ext cx="826200" cy="363728"/>
            <a:chOff x="10606481" y="3507444"/>
            <a:chExt cx="826200" cy="363728"/>
          </a:xfrm>
        </p:grpSpPr>
        <p:sp>
          <p:nvSpPr>
            <p:cNvPr id="3447" name="Google Shape;3447;p111"/>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3448" name="Google Shape;3448;p111"/>
            <p:cNvPicPr preferRelativeResize="0"/>
            <p:nvPr/>
          </p:nvPicPr>
          <p:blipFill>
            <a:blip r:embed="rId22">
              <a:alphaModFix/>
            </a:blip>
            <a:stretch>
              <a:fillRect/>
            </a:stretch>
          </p:blipFill>
          <p:spPr>
            <a:xfrm>
              <a:off x="10914442" y="3507444"/>
              <a:ext cx="219600" cy="219600"/>
            </a:xfrm>
            <a:prstGeom prst="ellipse">
              <a:avLst/>
            </a:prstGeom>
            <a:noFill/>
            <a:ln>
              <a:noFill/>
            </a:ln>
          </p:spPr>
        </p:pic>
      </p:grpSp>
      <p:sp>
        <p:nvSpPr>
          <p:cNvPr id="3449" name="Google Shape;3449;p111"/>
          <p:cNvSpPr/>
          <p:nvPr/>
        </p:nvSpPr>
        <p:spPr>
          <a:xfrm>
            <a:off x="5221224" y="1945900"/>
            <a:ext cx="879600" cy="1737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3450" name="Google Shape;3450;p111"/>
          <p:cNvSpPr/>
          <p:nvPr/>
        </p:nvSpPr>
        <p:spPr>
          <a:xfrm>
            <a:off x="6149882" y="1945900"/>
            <a:ext cx="887100" cy="1737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Asset Bundles</a:t>
            </a:r>
            <a:endParaRPr sz="900">
              <a:solidFill>
                <a:schemeClr val="accent2"/>
              </a:solidFill>
              <a:latin typeface="DM Sans SemiBold"/>
              <a:ea typeface="DM Sans SemiBold"/>
              <a:cs typeface="DM Sans SemiBold"/>
              <a:sym typeface="DM Sans SemiBold"/>
            </a:endParaRPr>
          </a:p>
        </p:txBody>
      </p:sp>
      <p:sp>
        <p:nvSpPr>
          <p:cNvPr id="3451" name="Google Shape;3451;p111"/>
          <p:cNvSpPr/>
          <p:nvPr/>
        </p:nvSpPr>
        <p:spPr>
          <a:xfrm>
            <a:off x="3449100" y="3179550"/>
            <a:ext cx="1224300" cy="274200"/>
          </a:xfrm>
          <a:prstGeom prst="roundRect">
            <a:avLst>
              <a:gd fmla="val 18115"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endParaRPr sz="900">
              <a:solidFill>
                <a:schemeClr val="accent2"/>
              </a:solidFill>
              <a:latin typeface="DM Sans SemiBold"/>
              <a:ea typeface="DM Sans SemiBold"/>
              <a:cs typeface="DM Sans SemiBold"/>
              <a:sym typeface="DM Sans SemiBold"/>
            </a:endParaRPr>
          </a:p>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Declarative Pipelines</a:t>
            </a:r>
            <a:endParaRPr baseline="30000" sz="900">
              <a:solidFill>
                <a:schemeClr val="accent2"/>
              </a:solidFill>
              <a:latin typeface="DM Sans SemiBold"/>
              <a:ea typeface="DM Sans SemiBold"/>
              <a:cs typeface="DM Sans SemiBold"/>
              <a:sym typeface="DM Sans SemiBold"/>
            </a:endParaRPr>
          </a:p>
        </p:txBody>
      </p:sp>
      <p:cxnSp>
        <p:nvCxnSpPr>
          <p:cNvPr id="3452" name="Google Shape;3452;p111"/>
          <p:cNvCxnSpPr>
            <a:stCxn id="3451" idx="3"/>
            <a:endCxn id="3453" idx="1"/>
          </p:cNvCxnSpPr>
          <p:nvPr/>
        </p:nvCxnSpPr>
        <p:spPr>
          <a:xfrm>
            <a:off x="4673400" y="3316650"/>
            <a:ext cx="193800" cy="600"/>
          </a:xfrm>
          <a:prstGeom prst="bentConnector3">
            <a:avLst>
              <a:gd fmla="val 49969" name="adj1"/>
            </a:avLst>
          </a:prstGeom>
          <a:noFill/>
          <a:ln cap="flat" cmpd="sng" w="19050">
            <a:solidFill>
              <a:schemeClr val="accent4"/>
            </a:solidFill>
            <a:prstDash val="solid"/>
            <a:round/>
            <a:headEnd len="sm" w="sm" type="none"/>
            <a:tailEnd len="sm" w="sm" type="triangle"/>
          </a:ln>
        </p:spPr>
      </p:cxnSp>
      <p:cxnSp>
        <p:nvCxnSpPr>
          <p:cNvPr id="3454" name="Google Shape;3454;p111"/>
          <p:cNvCxnSpPr/>
          <p:nvPr/>
        </p:nvCxnSpPr>
        <p:spPr>
          <a:xfrm rot="5400000">
            <a:off x="3919015" y="3620552"/>
            <a:ext cx="1353300" cy="1019700"/>
          </a:xfrm>
          <a:prstGeom prst="bentConnector3">
            <a:avLst>
              <a:gd fmla="val 22696" name="adj1"/>
            </a:avLst>
          </a:prstGeom>
          <a:noFill/>
          <a:ln cap="flat" cmpd="sng" w="19050">
            <a:solidFill>
              <a:schemeClr val="accent4"/>
            </a:solidFill>
            <a:prstDash val="solid"/>
            <a:round/>
            <a:headEnd len="sm" w="sm" type="none"/>
            <a:tailEnd len="sm" w="sm" type="triangle"/>
          </a:ln>
        </p:spPr>
      </p:cxnSp>
      <p:sp>
        <p:nvSpPr>
          <p:cNvPr id="3455" name="Google Shape;3455;p111"/>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sp>
        <p:nvSpPr>
          <p:cNvPr id="3453" name="Google Shape;3453;p111"/>
          <p:cNvSpPr/>
          <p:nvPr/>
        </p:nvSpPr>
        <p:spPr>
          <a:xfrm>
            <a:off x="4867081" y="3179550"/>
            <a:ext cx="761100" cy="274200"/>
          </a:xfrm>
          <a:prstGeom prst="roundRect">
            <a:avLst>
              <a:gd fmla="val 19944"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3400" name="Google Shape;3400;p111"/>
          <p:cNvSpPr/>
          <p:nvPr/>
        </p:nvSpPr>
        <p:spPr>
          <a:xfrm>
            <a:off x="4053095" y="4526413"/>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9" name="Shape 3459"/>
        <p:cNvGrpSpPr/>
        <p:nvPr/>
      </p:nvGrpSpPr>
      <p:grpSpPr>
        <a:xfrm>
          <a:off x="0" y="0"/>
          <a:ext cx="0" cy="0"/>
          <a:chOff x="0" y="0"/>
          <a:chExt cx="0" cy="0"/>
        </a:xfrm>
      </p:grpSpPr>
      <p:sp>
        <p:nvSpPr>
          <p:cNvPr id="3460" name="Google Shape;3460;p112"/>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3 Streaming and Change Data Capture</a:t>
            </a:r>
            <a:endParaRPr b="1" sz="3600">
              <a:latin typeface="DM Sans"/>
              <a:ea typeface="DM Sans"/>
              <a:cs typeface="DM Sans"/>
              <a:sym typeface="DM Sans"/>
            </a:endParaRPr>
          </a:p>
        </p:txBody>
      </p:sp>
      <p:sp>
        <p:nvSpPr>
          <p:cNvPr id="3461" name="Google Shape;3461;p11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462" name="Google Shape;3462;p112"/>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463" name="Google Shape;3463;p112"/>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464" name="Google Shape;3464;p112"/>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465" name="Google Shape;3465;p112"/>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466" name="Google Shape;3466;p112"/>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467" name="Google Shape;3467;p112"/>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3468" name="Google Shape;3468;p112"/>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grpSp>
        <p:nvGrpSpPr>
          <p:cNvPr id="3469" name="Google Shape;3469;p112"/>
          <p:cNvGrpSpPr/>
          <p:nvPr/>
        </p:nvGrpSpPr>
        <p:grpSpPr>
          <a:xfrm>
            <a:off x="2986792" y="3550528"/>
            <a:ext cx="198576" cy="211709"/>
            <a:chOff x="3295749" y="3919250"/>
            <a:chExt cx="198576" cy="211709"/>
          </a:xfrm>
        </p:grpSpPr>
        <p:sp>
          <p:nvSpPr>
            <p:cNvPr id="3470" name="Google Shape;3470;p112"/>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71" name="Google Shape;3471;p112"/>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472" name="Google Shape;3472;p112"/>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3473" name="Google Shape;3473;p112"/>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rgbClr val="CCCCCC"/>
              </a:solidFill>
              <a:latin typeface="DM Sans Medium"/>
              <a:ea typeface="DM Sans Medium"/>
              <a:cs typeface="DM Sans Medium"/>
              <a:sym typeface="DM Sans Medium"/>
            </a:endParaRPr>
          </a:p>
        </p:txBody>
      </p:sp>
      <p:grpSp>
        <p:nvGrpSpPr>
          <p:cNvPr id="3474" name="Google Shape;3474;p112"/>
          <p:cNvGrpSpPr/>
          <p:nvPr/>
        </p:nvGrpSpPr>
        <p:grpSpPr>
          <a:xfrm rot="-5400000">
            <a:off x="8118194" y="4175940"/>
            <a:ext cx="198576" cy="208513"/>
            <a:chOff x="3295749" y="3922446"/>
            <a:chExt cx="198576" cy="208513"/>
          </a:xfrm>
        </p:grpSpPr>
        <p:sp>
          <p:nvSpPr>
            <p:cNvPr id="3475" name="Google Shape;3475;p112"/>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76" name="Google Shape;3476;p112"/>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477" name="Google Shape;3477;p112"/>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3478" name="Google Shape;3478;p112"/>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3479" name="Google Shape;3479;p112"/>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3480" name="Google Shape;3480;p112"/>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a:t>
            </a:r>
            <a:r>
              <a:rPr lang="en" sz="1100">
                <a:solidFill>
                  <a:schemeClr val="accent5"/>
                </a:solidFill>
                <a:latin typeface="DM Sans Medium"/>
                <a:ea typeface="DM Sans Medium"/>
                <a:cs typeface="DM Sans Medium"/>
                <a:sym typeface="DM Sans Medium"/>
              </a:rPr>
              <a:t>Streaming</a:t>
            </a:r>
            <a:endParaRPr sz="1100">
              <a:solidFill>
                <a:schemeClr val="accent5"/>
              </a:solidFill>
              <a:latin typeface="DM Sans Medium"/>
              <a:ea typeface="DM Sans Medium"/>
              <a:cs typeface="DM Sans Medium"/>
              <a:sym typeface="DM Sans Medium"/>
            </a:endParaRPr>
          </a:p>
        </p:txBody>
      </p:sp>
      <p:sp>
        <p:nvSpPr>
          <p:cNvPr id="3481" name="Google Shape;3481;p112"/>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3482" name="Google Shape;3482;p112"/>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3483" name="Google Shape;3483;p112"/>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3484" name="Google Shape;3484;p112"/>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3485" name="Google Shape;3485;p112"/>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3486" name="Google Shape;3486;p112"/>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3487" name="Google Shape;3487;p112"/>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3488" name="Google Shape;3488;p112"/>
          <p:cNvSpPr/>
          <p:nvPr/>
        </p:nvSpPr>
        <p:spPr>
          <a:xfrm>
            <a:off x="2143275" y="2825260"/>
            <a:ext cx="8796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3489" name="Google Shape;3489;p112"/>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3490" name="Google Shape;3490;p112"/>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3491" name="Google Shape;3491;p112"/>
          <p:cNvGrpSpPr/>
          <p:nvPr/>
        </p:nvGrpSpPr>
        <p:grpSpPr>
          <a:xfrm>
            <a:off x="4283501" y="5741943"/>
            <a:ext cx="1044000" cy="397683"/>
            <a:chOff x="4661400" y="6214292"/>
            <a:chExt cx="1044000" cy="397683"/>
          </a:xfrm>
        </p:grpSpPr>
        <p:sp>
          <p:nvSpPr>
            <p:cNvPr id="3492" name="Google Shape;3492;p112"/>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3493" name="Google Shape;3493;p112"/>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3494" name="Google Shape;3494;p112"/>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3495" name="Google Shape;3495;p112"/>
          <p:cNvPicPr preferRelativeResize="0"/>
          <p:nvPr/>
        </p:nvPicPr>
        <p:blipFill>
          <a:blip r:embed="rId4">
            <a:alphaModFix/>
          </a:blip>
          <a:stretch>
            <a:fillRect/>
          </a:stretch>
        </p:blipFill>
        <p:spPr>
          <a:xfrm>
            <a:off x="3367671" y="5181455"/>
            <a:ext cx="200700" cy="191237"/>
          </a:xfrm>
          <a:prstGeom prst="rect">
            <a:avLst/>
          </a:prstGeom>
          <a:noFill/>
          <a:ln>
            <a:noFill/>
          </a:ln>
        </p:spPr>
      </p:pic>
      <p:sp>
        <p:nvSpPr>
          <p:cNvPr id="3496" name="Google Shape;3496;p112"/>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3497" name="Google Shape;3497;p112"/>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3498" name="Google Shape;3498;p112"/>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pic>
        <p:nvPicPr>
          <p:cNvPr id="3499" name="Google Shape;3499;p112"/>
          <p:cNvPicPr preferRelativeResize="0"/>
          <p:nvPr/>
        </p:nvPicPr>
        <p:blipFill>
          <a:blip r:embed="rId5">
            <a:alphaModFix/>
          </a:blip>
          <a:stretch>
            <a:fillRect/>
          </a:stretch>
        </p:blipFill>
        <p:spPr>
          <a:xfrm>
            <a:off x="4998129" y="1403077"/>
            <a:ext cx="259650" cy="279625"/>
          </a:xfrm>
          <a:prstGeom prst="rect">
            <a:avLst/>
          </a:prstGeom>
          <a:noFill/>
          <a:ln>
            <a:noFill/>
          </a:ln>
        </p:spPr>
      </p:pic>
      <p:grpSp>
        <p:nvGrpSpPr>
          <p:cNvPr id="3500" name="Google Shape;3500;p112"/>
          <p:cNvGrpSpPr/>
          <p:nvPr/>
        </p:nvGrpSpPr>
        <p:grpSpPr>
          <a:xfrm>
            <a:off x="5357469" y="5168059"/>
            <a:ext cx="1015163" cy="210402"/>
            <a:chOff x="6995676" y="6025175"/>
            <a:chExt cx="1015163" cy="210402"/>
          </a:xfrm>
        </p:grpSpPr>
        <p:sp>
          <p:nvSpPr>
            <p:cNvPr id="3501" name="Google Shape;3501;p112"/>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3502" name="Google Shape;3502;p112"/>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3503" name="Google Shape;3503;p112"/>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3504" name="Google Shape;3504;p112"/>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505" name="Google Shape;3505;p112"/>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506" name="Google Shape;3506;p112"/>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507" name="Google Shape;3507;p112"/>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508" name="Google Shape;3508;p112"/>
            <p:cNvCxnSpPr>
              <a:stCxn id="3505" idx="4"/>
              <a:endCxn id="3509"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3509" name="Google Shape;3509;p112"/>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510" name="Google Shape;3510;p112"/>
            <p:cNvCxnSpPr>
              <a:stCxn id="3504" idx="4"/>
              <a:endCxn id="3507"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3511" name="Google Shape;3511;p112"/>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                       Data Intelligence</a:t>
            </a:r>
            <a:endParaRPr sz="1100">
              <a:solidFill>
                <a:schemeClr val="accent5"/>
              </a:solidFill>
              <a:latin typeface="DM Sans Medium"/>
              <a:ea typeface="DM Sans Medium"/>
              <a:cs typeface="DM Sans Medium"/>
              <a:sym typeface="DM Sans Medium"/>
            </a:endParaRPr>
          </a:p>
        </p:txBody>
      </p:sp>
      <p:sp>
        <p:nvSpPr>
          <p:cNvPr id="3512" name="Google Shape;3512;p112"/>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3513" name="Google Shape;3513;p112"/>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3514" name="Google Shape;3514;p112"/>
          <p:cNvGrpSpPr/>
          <p:nvPr/>
        </p:nvGrpSpPr>
        <p:grpSpPr>
          <a:xfrm>
            <a:off x="861763" y="1388635"/>
            <a:ext cx="879600" cy="565670"/>
            <a:chOff x="820734" y="1742570"/>
            <a:chExt cx="879600" cy="565670"/>
          </a:xfrm>
        </p:grpSpPr>
        <p:sp>
          <p:nvSpPr>
            <p:cNvPr id="3515" name="Google Shape;3515;p112"/>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516" name="Google Shape;3516;p112"/>
            <p:cNvPicPr preferRelativeResize="0"/>
            <p:nvPr/>
          </p:nvPicPr>
          <p:blipFill>
            <a:blip r:embed="rId6">
              <a:alphaModFix/>
            </a:blip>
            <a:stretch>
              <a:fillRect/>
            </a:stretch>
          </p:blipFill>
          <p:spPr>
            <a:xfrm>
              <a:off x="1127949" y="1742570"/>
              <a:ext cx="265176" cy="265176"/>
            </a:xfrm>
            <a:prstGeom prst="rect">
              <a:avLst/>
            </a:prstGeom>
            <a:noFill/>
            <a:ln>
              <a:noFill/>
            </a:ln>
          </p:spPr>
        </p:pic>
      </p:grpSp>
      <p:grpSp>
        <p:nvGrpSpPr>
          <p:cNvPr id="3517" name="Google Shape;3517;p112"/>
          <p:cNvGrpSpPr/>
          <p:nvPr/>
        </p:nvGrpSpPr>
        <p:grpSpPr>
          <a:xfrm>
            <a:off x="1278400" y="4282495"/>
            <a:ext cx="462900" cy="422268"/>
            <a:chOff x="1296935" y="4254734"/>
            <a:chExt cx="462900" cy="422268"/>
          </a:xfrm>
        </p:grpSpPr>
        <p:pic>
          <p:nvPicPr>
            <p:cNvPr id="3518" name="Google Shape;3518;p112"/>
            <p:cNvPicPr preferRelativeResize="0"/>
            <p:nvPr/>
          </p:nvPicPr>
          <p:blipFill rotWithShape="1">
            <a:blip r:embed="rId7">
              <a:alphaModFix/>
            </a:blip>
            <a:srcRect b="0" l="0" r="0" t="0"/>
            <a:stretch/>
          </p:blipFill>
          <p:spPr>
            <a:xfrm>
              <a:off x="1395798" y="4254734"/>
              <a:ext cx="265176" cy="265176"/>
            </a:xfrm>
            <a:prstGeom prst="rect">
              <a:avLst/>
            </a:prstGeom>
            <a:noFill/>
            <a:ln>
              <a:noFill/>
            </a:ln>
          </p:spPr>
        </p:pic>
        <p:sp>
          <p:nvSpPr>
            <p:cNvPr id="3519" name="Google Shape;3519;p112"/>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3520" name="Google Shape;3520;p112"/>
          <p:cNvGrpSpPr/>
          <p:nvPr/>
        </p:nvGrpSpPr>
        <p:grpSpPr>
          <a:xfrm>
            <a:off x="861800" y="1970622"/>
            <a:ext cx="879600" cy="558086"/>
            <a:chOff x="820771" y="2866176"/>
            <a:chExt cx="879600" cy="558086"/>
          </a:xfrm>
        </p:grpSpPr>
        <p:sp>
          <p:nvSpPr>
            <p:cNvPr id="3521" name="Google Shape;3521;p112"/>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3522" name="Google Shape;3522;p112"/>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3523" name="Google Shape;3523;p112"/>
          <p:cNvGrpSpPr/>
          <p:nvPr/>
        </p:nvGrpSpPr>
        <p:grpSpPr>
          <a:xfrm>
            <a:off x="903312" y="2545026"/>
            <a:ext cx="796500" cy="542824"/>
            <a:chOff x="862283" y="2315806"/>
            <a:chExt cx="796500" cy="542824"/>
          </a:xfrm>
        </p:grpSpPr>
        <p:sp>
          <p:nvSpPr>
            <p:cNvPr id="3524" name="Google Shape;3524;p112"/>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525" name="Google Shape;3525;p112"/>
            <p:cNvPicPr preferRelativeResize="0"/>
            <p:nvPr/>
          </p:nvPicPr>
          <p:blipFill>
            <a:blip r:embed="rId7">
              <a:alphaModFix/>
            </a:blip>
            <a:stretch>
              <a:fillRect/>
            </a:stretch>
          </p:blipFill>
          <p:spPr>
            <a:xfrm>
              <a:off x="1127949" y="2315806"/>
              <a:ext cx="265176" cy="265176"/>
            </a:xfrm>
            <a:prstGeom prst="rect">
              <a:avLst/>
            </a:prstGeom>
            <a:noFill/>
            <a:ln>
              <a:noFill/>
            </a:ln>
          </p:spPr>
        </p:pic>
      </p:grpSp>
      <p:grpSp>
        <p:nvGrpSpPr>
          <p:cNvPr id="3526" name="Google Shape;3526;p112"/>
          <p:cNvGrpSpPr/>
          <p:nvPr/>
        </p:nvGrpSpPr>
        <p:grpSpPr>
          <a:xfrm>
            <a:off x="861700" y="3104161"/>
            <a:ext cx="879600" cy="559474"/>
            <a:chOff x="820671" y="3997940"/>
            <a:chExt cx="879600" cy="559474"/>
          </a:xfrm>
        </p:grpSpPr>
        <p:pic>
          <p:nvPicPr>
            <p:cNvPr id="3527" name="Google Shape;3527;p112"/>
            <p:cNvPicPr preferRelativeResize="0"/>
            <p:nvPr/>
          </p:nvPicPr>
          <p:blipFill>
            <a:blip r:embed="rId9">
              <a:alphaModFix/>
            </a:blip>
            <a:stretch>
              <a:fillRect/>
            </a:stretch>
          </p:blipFill>
          <p:spPr>
            <a:xfrm>
              <a:off x="1127949" y="3997940"/>
              <a:ext cx="265176" cy="265176"/>
            </a:xfrm>
            <a:prstGeom prst="rect">
              <a:avLst/>
            </a:prstGeom>
            <a:noFill/>
            <a:ln>
              <a:noFill/>
            </a:ln>
          </p:spPr>
        </p:pic>
        <p:sp>
          <p:nvSpPr>
            <p:cNvPr id="3528" name="Google Shape;3528;p112"/>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3529" name="Google Shape;3529;p112"/>
          <p:cNvGrpSpPr/>
          <p:nvPr/>
        </p:nvGrpSpPr>
        <p:grpSpPr>
          <a:xfrm>
            <a:off x="920210" y="3679952"/>
            <a:ext cx="761100" cy="558519"/>
            <a:chOff x="880006" y="3431841"/>
            <a:chExt cx="761100" cy="558519"/>
          </a:xfrm>
        </p:grpSpPr>
        <p:pic>
          <p:nvPicPr>
            <p:cNvPr id="3530" name="Google Shape;3530;p112"/>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3531" name="Google Shape;3531;p112"/>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3532" name="Google Shape;3532;p112"/>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3533" name="Google Shape;3533;p112"/>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3534" name="Google Shape;3534;p112"/>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3535" name="Google Shape;3535;p112"/>
          <p:cNvGrpSpPr/>
          <p:nvPr/>
        </p:nvGrpSpPr>
        <p:grpSpPr>
          <a:xfrm>
            <a:off x="10745081" y="3937546"/>
            <a:ext cx="549000" cy="366196"/>
            <a:chOff x="10745081" y="3937546"/>
            <a:chExt cx="549000" cy="366196"/>
          </a:xfrm>
        </p:grpSpPr>
        <p:pic>
          <p:nvPicPr>
            <p:cNvPr id="3536" name="Google Shape;3536;p112"/>
            <p:cNvPicPr preferRelativeResize="0"/>
            <p:nvPr/>
          </p:nvPicPr>
          <p:blipFill>
            <a:blip r:embed="rId11">
              <a:alphaModFix/>
            </a:blip>
            <a:stretch>
              <a:fillRect/>
            </a:stretch>
          </p:blipFill>
          <p:spPr>
            <a:xfrm>
              <a:off x="10912331" y="3937546"/>
              <a:ext cx="214500" cy="217452"/>
            </a:xfrm>
            <a:prstGeom prst="rect">
              <a:avLst/>
            </a:prstGeom>
            <a:noFill/>
            <a:ln>
              <a:noFill/>
            </a:ln>
          </p:spPr>
        </p:pic>
        <p:sp>
          <p:nvSpPr>
            <p:cNvPr id="3537" name="Google Shape;3537;p112"/>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3538" name="Google Shape;3538;p112"/>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3539" name="Google Shape;3539;p112"/>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3540" name="Google Shape;3540;p112"/>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3541" name="Google Shape;3541;p112"/>
          <p:cNvGrpSpPr/>
          <p:nvPr/>
        </p:nvGrpSpPr>
        <p:grpSpPr>
          <a:xfrm>
            <a:off x="10597029" y="1623535"/>
            <a:ext cx="845100" cy="405937"/>
            <a:chOff x="10597029" y="1623535"/>
            <a:chExt cx="845100" cy="405937"/>
          </a:xfrm>
        </p:grpSpPr>
        <p:sp>
          <p:nvSpPr>
            <p:cNvPr id="3542" name="Google Shape;3542;p112"/>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3543" name="Google Shape;3543;p112"/>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3544" name="Google Shape;3544;p112"/>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3545" name="Google Shape;3545;p112"/>
          <p:cNvGrpSpPr/>
          <p:nvPr/>
        </p:nvGrpSpPr>
        <p:grpSpPr>
          <a:xfrm>
            <a:off x="10702031" y="2486073"/>
            <a:ext cx="635100" cy="543395"/>
            <a:chOff x="10702031" y="2486073"/>
            <a:chExt cx="635100" cy="543395"/>
          </a:xfrm>
        </p:grpSpPr>
        <p:sp>
          <p:nvSpPr>
            <p:cNvPr id="3546" name="Google Shape;3546;p112"/>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3547" name="Google Shape;3547;p112"/>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3548" name="Google Shape;3548;p112"/>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3549" name="Google Shape;3549;p112"/>
          <p:cNvGrpSpPr/>
          <p:nvPr/>
        </p:nvGrpSpPr>
        <p:grpSpPr>
          <a:xfrm>
            <a:off x="10621328" y="4994250"/>
            <a:ext cx="796500" cy="553688"/>
            <a:chOff x="10621328" y="4994250"/>
            <a:chExt cx="796500" cy="553688"/>
          </a:xfrm>
        </p:grpSpPr>
        <p:sp>
          <p:nvSpPr>
            <p:cNvPr id="3550" name="Google Shape;3550;p112"/>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3551" name="Google Shape;3551;p112"/>
            <p:cNvPicPr preferRelativeResize="0"/>
            <p:nvPr/>
          </p:nvPicPr>
          <p:blipFill>
            <a:blip r:embed="rId14">
              <a:alphaModFix/>
            </a:blip>
            <a:stretch>
              <a:fillRect/>
            </a:stretch>
          </p:blipFill>
          <p:spPr>
            <a:xfrm>
              <a:off x="10864167" y="4994250"/>
              <a:ext cx="265176" cy="265176"/>
            </a:xfrm>
            <a:prstGeom prst="rect">
              <a:avLst/>
            </a:prstGeom>
            <a:noFill/>
            <a:ln>
              <a:noFill/>
            </a:ln>
          </p:spPr>
        </p:pic>
      </p:grpSp>
      <p:pic>
        <p:nvPicPr>
          <p:cNvPr id="3552" name="Google Shape;3552;p112"/>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3553" name="Google Shape;3553;p112"/>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3554" name="Google Shape;3554;p112"/>
          <p:cNvGrpSpPr/>
          <p:nvPr/>
        </p:nvGrpSpPr>
        <p:grpSpPr>
          <a:xfrm>
            <a:off x="911400" y="4663311"/>
            <a:ext cx="336000" cy="426753"/>
            <a:chOff x="929785" y="4678386"/>
            <a:chExt cx="336000" cy="426753"/>
          </a:xfrm>
        </p:grpSpPr>
        <p:sp>
          <p:nvSpPr>
            <p:cNvPr id="3555" name="Google Shape;3555;p112"/>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3556" name="Google Shape;3556;p112"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3557" name="Google Shape;3557;p112"/>
          <p:cNvGrpSpPr/>
          <p:nvPr/>
        </p:nvGrpSpPr>
        <p:grpSpPr>
          <a:xfrm>
            <a:off x="1366236" y="4655157"/>
            <a:ext cx="324300" cy="434522"/>
            <a:chOff x="1377357" y="4647990"/>
            <a:chExt cx="324300" cy="434522"/>
          </a:xfrm>
        </p:grpSpPr>
        <p:sp>
          <p:nvSpPr>
            <p:cNvPr id="3558" name="Google Shape;3558;p112"/>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3559" name="Google Shape;3559;p112"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sp>
        <p:nvSpPr>
          <p:cNvPr id="3560" name="Google Shape;3560;p112"/>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3561" name="Google Shape;3561;p112"/>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3562" name="Google Shape;3562;p112"/>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3563" name="Google Shape;3563;p112"/>
          <p:cNvGrpSpPr/>
          <p:nvPr/>
        </p:nvGrpSpPr>
        <p:grpSpPr>
          <a:xfrm>
            <a:off x="899750" y="4283846"/>
            <a:ext cx="359100" cy="422318"/>
            <a:chOff x="899750" y="4215307"/>
            <a:chExt cx="359100" cy="422318"/>
          </a:xfrm>
        </p:grpSpPr>
        <p:sp>
          <p:nvSpPr>
            <p:cNvPr id="3564" name="Google Shape;3564;p112"/>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3565" name="Google Shape;3565;p112"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sp>
        <p:nvSpPr>
          <p:cNvPr id="3566" name="Google Shape;3566;p112"/>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3567" name="Google Shape;3567;p112"/>
          <p:cNvGrpSpPr/>
          <p:nvPr/>
        </p:nvGrpSpPr>
        <p:grpSpPr>
          <a:xfrm>
            <a:off x="1247501" y="5175655"/>
            <a:ext cx="524700" cy="496901"/>
            <a:chOff x="1266036" y="5196700"/>
            <a:chExt cx="524700" cy="496901"/>
          </a:xfrm>
        </p:grpSpPr>
        <p:sp>
          <p:nvSpPr>
            <p:cNvPr id="3568" name="Google Shape;3568;p112"/>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3569" name="Google Shape;3569;p112" title="primary-icon-navy-data-sharing.png"/>
            <p:cNvPicPr preferRelativeResize="0"/>
            <p:nvPr/>
          </p:nvPicPr>
          <p:blipFill>
            <a:blip r:embed="rId19">
              <a:alphaModFix/>
            </a:blip>
            <a:stretch>
              <a:fillRect/>
            </a:stretch>
          </p:blipFill>
          <p:spPr>
            <a:xfrm>
              <a:off x="1393854" y="5196700"/>
              <a:ext cx="269065" cy="269063"/>
            </a:xfrm>
            <a:prstGeom prst="rect">
              <a:avLst/>
            </a:prstGeom>
            <a:noFill/>
            <a:ln>
              <a:noFill/>
            </a:ln>
          </p:spPr>
        </p:pic>
      </p:grpSp>
      <p:grpSp>
        <p:nvGrpSpPr>
          <p:cNvPr id="3570" name="Google Shape;3570;p112"/>
          <p:cNvGrpSpPr/>
          <p:nvPr/>
        </p:nvGrpSpPr>
        <p:grpSpPr>
          <a:xfrm>
            <a:off x="816949" y="5175643"/>
            <a:ext cx="524700" cy="496193"/>
            <a:chOff x="835484" y="5196688"/>
            <a:chExt cx="524700" cy="496193"/>
          </a:xfrm>
        </p:grpSpPr>
        <p:sp>
          <p:nvSpPr>
            <p:cNvPr id="3571" name="Google Shape;3571;p112"/>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3572" name="Google Shape;3572;p112" title="primary-icon-navy-distribution.png"/>
            <p:cNvPicPr preferRelativeResize="0"/>
            <p:nvPr/>
          </p:nvPicPr>
          <p:blipFill>
            <a:blip r:embed="rId20">
              <a:alphaModFix/>
            </a:blip>
            <a:stretch>
              <a:fillRect/>
            </a:stretch>
          </p:blipFill>
          <p:spPr>
            <a:xfrm>
              <a:off x="963302" y="5196688"/>
              <a:ext cx="269065" cy="269063"/>
            </a:xfrm>
            <a:prstGeom prst="rect">
              <a:avLst/>
            </a:prstGeom>
            <a:noFill/>
            <a:ln>
              <a:noFill/>
            </a:ln>
          </p:spPr>
        </p:pic>
      </p:grpSp>
      <p:sp>
        <p:nvSpPr>
          <p:cNvPr id="3573" name="Google Shape;3573;p112"/>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3574" name="Google Shape;3574;p112"/>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rgbClr val="CCCCCC"/>
              </a:solidFill>
              <a:latin typeface="DM Sans Medium"/>
              <a:ea typeface="DM Sans Medium"/>
              <a:cs typeface="DM Sans Medium"/>
              <a:sym typeface="DM Sans Medium"/>
            </a:endParaRPr>
          </a:p>
        </p:txBody>
      </p:sp>
      <p:sp>
        <p:nvSpPr>
          <p:cNvPr id="3575" name="Google Shape;3575;p112"/>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rgbClr val="CCCCCC"/>
              </a:solidFill>
              <a:latin typeface="DM Sans Medium"/>
              <a:ea typeface="DM Sans Medium"/>
              <a:cs typeface="DM Sans Medium"/>
              <a:sym typeface="DM Sans Medium"/>
            </a:endParaRPr>
          </a:p>
        </p:txBody>
      </p:sp>
      <p:sp>
        <p:nvSpPr>
          <p:cNvPr id="3576" name="Google Shape;3576;p112"/>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 CI/CD, MLOps and DataOps</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3577" name="Google Shape;3577;p112"/>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3578" name="Google Shape;3578;p112"/>
          <p:cNvSpPr txBox="1"/>
          <p:nvPr/>
        </p:nvSpPr>
        <p:spPr>
          <a:xfrm>
            <a:off x="1966662" y="2676532"/>
            <a:ext cx="1224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800">
                <a:solidFill>
                  <a:srgbClr val="DD9312"/>
                </a:solidFill>
                <a:latin typeface="DM Sans Medium"/>
                <a:ea typeface="DM Sans Medium"/>
                <a:cs typeface="DM Sans Medium"/>
                <a:sym typeface="DM Sans Medium"/>
              </a:rPr>
              <a:t>See use case 1</a:t>
            </a:r>
            <a:endParaRPr i="1" sz="900">
              <a:solidFill>
                <a:srgbClr val="DD9312"/>
              </a:solidFill>
              <a:latin typeface="DM Sans Medium"/>
              <a:ea typeface="DM Sans Medium"/>
              <a:cs typeface="DM Sans Medium"/>
              <a:sym typeface="DM Sans Medium"/>
            </a:endParaRPr>
          </a:p>
        </p:txBody>
      </p:sp>
      <p:cxnSp>
        <p:nvCxnSpPr>
          <p:cNvPr id="3579" name="Google Shape;3579;p112"/>
          <p:cNvCxnSpPr>
            <a:stCxn id="3580" idx="2"/>
            <a:endCxn id="3489" idx="3"/>
          </p:cNvCxnSpPr>
          <p:nvPr/>
        </p:nvCxnSpPr>
        <p:spPr>
          <a:xfrm flipH="1">
            <a:off x="3963695" y="4560313"/>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3581" name="Google Shape;3581;p112"/>
          <p:cNvCxnSpPr>
            <a:stCxn id="3496" idx="1"/>
            <a:endCxn id="3580" idx="6"/>
          </p:cNvCxnSpPr>
          <p:nvPr/>
        </p:nvCxnSpPr>
        <p:spPr>
          <a:xfrm flipH="1">
            <a:off x="4120750" y="4560313"/>
            <a:ext cx="175200" cy="600"/>
          </a:xfrm>
          <a:prstGeom prst="bentConnector3">
            <a:avLst>
              <a:gd fmla="val 49959" name="adj1"/>
            </a:avLst>
          </a:prstGeom>
          <a:noFill/>
          <a:ln cap="flat" cmpd="sng" w="19050">
            <a:solidFill>
              <a:schemeClr val="accent4"/>
            </a:solidFill>
            <a:prstDash val="solid"/>
            <a:round/>
            <a:headEnd len="sm" w="sm" type="triangle"/>
            <a:tailEnd len="sm" w="sm" type="none"/>
          </a:ln>
        </p:spPr>
      </p:cxnSp>
      <p:cxnSp>
        <p:nvCxnSpPr>
          <p:cNvPr id="3582" name="Google Shape;3582;p112"/>
          <p:cNvCxnSpPr>
            <a:stCxn id="3490" idx="1"/>
            <a:endCxn id="3496"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triangle"/>
            <a:tailEnd len="sm" w="sm" type="none"/>
          </a:ln>
        </p:spPr>
      </p:cxnSp>
      <p:cxnSp>
        <p:nvCxnSpPr>
          <p:cNvPr id="3583" name="Google Shape;3583;p112"/>
          <p:cNvCxnSpPr>
            <a:stCxn id="3584" idx="2"/>
            <a:endCxn id="3493" idx="1"/>
          </p:cNvCxnSpPr>
          <p:nvPr/>
        </p:nvCxnSpPr>
        <p:spPr>
          <a:xfrm flipH="1" rot="-5400000">
            <a:off x="4234763" y="5451562"/>
            <a:ext cx="368400" cy="477600"/>
          </a:xfrm>
          <a:prstGeom prst="bentConnector2">
            <a:avLst/>
          </a:prstGeom>
          <a:noFill/>
          <a:ln cap="flat" cmpd="sng" w="19050">
            <a:solidFill>
              <a:schemeClr val="accent4"/>
            </a:solidFill>
            <a:prstDash val="solid"/>
            <a:round/>
            <a:headEnd len="sm" w="sm" type="none"/>
            <a:tailEnd len="sm" w="sm" type="triangle"/>
          </a:ln>
        </p:spPr>
      </p:cxnSp>
      <p:sp>
        <p:nvSpPr>
          <p:cNvPr id="3585" name="Google Shape;3585;p112"/>
          <p:cNvSpPr/>
          <p:nvPr/>
        </p:nvSpPr>
        <p:spPr>
          <a:xfrm>
            <a:off x="4066499" y="4807108"/>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84" name="Google Shape;3584;p112"/>
          <p:cNvSpPr/>
          <p:nvPr/>
        </p:nvSpPr>
        <p:spPr>
          <a:xfrm>
            <a:off x="4160813" y="5461462"/>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86" name="Google Shape;3586;p112"/>
          <p:cNvSpPr/>
          <p:nvPr/>
        </p:nvSpPr>
        <p:spPr>
          <a:xfrm>
            <a:off x="4660074" y="3385952"/>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87" name="Google Shape;3587;p112"/>
          <p:cNvSpPr/>
          <p:nvPr/>
        </p:nvSpPr>
        <p:spPr>
          <a:xfrm>
            <a:off x="7254663" y="4423213"/>
            <a:ext cx="740400" cy="274200"/>
          </a:xfrm>
          <a:prstGeom prst="roundRect">
            <a:avLst>
              <a:gd fmla="val 18778"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3588" name="Google Shape;3588;p112"/>
          <p:cNvSpPr/>
          <p:nvPr/>
        </p:nvSpPr>
        <p:spPr>
          <a:xfrm>
            <a:off x="1741297" y="1419213"/>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sp>
        <p:nvSpPr>
          <p:cNvPr id="3589" name="Google Shape;3589;p112"/>
          <p:cNvSpPr/>
          <p:nvPr/>
        </p:nvSpPr>
        <p:spPr>
          <a:xfrm>
            <a:off x="1989529" y="3622000"/>
            <a:ext cx="1064400" cy="13530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a:t>
            </a:r>
            <a:r>
              <a:rPr lang="en" sz="1100">
                <a:solidFill>
                  <a:schemeClr val="accent5"/>
                </a:solidFill>
                <a:latin typeface="DM Sans Medium"/>
                <a:ea typeface="DM Sans Medium"/>
                <a:cs typeface="DM Sans Medium"/>
                <a:sym typeface="DM Sans Medium"/>
              </a:rPr>
              <a:t>Streaming</a:t>
            </a:r>
            <a:endParaRPr sz="1100">
              <a:solidFill>
                <a:srgbClr val="CCCCCC"/>
              </a:solidFill>
              <a:latin typeface="DM Sans Medium"/>
              <a:ea typeface="DM Sans Medium"/>
              <a:cs typeface="DM Sans Medium"/>
              <a:sym typeface="DM Sans Medium"/>
            </a:endParaRPr>
          </a:p>
        </p:txBody>
      </p:sp>
      <p:cxnSp>
        <p:nvCxnSpPr>
          <p:cNvPr id="3590" name="Google Shape;3590;p112"/>
          <p:cNvCxnSpPr>
            <a:stCxn id="3591" idx="6"/>
            <a:endCxn id="3592" idx="1"/>
          </p:cNvCxnSpPr>
          <p:nvPr/>
        </p:nvCxnSpPr>
        <p:spPr>
          <a:xfrm>
            <a:off x="2186892" y="4201876"/>
            <a:ext cx="204300" cy="1200"/>
          </a:xfrm>
          <a:prstGeom prst="bentConnector3">
            <a:avLst>
              <a:gd fmla="val 50013" name="adj1"/>
            </a:avLst>
          </a:prstGeom>
          <a:noFill/>
          <a:ln cap="flat" cmpd="sng" w="19050">
            <a:solidFill>
              <a:schemeClr val="accent4"/>
            </a:solidFill>
            <a:prstDash val="solid"/>
            <a:round/>
            <a:headEnd len="sm" w="sm" type="none"/>
            <a:tailEnd len="sm" w="sm" type="triangle"/>
          </a:ln>
        </p:spPr>
      </p:cxnSp>
      <p:cxnSp>
        <p:nvCxnSpPr>
          <p:cNvPr id="3593" name="Google Shape;3593;p112"/>
          <p:cNvCxnSpPr>
            <a:stCxn id="3592" idx="3"/>
            <a:endCxn id="3594" idx="1"/>
          </p:cNvCxnSpPr>
          <p:nvPr/>
        </p:nvCxnSpPr>
        <p:spPr>
          <a:xfrm flipH="1" rot="10800000">
            <a:off x="2656421" y="3408077"/>
            <a:ext cx="590700" cy="795000"/>
          </a:xfrm>
          <a:prstGeom prst="bentConnector3">
            <a:avLst>
              <a:gd fmla="val 77210" name="adj1"/>
            </a:avLst>
          </a:prstGeom>
          <a:noFill/>
          <a:ln cap="flat" cmpd="sng" w="19050">
            <a:solidFill>
              <a:schemeClr val="accent4"/>
            </a:solidFill>
            <a:prstDash val="solid"/>
            <a:round/>
            <a:headEnd len="sm" w="sm" type="none"/>
            <a:tailEnd len="sm" w="sm" type="triangle"/>
          </a:ln>
        </p:spPr>
      </p:cxnSp>
      <p:cxnSp>
        <p:nvCxnSpPr>
          <p:cNvPr id="3595" name="Google Shape;3595;p112"/>
          <p:cNvCxnSpPr>
            <a:stCxn id="3592" idx="3"/>
            <a:endCxn id="3472" idx="1"/>
          </p:cNvCxnSpPr>
          <p:nvPr/>
        </p:nvCxnSpPr>
        <p:spPr>
          <a:xfrm>
            <a:off x="2656421" y="4203077"/>
            <a:ext cx="591000" cy="954000"/>
          </a:xfrm>
          <a:prstGeom prst="bentConnector3">
            <a:avLst>
              <a:gd fmla="val 77171" name="adj1"/>
            </a:avLst>
          </a:prstGeom>
          <a:noFill/>
          <a:ln cap="flat" cmpd="sng" w="19050">
            <a:solidFill>
              <a:schemeClr val="accent4"/>
            </a:solidFill>
            <a:prstDash val="solid"/>
            <a:round/>
            <a:headEnd len="sm" w="sm" type="none"/>
            <a:tailEnd len="sm" w="sm" type="triangle"/>
          </a:ln>
        </p:spPr>
      </p:cxnSp>
      <p:sp>
        <p:nvSpPr>
          <p:cNvPr id="3594" name="Google Shape;3594;p112"/>
          <p:cNvSpPr/>
          <p:nvPr/>
        </p:nvSpPr>
        <p:spPr>
          <a:xfrm>
            <a:off x="3247109" y="3385403"/>
            <a:ext cx="56700" cy="4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91" name="Google Shape;3591;p112"/>
          <p:cNvSpPr/>
          <p:nvPr/>
        </p:nvSpPr>
        <p:spPr>
          <a:xfrm>
            <a:off x="1981992" y="4099426"/>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3596" name="Google Shape;3596;p112"/>
          <p:cNvSpPr/>
          <p:nvPr/>
        </p:nvSpPr>
        <p:spPr>
          <a:xfrm>
            <a:off x="2143275" y="3179562"/>
            <a:ext cx="8796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cxnSp>
        <p:nvCxnSpPr>
          <p:cNvPr id="3597" name="Google Shape;3597;p112"/>
          <p:cNvCxnSpPr>
            <a:stCxn id="3588" idx="4"/>
            <a:endCxn id="3596" idx="1"/>
          </p:cNvCxnSpPr>
          <p:nvPr/>
        </p:nvCxnSpPr>
        <p:spPr>
          <a:xfrm flipH="1" rot="-5400000">
            <a:off x="1147147" y="2320713"/>
            <a:ext cx="1692600" cy="299400"/>
          </a:xfrm>
          <a:prstGeom prst="bentConnector2">
            <a:avLst/>
          </a:prstGeom>
          <a:noFill/>
          <a:ln cap="flat" cmpd="sng" w="19050">
            <a:solidFill>
              <a:schemeClr val="accent4"/>
            </a:solidFill>
            <a:prstDash val="solid"/>
            <a:round/>
            <a:headEnd len="sm" w="sm" type="none"/>
            <a:tailEnd len="sm" w="sm" type="triangle"/>
          </a:ln>
        </p:spPr>
      </p:cxnSp>
      <p:cxnSp>
        <p:nvCxnSpPr>
          <p:cNvPr id="3598" name="Google Shape;3598;p112"/>
          <p:cNvCxnSpPr>
            <a:stCxn id="3516" idx="3"/>
            <a:endCxn id="3588" idx="2"/>
          </p:cNvCxnSpPr>
          <p:nvPr/>
        </p:nvCxnSpPr>
        <p:spPr>
          <a:xfrm>
            <a:off x="1434155" y="1521223"/>
            <a:ext cx="307200" cy="600"/>
          </a:xfrm>
          <a:prstGeom prst="bentConnector3">
            <a:avLst>
              <a:gd fmla="val 49991" name="adj1"/>
            </a:avLst>
          </a:prstGeom>
          <a:noFill/>
          <a:ln cap="flat" cmpd="sng" w="19050">
            <a:solidFill>
              <a:schemeClr val="accent4"/>
            </a:solidFill>
            <a:prstDash val="solid"/>
            <a:round/>
            <a:headEnd len="sm" w="sm" type="none"/>
            <a:tailEnd len="sm" w="sm" type="none"/>
          </a:ln>
        </p:spPr>
      </p:cxnSp>
      <p:cxnSp>
        <p:nvCxnSpPr>
          <p:cNvPr id="3599" name="Google Shape;3599;p112"/>
          <p:cNvCxnSpPr>
            <a:stCxn id="3522" idx="3"/>
            <a:endCxn id="3591" idx="2"/>
          </p:cNvCxnSpPr>
          <p:nvPr/>
        </p:nvCxnSpPr>
        <p:spPr>
          <a:xfrm>
            <a:off x="1434155" y="2103210"/>
            <a:ext cx="547800" cy="2098800"/>
          </a:xfrm>
          <a:prstGeom prst="bentConnector3">
            <a:avLst>
              <a:gd fmla="val 65712" name="adj1"/>
            </a:avLst>
          </a:prstGeom>
          <a:noFill/>
          <a:ln cap="flat" cmpd="sng" w="19050">
            <a:solidFill>
              <a:schemeClr val="accent4"/>
            </a:solidFill>
            <a:prstDash val="solid"/>
            <a:round/>
            <a:headEnd len="sm" w="sm" type="none"/>
            <a:tailEnd len="sm" w="sm" type="none"/>
          </a:ln>
        </p:spPr>
      </p:cxnSp>
      <p:sp>
        <p:nvSpPr>
          <p:cNvPr id="3600" name="Google Shape;3600;p112"/>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grpSp>
        <p:nvGrpSpPr>
          <p:cNvPr id="3601" name="Google Shape;3601;p112"/>
          <p:cNvGrpSpPr/>
          <p:nvPr/>
        </p:nvGrpSpPr>
        <p:grpSpPr>
          <a:xfrm>
            <a:off x="8234791" y="4535238"/>
            <a:ext cx="685500" cy="465911"/>
            <a:chOff x="8536471" y="4748911"/>
            <a:chExt cx="685500" cy="465911"/>
          </a:xfrm>
        </p:grpSpPr>
        <p:sp>
          <p:nvSpPr>
            <p:cNvPr id="3602" name="Google Shape;3602;p112"/>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RDBMs</a:t>
              </a:r>
              <a:endParaRPr sz="900">
                <a:solidFill>
                  <a:schemeClr val="accent1"/>
                </a:solidFill>
                <a:latin typeface="DM Sans Medium"/>
                <a:ea typeface="DM Sans Medium"/>
                <a:cs typeface="DM Sans Medium"/>
                <a:sym typeface="DM Sans Medium"/>
              </a:endParaRPr>
            </a:p>
          </p:txBody>
        </p:sp>
        <p:pic>
          <p:nvPicPr>
            <p:cNvPr id="3603" name="Google Shape;3603;p112"/>
            <p:cNvPicPr preferRelativeResize="0"/>
            <p:nvPr/>
          </p:nvPicPr>
          <p:blipFill>
            <a:blip r:embed="rId7">
              <a:alphaModFix/>
            </a:blip>
            <a:stretch>
              <a:fillRect/>
            </a:stretch>
          </p:blipFill>
          <p:spPr>
            <a:xfrm>
              <a:off x="8731571" y="4748911"/>
              <a:ext cx="265176" cy="265176"/>
            </a:xfrm>
            <a:prstGeom prst="rect">
              <a:avLst/>
            </a:prstGeom>
            <a:noFill/>
            <a:ln>
              <a:noFill/>
            </a:ln>
          </p:spPr>
        </p:pic>
      </p:grpSp>
      <p:sp>
        <p:nvSpPr>
          <p:cNvPr id="3604" name="Google Shape;3604;p112"/>
          <p:cNvSpPr/>
          <p:nvPr/>
        </p:nvSpPr>
        <p:spPr>
          <a:xfrm>
            <a:off x="6773700" y="3798990"/>
            <a:ext cx="685800" cy="2742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cxnSp>
        <p:nvCxnSpPr>
          <p:cNvPr id="3605" name="Google Shape;3605;p112"/>
          <p:cNvCxnSpPr>
            <a:stCxn id="3606" idx="4"/>
            <a:endCxn id="3604" idx="0"/>
          </p:cNvCxnSpPr>
          <p:nvPr/>
        </p:nvCxnSpPr>
        <p:spPr>
          <a:xfrm flipH="1" rot="-5400000">
            <a:off x="6928808" y="3610642"/>
            <a:ext cx="376200" cy="600"/>
          </a:xfrm>
          <a:prstGeom prst="bentConnector3">
            <a:avLst>
              <a:gd fmla="val 49993" name="adj1"/>
            </a:avLst>
          </a:prstGeom>
          <a:noFill/>
          <a:ln cap="flat" cmpd="sng" w="19050">
            <a:solidFill>
              <a:schemeClr val="accent4"/>
            </a:solidFill>
            <a:prstDash val="solid"/>
            <a:round/>
            <a:headEnd len="sm" w="sm" type="none"/>
            <a:tailEnd len="sm" w="sm" type="triangle"/>
          </a:ln>
        </p:spPr>
      </p:cxnSp>
      <p:cxnSp>
        <p:nvCxnSpPr>
          <p:cNvPr id="3607" name="Google Shape;3607;p112"/>
          <p:cNvCxnSpPr>
            <a:stCxn id="3608" idx="3"/>
            <a:endCxn id="3600" idx="0"/>
          </p:cNvCxnSpPr>
          <p:nvPr/>
        </p:nvCxnSpPr>
        <p:spPr>
          <a:xfrm>
            <a:off x="5327300" y="3316646"/>
            <a:ext cx="3248400" cy="966000"/>
          </a:xfrm>
          <a:prstGeom prst="bentConnector2">
            <a:avLst/>
          </a:prstGeom>
          <a:noFill/>
          <a:ln cap="flat" cmpd="sng" w="19050">
            <a:solidFill>
              <a:schemeClr val="accent4"/>
            </a:solidFill>
            <a:prstDash val="solid"/>
            <a:round/>
            <a:headEnd len="sm" w="sm" type="none"/>
            <a:tailEnd len="sm" w="sm" type="triangle"/>
          </a:ln>
        </p:spPr>
      </p:cxnSp>
      <p:sp>
        <p:nvSpPr>
          <p:cNvPr id="3606" name="Google Shape;3606;p112"/>
          <p:cNvSpPr/>
          <p:nvPr/>
        </p:nvSpPr>
        <p:spPr>
          <a:xfrm>
            <a:off x="7014158" y="3217942"/>
            <a:ext cx="204900" cy="2049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4</a:t>
            </a:r>
            <a:endParaRPr b="1" sz="1200">
              <a:latin typeface="DM Sans"/>
              <a:ea typeface="DM Sans"/>
              <a:cs typeface="DM Sans"/>
              <a:sym typeface="DM Sans"/>
            </a:endParaRPr>
          </a:p>
        </p:txBody>
      </p:sp>
      <p:cxnSp>
        <p:nvCxnSpPr>
          <p:cNvPr id="3609" name="Google Shape;3609;p112"/>
          <p:cNvCxnSpPr>
            <a:stCxn id="3596" idx="3"/>
            <a:endCxn id="3610" idx="1"/>
          </p:cNvCxnSpPr>
          <p:nvPr/>
        </p:nvCxnSpPr>
        <p:spPr>
          <a:xfrm>
            <a:off x="3022875" y="3316662"/>
            <a:ext cx="426300" cy="600"/>
          </a:xfrm>
          <a:prstGeom prst="bentConnector3">
            <a:avLst>
              <a:gd fmla="val 50000" name="adj1"/>
            </a:avLst>
          </a:prstGeom>
          <a:noFill/>
          <a:ln cap="flat" cmpd="sng" w="19050">
            <a:solidFill>
              <a:schemeClr val="accent4"/>
            </a:solidFill>
            <a:prstDash val="solid"/>
            <a:round/>
            <a:headEnd len="sm" w="sm" type="none"/>
            <a:tailEnd len="sm" w="sm" type="triangle"/>
          </a:ln>
        </p:spPr>
      </p:cxnSp>
      <p:sp>
        <p:nvSpPr>
          <p:cNvPr id="3611" name="Google Shape;3611;p112"/>
          <p:cNvSpPr/>
          <p:nvPr/>
        </p:nvSpPr>
        <p:spPr>
          <a:xfrm>
            <a:off x="6726100" y="5967925"/>
            <a:ext cx="36345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12" name="Google Shape;3612;p112"/>
          <p:cNvSpPr txBox="1"/>
          <p:nvPr/>
        </p:nvSpPr>
        <p:spPr>
          <a:xfrm>
            <a:off x="8623725" y="6009049"/>
            <a:ext cx="1783200" cy="66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Check permissions and save data</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Optional: Reverse ETL into operational databases</a:t>
            </a:r>
            <a:endParaRPr sz="1100">
              <a:solidFill>
                <a:schemeClr val="accent5"/>
              </a:solidFill>
              <a:latin typeface="DM Sans"/>
              <a:ea typeface="DM Sans"/>
              <a:cs typeface="DM Sans"/>
              <a:sym typeface="DM Sans"/>
            </a:endParaRPr>
          </a:p>
        </p:txBody>
      </p:sp>
      <p:sp>
        <p:nvSpPr>
          <p:cNvPr id="3613" name="Google Shape;3613;p112"/>
          <p:cNvSpPr txBox="1"/>
          <p:nvPr/>
        </p:nvSpPr>
        <p:spPr>
          <a:xfrm>
            <a:off x="7004100" y="6009050"/>
            <a:ext cx="1427100" cy="656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File ingest</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CDC or streaming ingest via partner tools</a:t>
            </a:r>
            <a:endParaRPr sz="1100">
              <a:solidFill>
                <a:schemeClr val="accent5"/>
              </a:solidFill>
              <a:latin typeface="DM Sans"/>
              <a:ea typeface="DM Sans"/>
              <a:cs typeface="DM Sans"/>
              <a:sym typeface="DM Sans"/>
            </a:endParaRPr>
          </a:p>
        </p:txBody>
      </p:sp>
      <p:sp>
        <p:nvSpPr>
          <p:cNvPr id="3614" name="Google Shape;3614;p112"/>
          <p:cNvSpPr/>
          <p:nvPr/>
        </p:nvSpPr>
        <p:spPr>
          <a:xfrm>
            <a:off x="8408669" y="5999409"/>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3615" name="Google Shape;3615;p112"/>
          <p:cNvSpPr/>
          <p:nvPr/>
        </p:nvSpPr>
        <p:spPr>
          <a:xfrm>
            <a:off x="8408669" y="6347683"/>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4</a:t>
            </a:r>
            <a:endParaRPr b="1" sz="1000">
              <a:latin typeface="DM Sans"/>
              <a:ea typeface="DM Sans"/>
              <a:cs typeface="DM Sans"/>
              <a:sym typeface="DM Sans"/>
            </a:endParaRPr>
          </a:p>
        </p:txBody>
      </p:sp>
      <p:sp>
        <p:nvSpPr>
          <p:cNvPr id="3616" name="Google Shape;3616;p112"/>
          <p:cNvSpPr/>
          <p:nvPr/>
        </p:nvSpPr>
        <p:spPr>
          <a:xfrm>
            <a:off x="6782856" y="5999409"/>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3617" name="Google Shape;3617;p112"/>
          <p:cNvSpPr/>
          <p:nvPr/>
        </p:nvSpPr>
        <p:spPr>
          <a:xfrm>
            <a:off x="6782856" y="6210485"/>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grpSp>
        <p:nvGrpSpPr>
          <p:cNvPr id="3618" name="Google Shape;3618;p112"/>
          <p:cNvGrpSpPr/>
          <p:nvPr/>
        </p:nvGrpSpPr>
        <p:grpSpPr>
          <a:xfrm>
            <a:off x="2187688" y="4070489"/>
            <a:ext cx="685500" cy="534119"/>
            <a:chOff x="2654875" y="4862956"/>
            <a:chExt cx="685500" cy="534119"/>
          </a:xfrm>
        </p:grpSpPr>
        <p:sp>
          <p:nvSpPr>
            <p:cNvPr id="3619" name="Google Shape;3619;p112"/>
            <p:cNvSpPr txBox="1"/>
            <p:nvPr/>
          </p:nvSpPr>
          <p:spPr>
            <a:xfrm>
              <a:off x="2654875" y="5119875"/>
              <a:ext cx="685500" cy="27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Event Streaming</a:t>
              </a:r>
              <a:endParaRPr sz="900">
                <a:solidFill>
                  <a:schemeClr val="accent1"/>
                </a:solidFill>
                <a:latin typeface="DM Sans Medium"/>
                <a:ea typeface="DM Sans Medium"/>
                <a:cs typeface="DM Sans Medium"/>
                <a:sym typeface="DM Sans Medium"/>
              </a:endParaRPr>
            </a:p>
          </p:txBody>
        </p:sp>
        <p:pic>
          <p:nvPicPr>
            <p:cNvPr id="3592" name="Google Shape;3592;p112"/>
            <p:cNvPicPr preferRelativeResize="0"/>
            <p:nvPr/>
          </p:nvPicPr>
          <p:blipFill>
            <a:blip r:embed="rId21">
              <a:alphaModFix/>
            </a:blip>
            <a:stretch>
              <a:fillRect/>
            </a:stretch>
          </p:blipFill>
          <p:spPr>
            <a:xfrm>
              <a:off x="2858432" y="4862956"/>
              <a:ext cx="265176" cy="265176"/>
            </a:xfrm>
            <a:prstGeom prst="rect">
              <a:avLst/>
            </a:prstGeom>
            <a:noFill/>
            <a:ln>
              <a:noFill/>
            </a:ln>
          </p:spPr>
        </p:pic>
      </p:grpSp>
      <p:sp>
        <p:nvSpPr>
          <p:cNvPr id="3620" name="Google Shape;3620;p112"/>
          <p:cNvSpPr txBox="1"/>
          <p:nvPr/>
        </p:nvSpPr>
        <p:spPr>
          <a:xfrm rot="-4946">
            <a:off x="2777996" y="4065464"/>
            <a:ext cx="208500" cy="1248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i="1" lang="en" sz="900">
                <a:solidFill>
                  <a:srgbClr val="DD9312"/>
                </a:solidFill>
                <a:latin typeface="DM Sans Medium"/>
                <a:ea typeface="DM Sans Medium"/>
                <a:cs typeface="DM Sans Medium"/>
                <a:sym typeface="DM Sans Medium"/>
              </a:rPr>
              <a:t>SS</a:t>
            </a:r>
            <a:endParaRPr i="1" sz="900">
              <a:solidFill>
                <a:srgbClr val="DD9312"/>
              </a:solidFill>
              <a:latin typeface="DM Sans Medium"/>
              <a:ea typeface="DM Sans Medium"/>
              <a:cs typeface="DM Sans Medium"/>
              <a:sym typeface="DM Sans Medium"/>
            </a:endParaRPr>
          </a:p>
        </p:txBody>
      </p:sp>
      <p:sp>
        <p:nvSpPr>
          <p:cNvPr id="3621" name="Google Shape;3621;p112"/>
          <p:cNvSpPr txBox="1"/>
          <p:nvPr/>
        </p:nvSpPr>
        <p:spPr>
          <a:xfrm rot="-1198">
            <a:off x="2026526" y="5953774"/>
            <a:ext cx="17214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 sz="1000">
                <a:solidFill>
                  <a:srgbClr val="DD9312"/>
                </a:solidFill>
                <a:latin typeface="DM Sans Medium"/>
                <a:ea typeface="DM Sans Medium"/>
                <a:cs typeface="DM Sans Medium"/>
                <a:sym typeface="DM Sans Medium"/>
              </a:rPr>
              <a:t>SS = Structured Streaming</a:t>
            </a:r>
            <a:endParaRPr sz="1000">
              <a:solidFill>
                <a:srgbClr val="DD9312"/>
              </a:solidFill>
              <a:latin typeface="DM Sans Medium"/>
              <a:ea typeface="DM Sans Medium"/>
              <a:cs typeface="DM Sans Medium"/>
              <a:sym typeface="DM Sans Medium"/>
            </a:endParaRPr>
          </a:p>
        </p:txBody>
      </p:sp>
      <p:cxnSp>
        <p:nvCxnSpPr>
          <p:cNvPr id="3622" name="Google Shape;3622;p112"/>
          <p:cNvCxnSpPr>
            <a:stCxn id="3525" idx="3"/>
          </p:cNvCxnSpPr>
          <p:nvPr/>
        </p:nvCxnSpPr>
        <p:spPr>
          <a:xfrm>
            <a:off x="1434155" y="2677614"/>
            <a:ext cx="363900" cy="600"/>
          </a:xfrm>
          <a:prstGeom prst="bentConnector3">
            <a:avLst>
              <a:gd fmla="val 50000" name="adj1"/>
            </a:avLst>
          </a:prstGeom>
          <a:noFill/>
          <a:ln cap="flat" cmpd="sng" w="19050">
            <a:solidFill>
              <a:schemeClr val="accent4"/>
            </a:solidFill>
            <a:prstDash val="solid"/>
            <a:round/>
            <a:headEnd len="sm" w="sm" type="none"/>
            <a:tailEnd len="sm" w="sm" type="none"/>
          </a:ln>
        </p:spPr>
      </p:cxnSp>
      <p:sp>
        <p:nvSpPr>
          <p:cNvPr id="3623" name="Google Shape;3623;p112"/>
          <p:cNvSpPr txBox="1"/>
          <p:nvPr/>
        </p:nvSpPr>
        <p:spPr>
          <a:xfrm>
            <a:off x="1391137" y="2534632"/>
            <a:ext cx="3618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1" lang="en" sz="900">
                <a:solidFill>
                  <a:srgbClr val="DD9312"/>
                </a:solidFill>
                <a:latin typeface="DM Sans Medium"/>
                <a:ea typeface="DM Sans Medium"/>
                <a:cs typeface="DM Sans Medium"/>
                <a:sym typeface="DM Sans Medium"/>
              </a:rPr>
              <a:t>CDC</a:t>
            </a:r>
            <a:endParaRPr i="1" sz="900">
              <a:solidFill>
                <a:srgbClr val="DD9312"/>
              </a:solidFill>
              <a:latin typeface="DM Sans Medium"/>
              <a:ea typeface="DM Sans Medium"/>
              <a:cs typeface="DM Sans Medium"/>
              <a:sym typeface="DM Sans Medium"/>
            </a:endParaRPr>
          </a:p>
        </p:txBody>
      </p:sp>
      <p:cxnSp>
        <p:nvCxnSpPr>
          <p:cNvPr id="3624" name="Google Shape;3624;p112"/>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3625" name="Google Shape;3625;p112"/>
          <p:cNvSpPr/>
          <p:nvPr/>
        </p:nvSpPr>
        <p:spPr>
          <a:xfrm>
            <a:off x="4318824" y="379900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grpSp>
        <p:nvGrpSpPr>
          <p:cNvPr id="3626" name="Google Shape;3626;p112"/>
          <p:cNvGrpSpPr/>
          <p:nvPr/>
        </p:nvGrpSpPr>
        <p:grpSpPr>
          <a:xfrm>
            <a:off x="8234791" y="4992438"/>
            <a:ext cx="685500" cy="465911"/>
            <a:chOff x="8536471" y="4748911"/>
            <a:chExt cx="685500" cy="465911"/>
          </a:xfrm>
        </p:grpSpPr>
        <p:sp>
          <p:nvSpPr>
            <p:cNvPr id="3627" name="Google Shape;3627;p112"/>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KV store</a:t>
              </a:r>
              <a:endParaRPr sz="900">
                <a:solidFill>
                  <a:schemeClr val="accent1"/>
                </a:solidFill>
                <a:latin typeface="DM Sans Medium"/>
                <a:ea typeface="DM Sans Medium"/>
                <a:cs typeface="DM Sans Medium"/>
                <a:sym typeface="DM Sans Medium"/>
              </a:endParaRPr>
            </a:p>
          </p:txBody>
        </p:sp>
        <p:pic>
          <p:nvPicPr>
            <p:cNvPr id="3628" name="Google Shape;3628;p112"/>
            <p:cNvPicPr preferRelativeResize="0"/>
            <p:nvPr/>
          </p:nvPicPr>
          <p:blipFill>
            <a:blip r:embed="rId7">
              <a:alphaModFix/>
            </a:blip>
            <a:stretch>
              <a:fillRect/>
            </a:stretch>
          </p:blipFill>
          <p:spPr>
            <a:xfrm>
              <a:off x="8731571" y="4748911"/>
              <a:ext cx="265176" cy="265176"/>
            </a:xfrm>
            <a:prstGeom prst="rect">
              <a:avLst/>
            </a:prstGeom>
            <a:noFill/>
            <a:ln>
              <a:noFill/>
            </a:ln>
          </p:spPr>
        </p:pic>
      </p:grpSp>
      <p:grpSp>
        <p:nvGrpSpPr>
          <p:cNvPr id="3629" name="Google Shape;3629;p112"/>
          <p:cNvGrpSpPr/>
          <p:nvPr/>
        </p:nvGrpSpPr>
        <p:grpSpPr>
          <a:xfrm>
            <a:off x="10606481" y="3507444"/>
            <a:ext cx="826200" cy="363728"/>
            <a:chOff x="10606481" y="3507444"/>
            <a:chExt cx="826200" cy="363728"/>
          </a:xfrm>
        </p:grpSpPr>
        <p:sp>
          <p:nvSpPr>
            <p:cNvPr id="3630" name="Google Shape;3630;p112"/>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3631" name="Google Shape;3631;p112"/>
            <p:cNvPicPr preferRelativeResize="0"/>
            <p:nvPr/>
          </p:nvPicPr>
          <p:blipFill>
            <a:blip r:embed="rId22">
              <a:alphaModFix/>
            </a:blip>
            <a:stretch>
              <a:fillRect/>
            </a:stretch>
          </p:blipFill>
          <p:spPr>
            <a:xfrm>
              <a:off x="10914442" y="3507444"/>
              <a:ext cx="219600" cy="219600"/>
            </a:xfrm>
            <a:prstGeom prst="ellipse">
              <a:avLst/>
            </a:prstGeom>
            <a:noFill/>
            <a:ln>
              <a:noFill/>
            </a:ln>
          </p:spPr>
        </p:pic>
      </p:grpSp>
      <p:sp>
        <p:nvSpPr>
          <p:cNvPr id="3632" name="Google Shape;3632;p112"/>
          <p:cNvSpPr/>
          <p:nvPr/>
        </p:nvSpPr>
        <p:spPr>
          <a:xfrm>
            <a:off x="3449100" y="3179550"/>
            <a:ext cx="1224300" cy="274200"/>
          </a:xfrm>
          <a:prstGeom prst="roundRect">
            <a:avLst>
              <a:gd fmla="val 18115"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endParaRPr sz="900">
              <a:solidFill>
                <a:schemeClr val="accent2"/>
              </a:solidFill>
              <a:latin typeface="DM Sans SemiBold"/>
              <a:ea typeface="DM Sans SemiBold"/>
              <a:cs typeface="DM Sans SemiBold"/>
              <a:sym typeface="DM Sans SemiBold"/>
            </a:endParaRPr>
          </a:p>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Declarative Pipelines</a:t>
            </a:r>
            <a:endParaRPr baseline="30000" sz="900">
              <a:solidFill>
                <a:schemeClr val="accent2"/>
              </a:solidFill>
              <a:latin typeface="DM Sans SemiBold"/>
              <a:ea typeface="DM Sans SemiBold"/>
              <a:cs typeface="DM Sans SemiBold"/>
              <a:sym typeface="DM Sans SemiBold"/>
            </a:endParaRPr>
          </a:p>
        </p:txBody>
      </p:sp>
      <p:cxnSp>
        <p:nvCxnSpPr>
          <p:cNvPr id="3633" name="Google Shape;3633;p112"/>
          <p:cNvCxnSpPr>
            <a:stCxn id="3632" idx="3"/>
            <a:endCxn id="3634" idx="1"/>
          </p:cNvCxnSpPr>
          <p:nvPr/>
        </p:nvCxnSpPr>
        <p:spPr>
          <a:xfrm>
            <a:off x="4673400" y="3316650"/>
            <a:ext cx="193800" cy="600"/>
          </a:xfrm>
          <a:prstGeom prst="bentConnector3">
            <a:avLst>
              <a:gd fmla="val 49969" name="adj1"/>
            </a:avLst>
          </a:prstGeom>
          <a:noFill/>
          <a:ln cap="flat" cmpd="sng" w="19050">
            <a:solidFill>
              <a:schemeClr val="accent4"/>
            </a:solidFill>
            <a:prstDash val="solid"/>
            <a:round/>
            <a:headEnd len="sm" w="sm" type="none"/>
            <a:tailEnd len="sm" w="sm" type="triangle"/>
          </a:ln>
        </p:spPr>
      </p:cxnSp>
      <p:cxnSp>
        <p:nvCxnSpPr>
          <p:cNvPr id="3635" name="Google Shape;3635;p112"/>
          <p:cNvCxnSpPr/>
          <p:nvPr/>
        </p:nvCxnSpPr>
        <p:spPr>
          <a:xfrm rot="5400000">
            <a:off x="3919015" y="3620552"/>
            <a:ext cx="1353300" cy="1019700"/>
          </a:xfrm>
          <a:prstGeom prst="bentConnector3">
            <a:avLst>
              <a:gd fmla="val 22696" name="adj1"/>
            </a:avLst>
          </a:prstGeom>
          <a:noFill/>
          <a:ln cap="flat" cmpd="sng" w="19050">
            <a:solidFill>
              <a:schemeClr val="accent4"/>
            </a:solidFill>
            <a:prstDash val="solid"/>
            <a:round/>
            <a:headEnd len="sm" w="sm" type="none"/>
            <a:tailEnd len="sm" w="sm" type="triangle"/>
          </a:ln>
        </p:spPr>
      </p:cxnSp>
      <p:sp>
        <p:nvSpPr>
          <p:cNvPr id="3634" name="Google Shape;3634;p112"/>
          <p:cNvSpPr/>
          <p:nvPr/>
        </p:nvSpPr>
        <p:spPr>
          <a:xfrm>
            <a:off x="4867081" y="3179550"/>
            <a:ext cx="761100" cy="274200"/>
          </a:xfrm>
          <a:prstGeom prst="roundRect">
            <a:avLst>
              <a:gd fmla="val 19944"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3636" name="Google Shape;3636;p112"/>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sp>
        <p:nvSpPr>
          <p:cNvPr id="3580" name="Google Shape;3580;p112"/>
          <p:cNvSpPr/>
          <p:nvPr/>
        </p:nvSpPr>
        <p:spPr>
          <a:xfrm>
            <a:off x="4053095" y="4526413"/>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37" name="Google Shape;3637;p112"/>
          <p:cNvSpPr/>
          <p:nvPr/>
        </p:nvSpPr>
        <p:spPr>
          <a:xfrm>
            <a:off x="5221224" y="1945900"/>
            <a:ext cx="879600" cy="1737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3638" name="Google Shape;3638;p112"/>
          <p:cNvSpPr/>
          <p:nvPr/>
        </p:nvSpPr>
        <p:spPr>
          <a:xfrm>
            <a:off x="6149882" y="1945900"/>
            <a:ext cx="887100" cy="1737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Asset Bundles</a:t>
            </a:r>
            <a:endParaRPr sz="900">
              <a:solidFill>
                <a:schemeClr val="accent2"/>
              </a:solidFill>
              <a:latin typeface="DM Sans SemiBold"/>
              <a:ea typeface="DM Sans SemiBold"/>
              <a:cs typeface="DM Sans SemiBold"/>
              <a:sym typeface="DM Sans SemiBo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2" name="Shape 3642"/>
        <p:cNvGrpSpPr/>
        <p:nvPr/>
      </p:nvGrpSpPr>
      <p:grpSpPr>
        <a:xfrm>
          <a:off x="0" y="0"/>
          <a:ext cx="0" cy="0"/>
          <a:chOff x="0" y="0"/>
          <a:chExt cx="0" cy="0"/>
        </a:xfrm>
      </p:grpSpPr>
      <p:sp>
        <p:nvSpPr>
          <p:cNvPr id="3643" name="Google Shape;3643;p113"/>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644" name="Google Shape;3644;p113"/>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645" name="Google Shape;3645;p113"/>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646" name="Google Shape;3646;p113"/>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647" name="Google Shape;3647;p113"/>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3648" name="Google Shape;3648;p113"/>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AI / ML and GenAI Apps - Mosaic AI</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3649" name="Google Shape;3649;p113"/>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4 Machine Learning (traditional)</a:t>
            </a:r>
            <a:endParaRPr b="1" sz="3600">
              <a:latin typeface="DM Sans"/>
              <a:ea typeface="DM Sans"/>
              <a:cs typeface="DM Sans"/>
              <a:sym typeface="DM Sans"/>
            </a:endParaRPr>
          </a:p>
        </p:txBody>
      </p:sp>
      <p:sp>
        <p:nvSpPr>
          <p:cNvPr id="3650" name="Google Shape;3650;p113"/>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651" name="Google Shape;3651;p113"/>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3652" name="Google Shape;3652;p113"/>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grpSp>
        <p:nvGrpSpPr>
          <p:cNvPr id="3653" name="Google Shape;3653;p113"/>
          <p:cNvGrpSpPr/>
          <p:nvPr/>
        </p:nvGrpSpPr>
        <p:grpSpPr>
          <a:xfrm rot="-5400000">
            <a:off x="8118194" y="4175940"/>
            <a:ext cx="198576" cy="208513"/>
            <a:chOff x="3295749" y="3922446"/>
            <a:chExt cx="198576" cy="208513"/>
          </a:xfrm>
        </p:grpSpPr>
        <p:sp>
          <p:nvSpPr>
            <p:cNvPr id="3654" name="Google Shape;3654;p113"/>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55" name="Google Shape;3655;p113"/>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656" name="Google Shape;3656;p113"/>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3657" name="Google Shape;3657;p113"/>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Engineering and</a:t>
            </a:r>
            <a:r>
              <a:rPr lang="en" sz="1100">
                <a:solidFill>
                  <a:schemeClr val="accent5"/>
                </a:solidFill>
                <a:latin typeface="DM Sans Medium"/>
                <a:ea typeface="DM Sans Medium"/>
                <a:cs typeface="DM Sans Medium"/>
                <a:sym typeface="DM Sans Medium"/>
              </a:rPr>
              <a:t> Processing</a:t>
            </a:r>
            <a:endParaRPr sz="1100">
              <a:solidFill>
                <a:schemeClr val="accent5"/>
              </a:solidFill>
              <a:latin typeface="DM Sans Medium"/>
              <a:ea typeface="DM Sans Medium"/>
              <a:cs typeface="DM Sans Medium"/>
              <a:sym typeface="DM Sans Medium"/>
            </a:endParaRPr>
          </a:p>
        </p:txBody>
      </p:sp>
      <p:sp>
        <p:nvSpPr>
          <p:cNvPr id="3658" name="Google Shape;3658;p113"/>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grpSp>
        <p:nvGrpSpPr>
          <p:cNvPr id="3659" name="Google Shape;3659;p113"/>
          <p:cNvGrpSpPr/>
          <p:nvPr/>
        </p:nvGrpSpPr>
        <p:grpSpPr>
          <a:xfrm>
            <a:off x="2986792" y="3550528"/>
            <a:ext cx="198576" cy="211709"/>
            <a:chOff x="3295749" y="3919250"/>
            <a:chExt cx="198576" cy="211709"/>
          </a:xfrm>
        </p:grpSpPr>
        <p:sp>
          <p:nvSpPr>
            <p:cNvPr id="3660" name="Google Shape;3660;p113"/>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61" name="Google Shape;3661;p113"/>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662" name="Google Shape;3662;p113"/>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3663" name="Google Shape;3663;p113"/>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3664" name="Google Shape;3664;p113"/>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3665" name="Google Shape;3665;p113"/>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3666" name="Google Shape;3666;p113"/>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3667" name="Google Shape;3667;p113"/>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3668" name="Google Shape;3668;p113"/>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3669" name="Google Shape;3669;p113"/>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3670" name="Google Shape;3670;p113"/>
          <p:cNvSpPr/>
          <p:nvPr/>
        </p:nvSpPr>
        <p:spPr>
          <a:xfrm>
            <a:off x="8226654" y="2268975"/>
            <a:ext cx="685800" cy="2742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3671" name="Google Shape;3671;p113"/>
          <p:cNvSpPr/>
          <p:nvPr/>
        </p:nvSpPr>
        <p:spPr>
          <a:xfrm>
            <a:off x="6701994" y="2583983"/>
            <a:ext cx="685800" cy="2742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Serving</a:t>
            </a:r>
            <a:endParaRPr sz="900">
              <a:solidFill>
                <a:schemeClr val="accent2"/>
              </a:solidFill>
              <a:latin typeface="DM Sans SemiBold"/>
              <a:ea typeface="DM Sans SemiBold"/>
              <a:cs typeface="DM Sans SemiBold"/>
              <a:sym typeface="DM Sans SemiBold"/>
            </a:endParaRPr>
          </a:p>
        </p:txBody>
      </p:sp>
      <p:grpSp>
        <p:nvGrpSpPr>
          <p:cNvPr id="3672" name="Google Shape;3672;p113"/>
          <p:cNvGrpSpPr/>
          <p:nvPr/>
        </p:nvGrpSpPr>
        <p:grpSpPr>
          <a:xfrm>
            <a:off x="4283501" y="5741943"/>
            <a:ext cx="1044000" cy="397683"/>
            <a:chOff x="4661400" y="6214292"/>
            <a:chExt cx="1044000" cy="397683"/>
          </a:xfrm>
        </p:grpSpPr>
        <p:sp>
          <p:nvSpPr>
            <p:cNvPr id="3673" name="Google Shape;3673;p113"/>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3674" name="Google Shape;3674;p113"/>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3675" name="Google Shape;3675;p113"/>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3676" name="Google Shape;3676;p113"/>
          <p:cNvPicPr preferRelativeResize="0"/>
          <p:nvPr/>
        </p:nvPicPr>
        <p:blipFill>
          <a:blip r:embed="rId4">
            <a:alphaModFix/>
          </a:blip>
          <a:stretch>
            <a:fillRect/>
          </a:stretch>
        </p:blipFill>
        <p:spPr>
          <a:xfrm>
            <a:off x="3367671" y="5181455"/>
            <a:ext cx="200700" cy="191237"/>
          </a:xfrm>
          <a:prstGeom prst="rect">
            <a:avLst/>
          </a:prstGeom>
          <a:noFill/>
          <a:ln>
            <a:noFill/>
          </a:ln>
        </p:spPr>
      </p:pic>
      <p:sp>
        <p:nvSpPr>
          <p:cNvPr id="3677" name="Google Shape;3677;p113"/>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3678" name="Google Shape;3678;p113"/>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3679" name="Google Shape;3679;p113"/>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3680" name="Google Shape;3680;p113"/>
          <p:cNvSpPr/>
          <p:nvPr/>
        </p:nvSpPr>
        <p:spPr>
          <a:xfrm>
            <a:off x="3449100" y="2582475"/>
            <a:ext cx="9837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cxnSp>
        <p:nvCxnSpPr>
          <p:cNvPr id="3681" name="Google Shape;3681;p113"/>
          <p:cNvCxnSpPr>
            <a:stCxn id="3682" idx="2"/>
            <a:endCxn id="3674" idx="1"/>
          </p:cNvCxnSpPr>
          <p:nvPr/>
        </p:nvCxnSpPr>
        <p:spPr>
          <a:xfrm flipH="1" rot="-5400000">
            <a:off x="4221684" y="5438459"/>
            <a:ext cx="370200" cy="502200"/>
          </a:xfrm>
          <a:prstGeom prst="bentConnector2">
            <a:avLst/>
          </a:prstGeom>
          <a:noFill/>
          <a:ln cap="flat" cmpd="sng" w="19050">
            <a:solidFill>
              <a:schemeClr val="accent4"/>
            </a:solidFill>
            <a:prstDash val="solid"/>
            <a:round/>
            <a:headEnd len="sm" w="sm" type="triangle"/>
            <a:tailEnd len="sm" w="sm" type="triangle"/>
          </a:ln>
        </p:spPr>
      </p:cxnSp>
      <p:pic>
        <p:nvPicPr>
          <p:cNvPr id="3683" name="Google Shape;3683;p113"/>
          <p:cNvPicPr preferRelativeResize="0"/>
          <p:nvPr/>
        </p:nvPicPr>
        <p:blipFill>
          <a:blip r:embed="rId5">
            <a:alphaModFix/>
          </a:blip>
          <a:stretch>
            <a:fillRect/>
          </a:stretch>
        </p:blipFill>
        <p:spPr>
          <a:xfrm>
            <a:off x="4998129" y="1403077"/>
            <a:ext cx="259650" cy="279625"/>
          </a:xfrm>
          <a:prstGeom prst="rect">
            <a:avLst/>
          </a:prstGeom>
          <a:noFill/>
          <a:ln>
            <a:noFill/>
          </a:ln>
        </p:spPr>
      </p:pic>
      <p:sp>
        <p:nvSpPr>
          <p:cNvPr id="3682" name="Google Shape;3682;p113"/>
          <p:cNvSpPr/>
          <p:nvPr/>
        </p:nvSpPr>
        <p:spPr>
          <a:xfrm>
            <a:off x="4104084" y="5412959"/>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84" name="Google Shape;3684;p113"/>
          <p:cNvSpPr/>
          <p:nvPr/>
        </p:nvSpPr>
        <p:spPr>
          <a:xfrm>
            <a:off x="7810854" y="2582475"/>
            <a:ext cx="589500" cy="2757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3685" name="Google Shape;3685;p113"/>
          <p:cNvGrpSpPr/>
          <p:nvPr/>
        </p:nvGrpSpPr>
        <p:grpSpPr>
          <a:xfrm>
            <a:off x="5357469" y="5168059"/>
            <a:ext cx="1015163" cy="210402"/>
            <a:chOff x="6995676" y="6025175"/>
            <a:chExt cx="1015163" cy="210402"/>
          </a:xfrm>
        </p:grpSpPr>
        <p:sp>
          <p:nvSpPr>
            <p:cNvPr id="3686" name="Google Shape;3686;p113"/>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3687" name="Google Shape;3687;p113"/>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3688" name="Google Shape;3688;p113"/>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3689" name="Google Shape;3689;p113"/>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690" name="Google Shape;3690;p113"/>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691" name="Google Shape;3691;p113"/>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692" name="Google Shape;3692;p113"/>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693" name="Google Shape;3693;p113"/>
            <p:cNvCxnSpPr>
              <a:stCxn id="3690" idx="4"/>
              <a:endCxn id="3694"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3694" name="Google Shape;3694;p113"/>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695" name="Google Shape;3695;p113"/>
            <p:cNvCxnSpPr>
              <a:stCxn id="3689" idx="4"/>
              <a:endCxn id="3692"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grpSp>
        <p:nvGrpSpPr>
          <p:cNvPr id="3696" name="Google Shape;3696;p113"/>
          <p:cNvGrpSpPr/>
          <p:nvPr/>
        </p:nvGrpSpPr>
        <p:grpSpPr>
          <a:xfrm>
            <a:off x="9133775" y="5106027"/>
            <a:ext cx="1082100" cy="391902"/>
            <a:chOff x="9515475" y="4663855"/>
            <a:chExt cx="1082100" cy="391902"/>
          </a:xfrm>
        </p:grpSpPr>
        <p:sp>
          <p:nvSpPr>
            <p:cNvPr id="3697" name="Google Shape;3697;p113"/>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3698" name="Google Shape;3698;p113"/>
            <p:cNvPicPr preferRelativeResize="0"/>
            <p:nvPr/>
          </p:nvPicPr>
          <p:blipFill>
            <a:blip r:embed="rId6">
              <a:alphaModFix/>
            </a:blip>
            <a:stretch>
              <a:fillRect/>
            </a:stretch>
          </p:blipFill>
          <p:spPr>
            <a:xfrm>
              <a:off x="9908871" y="4663855"/>
              <a:ext cx="265176" cy="265176"/>
            </a:xfrm>
            <a:prstGeom prst="rect">
              <a:avLst/>
            </a:prstGeom>
            <a:noFill/>
            <a:ln>
              <a:noFill/>
            </a:ln>
          </p:spPr>
        </p:pic>
      </p:grpSp>
      <p:sp>
        <p:nvSpPr>
          <p:cNvPr id="3699" name="Google Shape;3699;p113"/>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3700" name="Google Shape;3700;p113"/>
          <p:cNvGrpSpPr/>
          <p:nvPr/>
        </p:nvGrpSpPr>
        <p:grpSpPr>
          <a:xfrm>
            <a:off x="861763" y="1388635"/>
            <a:ext cx="879600" cy="565670"/>
            <a:chOff x="820734" y="1742570"/>
            <a:chExt cx="879600" cy="565670"/>
          </a:xfrm>
        </p:grpSpPr>
        <p:sp>
          <p:nvSpPr>
            <p:cNvPr id="3701" name="Google Shape;3701;p113"/>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702" name="Google Shape;3702;p113"/>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3703" name="Google Shape;3703;p113"/>
          <p:cNvGrpSpPr/>
          <p:nvPr/>
        </p:nvGrpSpPr>
        <p:grpSpPr>
          <a:xfrm>
            <a:off x="1278400" y="4282495"/>
            <a:ext cx="462900" cy="422268"/>
            <a:chOff x="1296935" y="4254734"/>
            <a:chExt cx="462900" cy="422268"/>
          </a:xfrm>
        </p:grpSpPr>
        <p:pic>
          <p:nvPicPr>
            <p:cNvPr id="3704" name="Google Shape;3704;p113"/>
            <p:cNvPicPr preferRelativeResize="0"/>
            <p:nvPr/>
          </p:nvPicPr>
          <p:blipFill rotWithShape="1">
            <a:blip r:embed="rId8">
              <a:alphaModFix/>
            </a:blip>
            <a:srcRect b="0" l="0" r="0" t="0"/>
            <a:stretch/>
          </p:blipFill>
          <p:spPr>
            <a:xfrm>
              <a:off x="1395798" y="4254734"/>
              <a:ext cx="265176" cy="265176"/>
            </a:xfrm>
            <a:prstGeom prst="rect">
              <a:avLst/>
            </a:prstGeom>
            <a:noFill/>
            <a:ln>
              <a:noFill/>
            </a:ln>
          </p:spPr>
        </p:pic>
        <p:sp>
          <p:nvSpPr>
            <p:cNvPr id="3705" name="Google Shape;3705;p113"/>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3706" name="Google Shape;3706;p113"/>
          <p:cNvGrpSpPr/>
          <p:nvPr/>
        </p:nvGrpSpPr>
        <p:grpSpPr>
          <a:xfrm>
            <a:off x="861800" y="1970622"/>
            <a:ext cx="879600" cy="558086"/>
            <a:chOff x="820771" y="2866176"/>
            <a:chExt cx="879600" cy="558086"/>
          </a:xfrm>
        </p:grpSpPr>
        <p:sp>
          <p:nvSpPr>
            <p:cNvPr id="3707" name="Google Shape;3707;p113"/>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3708" name="Google Shape;3708;p113"/>
            <p:cNvPicPr preferRelativeResize="0"/>
            <p:nvPr/>
          </p:nvPicPr>
          <p:blipFill>
            <a:blip r:embed="rId9">
              <a:alphaModFix/>
            </a:blip>
            <a:stretch>
              <a:fillRect/>
            </a:stretch>
          </p:blipFill>
          <p:spPr>
            <a:xfrm>
              <a:off x="1127949" y="2866176"/>
              <a:ext cx="265176" cy="265176"/>
            </a:xfrm>
            <a:prstGeom prst="rect">
              <a:avLst/>
            </a:prstGeom>
            <a:noFill/>
            <a:ln>
              <a:noFill/>
            </a:ln>
          </p:spPr>
        </p:pic>
      </p:grpSp>
      <p:grpSp>
        <p:nvGrpSpPr>
          <p:cNvPr id="3709" name="Google Shape;3709;p113"/>
          <p:cNvGrpSpPr/>
          <p:nvPr/>
        </p:nvGrpSpPr>
        <p:grpSpPr>
          <a:xfrm>
            <a:off x="903312" y="2545026"/>
            <a:ext cx="796500" cy="542824"/>
            <a:chOff x="862283" y="2315806"/>
            <a:chExt cx="796500" cy="542824"/>
          </a:xfrm>
        </p:grpSpPr>
        <p:sp>
          <p:nvSpPr>
            <p:cNvPr id="3710" name="Google Shape;3710;p113"/>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711" name="Google Shape;3711;p113"/>
            <p:cNvPicPr preferRelativeResize="0"/>
            <p:nvPr/>
          </p:nvPicPr>
          <p:blipFill>
            <a:blip r:embed="rId8">
              <a:alphaModFix/>
            </a:blip>
            <a:stretch>
              <a:fillRect/>
            </a:stretch>
          </p:blipFill>
          <p:spPr>
            <a:xfrm>
              <a:off x="1127949" y="2315806"/>
              <a:ext cx="265176" cy="265176"/>
            </a:xfrm>
            <a:prstGeom prst="rect">
              <a:avLst/>
            </a:prstGeom>
            <a:noFill/>
            <a:ln>
              <a:noFill/>
            </a:ln>
          </p:spPr>
        </p:pic>
      </p:grpSp>
      <p:grpSp>
        <p:nvGrpSpPr>
          <p:cNvPr id="3712" name="Google Shape;3712;p113"/>
          <p:cNvGrpSpPr/>
          <p:nvPr/>
        </p:nvGrpSpPr>
        <p:grpSpPr>
          <a:xfrm>
            <a:off x="861700" y="3104161"/>
            <a:ext cx="879600" cy="559474"/>
            <a:chOff x="820671" y="3997940"/>
            <a:chExt cx="879600" cy="559474"/>
          </a:xfrm>
        </p:grpSpPr>
        <p:pic>
          <p:nvPicPr>
            <p:cNvPr id="3713" name="Google Shape;3713;p113"/>
            <p:cNvPicPr preferRelativeResize="0"/>
            <p:nvPr/>
          </p:nvPicPr>
          <p:blipFill>
            <a:blip r:embed="rId6">
              <a:alphaModFix/>
            </a:blip>
            <a:stretch>
              <a:fillRect/>
            </a:stretch>
          </p:blipFill>
          <p:spPr>
            <a:xfrm>
              <a:off x="1127949" y="3997940"/>
              <a:ext cx="265176" cy="265176"/>
            </a:xfrm>
            <a:prstGeom prst="rect">
              <a:avLst/>
            </a:prstGeom>
            <a:noFill/>
            <a:ln>
              <a:noFill/>
            </a:ln>
          </p:spPr>
        </p:pic>
        <p:sp>
          <p:nvSpPr>
            <p:cNvPr id="3714" name="Google Shape;3714;p113"/>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3715" name="Google Shape;3715;p113"/>
          <p:cNvGrpSpPr/>
          <p:nvPr/>
        </p:nvGrpSpPr>
        <p:grpSpPr>
          <a:xfrm>
            <a:off x="920210" y="3679952"/>
            <a:ext cx="761100" cy="558519"/>
            <a:chOff x="880006" y="3431841"/>
            <a:chExt cx="761100" cy="558519"/>
          </a:xfrm>
        </p:grpSpPr>
        <p:pic>
          <p:nvPicPr>
            <p:cNvPr id="3716" name="Google Shape;3716;p113"/>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3717" name="Google Shape;3717;p113"/>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3718" name="Google Shape;3718;p113"/>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3719" name="Google Shape;3719;p113"/>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3720" name="Google Shape;3720;p113"/>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3721" name="Google Shape;3721;p113"/>
          <p:cNvGrpSpPr/>
          <p:nvPr/>
        </p:nvGrpSpPr>
        <p:grpSpPr>
          <a:xfrm>
            <a:off x="10745081" y="3937546"/>
            <a:ext cx="549000" cy="366196"/>
            <a:chOff x="10745081" y="3937546"/>
            <a:chExt cx="549000" cy="366196"/>
          </a:xfrm>
        </p:grpSpPr>
        <p:pic>
          <p:nvPicPr>
            <p:cNvPr id="3722" name="Google Shape;3722;p113"/>
            <p:cNvPicPr preferRelativeResize="0"/>
            <p:nvPr/>
          </p:nvPicPr>
          <p:blipFill>
            <a:blip r:embed="rId11">
              <a:alphaModFix/>
            </a:blip>
            <a:stretch>
              <a:fillRect/>
            </a:stretch>
          </p:blipFill>
          <p:spPr>
            <a:xfrm>
              <a:off x="10912331" y="3937546"/>
              <a:ext cx="214500" cy="217452"/>
            </a:xfrm>
            <a:prstGeom prst="rect">
              <a:avLst/>
            </a:prstGeom>
            <a:noFill/>
            <a:ln>
              <a:noFill/>
            </a:ln>
          </p:spPr>
        </p:pic>
        <p:sp>
          <p:nvSpPr>
            <p:cNvPr id="3723" name="Google Shape;3723;p113"/>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3724" name="Google Shape;3724;p113"/>
          <p:cNvSpPr/>
          <p:nvPr/>
        </p:nvSpPr>
        <p:spPr>
          <a:xfrm>
            <a:off x="10521581" y="3219266"/>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3725" name="Google Shape;3725;p113"/>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3726" name="Google Shape;3726;p113"/>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3727" name="Google Shape;3727;p113"/>
          <p:cNvGrpSpPr/>
          <p:nvPr/>
        </p:nvGrpSpPr>
        <p:grpSpPr>
          <a:xfrm>
            <a:off x="10597029" y="1623535"/>
            <a:ext cx="845100" cy="405937"/>
            <a:chOff x="10597029" y="1623535"/>
            <a:chExt cx="845100" cy="405937"/>
          </a:xfrm>
        </p:grpSpPr>
        <p:sp>
          <p:nvSpPr>
            <p:cNvPr id="3728" name="Google Shape;3728;p113"/>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3729" name="Google Shape;3729;p113"/>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3730" name="Google Shape;3730;p113"/>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3731" name="Google Shape;3731;p113"/>
          <p:cNvGrpSpPr/>
          <p:nvPr/>
        </p:nvGrpSpPr>
        <p:grpSpPr>
          <a:xfrm>
            <a:off x="10702031" y="2486073"/>
            <a:ext cx="635100" cy="543395"/>
            <a:chOff x="10702031" y="2486073"/>
            <a:chExt cx="635100" cy="543395"/>
          </a:xfrm>
        </p:grpSpPr>
        <p:sp>
          <p:nvSpPr>
            <p:cNvPr id="3732" name="Google Shape;3732;p113"/>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3733" name="Google Shape;3733;p113"/>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3734" name="Google Shape;3734;p113"/>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3735" name="Google Shape;3735;p113"/>
          <p:cNvGrpSpPr/>
          <p:nvPr/>
        </p:nvGrpSpPr>
        <p:grpSpPr>
          <a:xfrm>
            <a:off x="10621328" y="4994250"/>
            <a:ext cx="796500" cy="553688"/>
            <a:chOff x="10621328" y="4994250"/>
            <a:chExt cx="796500" cy="553688"/>
          </a:xfrm>
        </p:grpSpPr>
        <p:sp>
          <p:nvSpPr>
            <p:cNvPr id="3736" name="Google Shape;3736;p113"/>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3737" name="Google Shape;3737;p113"/>
            <p:cNvPicPr preferRelativeResize="0"/>
            <p:nvPr/>
          </p:nvPicPr>
          <p:blipFill>
            <a:blip r:embed="rId14">
              <a:alphaModFix/>
            </a:blip>
            <a:stretch>
              <a:fillRect/>
            </a:stretch>
          </p:blipFill>
          <p:spPr>
            <a:xfrm>
              <a:off x="10864167" y="4994250"/>
              <a:ext cx="265176" cy="265176"/>
            </a:xfrm>
            <a:prstGeom prst="rect">
              <a:avLst/>
            </a:prstGeom>
            <a:noFill/>
            <a:ln>
              <a:noFill/>
            </a:ln>
          </p:spPr>
        </p:pic>
      </p:grpSp>
      <p:pic>
        <p:nvPicPr>
          <p:cNvPr id="3738" name="Google Shape;3738;p113"/>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3739" name="Google Shape;3739;p113"/>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3740" name="Google Shape;3740;p113"/>
          <p:cNvGrpSpPr/>
          <p:nvPr/>
        </p:nvGrpSpPr>
        <p:grpSpPr>
          <a:xfrm>
            <a:off x="911400" y="4663311"/>
            <a:ext cx="336000" cy="426753"/>
            <a:chOff x="929785" y="4678386"/>
            <a:chExt cx="336000" cy="426753"/>
          </a:xfrm>
        </p:grpSpPr>
        <p:sp>
          <p:nvSpPr>
            <p:cNvPr id="3741" name="Google Shape;3741;p113"/>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3742" name="Google Shape;3742;p113"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3743" name="Google Shape;3743;p113"/>
          <p:cNvGrpSpPr/>
          <p:nvPr/>
        </p:nvGrpSpPr>
        <p:grpSpPr>
          <a:xfrm>
            <a:off x="1366236" y="4655157"/>
            <a:ext cx="324300" cy="434522"/>
            <a:chOff x="1377357" y="4647990"/>
            <a:chExt cx="324300" cy="434522"/>
          </a:xfrm>
        </p:grpSpPr>
        <p:sp>
          <p:nvSpPr>
            <p:cNvPr id="3744" name="Google Shape;3744;p113"/>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3745" name="Google Shape;3745;p113"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grpSp>
        <p:nvGrpSpPr>
          <p:cNvPr id="3746" name="Google Shape;3746;p113"/>
          <p:cNvGrpSpPr/>
          <p:nvPr/>
        </p:nvGrpSpPr>
        <p:grpSpPr>
          <a:xfrm>
            <a:off x="899750" y="4283846"/>
            <a:ext cx="359100" cy="422318"/>
            <a:chOff x="899750" y="4215307"/>
            <a:chExt cx="359100" cy="422318"/>
          </a:xfrm>
        </p:grpSpPr>
        <p:sp>
          <p:nvSpPr>
            <p:cNvPr id="3747" name="Google Shape;3747;p113"/>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3748" name="Google Shape;3748;p113"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sp>
        <p:nvSpPr>
          <p:cNvPr id="3749" name="Google Shape;3749;p113"/>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3750" name="Google Shape;3750;p113"/>
          <p:cNvGrpSpPr/>
          <p:nvPr/>
        </p:nvGrpSpPr>
        <p:grpSpPr>
          <a:xfrm>
            <a:off x="1247501" y="5175655"/>
            <a:ext cx="524700" cy="496901"/>
            <a:chOff x="1266036" y="5196700"/>
            <a:chExt cx="524700" cy="496901"/>
          </a:xfrm>
        </p:grpSpPr>
        <p:sp>
          <p:nvSpPr>
            <p:cNvPr id="3751" name="Google Shape;3751;p113"/>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3752" name="Google Shape;3752;p113" title="primary-icon-navy-data-sharing.png"/>
            <p:cNvPicPr preferRelativeResize="0"/>
            <p:nvPr/>
          </p:nvPicPr>
          <p:blipFill>
            <a:blip r:embed="rId19">
              <a:alphaModFix/>
            </a:blip>
            <a:stretch>
              <a:fillRect/>
            </a:stretch>
          </p:blipFill>
          <p:spPr>
            <a:xfrm>
              <a:off x="1393854" y="5196700"/>
              <a:ext cx="269065" cy="269063"/>
            </a:xfrm>
            <a:prstGeom prst="rect">
              <a:avLst/>
            </a:prstGeom>
            <a:noFill/>
            <a:ln>
              <a:noFill/>
            </a:ln>
          </p:spPr>
        </p:pic>
      </p:grpSp>
      <p:grpSp>
        <p:nvGrpSpPr>
          <p:cNvPr id="3753" name="Google Shape;3753;p113"/>
          <p:cNvGrpSpPr/>
          <p:nvPr/>
        </p:nvGrpSpPr>
        <p:grpSpPr>
          <a:xfrm>
            <a:off x="816949" y="5175643"/>
            <a:ext cx="524700" cy="496193"/>
            <a:chOff x="835484" y="5196688"/>
            <a:chExt cx="524700" cy="496193"/>
          </a:xfrm>
        </p:grpSpPr>
        <p:sp>
          <p:nvSpPr>
            <p:cNvPr id="3754" name="Google Shape;3754;p113"/>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3755" name="Google Shape;3755;p113" title="primary-icon-navy-distribution.png"/>
            <p:cNvPicPr preferRelativeResize="0"/>
            <p:nvPr/>
          </p:nvPicPr>
          <p:blipFill>
            <a:blip r:embed="rId20">
              <a:alphaModFix/>
            </a:blip>
            <a:stretch>
              <a:fillRect/>
            </a:stretch>
          </p:blipFill>
          <p:spPr>
            <a:xfrm>
              <a:off x="963302" y="5196688"/>
              <a:ext cx="269065" cy="269063"/>
            </a:xfrm>
            <a:prstGeom prst="rect">
              <a:avLst/>
            </a:prstGeom>
            <a:noFill/>
            <a:ln>
              <a:noFill/>
            </a:ln>
          </p:spPr>
        </p:pic>
      </p:grpSp>
      <p:sp>
        <p:nvSpPr>
          <p:cNvPr id="3756" name="Google Shape;3756;p113"/>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3757" name="Google Shape;3757;p113"/>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3758" name="Google Shape;3758;p113"/>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3759" name="Google Shape;3759;p113"/>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 CI/CD, MLOps and DataOps</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3760" name="Google Shape;3760;p113"/>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3761" name="Google Shape;3761;p113"/>
          <p:cNvSpPr/>
          <p:nvPr/>
        </p:nvSpPr>
        <p:spPr>
          <a:xfrm>
            <a:off x="5484500" y="2582475"/>
            <a:ext cx="761100" cy="274200"/>
          </a:xfrm>
          <a:prstGeom prst="roundRect">
            <a:avLst>
              <a:gd fmla="val 17595"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Traditional ML</a:t>
            </a:r>
            <a:endParaRPr sz="900">
              <a:solidFill>
                <a:schemeClr val="accent2"/>
              </a:solidFill>
              <a:latin typeface="DM Sans SemiBold"/>
              <a:ea typeface="DM Sans SemiBold"/>
              <a:cs typeface="DM Sans SemiBold"/>
              <a:sym typeface="DM Sans SemiBold"/>
            </a:endParaRPr>
          </a:p>
        </p:txBody>
      </p:sp>
      <p:sp>
        <p:nvSpPr>
          <p:cNvPr id="3762" name="Google Shape;3762;p113"/>
          <p:cNvSpPr/>
          <p:nvPr/>
        </p:nvSpPr>
        <p:spPr>
          <a:xfrm>
            <a:off x="4566099" y="3179550"/>
            <a:ext cx="761100" cy="274200"/>
          </a:xfrm>
          <a:prstGeom prst="roundRect">
            <a:avLst>
              <a:gd fmla="val 19944"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3763" name="Google Shape;3763;p113"/>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3764" name="Google Shape;3764;p113"/>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3765" name="Google Shape;3765;p113"/>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3766" name="Google Shape;3766;p113"/>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3767" name="Google Shape;3767;p113"/>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sp>
        <p:nvSpPr>
          <p:cNvPr id="3768" name="Google Shape;3768;p113"/>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3769" name="Google Shape;3769;p113"/>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3770" name="Google Shape;3770;p113"/>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cxnSp>
        <p:nvCxnSpPr>
          <p:cNvPr id="3771" name="Google Shape;3771;p113"/>
          <p:cNvCxnSpPr>
            <a:stCxn id="3772" idx="1"/>
            <a:endCxn id="3773" idx="0"/>
          </p:cNvCxnSpPr>
          <p:nvPr/>
        </p:nvCxnSpPr>
        <p:spPr>
          <a:xfrm flipH="1">
            <a:off x="4085799" y="3369113"/>
            <a:ext cx="480300" cy="1437900"/>
          </a:xfrm>
          <a:prstGeom prst="bentConnector2">
            <a:avLst/>
          </a:prstGeom>
          <a:noFill/>
          <a:ln cap="flat" cmpd="sng" w="19050">
            <a:solidFill>
              <a:schemeClr val="accent4"/>
            </a:solidFill>
            <a:prstDash val="solid"/>
            <a:round/>
            <a:headEnd len="sm" w="sm" type="triangle"/>
            <a:tailEnd len="sm" w="sm" type="triangle"/>
          </a:ln>
        </p:spPr>
      </p:cxnSp>
      <p:cxnSp>
        <p:nvCxnSpPr>
          <p:cNvPr id="3774" name="Google Shape;3774;p113"/>
          <p:cNvCxnSpPr>
            <a:stCxn id="3775" idx="2"/>
            <a:endCxn id="3766" idx="3"/>
          </p:cNvCxnSpPr>
          <p:nvPr/>
        </p:nvCxnSpPr>
        <p:spPr>
          <a:xfrm flipH="1">
            <a:off x="3963695" y="4560636"/>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3776" name="Google Shape;3776;p113"/>
          <p:cNvCxnSpPr>
            <a:stCxn id="3768" idx="1"/>
          </p:cNvCxnSpPr>
          <p:nvPr/>
        </p:nvCxnSpPr>
        <p:spPr>
          <a:xfrm flipH="1">
            <a:off x="4086850" y="4560313"/>
            <a:ext cx="209100" cy="600"/>
          </a:xfrm>
          <a:prstGeom prst="bentConnector3">
            <a:avLst>
              <a:gd fmla="val 50000" name="adj1"/>
            </a:avLst>
          </a:prstGeom>
          <a:noFill/>
          <a:ln cap="flat" cmpd="sng" w="19050">
            <a:solidFill>
              <a:schemeClr val="accent4"/>
            </a:solidFill>
            <a:prstDash val="solid"/>
            <a:round/>
            <a:headEnd len="sm" w="sm" type="triangle"/>
            <a:tailEnd len="sm" w="sm" type="none"/>
          </a:ln>
        </p:spPr>
      </p:cxnSp>
      <p:sp>
        <p:nvSpPr>
          <p:cNvPr id="3775" name="Google Shape;3775;p113"/>
          <p:cNvSpPr/>
          <p:nvPr/>
        </p:nvSpPr>
        <p:spPr>
          <a:xfrm>
            <a:off x="4053095" y="4526736"/>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777" name="Google Shape;3777;p113"/>
          <p:cNvCxnSpPr>
            <a:stCxn id="3767" idx="1"/>
            <a:endCxn id="3768"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triangle"/>
            <a:tailEnd len="sm" w="sm" type="triangle"/>
          </a:ln>
        </p:spPr>
      </p:cxnSp>
      <p:sp>
        <p:nvSpPr>
          <p:cNvPr id="3773" name="Google Shape;3773;p113"/>
          <p:cNvSpPr/>
          <p:nvPr/>
        </p:nvSpPr>
        <p:spPr>
          <a:xfrm>
            <a:off x="4066499" y="4807108"/>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778" name="Google Shape;3778;p113"/>
          <p:cNvCxnSpPr>
            <a:stCxn id="3779" idx="1"/>
            <a:endCxn id="3780" idx="2"/>
          </p:cNvCxnSpPr>
          <p:nvPr/>
        </p:nvCxnSpPr>
        <p:spPr>
          <a:xfrm rot="10800000">
            <a:off x="3737799" y="2858162"/>
            <a:ext cx="828300" cy="402900"/>
          </a:xfrm>
          <a:prstGeom prst="bentConnector2">
            <a:avLst/>
          </a:prstGeom>
          <a:noFill/>
          <a:ln cap="flat" cmpd="sng" w="19050">
            <a:solidFill>
              <a:schemeClr val="accent4"/>
            </a:solidFill>
            <a:prstDash val="solid"/>
            <a:round/>
            <a:headEnd len="sm" w="sm" type="triangle"/>
            <a:tailEnd len="sm" w="sm" type="triangle"/>
          </a:ln>
        </p:spPr>
      </p:cxnSp>
      <p:sp>
        <p:nvSpPr>
          <p:cNvPr id="3780" name="Google Shape;3780;p113"/>
          <p:cNvSpPr/>
          <p:nvPr/>
        </p:nvSpPr>
        <p:spPr>
          <a:xfrm>
            <a:off x="3703749" y="2790377"/>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79" name="Google Shape;3779;p113"/>
          <p:cNvSpPr/>
          <p:nvPr/>
        </p:nvSpPr>
        <p:spPr>
          <a:xfrm>
            <a:off x="4566099" y="3227162"/>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72" name="Google Shape;3772;p113"/>
          <p:cNvSpPr/>
          <p:nvPr/>
        </p:nvSpPr>
        <p:spPr>
          <a:xfrm>
            <a:off x="4566099" y="3335213"/>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81" name="Google Shape;3781;p113"/>
          <p:cNvSpPr/>
          <p:nvPr/>
        </p:nvSpPr>
        <p:spPr>
          <a:xfrm>
            <a:off x="6065949" y="2790377"/>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782" name="Google Shape;3782;p113"/>
          <p:cNvCxnSpPr>
            <a:stCxn id="3781" idx="2"/>
            <a:endCxn id="3762" idx="3"/>
          </p:cNvCxnSpPr>
          <p:nvPr/>
        </p:nvCxnSpPr>
        <p:spPr>
          <a:xfrm rot="5400000">
            <a:off x="5484249" y="2700977"/>
            <a:ext cx="458400" cy="772800"/>
          </a:xfrm>
          <a:prstGeom prst="bentConnector2">
            <a:avLst/>
          </a:prstGeom>
          <a:noFill/>
          <a:ln cap="flat" cmpd="sng" w="19050">
            <a:solidFill>
              <a:schemeClr val="accent4"/>
            </a:solidFill>
            <a:prstDash val="solid"/>
            <a:round/>
            <a:headEnd len="sm" w="sm" type="triangle"/>
            <a:tailEnd len="sm" w="sm" type="triangle"/>
          </a:ln>
        </p:spPr>
      </p:cxnSp>
      <p:sp>
        <p:nvSpPr>
          <p:cNvPr id="3783" name="Google Shape;3783;p113"/>
          <p:cNvSpPr/>
          <p:nvPr/>
        </p:nvSpPr>
        <p:spPr>
          <a:xfrm>
            <a:off x="3338422" y="246896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sp>
        <p:nvSpPr>
          <p:cNvPr id="3784" name="Google Shape;3784;p113"/>
          <p:cNvSpPr/>
          <p:nvPr/>
        </p:nvSpPr>
        <p:spPr>
          <a:xfrm>
            <a:off x="5356998" y="2468961"/>
            <a:ext cx="204900" cy="2049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3785" name="Google Shape;3785;p113"/>
          <p:cNvSpPr/>
          <p:nvPr/>
        </p:nvSpPr>
        <p:spPr>
          <a:xfrm>
            <a:off x="6251764" y="1941712"/>
            <a:ext cx="685800" cy="1866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MLFlow</a:t>
            </a:r>
            <a:endParaRPr sz="900">
              <a:solidFill>
                <a:schemeClr val="accent2"/>
              </a:solidFill>
              <a:latin typeface="DM Sans SemiBold"/>
              <a:ea typeface="DM Sans SemiBold"/>
              <a:cs typeface="DM Sans SemiBold"/>
              <a:sym typeface="DM Sans SemiBold"/>
            </a:endParaRPr>
          </a:p>
        </p:txBody>
      </p:sp>
      <p:cxnSp>
        <p:nvCxnSpPr>
          <p:cNvPr id="3786" name="Google Shape;3786;p113"/>
          <p:cNvCxnSpPr>
            <a:stCxn id="3787" idx="0"/>
            <a:endCxn id="3788" idx="1"/>
          </p:cNvCxnSpPr>
          <p:nvPr/>
        </p:nvCxnSpPr>
        <p:spPr>
          <a:xfrm rot="-5400000">
            <a:off x="3001439" y="2114761"/>
            <a:ext cx="2247600" cy="2083500"/>
          </a:xfrm>
          <a:prstGeom prst="bentConnector2">
            <a:avLst/>
          </a:prstGeom>
          <a:noFill/>
          <a:ln cap="flat" cmpd="sng" w="19050">
            <a:solidFill>
              <a:schemeClr val="accent4"/>
            </a:solidFill>
            <a:prstDash val="solid"/>
            <a:round/>
            <a:headEnd len="sm" w="sm" type="none"/>
            <a:tailEnd len="sm" w="sm" type="triangle"/>
          </a:ln>
        </p:spPr>
      </p:cxnSp>
      <p:cxnSp>
        <p:nvCxnSpPr>
          <p:cNvPr id="3789" name="Google Shape;3789;p113"/>
          <p:cNvCxnSpPr>
            <a:stCxn id="3658" idx="1"/>
            <a:endCxn id="3787" idx="4"/>
          </p:cNvCxnSpPr>
          <p:nvPr/>
        </p:nvCxnSpPr>
        <p:spPr>
          <a:xfrm rot="10800000">
            <a:off x="3083350" y="4348250"/>
            <a:ext cx="164100" cy="118800"/>
          </a:xfrm>
          <a:prstGeom prst="bentConnector2">
            <a:avLst/>
          </a:prstGeom>
          <a:noFill/>
          <a:ln cap="flat" cmpd="sng" w="19050">
            <a:solidFill>
              <a:schemeClr val="accent4"/>
            </a:solidFill>
            <a:prstDash val="solid"/>
            <a:round/>
            <a:headEnd len="sm" w="sm" type="none"/>
            <a:tailEnd len="sm" w="sm" type="none"/>
          </a:ln>
        </p:spPr>
      </p:cxnSp>
      <p:cxnSp>
        <p:nvCxnSpPr>
          <p:cNvPr id="3790" name="Google Shape;3790;p113"/>
          <p:cNvCxnSpPr>
            <a:stCxn id="3791" idx="4"/>
          </p:cNvCxnSpPr>
          <p:nvPr/>
        </p:nvCxnSpPr>
        <p:spPr>
          <a:xfrm flipH="1" rot="-5400000">
            <a:off x="6897222" y="2359891"/>
            <a:ext cx="446400" cy="1500"/>
          </a:xfrm>
          <a:prstGeom prst="bentConnector3">
            <a:avLst>
              <a:gd fmla="val 50000" name="adj1"/>
            </a:avLst>
          </a:prstGeom>
          <a:noFill/>
          <a:ln cap="flat" cmpd="sng" w="19050">
            <a:solidFill>
              <a:schemeClr val="accent4"/>
            </a:solidFill>
            <a:prstDash val="solid"/>
            <a:round/>
            <a:headEnd len="sm" w="sm" type="none"/>
            <a:tailEnd len="sm" w="sm" type="triangle"/>
          </a:ln>
        </p:spPr>
      </p:cxnSp>
      <p:cxnSp>
        <p:nvCxnSpPr>
          <p:cNvPr id="3792" name="Google Shape;3792;p113"/>
          <p:cNvCxnSpPr>
            <a:stCxn id="3785" idx="3"/>
            <a:endCxn id="3684" idx="0"/>
          </p:cNvCxnSpPr>
          <p:nvPr/>
        </p:nvCxnSpPr>
        <p:spPr>
          <a:xfrm>
            <a:off x="6937564" y="2035012"/>
            <a:ext cx="1167900" cy="547500"/>
          </a:xfrm>
          <a:prstGeom prst="bentConnector2">
            <a:avLst/>
          </a:prstGeom>
          <a:noFill/>
          <a:ln cap="flat" cmpd="sng" w="19050">
            <a:solidFill>
              <a:schemeClr val="accent4"/>
            </a:solidFill>
            <a:prstDash val="solid"/>
            <a:round/>
            <a:headEnd len="sm" w="sm" type="none"/>
            <a:tailEnd len="sm" w="sm" type="triangle"/>
          </a:ln>
        </p:spPr>
      </p:cxnSp>
      <p:cxnSp>
        <p:nvCxnSpPr>
          <p:cNvPr id="3793" name="Google Shape;3793;p113"/>
          <p:cNvCxnSpPr>
            <a:stCxn id="3671" idx="3"/>
            <a:endCxn id="3684" idx="1"/>
          </p:cNvCxnSpPr>
          <p:nvPr/>
        </p:nvCxnSpPr>
        <p:spPr>
          <a:xfrm flipH="1" rot="10800000">
            <a:off x="7387794" y="2720183"/>
            <a:ext cx="423000" cy="900"/>
          </a:xfrm>
          <a:prstGeom prst="bentConnector3">
            <a:avLst>
              <a:gd fmla="val 50007" name="adj1"/>
            </a:avLst>
          </a:prstGeom>
          <a:noFill/>
          <a:ln cap="flat" cmpd="sng" w="19050">
            <a:solidFill>
              <a:srgbClr val="4299E0"/>
            </a:solidFill>
            <a:prstDash val="solid"/>
            <a:round/>
            <a:headEnd len="sm" w="sm" type="none"/>
            <a:tailEnd len="sm" w="sm" type="triangle"/>
          </a:ln>
        </p:spPr>
      </p:cxnSp>
      <p:cxnSp>
        <p:nvCxnSpPr>
          <p:cNvPr id="3794" name="Google Shape;3794;p113"/>
          <p:cNvCxnSpPr>
            <a:stCxn id="3795" idx="3"/>
            <a:endCxn id="3796" idx="4"/>
          </p:cNvCxnSpPr>
          <p:nvPr/>
        </p:nvCxnSpPr>
        <p:spPr>
          <a:xfrm flipH="1" rot="10800000">
            <a:off x="10048191" y="3679890"/>
            <a:ext cx="134400" cy="256200"/>
          </a:xfrm>
          <a:prstGeom prst="bentConnector2">
            <a:avLst/>
          </a:prstGeom>
          <a:noFill/>
          <a:ln cap="flat" cmpd="sng" w="19050">
            <a:solidFill>
              <a:srgbClr val="4299E0"/>
            </a:solidFill>
            <a:prstDash val="solid"/>
            <a:round/>
            <a:headEnd len="sm" w="sm" type="triangle"/>
            <a:tailEnd len="sm" w="sm" type="none"/>
          </a:ln>
        </p:spPr>
      </p:cxnSp>
      <p:cxnSp>
        <p:nvCxnSpPr>
          <p:cNvPr id="3797" name="Google Shape;3797;p113"/>
          <p:cNvCxnSpPr>
            <a:stCxn id="3698" idx="3"/>
            <a:endCxn id="3796" idx="4"/>
          </p:cNvCxnSpPr>
          <p:nvPr/>
        </p:nvCxnSpPr>
        <p:spPr>
          <a:xfrm flipH="1" rot="10800000">
            <a:off x="9792347" y="3679815"/>
            <a:ext cx="390300" cy="1558800"/>
          </a:xfrm>
          <a:prstGeom prst="bentConnector2">
            <a:avLst/>
          </a:prstGeom>
          <a:noFill/>
          <a:ln cap="flat" cmpd="sng" w="19050">
            <a:solidFill>
              <a:srgbClr val="4299E0"/>
            </a:solidFill>
            <a:prstDash val="solid"/>
            <a:round/>
            <a:headEnd len="sm" w="sm" type="triangle"/>
            <a:tailEnd len="sm" w="sm" type="none"/>
          </a:ln>
        </p:spPr>
      </p:cxnSp>
      <p:cxnSp>
        <p:nvCxnSpPr>
          <p:cNvPr id="3798" name="Google Shape;3798;p113"/>
          <p:cNvCxnSpPr>
            <a:stCxn id="3670" idx="2"/>
            <a:endCxn id="3684" idx="3"/>
          </p:cNvCxnSpPr>
          <p:nvPr/>
        </p:nvCxnSpPr>
        <p:spPr>
          <a:xfrm rot="5400000">
            <a:off x="8396454" y="2547075"/>
            <a:ext cx="177000" cy="169200"/>
          </a:xfrm>
          <a:prstGeom prst="bentConnector2">
            <a:avLst/>
          </a:prstGeom>
          <a:noFill/>
          <a:ln cap="flat" cmpd="sng" w="19050">
            <a:solidFill>
              <a:srgbClr val="4299E0"/>
            </a:solidFill>
            <a:prstDash val="solid"/>
            <a:round/>
            <a:headEnd len="sm" w="sm" type="triangle"/>
            <a:tailEnd len="sm" w="sm" type="triangle"/>
          </a:ln>
        </p:spPr>
      </p:cxnSp>
      <p:cxnSp>
        <p:nvCxnSpPr>
          <p:cNvPr id="3799" name="Google Shape;3799;p113"/>
          <p:cNvCxnSpPr>
            <a:stCxn id="3800" idx="2"/>
            <a:endCxn id="3801" idx="0"/>
          </p:cNvCxnSpPr>
          <p:nvPr/>
        </p:nvCxnSpPr>
        <p:spPr>
          <a:xfrm flipH="1">
            <a:off x="7472544" y="3320717"/>
            <a:ext cx="533400" cy="1102500"/>
          </a:xfrm>
          <a:prstGeom prst="bentConnector2">
            <a:avLst/>
          </a:prstGeom>
          <a:noFill/>
          <a:ln cap="flat" cmpd="sng" w="19050">
            <a:solidFill>
              <a:srgbClr val="4299E0"/>
            </a:solidFill>
            <a:prstDash val="solid"/>
            <a:round/>
            <a:headEnd len="sm" w="sm" type="none"/>
            <a:tailEnd len="sm" w="sm" type="triangle"/>
          </a:ln>
        </p:spPr>
      </p:cxnSp>
      <p:sp>
        <p:nvSpPr>
          <p:cNvPr id="3800" name="Google Shape;3800;p113"/>
          <p:cNvSpPr/>
          <p:nvPr/>
        </p:nvSpPr>
        <p:spPr>
          <a:xfrm>
            <a:off x="8005944" y="3218267"/>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8</a:t>
            </a:r>
            <a:endParaRPr b="1" sz="1200">
              <a:latin typeface="DM Sans"/>
              <a:ea typeface="DM Sans"/>
              <a:cs typeface="DM Sans"/>
              <a:sym typeface="DM Sans"/>
            </a:endParaRPr>
          </a:p>
        </p:txBody>
      </p:sp>
      <p:cxnSp>
        <p:nvCxnSpPr>
          <p:cNvPr id="3802" name="Google Shape;3802;p113"/>
          <p:cNvCxnSpPr>
            <a:stCxn id="3670" idx="3"/>
            <a:endCxn id="3796" idx="0"/>
          </p:cNvCxnSpPr>
          <p:nvPr/>
        </p:nvCxnSpPr>
        <p:spPr>
          <a:xfrm>
            <a:off x="8912454" y="2406075"/>
            <a:ext cx="1270200" cy="1068900"/>
          </a:xfrm>
          <a:prstGeom prst="bentConnector2">
            <a:avLst/>
          </a:prstGeom>
          <a:noFill/>
          <a:ln cap="flat" cmpd="sng" w="19050">
            <a:solidFill>
              <a:srgbClr val="4299E0"/>
            </a:solidFill>
            <a:prstDash val="solid"/>
            <a:round/>
            <a:headEnd len="sm" w="sm" type="triangle"/>
            <a:tailEnd len="sm" w="sm" type="none"/>
          </a:ln>
        </p:spPr>
      </p:cxnSp>
      <p:sp>
        <p:nvSpPr>
          <p:cNvPr id="3803" name="Google Shape;3803;p113"/>
          <p:cNvSpPr/>
          <p:nvPr/>
        </p:nvSpPr>
        <p:spPr>
          <a:xfrm>
            <a:off x="5721125" y="5774250"/>
            <a:ext cx="4639500" cy="1007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804" name="Google Shape;3804;p113"/>
          <p:cNvSpPr txBox="1"/>
          <p:nvPr/>
        </p:nvSpPr>
        <p:spPr>
          <a:xfrm>
            <a:off x="6005225" y="5822100"/>
            <a:ext cx="2264700" cy="915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Create features and register in UC</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chemeClr val="accent5"/>
                </a:solidFill>
                <a:latin typeface="DM Sans"/>
                <a:ea typeface="DM Sans"/>
                <a:cs typeface="DM Sans"/>
                <a:sym typeface="DM Sans"/>
              </a:rPr>
              <a:t>Create models and register in UC</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chemeClr val="accent5"/>
                </a:solidFill>
                <a:latin typeface="DM Sans"/>
                <a:ea typeface="DM Sans"/>
                <a:cs typeface="DM Sans"/>
                <a:sym typeface="DM Sans"/>
              </a:rPr>
              <a:t>Check permissions and access </a:t>
            </a:r>
            <a:br>
              <a:rPr lang="en" sz="1100">
                <a:solidFill>
                  <a:schemeClr val="accent5"/>
                </a:solidFill>
                <a:latin typeface="DM Sans"/>
                <a:ea typeface="DM Sans"/>
                <a:cs typeface="DM Sans"/>
                <a:sym typeface="DM Sans"/>
              </a:rPr>
            </a:br>
            <a:r>
              <a:rPr lang="en" sz="1100">
                <a:solidFill>
                  <a:schemeClr val="accent5"/>
                </a:solidFill>
                <a:latin typeface="DM Sans"/>
                <a:ea typeface="DM Sans"/>
                <a:cs typeface="DM Sans"/>
                <a:sym typeface="DM Sans"/>
              </a:rPr>
              <a:t>data and AI assets</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Deploy models and features</a:t>
            </a:r>
            <a:endParaRPr sz="1100">
              <a:solidFill>
                <a:schemeClr val="accent5"/>
              </a:solidFill>
              <a:latin typeface="DM Sans"/>
              <a:ea typeface="DM Sans"/>
              <a:cs typeface="DM Sans"/>
              <a:sym typeface="DM Sans"/>
            </a:endParaRPr>
          </a:p>
        </p:txBody>
      </p:sp>
      <p:sp>
        <p:nvSpPr>
          <p:cNvPr id="3805" name="Google Shape;3805;p113"/>
          <p:cNvSpPr/>
          <p:nvPr/>
        </p:nvSpPr>
        <p:spPr>
          <a:xfrm>
            <a:off x="5792256" y="5818950"/>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3806" name="Google Shape;3806;p113"/>
          <p:cNvSpPr/>
          <p:nvPr/>
        </p:nvSpPr>
        <p:spPr>
          <a:xfrm>
            <a:off x="5792256" y="6017856"/>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3807" name="Google Shape;3807;p113"/>
          <p:cNvSpPr/>
          <p:nvPr/>
        </p:nvSpPr>
        <p:spPr>
          <a:xfrm>
            <a:off x="5792261" y="6566807"/>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4</a:t>
            </a:r>
            <a:endParaRPr b="1" sz="1000">
              <a:latin typeface="DM Sans"/>
              <a:ea typeface="DM Sans"/>
              <a:cs typeface="DM Sans"/>
              <a:sym typeface="DM Sans"/>
            </a:endParaRPr>
          </a:p>
        </p:txBody>
      </p:sp>
      <p:sp>
        <p:nvSpPr>
          <p:cNvPr id="3808" name="Google Shape;3808;p113"/>
          <p:cNvSpPr/>
          <p:nvPr/>
        </p:nvSpPr>
        <p:spPr>
          <a:xfrm>
            <a:off x="5792256" y="6214692"/>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3809" name="Google Shape;3809;p113"/>
          <p:cNvSpPr/>
          <p:nvPr/>
        </p:nvSpPr>
        <p:spPr>
          <a:xfrm>
            <a:off x="8378036" y="5820604"/>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5</a:t>
            </a:r>
            <a:endParaRPr b="1" sz="1000">
              <a:latin typeface="DM Sans"/>
              <a:ea typeface="DM Sans"/>
              <a:cs typeface="DM Sans"/>
              <a:sym typeface="DM Sans"/>
            </a:endParaRPr>
          </a:p>
        </p:txBody>
      </p:sp>
      <p:sp>
        <p:nvSpPr>
          <p:cNvPr id="3810" name="Google Shape;3810;p113"/>
          <p:cNvSpPr/>
          <p:nvPr/>
        </p:nvSpPr>
        <p:spPr>
          <a:xfrm>
            <a:off x="8378036" y="6020032"/>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6</a:t>
            </a:r>
            <a:endParaRPr b="1" sz="1000">
              <a:latin typeface="DM Sans"/>
              <a:ea typeface="DM Sans"/>
              <a:cs typeface="DM Sans"/>
              <a:sym typeface="DM Sans"/>
            </a:endParaRPr>
          </a:p>
        </p:txBody>
      </p:sp>
      <p:sp>
        <p:nvSpPr>
          <p:cNvPr id="3811" name="Google Shape;3811;p113"/>
          <p:cNvSpPr txBox="1"/>
          <p:nvPr/>
        </p:nvSpPr>
        <p:spPr>
          <a:xfrm>
            <a:off x="8596074" y="5822075"/>
            <a:ext cx="1736700" cy="915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Inference from clients</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chemeClr val="accent5"/>
                </a:solidFill>
                <a:latin typeface="DM Sans"/>
                <a:ea typeface="DM Sans"/>
                <a:cs typeface="DM Sans"/>
                <a:sym typeface="DM Sans"/>
              </a:rPr>
              <a:t>Read online features</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chemeClr val="accent5"/>
                </a:solidFill>
                <a:latin typeface="DM Sans"/>
                <a:ea typeface="DM Sans"/>
                <a:cs typeface="DM Sans"/>
                <a:sym typeface="DM Sans"/>
              </a:rPr>
              <a:t>Read OLTP data (opt.)</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Monitoring e.g. model drift</a:t>
            </a:r>
            <a:br>
              <a:rPr lang="en" sz="1100">
                <a:solidFill>
                  <a:schemeClr val="accent5"/>
                </a:solidFill>
                <a:latin typeface="DM Sans"/>
                <a:ea typeface="DM Sans"/>
                <a:cs typeface="DM Sans"/>
                <a:sym typeface="DM Sans"/>
              </a:rPr>
            </a:br>
            <a:r>
              <a:rPr lang="en" sz="1100">
                <a:solidFill>
                  <a:schemeClr val="accent5"/>
                </a:solidFill>
                <a:latin typeface="DM Sans"/>
                <a:ea typeface="DM Sans"/>
                <a:cs typeface="DM Sans"/>
                <a:sym typeface="DM Sans"/>
              </a:rPr>
              <a:t>(Lakehouse Monitoring)</a:t>
            </a:r>
            <a:endParaRPr sz="1100">
              <a:solidFill>
                <a:schemeClr val="accent5"/>
              </a:solidFill>
              <a:latin typeface="DM Sans"/>
              <a:ea typeface="DM Sans"/>
              <a:cs typeface="DM Sans"/>
              <a:sym typeface="DM Sans"/>
            </a:endParaRPr>
          </a:p>
        </p:txBody>
      </p:sp>
      <p:sp>
        <p:nvSpPr>
          <p:cNvPr id="3812" name="Google Shape;3812;p113"/>
          <p:cNvSpPr/>
          <p:nvPr/>
        </p:nvSpPr>
        <p:spPr>
          <a:xfrm>
            <a:off x="8378036" y="6214692"/>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7</a:t>
            </a:r>
            <a:endParaRPr b="1" sz="1000">
              <a:latin typeface="DM Sans"/>
              <a:ea typeface="DM Sans"/>
              <a:cs typeface="DM Sans"/>
              <a:sym typeface="DM Sans"/>
            </a:endParaRPr>
          </a:p>
        </p:txBody>
      </p:sp>
      <p:sp>
        <p:nvSpPr>
          <p:cNvPr id="3813" name="Google Shape;3813;p113"/>
          <p:cNvSpPr/>
          <p:nvPr/>
        </p:nvSpPr>
        <p:spPr>
          <a:xfrm>
            <a:off x="7465897" y="2617960"/>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6</a:t>
            </a:r>
            <a:endParaRPr b="1" sz="1200">
              <a:latin typeface="DM Sans"/>
              <a:ea typeface="DM Sans"/>
              <a:cs typeface="DM Sans"/>
              <a:sym typeface="DM Sans"/>
            </a:endParaRPr>
          </a:p>
        </p:txBody>
      </p:sp>
      <p:cxnSp>
        <p:nvCxnSpPr>
          <p:cNvPr id="3814" name="Google Shape;3814;p113"/>
          <p:cNvCxnSpPr>
            <a:stCxn id="3766" idx="0"/>
            <a:endCxn id="3787" idx="6"/>
          </p:cNvCxnSpPr>
          <p:nvPr/>
        </p:nvCxnSpPr>
        <p:spPr>
          <a:xfrm flipH="1" rot="5400000">
            <a:off x="3325843" y="4105813"/>
            <a:ext cx="108900" cy="525900"/>
          </a:xfrm>
          <a:prstGeom prst="bentConnector2">
            <a:avLst/>
          </a:prstGeom>
          <a:noFill/>
          <a:ln cap="flat" cmpd="sng" w="9525">
            <a:solidFill>
              <a:schemeClr val="dk2"/>
            </a:solidFill>
            <a:prstDash val="dash"/>
            <a:round/>
            <a:headEnd len="sm" w="sm" type="none"/>
            <a:tailEnd len="sm" w="sm" type="none"/>
          </a:ln>
        </p:spPr>
      </p:cxnSp>
      <p:cxnSp>
        <p:nvCxnSpPr>
          <p:cNvPr id="3815" name="Google Shape;3815;p113"/>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3816" name="Google Shape;3816;p113"/>
          <p:cNvSpPr/>
          <p:nvPr/>
        </p:nvSpPr>
        <p:spPr>
          <a:xfrm>
            <a:off x="4318824" y="379900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3787" name="Google Shape;3787;p113"/>
          <p:cNvSpPr/>
          <p:nvPr/>
        </p:nvSpPr>
        <p:spPr>
          <a:xfrm>
            <a:off x="3049589" y="4280311"/>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817" name="Google Shape;3817;p113"/>
          <p:cNvSpPr txBox="1"/>
          <p:nvPr/>
        </p:nvSpPr>
        <p:spPr>
          <a:xfrm>
            <a:off x="2288991" y="4187020"/>
            <a:ext cx="7404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800">
                <a:solidFill>
                  <a:schemeClr val="dk2"/>
                </a:solidFill>
                <a:latin typeface="DM Sans Medium"/>
                <a:ea typeface="DM Sans Medium"/>
                <a:cs typeface="DM Sans Medium"/>
                <a:sym typeface="DM Sans Medium"/>
              </a:rPr>
              <a:t>for data </a:t>
            </a:r>
            <a:br>
              <a:rPr i="1" lang="en" sz="800">
                <a:solidFill>
                  <a:schemeClr val="dk2"/>
                </a:solidFill>
                <a:latin typeface="DM Sans Medium"/>
                <a:ea typeface="DM Sans Medium"/>
                <a:cs typeface="DM Sans Medium"/>
                <a:sym typeface="DM Sans Medium"/>
              </a:rPr>
            </a:br>
            <a:r>
              <a:rPr i="1" lang="en" sz="800">
                <a:solidFill>
                  <a:schemeClr val="dk2"/>
                </a:solidFill>
                <a:latin typeface="DM Sans Medium"/>
                <a:ea typeface="DM Sans Medium"/>
                <a:cs typeface="DM Sans Medium"/>
                <a:sym typeface="DM Sans Medium"/>
              </a:rPr>
              <a:t>and AI assets</a:t>
            </a:r>
            <a:endParaRPr i="1" sz="800">
              <a:solidFill>
                <a:schemeClr val="dk2"/>
              </a:solidFill>
              <a:latin typeface="DM Sans Medium"/>
              <a:ea typeface="DM Sans Medium"/>
              <a:cs typeface="DM Sans Medium"/>
              <a:sym typeface="DM Sans Medium"/>
            </a:endParaRPr>
          </a:p>
        </p:txBody>
      </p:sp>
      <p:sp>
        <p:nvSpPr>
          <p:cNvPr id="3818" name="Google Shape;3818;p113"/>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sp>
        <p:nvSpPr>
          <p:cNvPr id="3791" name="Google Shape;3791;p113"/>
          <p:cNvSpPr/>
          <p:nvPr/>
        </p:nvSpPr>
        <p:spPr>
          <a:xfrm>
            <a:off x="7017222" y="19325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4</a:t>
            </a:r>
            <a:endParaRPr b="1" sz="1200">
              <a:latin typeface="DM Sans"/>
              <a:ea typeface="DM Sans"/>
              <a:cs typeface="DM Sans"/>
              <a:sym typeface="DM Sans"/>
            </a:endParaRPr>
          </a:p>
        </p:txBody>
      </p:sp>
      <p:sp>
        <p:nvSpPr>
          <p:cNvPr id="3795" name="Google Shape;3795;p113"/>
          <p:cNvSpPr/>
          <p:nvPr/>
        </p:nvSpPr>
        <p:spPr>
          <a:xfrm>
            <a:off x="9251691" y="3798990"/>
            <a:ext cx="796500" cy="274200"/>
          </a:xfrm>
          <a:prstGeom prst="roundRect">
            <a:avLst>
              <a:gd fmla="val 22836" name="adj"/>
            </a:avLst>
          </a:prstGeom>
          <a:solidFill>
            <a:srgbClr val="FFFFFF"/>
          </a:solid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3819" name="Google Shape;3819;p113"/>
          <p:cNvSpPr/>
          <p:nvPr/>
        </p:nvSpPr>
        <p:spPr>
          <a:xfrm>
            <a:off x="8094551" y="3798990"/>
            <a:ext cx="685800" cy="274200"/>
          </a:xfrm>
          <a:prstGeom prst="roundRect">
            <a:avLst>
              <a:gd fmla="val 22186"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cxnSp>
        <p:nvCxnSpPr>
          <p:cNvPr id="3820" name="Google Shape;3820;p113"/>
          <p:cNvCxnSpPr>
            <a:stCxn id="3795" idx="1"/>
            <a:endCxn id="3819" idx="3"/>
          </p:cNvCxnSpPr>
          <p:nvPr/>
        </p:nvCxnSpPr>
        <p:spPr>
          <a:xfrm flipH="1">
            <a:off x="8780391" y="3936090"/>
            <a:ext cx="471300" cy="600"/>
          </a:xfrm>
          <a:prstGeom prst="bentConnector3">
            <a:avLst>
              <a:gd fmla="val 50004" name="adj1"/>
            </a:avLst>
          </a:prstGeom>
          <a:noFill/>
          <a:ln cap="flat" cmpd="sng" w="19050">
            <a:solidFill>
              <a:srgbClr val="4299E0"/>
            </a:solidFill>
            <a:prstDash val="solid"/>
            <a:round/>
            <a:headEnd len="sm" w="sm" type="triangle"/>
            <a:tailEnd len="sm" w="sm" type="none"/>
          </a:ln>
        </p:spPr>
      </p:cxnSp>
      <p:cxnSp>
        <p:nvCxnSpPr>
          <p:cNvPr id="3821" name="Google Shape;3821;p113"/>
          <p:cNvCxnSpPr>
            <a:stCxn id="3698" idx="1"/>
            <a:endCxn id="3822" idx="4"/>
          </p:cNvCxnSpPr>
          <p:nvPr/>
        </p:nvCxnSpPr>
        <p:spPr>
          <a:xfrm rot="10800000">
            <a:off x="8924771" y="4032615"/>
            <a:ext cx="602400" cy="1206000"/>
          </a:xfrm>
          <a:prstGeom prst="bentConnector2">
            <a:avLst/>
          </a:prstGeom>
          <a:noFill/>
          <a:ln cap="flat" cmpd="sng" w="19050">
            <a:solidFill>
              <a:srgbClr val="4299E0"/>
            </a:solidFill>
            <a:prstDash val="solid"/>
            <a:round/>
            <a:headEnd len="sm" w="sm" type="triangle"/>
            <a:tailEnd len="sm" w="sm" type="none"/>
          </a:ln>
        </p:spPr>
      </p:cxnSp>
      <p:sp>
        <p:nvSpPr>
          <p:cNvPr id="3822" name="Google Shape;3822;p113"/>
          <p:cNvSpPr/>
          <p:nvPr/>
        </p:nvSpPr>
        <p:spPr>
          <a:xfrm>
            <a:off x="8822311" y="3827748"/>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7</a:t>
            </a:r>
            <a:endParaRPr b="1" sz="1200">
              <a:latin typeface="DM Sans"/>
              <a:ea typeface="DM Sans"/>
              <a:cs typeface="DM Sans"/>
              <a:sym typeface="DM Sans"/>
            </a:endParaRPr>
          </a:p>
        </p:txBody>
      </p:sp>
      <p:sp>
        <p:nvSpPr>
          <p:cNvPr id="3801" name="Google Shape;3801;p113"/>
          <p:cNvSpPr/>
          <p:nvPr/>
        </p:nvSpPr>
        <p:spPr>
          <a:xfrm>
            <a:off x="7102263" y="4423213"/>
            <a:ext cx="740400" cy="274200"/>
          </a:xfrm>
          <a:prstGeom prst="roundRect">
            <a:avLst>
              <a:gd fmla="val 18778" name="adj"/>
            </a:avLst>
          </a:prstGeom>
          <a:solidFill>
            <a:srgbClr val="FFFFFF"/>
          </a:solid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3796" name="Google Shape;3796;p113"/>
          <p:cNvSpPr/>
          <p:nvPr/>
        </p:nvSpPr>
        <p:spPr>
          <a:xfrm>
            <a:off x="10080270" y="3475053"/>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5</a:t>
            </a:r>
            <a:endParaRPr b="1" sz="1200">
              <a:latin typeface="DM Sans"/>
              <a:ea typeface="DM Sans"/>
              <a:cs typeface="DM Sans"/>
              <a:sym typeface="DM Sans"/>
            </a:endParaRPr>
          </a:p>
        </p:txBody>
      </p:sp>
      <p:sp>
        <p:nvSpPr>
          <p:cNvPr id="3823" name="Google Shape;3823;p113"/>
          <p:cNvSpPr/>
          <p:nvPr/>
        </p:nvSpPr>
        <p:spPr>
          <a:xfrm>
            <a:off x="10080270" y="4777972"/>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5</a:t>
            </a:r>
            <a:endParaRPr b="1" sz="1200">
              <a:latin typeface="DM Sans"/>
              <a:ea typeface="DM Sans"/>
              <a:cs typeface="DM Sans"/>
              <a:sym typeface="DM Sans"/>
            </a:endParaRPr>
          </a:p>
        </p:txBody>
      </p:sp>
      <p:sp>
        <p:nvSpPr>
          <p:cNvPr id="3824" name="Google Shape;3824;p113"/>
          <p:cNvSpPr/>
          <p:nvPr/>
        </p:nvSpPr>
        <p:spPr>
          <a:xfrm>
            <a:off x="7441404" y="3903416"/>
            <a:ext cx="63900" cy="67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825" name="Google Shape;3825;p113"/>
          <p:cNvCxnSpPr>
            <a:stCxn id="3819" idx="1"/>
            <a:endCxn id="3671" idx="2"/>
          </p:cNvCxnSpPr>
          <p:nvPr/>
        </p:nvCxnSpPr>
        <p:spPr>
          <a:xfrm rot="10800000">
            <a:off x="7044851" y="2858190"/>
            <a:ext cx="1049700" cy="1077900"/>
          </a:xfrm>
          <a:prstGeom prst="bentConnector2">
            <a:avLst/>
          </a:prstGeom>
          <a:noFill/>
          <a:ln cap="flat" cmpd="sng" w="19050">
            <a:solidFill>
              <a:srgbClr val="4299E0"/>
            </a:solidFill>
            <a:prstDash val="solid"/>
            <a:round/>
            <a:headEnd len="sm" w="sm" type="none"/>
            <a:tailEnd len="sm" w="sm" type="triangle"/>
          </a:ln>
        </p:spPr>
      </p:cxnSp>
      <p:cxnSp>
        <p:nvCxnSpPr>
          <p:cNvPr id="3826" name="Google Shape;3826;p113"/>
          <p:cNvCxnSpPr>
            <a:stCxn id="3684" idx="2"/>
            <a:endCxn id="3800" idx="0"/>
          </p:cNvCxnSpPr>
          <p:nvPr/>
        </p:nvCxnSpPr>
        <p:spPr>
          <a:xfrm flipH="1" rot="-5400000">
            <a:off x="7926954" y="3036825"/>
            <a:ext cx="360000" cy="2700"/>
          </a:xfrm>
          <a:prstGeom prst="bentConnector3">
            <a:avLst>
              <a:gd fmla="val 50013" name="adj1"/>
            </a:avLst>
          </a:prstGeom>
          <a:noFill/>
          <a:ln cap="flat" cmpd="sng" w="19050">
            <a:solidFill>
              <a:srgbClr val="4299E0"/>
            </a:solidFill>
            <a:prstDash val="solid"/>
            <a:round/>
            <a:headEnd len="sm" w="sm" type="none"/>
            <a:tailEnd len="sm" w="sm" type="none"/>
          </a:ln>
        </p:spPr>
      </p:cxnSp>
      <p:sp>
        <p:nvSpPr>
          <p:cNvPr id="3827" name="Google Shape;3827;p113"/>
          <p:cNvSpPr/>
          <p:nvPr/>
        </p:nvSpPr>
        <p:spPr>
          <a:xfrm>
            <a:off x="8378036" y="6425363"/>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8</a:t>
            </a:r>
            <a:endParaRPr b="1" sz="1000">
              <a:latin typeface="DM Sans"/>
              <a:ea typeface="DM Sans"/>
              <a:cs typeface="DM Sans"/>
              <a:sym typeface="DM Sans"/>
            </a:endParaRPr>
          </a:p>
        </p:txBody>
      </p:sp>
      <p:grpSp>
        <p:nvGrpSpPr>
          <p:cNvPr id="3828" name="Google Shape;3828;p113"/>
          <p:cNvGrpSpPr/>
          <p:nvPr/>
        </p:nvGrpSpPr>
        <p:grpSpPr>
          <a:xfrm>
            <a:off x="10606481" y="3507444"/>
            <a:ext cx="826200" cy="363728"/>
            <a:chOff x="10606481" y="3507444"/>
            <a:chExt cx="826200" cy="363728"/>
          </a:xfrm>
        </p:grpSpPr>
        <p:sp>
          <p:nvSpPr>
            <p:cNvPr id="3829" name="Google Shape;3829;p113"/>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3830" name="Google Shape;3830;p113"/>
            <p:cNvPicPr preferRelativeResize="0"/>
            <p:nvPr/>
          </p:nvPicPr>
          <p:blipFill>
            <a:blip r:embed="rId21">
              <a:alphaModFix/>
            </a:blip>
            <a:stretch>
              <a:fillRect/>
            </a:stretch>
          </p:blipFill>
          <p:spPr>
            <a:xfrm>
              <a:off x="10914442" y="3507444"/>
              <a:ext cx="219600" cy="219600"/>
            </a:xfrm>
            <a:prstGeom prst="ellipse">
              <a:avLst/>
            </a:prstGeom>
            <a:noFill/>
            <a:ln>
              <a:noFill/>
            </a:ln>
          </p:spPr>
        </p:pic>
      </p:grpSp>
      <p:sp>
        <p:nvSpPr>
          <p:cNvPr id="3788" name="Google Shape;3788;p113"/>
          <p:cNvSpPr/>
          <p:nvPr/>
        </p:nvSpPr>
        <p:spPr>
          <a:xfrm>
            <a:off x="5167063" y="1945900"/>
            <a:ext cx="887100" cy="173700"/>
          </a:xfrm>
          <a:prstGeom prst="roundRect">
            <a:avLst>
              <a:gd fmla="val 22186"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Asset Bundles</a:t>
            </a:r>
            <a:endParaRPr sz="900">
              <a:solidFill>
                <a:schemeClr val="accent2"/>
              </a:solidFill>
              <a:latin typeface="DM Sans SemiBold"/>
              <a:ea typeface="DM Sans SemiBold"/>
              <a:cs typeface="DM Sans SemiBold"/>
              <a:sym typeface="DM Sans SemiBold"/>
            </a:endParaRPr>
          </a:p>
        </p:txBody>
      </p:sp>
      <p:cxnSp>
        <p:nvCxnSpPr>
          <p:cNvPr id="3831" name="Google Shape;3831;p113"/>
          <p:cNvCxnSpPr/>
          <p:nvPr/>
        </p:nvCxnSpPr>
        <p:spPr>
          <a:xfrm>
            <a:off x="6060522" y="2033198"/>
            <a:ext cx="192000" cy="600"/>
          </a:xfrm>
          <a:prstGeom prst="bentConnector3">
            <a:avLst>
              <a:gd fmla="val 49969" name="adj1"/>
            </a:avLst>
          </a:prstGeom>
          <a:noFill/>
          <a:ln cap="flat" cmpd="sng" w="19050">
            <a:solidFill>
              <a:schemeClr val="accent4"/>
            </a:solidFill>
            <a:prstDash val="solid"/>
            <a:round/>
            <a:headEnd len="sm" w="sm" type="none"/>
            <a:tailEnd len="sm" w="sm" type="triangl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5" name="Shape 3835"/>
        <p:cNvGrpSpPr/>
        <p:nvPr/>
      </p:nvGrpSpPr>
      <p:grpSpPr>
        <a:xfrm>
          <a:off x="0" y="0"/>
          <a:ext cx="0" cy="0"/>
          <a:chOff x="0" y="0"/>
          <a:chExt cx="0" cy="0"/>
        </a:xfrm>
      </p:grpSpPr>
      <p:sp>
        <p:nvSpPr>
          <p:cNvPr id="3836" name="Google Shape;3836;p114"/>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837" name="Google Shape;3837;p114"/>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cxnSp>
        <p:nvCxnSpPr>
          <p:cNvPr id="3838" name="Google Shape;3838;p114"/>
          <p:cNvCxnSpPr>
            <a:stCxn id="3839" idx="3"/>
            <a:endCxn id="3840" idx="4"/>
          </p:cNvCxnSpPr>
          <p:nvPr/>
        </p:nvCxnSpPr>
        <p:spPr>
          <a:xfrm flipH="1" rot="10800000">
            <a:off x="9792347" y="3679815"/>
            <a:ext cx="388200" cy="1558800"/>
          </a:xfrm>
          <a:prstGeom prst="bentConnector2">
            <a:avLst/>
          </a:prstGeom>
          <a:noFill/>
          <a:ln cap="flat" cmpd="sng" w="19050">
            <a:solidFill>
              <a:srgbClr val="4299E0"/>
            </a:solidFill>
            <a:prstDash val="solid"/>
            <a:round/>
            <a:headEnd len="sm" w="sm" type="triangle"/>
            <a:tailEnd len="sm" w="sm" type="none"/>
          </a:ln>
        </p:spPr>
      </p:cxnSp>
      <p:cxnSp>
        <p:nvCxnSpPr>
          <p:cNvPr id="3841" name="Google Shape;3841;p114"/>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3842" name="Google Shape;3842;p114"/>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5 Gen AI: Agents</a:t>
            </a:r>
            <a:endParaRPr b="1" sz="3600">
              <a:latin typeface="DM Sans"/>
              <a:ea typeface="DM Sans"/>
              <a:cs typeface="DM Sans"/>
              <a:sym typeface="DM Sans"/>
            </a:endParaRPr>
          </a:p>
        </p:txBody>
      </p:sp>
      <p:sp>
        <p:nvSpPr>
          <p:cNvPr id="3843" name="Google Shape;3843;p114"/>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3844" name="Google Shape;3844;p114"/>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845" name="Google Shape;3845;p114"/>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3846" name="Google Shape;3846;p114"/>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3847" name="Google Shape;3847;p114"/>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3848" name="Google Shape;3848;p114"/>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AI / ML and GenAI Apps - Mosaic AI</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3849" name="Google Shape;3849;p114"/>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3850" name="Google Shape;3850;p114"/>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grpSp>
        <p:nvGrpSpPr>
          <p:cNvPr id="3851" name="Google Shape;3851;p114"/>
          <p:cNvGrpSpPr/>
          <p:nvPr/>
        </p:nvGrpSpPr>
        <p:grpSpPr>
          <a:xfrm rot="-5400000">
            <a:off x="8118194" y="4175940"/>
            <a:ext cx="198576" cy="208513"/>
            <a:chOff x="3295749" y="3922446"/>
            <a:chExt cx="198576" cy="208513"/>
          </a:xfrm>
        </p:grpSpPr>
        <p:sp>
          <p:nvSpPr>
            <p:cNvPr id="3852" name="Google Shape;3852;p114"/>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853" name="Google Shape;3853;p114"/>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854" name="Google Shape;3854;p114"/>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3855" name="Google Shape;3855;p114"/>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Engineering and</a:t>
            </a:r>
            <a:r>
              <a:rPr lang="en" sz="1100">
                <a:solidFill>
                  <a:schemeClr val="accent5"/>
                </a:solidFill>
                <a:latin typeface="DM Sans Medium"/>
                <a:ea typeface="DM Sans Medium"/>
                <a:cs typeface="DM Sans Medium"/>
                <a:sym typeface="DM Sans Medium"/>
              </a:rPr>
              <a:t> Processing</a:t>
            </a:r>
            <a:endParaRPr sz="1100">
              <a:solidFill>
                <a:schemeClr val="accent5"/>
              </a:solidFill>
              <a:latin typeface="DM Sans Medium"/>
              <a:ea typeface="DM Sans Medium"/>
              <a:cs typeface="DM Sans Medium"/>
              <a:sym typeface="DM Sans Medium"/>
            </a:endParaRPr>
          </a:p>
        </p:txBody>
      </p:sp>
      <p:sp>
        <p:nvSpPr>
          <p:cNvPr id="3856" name="Google Shape;3856;p114"/>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grpSp>
        <p:nvGrpSpPr>
          <p:cNvPr id="3857" name="Google Shape;3857;p114"/>
          <p:cNvGrpSpPr/>
          <p:nvPr/>
        </p:nvGrpSpPr>
        <p:grpSpPr>
          <a:xfrm>
            <a:off x="2986792" y="3550528"/>
            <a:ext cx="198576" cy="211709"/>
            <a:chOff x="3295749" y="3919250"/>
            <a:chExt cx="198576" cy="211709"/>
          </a:xfrm>
        </p:grpSpPr>
        <p:sp>
          <p:nvSpPr>
            <p:cNvPr id="3858" name="Google Shape;3858;p114"/>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859" name="Google Shape;3859;p114"/>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3860" name="Google Shape;3860;p114"/>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3861" name="Google Shape;3861;p114"/>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3862" name="Google Shape;3862;p114"/>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3863" name="Google Shape;3863;p114"/>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3864" name="Google Shape;3864;p114"/>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3865" name="Google Shape;3865;p114"/>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3866" name="Google Shape;3866;p114"/>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3867" name="Google Shape;3867;p114"/>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grpSp>
        <p:nvGrpSpPr>
          <p:cNvPr id="3868" name="Google Shape;3868;p114"/>
          <p:cNvGrpSpPr/>
          <p:nvPr/>
        </p:nvGrpSpPr>
        <p:grpSpPr>
          <a:xfrm>
            <a:off x="4283501" y="5741943"/>
            <a:ext cx="1044000" cy="397683"/>
            <a:chOff x="4661400" y="6214292"/>
            <a:chExt cx="1044000" cy="397683"/>
          </a:xfrm>
        </p:grpSpPr>
        <p:sp>
          <p:nvSpPr>
            <p:cNvPr id="3869" name="Google Shape;3869;p114"/>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3870" name="Google Shape;3870;p114"/>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3871" name="Google Shape;3871;p114"/>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3872" name="Google Shape;3872;p114"/>
          <p:cNvPicPr preferRelativeResize="0"/>
          <p:nvPr/>
        </p:nvPicPr>
        <p:blipFill>
          <a:blip r:embed="rId4">
            <a:alphaModFix/>
          </a:blip>
          <a:stretch>
            <a:fillRect/>
          </a:stretch>
        </p:blipFill>
        <p:spPr>
          <a:xfrm>
            <a:off x="3367671" y="5181455"/>
            <a:ext cx="200700" cy="191237"/>
          </a:xfrm>
          <a:prstGeom prst="rect">
            <a:avLst/>
          </a:prstGeom>
          <a:noFill/>
          <a:ln>
            <a:noFill/>
          </a:ln>
        </p:spPr>
      </p:pic>
      <p:sp>
        <p:nvSpPr>
          <p:cNvPr id="3873" name="Google Shape;3873;p114"/>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3874" name="Google Shape;3874;p114"/>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3875" name="Google Shape;3875;p114"/>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3876" name="Google Shape;3876;p114"/>
          <p:cNvSpPr/>
          <p:nvPr/>
        </p:nvSpPr>
        <p:spPr>
          <a:xfrm>
            <a:off x="3449100" y="2582475"/>
            <a:ext cx="9837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cxnSp>
        <p:nvCxnSpPr>
          <p:cNvPr id="3877" name="Google Shape;3877;p114"/>
          <p:cNvCxnSpPr>
            <a:stCxn id="3878" idx="2"/>
            <a:endCxn id="3870" idx="1"/>
          </p:cNvCxnSpPr>
          <p:nvPr/>
        </p:nvCxnSpPr>
        <p:spPr>
          <a:xfrm flipH="1" rot="-5400000">
            <a:off x="4221684" y="5438459"/>
            <a:ext cx="370200" cy="502200"/>
          </a:xfrm>
          <a:prstGeom prst="bentConnector2">
            <a:avLst/>
          </a:prstGeom>
          <a:noFill/>
          <a:ln cap="flat" cmpd="sng" w="19050">
            <a:solidFill>
              <a:schemeClr val="accent4"/>
            </a:solidFill>
            <a:prstDash val="solid"/>
            <a:round/>
            <a:headEnd len="sm" w="sm" type="triangle"/>
            <a:tailEnd len="sm" w="sm" type="triangle"/>
          </a:ln>
        </p:spPr>
      </p:cxnSp>
      <p:pic>
        <p:nvPicPr>
          <p:cNvPr id="3879" name="Google Shape;3879;p114"/>
          <p:cNvPicPr preferRelativeResize="0"/>
          <p:nvPr/>
        </p:nvPicPr>
        <p:blipFill>
          <a:blip r:embed="rId5">
            <a:alphaModFix/>
          </a:blip>
          <a:stretch>
            <a:fillRect/>
          </a:stretch>
        </p:blipFill>
        <p:spPr>
          <a:xfrm>
            <a:off x="4998129" y="1403077"/>
            <a:ext cx="259650" cy="279625"/>
          </a:xfrm>
          <a:prstGeom prst="rect">
            <a:avLst/>
          </a:prstGeom>
          <a:noFill/>
          <a:ln>
            <a:noFill/>
          </a:ln>
        </p:spPr>
      </p:pic>
      <p:sp>
        <p:nvSpPr>
          <p:cNvPr id="3878" name="Google Shape;3878;p114"/>
          <p:cNvSpPr/>
          <p:nvPr/>
        </p:nvSpPr>
        <p:spPr>
          <a:xfrm>
            <a:off x="4104084" y="5412959"/>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3880" name="Google Shape;3880;p114"/>
          <p:cNvGrpSpPr/>
          <p:nvPr/>
        </p:nvGrpSpPr>
        <p:grpSpPr>
          <a:xfrm>
            <a:off x="5357469" y="5168059"/>
            <a:ext cx="1015163" cy="210402"/>
            <a:chOff x="6995676" y="6025175"/>
            <a:chExt cx="1015163" cy="210402"/>
          </a:xfrm>
        </p:grpSpPr>
        <p:sp>
          <p:nvSpPr>
            <p:cNvPr id="3881" name="Google Shape;3881;p114"/>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3882" name="Google Shape;3882;p114"/>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3883" name="Google Shape;3883;p114"/>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3884" name="Google Shape;3884;p114"/>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885" name="Google Shape;3885;p114"/>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886" name="Google Shape;3886;p114"/>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3887" name="Google Shape;3887;p114"/>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888" name="Google Shape;3888;p114"/>
            <p:cNvCxnSpPr>
              <a:stCxn id="3885" idx="4"/>
              <a:endCxn id="3889"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3889" name="Google Shape;3889;p114"/>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890" name="Google Shape;3890;p114"/>
            <p:cNvCxnSpPr>
              <a:stCxn id="3884" idx="4"/>
              <a:endCxn id="3887"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grpSp>
        <p:nvGrpSpPr>
          <p:cNvPr id="3891" name="Google Shape;3891;p114"/>
          <p:cNvGrpSpPr/>
          <p:nvPr/>
        </p:nvGrpSpPr>
        <p:grpSpPr>
          <a:xfrm>
            <a:off x="9133775" y="5106027"/>
            <a:ext cx="1082100" cy="391902"/>
            <a:chOff x="9515475" y="4663855"/>
            <a:chExt cx="1082100" cy="391902"/>
          </a:xfrm>
        </p:grpSpPr>
        <p:sp>
          <p:nvSpPr>
            <p:cNvPr id="3892" name="Google Shape;3892;p114"/>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3839" name="Google Shape;3839;p114"/>
            <p:cNvPicPr preferRelativeResize="0"/>
            <p:nvPr/>
          </p:nvPicPr>
          <p:blipFill>
            <a:blip r:embed="rId6">
              <a:alphaModFix/>
            </a:blip>
            <a:stretch>
              <a:fillRect/>
            </a:stretch>
          </p:blipFill>
          <p:spPr>
            <a:xfrm>
              <a:off x="9908871" y="4663855"/>
              <a:ext cx="265176" cy="265176"/>
            </a:xfrm>
            <a:prstGeom prst="rect">
              <a:avLst/>
            </a:prstGeom>
            <a:noFill/>
            <a:ln>
              <a:noFill/>
            </a:ln>
          </p:spPr>
        </p:pic>
      </p:grpSp>
      <p:sp>
        <p:nvSpPr>
          <p:cNvPr id="3893" name="Google Shape;3893;p114"/>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3894" name="Google Shape;3894;p114"/>
          <p:cNvGrpSpPr/>
          <p:nvPr/>
        </p:nvGrpSpPr>
        <p:grpSpPr>
          <a:xfrm>
            <a:off x="861763" y="1388635"/>
            <a:ext cx="879600" cy="565670"/>
            <a:chOff x="820734" y="1742570"/>
            <a:chExt cx="879600" cy="565670"/>
          </a:xfrm>
        </p:grpSpPr>
        <p:sp>
          <p:nvSpPr>
            <p:cNvPr id="3895" name="Google Shape;3895;p114"/>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896" name="Google Shape;3896;p114"/>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3897" name="Google Shape;3897;p114"/>
          <p:cNvGrpSpPr/>
          <p:nvPr/>
        </p:nvGrpSpPr>
        <p:grpSpPr>
          <a:xfrm>
            <a:off x="1278400" y="4282495"/>
            <a:ext cx="462900" cy="422268"/>
            <a:chOff x="1296935" y="4254734"/>
            <a:chExt cx="462900" cy="422268"/>
          </a:xfrm>
        </p:grpSpPr>
        <p:pic>
          <p:nvPicPr>
            <p:cNvPr id="3898" name="Google Shape;3898;p114"/>
            <p:cNvPicPr preferRelativeResize="0"/>
            <p:nvPr/>
          </p:nvPicPr>
          <p:blipFill rotWithShape="1">
            <a:blip r:embed="rId8">
              <a:alphaModFix/>
            </a:blip>
            <a:srcRect b="0" l="0" r="0" t="0"/>
            <a:stretch/>
          </p:blipFill>
          <p:spPr>
            <a:xfrm>
              <a:off x="1395798" y="4254734"/>
              <a:ext cx="265176" cy="265176"/>
            </a:xfrm>
            <a:prstGeom prst="rect">
              <a:avLst/>
            </a:prstGeom>
            <a:noFill/>
            <a:ln>
              <a:noFill/>
            </a:ln>
          </p:spPr>
        </p:pic>
        <p:sp>
          <p:nvSpPr>
            <p:cNvPr id="3899" name="Google Shape;3899;p114"/>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3900" name="Google Shape;3900;p114"/>
          <p:cNvGrpSpPr/>
          <p:nvPr/>
        </p:nvGrpSpPr>
        <p:grpSpPr>
          <a:xfrm>
            <a:off x="861800" y="1970622"/>
            <a:ext cx="879600" cy="558086"/>
            <a:chOff x="820771" y="2866176"/>
            <a:chExt cx="879600" cy="558086"/>
          </a:xfrm>
        </p:grpSpPr>
        <p:sp>
          <p:nvSpPr>
            <p:cNvPr id="3901" name="Google Shape;3901;p114"/>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3902" name="Google Shape;3902;p114"/>
            <p:cNvPicPr preferRelativeResize="0"/>
            <p:nvPr/>
          </p:nvPicPr>
          <p:blipFill>
            <a:blip r:embed="rId9">
              <a:alphaModFix/>
            </a:blip>
            <a:stretch>
              <a:fillRect/>
            </a:stretch>
          </p:blipFill>
          <p:spPr>
            <a:xfrm>
              <a:off x="1127949" y="2866176"/>
              <a:ext cx="265176" cy="265176"/>
            </a:xfrm>
            <a:prstGeom prst="rect">
              <a:avLst/>
            </a:prstGeom>
            <a:noFill/>
            <a:ln>
              <a:noFill/>
            </a:ln>
          </p:spPr>
        </p:pic>
      </p:grpSp>
      <p:grpSp>
        <p:nvGrpSpPr>
          <p:cNvPr id="3903" name="Google Shape;3903;p114"/>
          <p:cNvGrpSpPr/>
          <p:nvPr/>
        </p:nvGrpSpPr>
        <p:grpSpPr>
          <a:xfrm>
            <a:off x="903312" y="2545026"/>
            <a:ext cx="796500" cy="542824"/>
            <a:chOff x="862283" y="2315806"/>
            <a:chExt cx="796500" cy="542824"/>
          </a:xfrm>
        </p:grpSpPr>
        <p:sp>
          <p:nvSpPr>
            <p:cNvPr id="3904" name="Google Shape;3904;p114"/>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3905" name="Google Shape;3905;p114"/>
            <p:cNvPicPr preferRelativeResize="0"/>
            <p:nvPr/>
          </p:nvPicPr>
          <p:blipFill>
            <a:blip r:embed="rId8">
              <a:alphaModFix/>
            </a:blip>
            <a:stretch>
              <a:fillRect/>
            </a:stretch>
          </p:blipFill>
          <p:spPr>
            <a:xfrm>
              <a:off x="1127949" y="2315806"/>
              <a:ext cx="265176" cy="265176"/>
            </a:xfrm>
            <a:prstGeom prst="rect">
              <a:avLst/>
            </a:prstGeom>
            <a:noFill/>
            <a:ln>
              <a:noFill/>
            </a:ln>
          </p:spPr>
        </p:pic>
      </p:grpSp>
      <p:grpSp>
        <p:nvGrpSpPr>
          <p:cNvPr id="3906" name="Google Shape;3906;p114"/>
          <p:cNvGrpSpPr/>
          <p:nvPr/>
        </p:nvGrpSpPr>
        <p:grpSpPr>
          <a:xfrm>
            <a:off x="861700" y="3104161"/>
            <a:ext cx="879600" cy="559474"/>
            <a:chOff x="820671" y="3997940"/>
            <a:chExt cx="879600" cy="559474"/>
          </a:xfrm>
        </p:grpSpPr>
        <p:pic>
          <p:nvPicPr>
            <p:cNvPr id="3907" name="Google Shape;3907;p114"/>
            <p:cNvPicPr preferRelativeResize="0"/>
            <p:nvPr/>
          </p:nvPicPr>
          <p:blipFill>
            <a:blip r:embed="rId6">
              <a:alphaModFix/>
            </a:blip>
            <a:stretch>
              <a:fillRect/>
            </a:stretch>
          </p:blipFill>
          <p:spPr>
            <a:xfrm>
              <a:off x="1127949" y="3997940"/>
              <a:ext cx="265176" cy="265176"/>
            </a:xfrm>
            <a:prstGeom prst="rect">
              <a:avLst/>
            </a:prstGeom>
            <a:noFill/>
            <a:ln>
              <a:noFill/>
            </a:ln>
          </p:spPr>
        </p:pic>
        <p:sp>
          <p:nvSpPr>
            <p:cNvPr id="3908" name="Google Shape;3908;p114"/>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3909" name="Google Shape;3909;p114"/>
          <p:cNvGrpSpPr/>
          <p:nvPr/>
        </p:nvGrpSpPr>
        <p:grpSpPr>
          <a:xfrm>
            <a:off x="920210" y="3679952"/>
            <a:ext cx="761100" cy="558519"/>
            <a:chOff x="880006" y="3431841"/>
            <a:chExt cx="761100" cy="558519"/>
          </a:xfrm>
        </p:grpSpPr>
        <p:pic>
          <p:nvPicPr>
            <p:cNvPr id="3910" name="Google Shape;3910;p114"/>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3911" name="Google Shape;3911;p114"/>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3912" name="Google Shape;3912;p114"/>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3913" name="Google Shape;3913;p114"/>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3914" name="Google Shape;3914;p114"/>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3915" name="Google Shape;3915;p114"/>
          <p:cNvGrpSpPr/>
          <p:nvPr/>
        </p:nvGrpSpPr>
        <p:grpSpPr>
          <a:xfrm>
            <a:off x="10745081" y="3937546"/>
            <a:ext cx="549000" cy="366196"/>
            <a:chOff x="10745081" y="3937546"/>
            <a:chExt cx="549000" cy="366196"/>
          </a:xfrm>
        </p:grpSpPr>
        <p:pic>
          <p:nvPicPr>
            <p:cNvPr id="3916" name="Google Shape;3916;p114"/>
            <p:cNvPicPr preferRelativeResize="0"/>
            <p:nvPr/>
          </p:nvPicPr>
          <p:blipFill>
            <a:blip r:embed="rId11">
              <a:alphaModFix/>
            </a:blip>
            <a:stretch>
              <a:fillRect/>
            </a:stretch>
          </p:blipFill>
          <p:spPr>
            <a:xfrm>
              <a:off x="10912331" y="3937546"/>
              <a:ext cx="214500" cy="217452"/>
            </a:xfrm>
            <a:prstGeom prst="rect">
              <a:avLst/>
            </a:prstGeom>
            <a:noFill/>
            <a:ln>
              <a:noFill/>
            </a:ln>
          </p:spPr>
        </p:pic>
        <p:sp>
          <p:nvSpPr>
            <p:cNvPr id="3917" name="Google Shape;3917;p114"/>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3918" name="Google Shape;3918;p114"/>
          <p:cNvSpPr/>
          <p:nvPr/>
        </p:nvSpPr>
        <p:spPr>
          <a:xfrm>
            <a:off x="10521581" y="3219266"/>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3919" name="Google Shape;3919;p114"/>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3920" name="Google Shape;3920;p114"/>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3921" name="Google Shape;3921;p114"/>
          <p:cNvGrpSpPr/>
          <p:nvPr/>
        </p:nvGrpSpPr>
        <p:grpSpPr>
          <a:xfrm>
            <a:off x="10597029" y="1623535"/>
            <a:ext cx="845100" cy="405937"/>
            <a:chOff x="10597029" y="1623535"/>
            <a:chExt cx="845100" cy="405937"/>
          </a:xfrm>
        </p:grpSpPr>
        <p:sp>
          <p:nvSpPr>
            <p:cNvPr id="3922" name="Google Shape;3922;p114"/>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3923" name="Google Shape;3923;p114"/>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3924" name="Google Shape;3924;p114"/>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3925" name="Google Shape;3925;p114"/>
          <p:cNvGrpSpPr/>
          <p:nvPr/>
        </p:nvGrpSpPr>
        <p:grpSpPr>
          <a:xfrm>
            <a:off x="10702031" y="2486073"/>
            <a:ext cx="635100" cy="543395"/>
            <a:chOff x="10702031" y="2486073"/>
            <a:chExt cx="635100" cy="543395"/>
          </a:xfrm>
        </p:grpSpPr>
        <p:sp>
          <p:nvSpPr>
            <p:cNvPr id="3926" name="Google Shape;3926;p114"/>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3927" name="Google Shape;3927;p114"/>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3928" name="Google Shape;3928;p114"/>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3929" name="Google Shape;3929;p114"/>
          <p:cNvGrpSpPr/>
          <p:nvPr/>
        </p:nvGrpSpPr>
        <p:grpSpPr>
          <a:xfrm>
            <a:off x="10621328" y="4994250"/>
            <a:ext cx="796500" cy="553688"/>
            <a:chOff x="10621328" y="4994250"/>
            <a:chExt cx="796500" cy="553688"/>
          </a:xfrm>
        </p:grpSpPr>
        <p:sp>
          <p:nvSpPr>
            <p:cNvPr id="3930" name="Google Shape;3930;p114"/>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3931" name="Google Shape;3931;p114"/>
            <p:cNvPicPr preferRelativeResize="0"/>
            <p:nvPr/>
          </p:nvPicPr>
          <p:blipFill>
            <a:blip r:embed="rId14">
              <a:alphaModFix/>
            </a:blip>
            <a:stretch>
              <a:fillRect/>
            </a:stretch>
          </p:blipFill>
          <p:spPr>
            <a:xfrm>
              <a:off x="10864167" y="4994250"/>
              <a:ext cx="265176" cy="265176"/>
            </a:xfrm>
            <a:prstGeom prst="rect">
              <a:avLst/>
            </a:prstGeom>
            <a:noFill/>
            <a:ln>
              <a:noFill/>
            </a:ln>
          </p:spPr>
        </p:pic>
      </p:grpSp>
      <p:pic>
        <p:nvPicPr>
          <p:cNvPr id="3932" name="Google Shape;3932;p114"/>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3933" name="Google Shape;3933;p114"/>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3934" name="Google Shape;3934;p114"/>
          <p:cNvGrpSpPr/>
          <p:nvPr/>
        </p:nvGrpSpPr>
        <p:grpSpPr>
          <a:xfrm>
            <a:off x="911400" y="4663311"/>
            <a:ext cx="336000" cy="426753"/>
            <a:chOff x="929785" y="4678386"/>
            <a:chExt cx="336000" cy="426753"/>
          </a:xfrm>
        </p:grpSpPr>
        <p:sp>
          <p:nvSpPr>
            <p:cNvPr id="3935" name="Google Shape;3935;p114"/>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3936" name="Google Shape;3936;p114"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3937" name="Google Shape;3937;p114"/>
          <p:cNvGrpSpPr/>
          <p:nvPr/>
        </p:nvGrpSpPr>
        <p:grpSpPr>
          <a:xfrm>
            <a:off x="1366236" y="4655157"/>
            <a:ext cx="324300" cy="434522"/>
            <a:chOff x="1377357" y="4647990"/>
            <a:chExt cx="324300" cy="434522"/>
          </a:xfrm>
        </p:grpSpPr>
        <p:sp>
          <p:nvSpPr>
            <p:cNvPr id="3938" name="Google Shape;3938;p114"/>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3939" name="Google Shape;3939;p114"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grpSp>
        <p:nvGrpSpPr>
          <p:cNvPr id="3940" name="Google Shape;3940;p114"/>
          <p:cNvGrpSpPr/>
          <p:nvPr/>
        </p:nvGrpSpPr>
        <p:grpSpPr>
          <a:xfrm>
            <a:off x="899750" y="4283846"/>
            <a:ext cx="359100" cy="422318"/>
            <a:chOff x="899750" y="4215307"/>
            <a:chExt cx="359100" cy="422318"/>
          </a:xfrm>
        </p:grpSpPr>
        <p:sp>
          <p:nvSpPr>
            <p:cNvPr id="3941" name="Google Shape;3941;p114"/>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3942" name="Google Shape;3942;p114"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sp>
        <p:nvSpPr>
          <p:cNvPr id="3943" name="Google Shape;3943;p114"/>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3944" name="Google Shape;3944;p114"/>
          <p:cNvGrpSpPr/>
          <p:nvPr/>
        </p:nvGrpSpPr>
        <p:grpSpPr>
          <a:xfrm>
            <a:off x="1247501" y="5175655"/>
            <a:ext cx="524700" cy="496901"/>
            <a:chOff x="1266036" y="5196700"/>
            <a:chExt cx="524700" cy="496901"/>
          </a:xfrm>
        </p:grpSpPr>
        <p:sp>
          <p:nvSpPr>
            <p:cNvPr id="3945" name="Google Shape;3945;p114"/>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3946" name="Google Shape;3946;p114" title="primary-icon-navy-data-sharing.png"/>
            <p:cNvPicPr preferRelativeResize="0"/>
            <p:nvPr/>
          </p:nvPicPr>
          <p:blipFill>
            <a:blip r:embed="rId19">
              <a:alphaModFix/>
            </a:blip>
            <a:stretch>
              <a:fillRect/>
            </a:stretch>
          </p:blipFill>
          <p:spPr>
            <a:xfrm>
              <a:off x="1393854" y="5196700"/>
              <a:ext cx="269065" cy="269063"/>
            </a:xfrm>
            <a:prstGeom prst="rect">
              <a:avLst/>
            </a:prstGeom>
            <a:noFill/>
            <a:ln>
              <a:noFill/>
            </a:ln>
          </p:spPr>
        </p:pic>
      </p:grpSp>
      <p:grpSp>
        <p:nvGrpSpPr>
          <p:cNvPr id="3947" name="Google Shape;3947;p114"/>
          <p:cNvGrpSpPr/>
          <p:nvPr/>
        </p:nvGrpSpPr>
        <p:grpSpPr>
          <a:xfrm>
            <a:off x="816949" y="5175643"/>
            <a:ext cx="524700" cy="496193"/>
            <a:chOff x="835484" y="5196688"/>
            <a:chExt cx="524700" cy="496193"/>
          </a:xfrm>
        </p:grpSpPr>
        <p:sp>
          <p:nvSpPr>
            <p:cNvPr id="3948" name="Google Shape;3948;p114"/>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3949" name="Google Shape;3949;p114" title="primary-icon-navy-distribution.png"/>
            <p:cNvPicPr preferRelativeResize="0"/>
            <p:nvPr/>
          </p:nvPicPr>
          <p:blipFill>
            <a:blip r:embed="rId20">
              <a:alphaModFix/>
            </a:blip>
            <a:stretch>
              <a:fillRect/>
            </a:stretch>
          </p:blipFill>
          <p:spPr>
            <a:xfrm>
              <a:off x="963302" y="5196688"/>
              <a:ext cx="269065" cy="269063"/>
            </a:xfrm>
            <a:prstGeom prst="rect">
              <a:avLst/>
            </a:prstGeom>
            <a:noFill/>
            <a:ln>
              <a:noFill/>
            </a:ln>
          </p:spPr>
        </p:pic>
      </p:grpSp>
      <p:sp>
        <p:nvSpPr>
          <p:cNvPr id="3950" name="Google Shape;3950;p114"/>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3951" name="Google Shape;3951;p114"/>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3952" name="Google Shape;3952;p114"/>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 CI/CD, MLOps and DataOps</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3953" name="Google Shape;3953;p114"/>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3954" name="Google Shape;3954;p114"/>
          <p:cNvSpPr/>
          <p:nvPr/>
        </p:nvSpPr>
        <p:spPr>
          <a:xfrm>
            <a:off x="5308975" y="2582475"/>
            <a:ext cx="549000" cy="274200"/>
          </a:xfrm>
          <a:prstGeom prst="roundRect">
            <a:avLst>
              <a:gd fmla="val 17595"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Agent </a:t>
            </a:r>
            <a:endParaRPr sz="900">
              <a:solidFill>
                <a:schemeClr val="accent2"/>
              </a:solidFill>
              <a:latin typeface="DM Sans SemiBold"/>
              <a:ea typeface="DM Sans SemiBold"/>
              <a:cs typeface="DM Sans SemiBold"/>
              <a:sym typeface="DM Sans SemiBold"/>
            </a:endParaRPr>
          </a:p>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Bricks</a:t>
            </a:r>
            <a:endParaRPr sz="900">
              <a:solidFill>
                <a:schemeClr val="accent2"/>
              </a:solidFill>
              <a:latin typeface="DM Sans SemiBold"/>
              <a:ea typeface="DM Sans SemiBold"/>
              <a:cs typeface="DM Sans SemiBold"/>
              <a:sym typeface="DM Sans SemiBold"/>
            </a:endParaRPr>
          </a:p>
        </p:txBody>
      </p:sp>
      <p:sp>
        <p:nvSpPr>
          <p:cNvPr id="3955" name="Google Shape;3955;p114"/>
          <p:cNvSpPr/>
          <p:nvPr/>
        </p:nvSpPr>
        <p:spPr>
          <a:xfrm>
            <a:off x="4566099" y="3179550"/>
            <a:ext cx="761100" cy="274200"/>
          </a:xfrm>
          <a:prstGeom prst="roundRect">
            <a:avLst>
              <a:gd fmla="val 19944"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3956" name="Google Shape;3956;p114"/>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3957" name="Google Shape;3957;p114"/>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3958" name="Google Shape;3958;p114"/>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3959" name="Google Shape;3959;p114"/>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3960" name="Google Shape;3960;p114"/>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sp>
        <p:nvSpPr>
          <p:cNvPr id="3961" name="Google Shape;3961;p114"/>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3962" name="Google Shape;3962;p114"/>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3963" name="Google Shape;3963;p114"/>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cxnSp>
        <p:nvCxnSpPr>
          <p:cNvPr id="3964" name="Google Shape;3964;p114"/>
          <p:cNvCxnSpPr>
            <a:stCxn id="3965" idx="1"/>
            <a:endCxn id="3966" idx="0"/>
          </p:cNvCxnSpPr>
          <p:nvPr/>
        </p:nvCxnSpPr>
        <p:spPr>
          <a:xfrm flipH="1">
            <a:off x="4085799" y="3369113"/>
            <a:ext cx="480300" cy="1437900"/>
          </a:xfrm>
          <a:prstGeom prst="bentConnector2">
            <a:avLst/>
          </a:prstGeom>
          <a:noFill/>
          <a:ln cap="flat" cmpd="sng" w="19050">
            <a:solidFill>
              <a:schemeClr val="accent4"/>
            </a:solidFill>
            <a:prstDash val="solid"/>
            <a:round/>
            <a:headEnd len="sm" w="sm" type="triangle"/>
            <a:tailEnd len="sm" w="sm" type="triangle"/>
          </a:ln>
        </p:spPr>
      </p:cxnSp>
      <p:cxnSp>
        <p:nvCxnSpPr>
          <p:cNvPr id="3967" name="Google Shape;3967;p114"/>
          <p:cNvCxnSpPr>
            <a:stCxn id="3968" idx="2"/>
            <a:endCxn id="3959" idx="3"/>
          </p:cNvCxnSpPr>
          <p:nvPr/>
        </p:nvCxnSpPr>
        <p:spPr>
          <a:xfrm flipH="1">
            <a:off x="3963695" y="4560313"/>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3969" name="Google Shape;3969;p114"/>
          <p:cNvCxnSpPr>
            <a:stCxn id="3961" idx="1"/>
            <a:endCxn id="3968" idx="6"/>
          </p:cNvCxnSpPr>
          <p:nvPr/>
        </p:nvCxnSpPr>
        <p:spPr>
          <a:xfrm flipH="1">
            <a:off x="4120750" y="4560313"/>
            <a:ext cx="175200" cy="600"/>
          </a:xfrm>
          <a:prstGeom prst="bentConnector3">
            <a:avLst>
              <a:gd fmla="val 49959" name="adj1"/>
            </a:avLst>
          </a:prstGeom>
          <a:noFill/>
          <a:ln cap="flat" cmpd="sng" w="19050">
            <a:solidFill>
              <a:schemeClr val="accent4"/>
            </a:solidFill>
            <a:prstDash val="solid"/>
            <a:round/>
            <a:headEnd len="sm" w="sm" type="triangle"/>
            <a:tailEnd len="sm" w="sm" type="none"/>
          </a:ln>
        </p:spPr>
      </p:cxnSp>
      <p:sp>
        <p:nvSpPr>
          <p:cNvPr id="3968" name="Google Shape;3968;p114"/>
          <p:cNvSpPr/>
          <p:nvPr/>
        </p:nvSpPr>
        <p:spPr>
          <a:xfrm>
            <a:off x="4053095" y="4526413"/>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970" name="Google Shape;3970;p114"/>
          <p:cNvCxnSpPr>
            <a:stCxn id="3960" idx="1"/>
            <a:endCxn id="3961"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triangle"/>
            <a:tailEnd len="sm" w="sm" type="triangle"/>
          </a:ln>
        </p:spPr>
      </p:cxnSp>
      <p:sp>
        <p:nvSpPr>
          <p:cNvPr id="3966" name="Google Shape;3966;p114"/>
          <p:cNvSpPr/>
          <p:nvPr/>
        </p:nvSpPr>
        <p:spPr>
          <a:xfrm>
            <a:off x="4066499" y="4807108"/>
            <a:ext cx="38700" cy="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71" name="Google Shape;3971;p114"/>
          <p:cNvSpPr/>
          <p:nvPr/>
        </p:nvSpPr>
        <p:spPr>
          <a:xfrm>
            <a:off x="7887794" y="2606046"/>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72" name="Google Shape;3972;p114"/>
          <p:cNvSpPr/>
          <p:nvPr/>
        </p:nvSpPr>
        <p:spPr>
          <a:xfrm>
            <a:off x="7102263" y="4423213"/>
            <a:ext cx="740400" cy="274200"/>
          </a:xfrm>
          <a:prstGeom prst="roundRect">
            <a:avLst>
              <a:gd fmla="val 18778" name="adj"/>
            </a:avLst>
          </a:prstGeom>
          <a:solidFill>
            <a:srgbClr val="FFFFFF"/>
          </a:solid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cxnSp>
        <p:nvCxnSpPr>
          <p:cNvPr id="3973" name="Google Shape;3973;p114"/>
          <p:cNvCxnSpPr>
            <a:stCxn id="3974" idx="1"/>
            <a:endCxn id="3975" idx="2"/>
          </p:cNvCxnSpPr>
          <p:nvPr/>
        </p:nvCxnSpPr>
        <p:spPr>
          <a:xfrm rot="10800000">
            <a:off x="3737799" y="2858162"/>
            <a:ext cx="828300" cy="402900"/>
          </a:xfrm>
          <a:prstGeom prst="bentConnector2">
            <a:avLst/>
          </a:prstGeom>
          <a:noFill/>
          <a:ln cap="flat" cmpd="sng" w="19050">
            <a:solidFill>
              <a:schemeClr val="accent4"/>
            </a:solidFill>
            <a:prstDash val="solid"/>
            <a:round/>
            <a:headEnd len="sm" w="sm" type="triangle"/>
            <a:tailEnd len="sm" w="sm" type="triangle"/>
          </a:ln>
        </p:spPr>
      </p:cxnSp>
      <p:sp>
        <p:nvSpPr>
          <p:cNvPr id="3975" name="Google Shape;3975;p114"/>
          <p:cNvSpPr/>
          <p:nvPr/>
        </p:nvSpPr>
        <p:spPr>
          <a:xfrm>
            <a:off x="3703749" y="2790377"/>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74" name="Google Shape;3974;p114"/>
          <p:cNvSpPr/>
          <p:nvPr/>
        </p:nvSpPr>
        <p:spPr>
          <a:xfrm>
            <a:off x="4566099" y="3227162"/>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65" name="Google Shape;3965;p114"/>
          <p:cNvSpPr/>
          <p:nvPr/>
        </p:nvSpPr>
        <p:spPr>
          <a:xfrm>
            <a:off x="4566099" y="3335213"/>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76" name="Google Shape;3976;p114"/>
          <p:cNvSpPr/>
          <p:nvPr/>
        </p:nvSpPr>
        <p:spPr>
          <a:xfrm>
            <a:off x="6065949" y="2790377"/>
            <a:ext cx="678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977" name="Google Shape;3977;p114"/>
          <p:cNvCxnSpPr>
            <a:endCxn id="3955" idx="3"/>
          </p:cNvCxnSpPr>
          <p:nvPr/>
        </p:nvCxnSpPr>
        <p:spPr>
          <a:xfrm flipH="1">
            <a:off x="5327199" y="2858250"/>
            <a:ext cx="904200" cy="458400"/>
          </a:xfrm>
          <a:prstGeom prst="bentConnector3">
            <a:avLst>
              <a:gd fmla="val 91" name="adj1"/>
            </a:avLst>
          </a:prstGeom>
          <a:noFill/>
          <a:ln cap="flat" cmpd="sng" w="19050">
            <a:solidFill>
              <a:schemeClr val="accent4"/>
            </a:solidFill>
            <a:prstDash val="solid"/>
            <a:round/>
            <a:headEnd len="sm" w="sm" type="triangle"/>
            <a:tailEnd len="sm" w="sm" type="triangle"/>
          </a:ln>
        </p:spPr>
      </p:cxnSp>
      <p:sp>
        <p:nvSpPr>
          <p:cNvPr id="3978" name="Google Shape;3978;p114"/>
          <p:cNvSpPr/>
          <p:nvPr/>
        </p:nvSpPr>
        <p:spPr>
          <a:xfrm>
            <a:off x="3338422" y="246896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sp>
        <p:nvSpPr>
          <p:cNvPr id="3979" name="Google Shape;3979;p114"/>
          <p:cNvSpPr/>
          <p:nvPr/>
        </p:nvSpPr>
        <p:spPr>
          <a:xfrm>
            <a:off x="5789774" y="3199736"/>
            <a:ext cx="204900" cy="2049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3980" name="Google Shape;3980;p114"/>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cxnSp>
        <p:nvCxnSpPr>
          <p:cNvPr id="3981" name="Google Shape;3981;p114"/>
          <p:cNvCxnSpPr>
            <a:stCxn id="3982" idx="0"/>
            <a:endCxn id="3983" idx="1"/>
          </p:cNvCxnSpPr>
          <p:nvPr/>
        </p:nvCxnSpPr>
        <p:spPr>
          <a:xfrm rot="-5400000">
            <a:off x="3001439" y="2114761"/>
            <a:ext cx="2247600" cy="2083500"/>
          </a:xfrm>
          <a:prstGeom prst="bentConnector2">
            <a:avLst/>
          </a:prstGeom>
          <a:noFill/>
          <a:ln cap="flat" cmpd="sng" w="19050">
            <a:solidFill>
              <a:schemeClr val="accent4"/>
            </a:solidFill>
            <a:prstDash val="solid"/>
            <a:round/>
            <a:headEnd len="sm" w="sm" type="none"/>
            <a:tailEnd len="sm" w="sm" type="triangle"/>
          </a:ln>
        </p:spPr>
      </p:cxnSp>
      <p:cxnSp>
        <p:nvCxnSpPr>
          <p:cNvPr id="3984" name="Google Shape;3984;p114"/>
          <p:cNvCxnSpPr>
            <a:stCxn id="3856" idx="1"/>
            <a:endCxn id="3982" idx="4"/>
          </p:cNvCxnSpPr>
          <p:nvPr/>
        </p:nvCxnSpPr>
        <p:spPr>
          <a:xfrm rot="10800000">
            <a:off x="3083350" y="4348250"/>
            <a:ext cx="164100" cy="118800"/>
          </a:xfrm>
          <a:prstGeom prst="bentConnector2">
            <a:avLst/>
          </a:prstGeom>
          <a:noFill/>
          <a:ln cap="flat" cmpd="sng" w="19050">
            <a:solidFill>
              <a:schemeClr val="accent4"/>
            </a:solidFill>
            <a:prstDash val="solid"/>
            <a:round/>
            <a:headEnd len="sm" w="sm" type="none"/>
            <a:tailEnd len="sm" w="sm" type="none"/>
          </a:ln>
        </p:spPr>
      </p:cxnSp>
      <p:sp>
        <p:nvSpPr>
          <p:cNvPr id="3982" name="Google Shape;3982;p114"/>
          <p:cNvSpPr/>
          <p:nvPr/>
        </p:nvSpPr>
        <p:spPr>
          <a:xfrm>
            <a:off x="3049589" y="4280311"/>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985" name="Google Shape;3985;p114"/>
          <p:cNvCxnSpPr>
            <a:stCxn id="3959" idx="0"/>
            <a:endCxn id="3982" idx="6"/>
          </p:cNvCxnSpPr>
          <p:nvPr/>
        </p:nvCxnSpPr>
        <p:spPr>
          <a:xfrm flipH="1" rot="5400000">
            <a:off x="3325843" y="4105813"/>
            <a:ext cx="108900" cy="525900"/>
          </a:xfrm>
          <a:prstGeom prst="bentConnector2">
            <a:avLst/>
          </a:prstGeom>
          <a:noFill/>
          <a:ln cap="flat" cmpd="sng" w="9525">
            <a:solidFill>
              <a:schemeClr val="dk2"/>
            </a:solidFill>
            <a:prstDash val="dash"/>
            <a:round/>
            <a:headEnd len="sm" w="sm" type="none"/>
            <a:tailEnd len="sm" w="sm" type="none"/>
          </a:ln>
        </p:spPr>
      </p:cxnSp>
      <p:sp>
        <p:nvSpPr>
          <p:cNvPr id="3986" name="Google Shape;3986;p114"/>
          <p:cNvSpPr txBox="1"/>
          <p:nvPr/>
        </p:nvSpPr>
        <p:spPr>
          <a:xfrm>
            <a:off x="2288991" y="4187020"/>
            <a:ext cx="7404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800">
                <a:solidFill>
                  <a:schemeClr val="dk2"/>
                </a:solidFill>
                <a:latin typeface="DM Sans Medium"/>
                <a:ea typeface="DM Sans Medium"/>
                <a:cs typeface="DM Sans Medium"/>
                <a:sym typeface="DM Sans Medium"/>
              </a:rPr>
              <a:t>for data </a:t>
            </a:r>
            <a:br>
              <a:rPr i="1" lang="en" sz="800">
                <a:solidFill>
                  <a:schemeClr val="dk2"/>
                </a:solidFill>
                <a:latin typeface="DM Sans Medium"/>
                <a:ea typeface="DM Sans Medium"/>
                <a:cs typeface="DM Sans Medium"/>
                <a:sym typeface="DM Sans Medium"/>
              </a:rPr>
            </a:br>
            <a:r>
              <a:rPr i="1" lang="en" sz="800">
                <a:solidFill>
                  <a:schemeClr val="dk2"/>
                </a:solidFill>
                <a:latin typeface="DM Sans Medium"/>
                <a:ea typeface="DM Sans Medium"/>
                <a:cs typeface="DM Sans Medium"/>
                <a:sym typeface="DM Sans Medium"/>
              </a:rPr>
              <a:t>and AI assets</a:t>
            </a:r>
            <a:endParaRPr i="1" sz="800">
              <a:solidFill>
                <a:schemeClr val="dk2"/>
              </a:solidFill>
              <a:latin typeface="DM Sans Medium"/>
              <a:ea typeface="DM Sans Medium"/>
              <a:cs typeface="DM Sans Medium"/>
              <a:sym typeface="DM Sans Medium"/>
            </a:endParaRPr>
          </a:p>
        </p:txBody>
      </p:sp>
      <p:cxnSp>
        <p:nvCxnSpPr>
          <p:cNvPr id="3987" name="Google Shape;3987;p114"/>
          <p:cNvCxnSpPr>
            <a:stCxn id="3988" idx="4"/>
          </p:cNvCxnSpPr>
          <p:nvPr/>
        </p:nvCxnSpPr>
        <p:spPr>
          <a:xfrm flipH="1" rot="-5400000">
            <a:off x="6893322" y="2363791"/>
            <a:ext cx="453300" cy="600"/>
          </a:xfrm>
          <a:prstGeom prst="bentConnector3">
            <a:avLst>
              <a:gd fmla="val 50000" name="adj1"/>
            </a:avLst>
          </a:prstGeom>
          <a:noFill/>
          <a:ln cap="flat" cmpd="sng" w="19050">
            <a:solidFill>
              <a:schemeClr val="accent4"/>
            </a:solidFill>
            <a:prstDash val="solid"/>
            <a:round/>
            <a:headEnd len="sm" w="sm" type="none"/>
            <a:tailEnd len="sm" w="sm" type="triangle"/>
          </a:ln>
        </p:spPr>
      </p:cxnSp>
      <p:cxnSp>
        <p:nvCxnSpPr>
          <p:cNvPr id="3989" name="Google Shape;3989;p114"/>
          <p:cNvCxnSpPr/>
          <p:nvPr/>
        </p:nvCxnSpPr>
        <p:spPr>
          <a:xfrm>
            <a:off x="7063443" y="2034975"/>
            <a:ext cx="1101900" cy="547500"/>
          </a:xfrm>
          <a:prstGeom prst="bentConnector3">
            <a:avLst>
              <a:gd fmla="val 99647" name="adj1"/>
            </a:avLst>
          </a:prstGeom>
          <a:noFill/>
          <a:ln cap="flat" cmpd="sng" w="19050">
            <a:solidFill>
              <a:schemeClr val="accent4"/>
            </a:solidFill>
            <a:prstDash val="solid"/>
            <a:round/>
            <a:headEnd len="sm" w="sm" type="none"/>
            <a:tailEnd len="sm" w="sm" type="triangle"/>
          </a:ln>
        </p:spPr>
      </p:cxnSp>
      <p:cxnSp>
        <p:nvCxnSpPr>
          <p:cNvPr id="3990" name="Google Shape;3990;p114"/>
          <p:cNvCxnSpPr>
            <a:stCxn id="3991" idx="3"/>
            <a:endCxn id="3992" idx="1"/>
          </p:cNvCxnSpPr>
          <p:nvPr/>
        </p:nvCxnSpPr>
        <p:spPr>
          <a:xfrm flipH="1" rot="10800000">
            <a:off x="7387794" y="2720183"/>
            <a:ext cx="506700" cy="900"/>
          </a:xfrm>
          <a:prstGeom prst="bentConnector3">
            <a:avLst>
              <a:gd fmla="val 49999" name="adj1"/>
            </a:avLst>
          </a:prstGeom>
          <a:noFill/>
          <a:ln cap="flat" cmpd="sng" w="19050">
            <a:solidFill>
              <a:srgbClr val="4299E0"/>
            </a:solidFill>
            <a:prstDash val="solid"/>
            <a:round/>
            <a:headEnd len="sm" w="sm" type="none"/>
            <a:tailEnd len="sm" w="sm" type="triangle"/>
          </a:ln>
        </p:spPr>
      </p:cxnSp>
      <p:cxnSp>
        <p:nvCxnSpPr>
          <p:cNvPr id="3993" name="Google Shape;3993;p114"/>
          <p:cNvCxnSpPr>
            <a:stCxn id="3994" idx="3"/>
            <a:endCxn id="3840" idx="4"/>
          </p:cNvCxnSpPr>
          <p:nvPr/>
        </p:nvCxnSpPr>
        <p:spPr>
          <a:xfrm flipH="1" rot="10800000">
            <a:off x="10048191" y="3679890"/>
            <a:ext cx="132300" cy="256200"/>
          </a:xfrm>
          <a:prstGeom prst="bentConnector2">
            <a:avLst/>
          </a:prstGeom>
          <a:noFill/>
          <a:ln cap="flat" cmpd="sng" w="19050">
            <a:solidFill>
              <a:srgbClr val="4299E0"/>
            </a:solidFill>
            <a:prstDash val="solid"/>
            <a:round/>
            <a:headEnd len="sm" w="sm" type="triangle"/>
            <a:tailEnd len="sm" w="sm" type="none"/>
          </a:ln>
        </p:spPr>
      </p:cxnSp>
      <p:cxnSp>
        <p:nvCxnSpPr>
          <p:cNvPr id="3995" name="Google Shape;3995;p114"/>
          <p:cNvCxnSpPr>
            <a:stCxn id="3996" idx="2"/>
            <a:endCxn id="3992" idx="3"/>
          </p:cNvCxnSpPr>
          <p:nvPr/>
        </p:nvCxnSpPr>
        <p:spPr>
          <a:xfrm rot="5400000">
            <a:off x="8444251" y="2582925"/>
            <a:ext cx="177000" cy="97500"/>
          </a:xfrm>
          <a:prstGeom prst="bentConnector2">
            <a:avLst/>
          </a:prstGeom>
          <a:noFill/>
          <a:ln cap="flat" cmpd="sng" w="19050">
            <a:solidFill>
              <a:srgbClr val="4299E0"/>
            </a:solidFill>
            <a:prstDash val="solid"/>
            <a:round/>
            <a:headEnd len="sm" w="sm" type="triangle"/>
            <a:tailEnd len="sm" w="sm" type="triangle"/>
          </a:ln>
        </p:spPr>
      </p:cxnSp>
      <p:sp>
        <p:nvSpPr>
          <p:cNvPr id="3840" name="Google Shape;3840;p114"/>
          <p:cNvSpPr/>
          <p:nvPr/>
        </p:nvSpPr>
        <p:spPr>
          <a:xfrm>
            <a:off x="10078028" y="3475053"/>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5</a:t>
            </a:r>
            <a:endParaRPr b="1" sz="1200">
              <a:latin typeface="DM Sans"/>
              <a:ea typeface="DM Sans"/>
              <a:cs typeface="DM Sans"/>
              <a:sym typeface="DM Sans"/>
            </a:endParaRPr>
          </a:p>
        </p:txBody>
      </p:sp>
      <p:cxnSp>
        <p:nvCxnSpPr>
          <p:cNvPr id="3997" name="Google Shape;3997;p114"/>
          <p:cNvCxnSpPr>
            <a:stCxn id="3998" idx="2"/>
            <a:endCxn id="3972" idx="0"/>
          </p:cNvCxnSpPr>
          <p:nvPr/>
        </p:nvCxnSpPr>
        <p:spPr>
          <a:xfrm flipH="1">
            <a:off x="7472391" y="3320717"/>
            <a:ext cx="472500" cy="1102500"/>
          </a:xfrm>
          <a:prstGeom prst="bentConnector2">
            <a:avLst/>
          </a:prstGeom>
          <a:noFill/>
          <a:ln cap="flat" cmpd="sng" w="19050">
            <a:solidFill>
              <a:srgbClr val="4299E0"/>
            </a:solidFill>
            <a:prstDash val="solid"/>
            <a:round/>
            <a:headEnd len="sm" w="sm" type="none"/>
            <a:tailEnd len="sm" w="sm" type="triangle"/>
          </a:ln>
        </p:spPr>
      </p:cxnSp>
      <p:cxnSp>
        <p:nvCxnSpPr>
          <p:cNvPr id="3999" name="Google Shape;3999;p114"/>
          <p:cNvCxnSpPr>
            <a:stCxn id="3996" idx="3"/>
            <a:endCxn id="3840" idx="0"/>
          </p:cNvCxnSpPr>
          <p:nvPr/>
        </p:nvCxnSpPr>
        <p:spPr>
          <a:xfrm>
            <a:off x="8924401" y="2406075"/>
            <a:ext cx="1256100" cy="1068900"/>
          </a:xfrm>
          <a:prstGeom prst="bentConnector2">
            <a:avLst/>
          </a:prstGeom>
          <a:noFill/>
          <a:ln cap="flat" cmpd="sng" w="19050">
            <a:solidFill>
              <a:srgbClr val="4299E0"/>
            </a:solidFill>
            <a:prstDash val="solid"/>
            <a:round/>
            <a:headEnd len="sm" w="sm" type="triangle"/>
            <a:tailEnd len="sm" w="sm" type="none"/>
          </a:ln>
        </p:spPr>
      </p:cxnSp>
      <p:sp>
        <p:nvSpPr>
          <p:cNvPr id="4000" name="Google Shape;4000;p114"/>
          <p:cNvSpPr/>
          <p:nvPr/>
        </p:nvSpPr>
        <p:spPr>
          <a:xfrm>
            <a:off x="7539836" y="2268975"/>
            <a:ext cx="549000" cy="2757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Vector </a:t>
            </a:r>
            <a:r>
              <a:rPr lang="en" sz="900">
                <a:solidFill>
                  <a:schemeClr val="accent2"/>
                </a:solidFill>
                <a:latin typeface="DM Sans SemiBold"/>
                <a:ea typeface="DM Sans SemiBold"/>
                <a:cs typeface="DM Sans SemiBold"/>
                <a:sym typeface="DM Sans SemiBold"/>
              </a:rPr>
              <a:t>Search</a:t>
            </a:r>
            <a:endParaRPr sz="900">
              <a:solidFill>
                <a:schemeClr val="accent2"/>
              </a:solidFill>
              <a:latin typeface="DM Sans SemiBold"/>
              <a:ea typeface="DM Sans SemiBold"/>
              <a:cs typeface="DM Sans SemiBold"/>
              <a:sym typeface="DM Sans SemiBold"/>
            </a:endParaRPr>
          </a:p>
        </p:txBody>
      </p:sp>
      <p:cxnSp>
        <p:nvCxnSpPr>
          <p:cNvPr id="4001" name="Google Shape;4001;p114"/>
          <p:cNvCxnSpPr>
            <a:stCxn id="4002" idx="3"/>
            <a:endCxn id="4000" idx="0"/>
          </p:cNvCxnSpPr>
          <p:nvPr/>
        </p:nvCxnSpPr>
        <p:spPr>
          <a:xfrm>
            <a:off x="6936655" y="2035012"/>
            <a:ext cx="877800" cy="234000"/>
          </a:xfrm>
          <a:prstGeom prst="bentConnector2">
            <a:avLst/>
          </a:prstGeom>
          <a:noFill/>
          <a:ln cap="flat" cmpd="sng" w="19050">
            <a:solidFill>
              <a:schemeClr val="accent4"/>
            </a:solidFill>
            <a:prstDash val="solid"/>
            <a:round/>
            <a:headEnd len="sm" w="sm" type="none"/>
            <a:tailEnd len="sm" w="sm" type="triangle"/>
          </a:ln>
        </p:spPr>
      </p:cxnSp>
      <p:cxnSp>
        <p:nvCxnSpPr>
          <p:cNvPr id="4003" name="Google Shape;4003;p114"/>
          <p:cNvCxnSpPr>
            <a:endCxn id="4004" idx="0"/>
          </p:cNvCxnSpPr>
          <p:nvPr/>
        </p:nvCxnSpPr>
        <p:spPr>
          <a:xfrm flipH="1" rot="-5400000">
            <a:off x="7603734" y="2581660"/>
            <a:ext cx="72000" cy="600"/>
          </a:xfrm>
          <a:prstGeom prst="bentConnector3">
            <a:avLst>
              <a:gd fmla="val 50000" name="adj1"/>
            </a:avLst>
          </a:prstGeom>
          <a:noFill/>
          <a:ln cap="flat" cmpd="sng" w="19050">
            <a:solidFill>
              <a:srgbClr val="4299E0"/>
            </a:solidFill>
            <a:prstDash val="solid"/>
            <a:round/>
            <a:headEnd len="sm" w="sm" type="none"/>
            <a:tailEnd len="sm" w="sm" type="none"/>
          </a:ln>
        </p:spPr>
      </p:cxnSp>
      <p:sp>
        <p:nvSpPr>
          <p:cNvPr id="4005" name="Google Shape;4005;p114"/>
          <p:cNvSpPr/>
          <p:nvPr/>
        </p:nvSpPr>
        <p:spPr>
          <a:xfrm>
            <a:off x="5517300" y="5671004"/>
            <a:ext cx="4843200" cy="1136700"/>
          </a:xfrm>
          <a:prstGeom prst="rect">
            <a:avLst/>
          </a:prstGeom>
          <a:solidFill>
            <a:srgbClr val="F9F7F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06" name="Google Shape;4006;p114"/>
          <p:cNvSpPr txBox="1"/>
          <p:nvPr/>
        </p:nvSpPr>
        <p:spPr>
          <a:xfrm>
            <a:off x="5776625" y="5696266"/>
            <a:ext cx="2548500" cy="1068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rgbClr val="618794"/>
                </a:solidFill>
                <a:latin typeface="DM Sans"/>
                <a:ea typeface="DM Sans"/>
                <a:cs typeface="DM Sans"/>
                <a:sym typeface="DM Sans"/>
              </a:rPr>
              <a:t>Create features and register in UC</a:t>
            </a:r>
            <a:endParaRPr sz="1100">
              <a:solidFill>
                <a:srgbClr val="618794"/>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rgbClr val="618794"/>
                </a:solidFill>
                <a:latin typeface="DM Sans"/>
                <a:ea typeface="DM Sans"/>
                <a:cs typeface="DM Sans"/>
                <a:sym typeface="DM Sans"/>
              </a:rPr>
              <a:t>Create an agent using Agent Bricks or manually with the Agent Framework.</a:t>
            </a:r>
            <a:endParaRPr sz="1100">
              <a:solidFill>
                <a:srgbClr val="618794"/>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rgbClr val="618794"/>
                </a:solidFill>
                <a:latin typeface="DM Sans"/>
                <a:ea typeface="DM Sans"/>
                <a:cs typeface="DM Sans"/>
                <a:sym typeface="DM Sans"/>
              </a:rPr>
              <a:t>Check permissions and load/save data</a:t>
            </a:r>
            <a:br>
              <a:rPr lang="en" sz="1100">
                <a:solidFill>
                  <a:srgbClr val="618794"/>
                </a:solidFill>
                <a:latin typeface="DM Sans"/>
                <a:ea typeface="DM Sans"/>
                <a:cs typeface="DM Sans"/>
                <a:sym typeface="DM Sans"/>
              </a:rPr>
            </a:br>
            <a:r>
              <a:rPr lang="en" sz="1100">
                <a:solidFill>
                  <a:srgbClr val="618794"/>
                </a:solidFill>
                <a:latin typeface="DM Sans"/>
                <a:ea typeface="DM Sans"/>
                <a:cs typeface="DM Sans"/>
                <a:sym typeface="DM Sans"/>
              </a:rPr>
              <a:t>and AI assets</a:t>
            </a:r>
            <a:endParaRPr sz="1100">
              <a:solidFill>
                <a:srgbClr val="618794"/>
              </a:solidFill>
              <a:latin typeface="DM Sans"/>
              <a:ea typeface="DM Sans"/>
              <a:cs typeface="DM Sans"/>
              <a:sym typeface="DM Sans"/>
            </a:endParaRPr>
          </a:p>
          <a:p>
            <a:pPr indent="0" lvl="0" marL="0" rtl="0" algn="l">
              <a:lnSpc>
                <a:spcPct val="90000"/>
              </a:lnSpc>
              <a:spcBef>
                <a:spcPts val="400"/>
              </a:spcBef>
              <a:spcAft>
                <a:spcPts val="400"/>
              </a:spcAft>
              <a:buNone/>
            </a:pPr>
            <a:r>
              <a:rPr lang="en" sz="1100">
                <a:solidFill>
                  <a:srgbClr val="618794"/>
                </a:solidFill>
                <a:latin typeface="DM Sans"/>
                <a:ea typeface="DM Sans"/>
                <a:cs typeface="DM Sans"/>
                <a:sym typeface="DM Sans"/>
              </a:rPr>
              <a:t>Deploy online features, embeddings</a:t>
            </a:r>
            <a:endParaRPr sz="1100">
              <a:solidFill>
                <a:srgbClr val="618794"/>
              </a:solidFill>
              <a:latin typeface="DM Sans"/>
              <a:ea typeface="DM Sans"/>
              <a:cs typeface="DM Sans"/>
              <a:sym typeface="DM Sans"/>
            </a:endParaRPr>
          </a:p>
        </p:txBody>
      </p:sp>
      <p:sp>
        <p:nvSpPr>
          <p:cNvPr id="4007" name="Google Shape;4007;p114"/>
          <p:cNvSpPr txBox="1"/>
          <p:nvPr/>
        </p:nvSpPr>
        <p:spPr>
          <a:xfrm>
            <a:off x="8599974" y="5696270"/>
            <a:ext cx="1760700" cy="1119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 sz="1100">
                <a:solidFill>
                  <a:srgbClr val="618794"/>
                </a:solidFill>
                <a:latin typeface="DM Sans"/>
                <a:ea typeface="DM Sans"/>
                <a:cs typeface="DM Sans"/>
                <a:sym typeface="DM Sans"/>
              </a:rPr>
              <a:t>Inference from clients</a:t>
            </a:r>
            <a:endParaRPr sz="1100">
              <a:solidFill>
                <a:srgbClr val="618794"/>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rgbClr val="618794"/>
                </a:solidFill>
                <a:latin typeface="DM Sans"/>
                <a:ea typeface="DM Sans"/>
                <a:cs typeface="DM Sans"/>
                <a:sym typeface="DM Sans"/>
              </a:rPr>
              <a:t>Read features and context</a:t>
            </a:r>
            <a:endParaRPr sz="1100">
              <a:solidFill>
                <a:srgbClr val="618794"/>
              </a:solidFill>
              <a:latin typeface="DM Sans"/>
              <a:ea typeface="DM Sans"/>
              <a:cs typeface="DM Sans"/>
              <a:sym typeface="DM Sans"/>
            </a:endParaRPr>
          </a:p>
          <a:p>
            <a:pPr indent="0" lvl="0" marL="0" rtl="0" algn="l">
              <a:lnSpc>
                <a:spcPct val="90000"/>
              </a:lnSpc>
              <a:spcBef>
                <a:spcPts val="400"/>
              </a:spcBef>
              <a:spcAft>
                <a:spcPts val="0"/>
              </a:spcAft>
              <a:buNone/>
            </a:pPr>
            <a:r>
              <a:rPr lang="en" sz="1100">
                <a:solidFill>
                  <a:schemeClr val="accent5"/>
                </a:solidFill>
                <a:latin typeface="DM Sans"/>
                <a:ea typeface="DM Sans"/>
                <a:cs typeface="DM Sans"/>
                <a:sym typeface="DM Sans"/>
              </a:rPr>
              <a:t>Read OLTP data (opt.)</a:t>
            </a:r>
            <a:endParaRPr sz="1100">
              <a:solidFill>
                <a:srgbClr val="618794"/>
              </a:solidFill>
              <a:latin typeface="DM Sans"/>
              <a:ea typeface="DM Sans"/>
              <a:cs typeface="DM Sans"/>
              <a:sym typeface="DM Sans"/>
            </a:endParaRPr>
          </a:p>
          <a:p>
            <a:pPr indent="0" lvl="0" marL="0" marR="0" rtl="0" algn="l">
              <a:lnSpc>
                <a:spcPct val="90000"/>
              </a:lnSpc>
              <a:spcBef>
                <a:spcPts val="400"/>
              </a:spcBef>
              <a:spcAft>
                <a:spcPts val="0"/>
              </a:spcAft>
              <a:buNone/>
            </a:pPr>
            <a:r>
              <a:rPr lang="en" sz="1100">
                <a:solidFill>
                  <a:srgbClr val="618794"/>
                </a:solidFill>
                <a:latin typeface="DM Sans"/>
                <a:ea typeface="DM Sans"/>
                <a:cs typeface="DM Sans"/>
                <a:sym typeface="DM Sans"/>
              </a:rPr>
              <a:t>Call ext LLM service (opt.)</a:t>
            </a:r>
            <a:endParaRPr sz="1100">
              <a:solidFill>
                <a:srgbClr val="618794"/>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rgbClr val="618794"/>
                </a:solidFill>
                <a:latin typeface="DM Sans"/>
                <a:ea typeface="DM Sans"/>
                <a:cs typeface="DM Sans"/>
                <a:sym typeface="DM Sans"/>
              </a:rPr>
              <a:t>Monitor e.g. model drift</a:t>
            </a:r>
            <a:br>
              <a:rPr lang="en" sz="1100">
                <a:solidFill>
                  <a:srgbClr val="618794"/>
                </a:solidFill>
                <a:latin typeface="DM Sans"/>
                <a:ea typeface="DM Sans"/>
                <a:cs typeface="DM Sans"/>
                <a:sym typeface="DM Sans"/>
              </a:rPr>
            </a:br>
            <a:r>
              <a:rPr lang="en" sz="1100">
                <a:solidFill>
                  <a:srgbClr val="618794"/>
                </a:solidFill>
                <a:latin typeface="DM Sans"/>
                <a:ea typeface="DM Sans"/>
                <a:cs typeface="DM Sans"/>
                <a:sym typeface="DM Sans"/>
              </a:rPr>
              <a:t>(Lakehouse Monitoring)</a:t>
            </a:r>
            <a:endParaRPr sz="1100">
              <a:solidFill>
                <a:srgbClr val="618794"/>
              </a:solidFill>
              <a:latin typeface="DM Sans"/>
              <a:ea typeface="DM Sans"/>
              <a:cs typeface="DM Sans"/>
              <a:sym typeface="DM Sans"/>
            </a:endParaRPr>
          </a:p>
        </p:txBody>
      </p:sp>
      <p:sp>
        <p:nvSpPr>
          <p:cNvPr id="4008" name="Google Shape;4008;p114"/>
          <p:cNvSpPr/>
          <p:nvPr/>
        </p:nvSpPr>
        <p:spPr>
          <a:xfrm>
            <a:off x="5563656" y="5693145"/>
            <a:ext cx="164700" cy="1647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009" name="Google Shape;4009;p114"/>
          <p:cNvSpPr/>
          <p:nvPr/>
        </p:nvSpPr>
        <p:spPr>
          <a:xfrm>
            <a:off x="5563656" y="5892051"/>
            <a:ext cx="164700" cy="1647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010" name="Google Shape;4010;p114"/>
          <p:cNvSpPr/>
          <p:nvPr/>
        </p:nvSpPr>
        <p:spPr>
          <a:xfrm>
            <a:off x="5563656" y="6241288"/>
            <a:ext cx="164700" cy="1647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4011" name="Google Shape;4011;p114"/>
          <p:cNvSpPr/>
          <p:nvPr/>
        </p:nvSpPr>
        <p:spPr>
          <a:xfrm>
            <a:off x="8378036" y="5694799"/>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5</a:t>
            </a:r>
            <a:endParaRPr b="1" sz="1000">
              <a:latin typeface="DM Sans"/>
              <a:ea typeface="DM Sans"/>
              <a:cs typeface="DM Sans"/>
              <a:sym typeface="DM Sans"/>
            </a:endParaRPr>
          </a:p>
        </p:txBody>
      </p:sp>
      <p:sp>
        <p:nvSpPr>
          <p:cNvPr id="4012" name="Google Shape;4012;p114"/>
          <p:cNvSpPr/>
          <p:nvPr/>
        </p:nvSpPr>
        <p:spPr>
          <a:xfrm>
            <a:off x="8378036" y="5894227"/>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6</a:t>
            </a:r>
            <a:endParaRPr b="1" sz="1000">
              <a:latin typeface="DM Sans"/>
              <a:ea typeface="DM Sans"/>
              <a:cs typeface="DM Sans"/>
              <a:sym typeface="DM Sans"/>
            </a:endParaRPr>
          </a:p>
        </p:txBody>
      </p:sp>
      <p:sp>
        <p:nvSpPr>
          <p:cNvPr id="4013" name="Google Shape;4013;p114"/>
          <p:cNvSpPr/>
          <p:nvPr/>
        </p:nvSpPr>
        <p:spPr>
          <a:xfrm>
            <a:off x="8378036" y="6294928"/>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8</a:t>
            </a:r>
            <a:endParaRPr b="1" sz="1000">
              <a:latin typeface="DM Sans"/>
              <a:ea typeface="DM Sans"/>
              <a:cs typeface="DM Sans"/>
              <a:sym typeface="DM Sans"/>
            </a:endParaRPr>
          </a:p>
        </p:txBody>
      </p:sp>
      <p:sp>
        <p:nvSpPr>
          <p:cNvPr id="4014" name="Google Shape;4014;p114"/>
          <p:cNvSpPr/>
          <p:nvPr/>
        </p:nvSpPr>
        <p:spPr>
          <a:xfrm>
            <a:off x="5563661" y="6593402"/>
            <a:ext cx="164700" cy="1647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4</a:t>
            </a:r>
            <a:endParaRPr b="1" sz="1000">
              <a:latin typeface="DM Sans"/>
              <a:ea typeface="DM Sans"/>
              <a:cs typeface="DM Sans"/>
              <a:sym typeface="DM Sans"/>
            </a:endParaRPr>
          </a:p>
        </p:txBody>
      </p:sp>
      <p:sp>
        <p:nvSpPr>
          <p:cNvPr id="4015" name="Google Shape;4015;p114"/>
          <p:cNvSpPr/>
          <p:nvPr/>
        </p:nvSpPr>
        <p:spPr>
          <a:xfrm>
            <a:off x="4318824" y="379900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4016" name="Google Shape;4016;p114"/>
          <p:cNvSpPr/>
          <p:nvPr/>
        </p:nvSpPr>
        <p:spPr>
          <a:xfrm>
            <a:off x="7979317" y="2808122"/>
            <a:ext cx="56700" cy="4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17" name="Google Shape;4017;p114"/>
          <p:cNvCxnSpPr>
            <a:stCxn id="3994" idx="1"/>
            <a:endCxn id="4018" idx="3"/>
          </p:cNvCxnSpPr>
          <p:nvPr/>
        </p:nvCxnSpPr>
        <p:spPr>
          <a:xfrm flipH="1">
            <a:off x="8780391" y="3936090"/>
            <a:ext cx="471300" cy="600"/>
          </a:xfrm>
          <a:prstGeom prst="bentConnector3">
            <a:avLst>
              <a:gd fmla="val 50004" name="adj1"/>
            </a:avLst>
          </a:prstGeom>
          <a:noFill/>
          <a:ln cap="flat" cmpd="sng" w="19050">
            <a:solidFill>
              <a:srgbClr val="4299E0"/>
            </a:solidFill>
            <a:prstDash val="solid"/>
            <a:round/>
            <a:headEnd len="sm" w="sm" type="triangle"/>
            <a:tailEnd len="sm" w="sm" type="none"/>
          </a:ln>
        </p:spPr>
      </p:cxnSp>
      <p:cxnSp>
        <p:nvCxnSpPr>
          <p:cNvPr id="4019" name="Google Shape;4019;p114"/>
          <p:cNvCxnSpPr>
            <a:stCxn id="3839" idx="1"/>
            <a:endCxn id="4020" idx="4"/>
          </p:cNvCxnSpPr>
          <p:nvPr/>
        </p:nvCxnSpPr>
        <p:spPr>
          <a:xfrm rot="10800000">
            <a:off x="8924771" y="4032615"/>
            <a:ext cx="602400" cy="1206000"/>
          </a:xfrm>
          <a:prstGeom prst="bentConnector2">
            <a:avLst/>
          </a:prstGeom>
          <a:noFill/>
          <a:ln cap="flat" cmpd="sng" w="19050">
            <a:solidFill>
              <a:srgbClr val="4299E0"/>
            </a:solidFill>
            <a:prstDash val="solid"/>
            <a:round/>
            <a:headEnd len="sm" w="sm" type="triangle"/>
            <a:tailEnd len="sm" w="sm" type="none"/>
          </a:ln>
        </p:spPr>
      </p:cxnSp>
      <p:sp>
        <p:nvSpPr>
          <p:cNvPr id="4021" name="Google Shape;4021;p114"/>
          <p:cNvSpPr/>
          <p:nvPr/>
        </p:nvSpPr>
        <p:spPr>
          <a:xfrm>
            <a:off x="8197602" y="3218148"/>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8</a:t>
            </a:r>
            <a:endParaRPr b="1" sz="1200">
              <a:latin typeface="DM Sans"/>
              <a:ea typeface="DM Sans"/>
              <a:cs typeface="DM Sans"/>
              <a:sym typeface="DM Sans"/>
            </a:endParaRPr>
          </a:p>
        </p:txBody>
      </p:sp>
      <p:cxnSp>
        <p:nvCxnSpPr>
          <p:cNvPr id="4022" name="Google Shape;4022;p114"/>
          <p:cNvCxnSpPr>
            <a:stCxn id="4021" idx="0"/>
            <a:endCxn id="4023" idx="2"/>
          </p:cNvCxnSpPr>
          <p:nvPr/>
        </p:nvCxnSpPr>
        <p:spPr>
          <a:xfrm rot="-5400000">
            <a:off x="8120352" y="3037848"/>
            <a:ext cx="360000" cy="600"/>
          </a:xfrm>
          <a:prstGeom prst="bentConnector3">
            <a:avLst>
              <a:gd fmla="val 50000" name="adj1"/>
            </a:avLst>
          </a:prstGeom>
          <a:noFill/>
          <a:ln cap="flat" cmpd="sng" w="19050">
            <a:solidFill>
              <a:srgbClr val="4299E0"/>
            </a:solidFill>
            <a:prstDash val="solid"/>
            <a:round/>
            <a:headEnd len="sm" w="sm" type="none"/>
            <a:tailEnd len="sm" w="sm" type="triangle"/>
          </a:ln>
        </p:spPr>
      </p:cxnSp>
      <p:sp>
        <p:nvSpPr>
          <p:cNvPr id="4024" name="Google Shape;4024;p114"/>
          <p:cNvSpPr/>
          <p:nvPr/>
        </p:nvSpPr>
        <p:spPr>
          <a:xfrm>
            <a:off x="10147511" y="3287671"/>
            <a:ext cx="63900" cy="67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25" name="Google Shape;4025;p114"/>
          <p:cNvCxnSpPr>
            <a:stCxn id="4021" idx="6"/>
            <a:endCxn id="3918" idx="1"/>
          </p:cNvCxnSpPr>
          <p:nvPr/>
        </p:nvCxnSpPr>
        <p:spPr>
          <a:xfrm>
            <a:off x="8402502" y="3320598"/>
            <a:ext cx="2119200" cy="2100"/>
          </a:xfrm>
          <a:prstGeom prst="bentConnector3">
            <a:avLst>
              <a:gd fmla="val 49997" name="adj1"/>
            </a:avLst>
          </a:prstGeom>
          <a:noFill/>
          <a:ln cap="flat" cmpd="sng" w="19050">
            <a:solidFill>
              <a:srgbClr val="4299E0"/>
            </a:solidFill>
            <a:prstDash val="solid"/>
            <a:round/>
            <a:headEnd len="sm" w="sm" type="none"/>
            <a:tailEnd len="sm" w="sm" type="triangle"/>
          </a:ln>
        </p:spPr>
      </p:cxnSp>
      <p:sp>
        <p:nvSpPr>
          <p:cNvPr id="4026" name="Google Shape;4026;p114"/>
          <p:cNvSpPr/>
          <p:nvPr/>
        </p:nvSpPr>
        <p:spPr>
          <a:xfrm>
            <a:off x="10078028" y="4777972"/>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5</a:t>
            </a:r>
            <a:endParaRPr b="1" sz="1200">
              <a:latin typeface="DM Sans"/>
              <a:ea typeface="DM Sans"/>
              <a:cs typeface="DM Sans"/>
              <a:sym typeface="DM Sans"/>
            </a:endParaRPr>
          </a:p>
        </p:txBody>
      </p:sp>
      <p:sp>
        <p:nvSpPr>
          <p:cNvPr id="4027" name="Google Shape;4027;p114"/>
          <p:cNvSpPr/>
          <p:nvPr/>
        </p:nvSpPr>
        <p:spPr>
          <a:xfrm>
            <a:off x="8378036" y="6096508"/>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7</a:t>
            </a:r>
            <a:endParaRPr b="1" sz="1000">
              <a:latin typeface="DM Sans"/>
              <a:ea typeface="DM Sans"/>
              <a:cs typeface="DM Sans"/>
              <a:sym typeface="DM Sans"/>
            </a:endParaRPr>
          </a:p>
        </p:txBody>
      </p:sp>
      <p:sp>
        <p:nvSpPr>
          <p:cNvPr id="3991" name="Google Shape;3991;p114"/>
          <p:cNvSpPr/>
          <p:nvPr/>
        </p:nvSpPr>
        <p:spPr>
          <a:xfrm>
            <a:off x="6701994" y="2583983"/>
            <a:ext cx="685800" cy="2742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Serving</a:t>
            </a:r>
            <a:endParaRPr sz="900">
              <a:solidFill>
                <a:schemeClr val="accent2"/>
              </a:solidFill>
              <a:latin typeface="DM Sans SemiBold"/>
              <a:ea typeface="DM Sans SemiBold"/>
              <a:cs typeface="DM Sans SemiBold"/>
              <a:sym typeface="DM Sans SemiBold"/>
            </a:endParaRPr>
          </a:p>
        </p:txBody>
      </p:sp>
      <p:sp>
        <p:nvSpPr>
          <p:cNvPr id="4002" name="Google Shape;4002;p114"/>
          <p:cNvSpPr/>
          <p:nvPr/>
        </p:nvSpPr>
        <p:spPr>
          <a:xfrm>
            <a:off x="6250855" y="1941712"/>
            <a:ext cx="685800" cy="186600"/>
          </a:xfrm>
          <a:prstGeom prst="roundRect">
            <a:avLst>
              <a:gd fmla="val 22186"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MLFlow</a:t>
            </a:r>
            <a:endParaRPr sz="900">
              <a:solidFill>
                <a:schemeClr val="accent2"/>
              </a:solidFill>
              <a:latin typeface="DM Sans SemiBold"/>
              <a:ea typeface="DM Sans SemiBold"/>
              <a:cs typeface="DM Sans SemiBold"/>
              <a:sym typeface="DM Sans SemiBold"/>
            </a:endParaRPr>
          </a:p>
        </p:txBody>
      </p:sp>
      <p:sp>
        <p:nvSpPr>
          <p:cNvPr id="4004" name="Google Shape;4004;p114"/>
          <p:cNvSpPr/>
          <p:nvPr/>
        </p:nvSpPr>
        <p:spPr>
          <a:xfrm>
            <a:off x="7537584" y="2617960"/>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6</a:t>
            </a:r>
            <a:endParaRPr b="1" sz="1200">
              <a:latin typeface="DM Sans"/>
              <a:ea typeface="DM Sans"/>
              <a:cs typeface="DM Sans"/>
              <a:sym typeface="DM Sans"/>
            </a:endParaRPr>
          </a:p>
        </p:txBody>
      </p:sp>
      <p:sp>
        <p:nvSpPr>
          <p:cNvPr id="3996" name="Google Shape;3996;p114"/>
          <p:cNvSpPr/>
          <p:nvPr/>
        </p:nvSpPr>
        <p:spPr>
          <a:xfrm>
            <a:off x="8238601" y="2268975"/>
            <a:ext cx="685800" cy="2742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3992" name="Google Shape;3992;p114"/>
          <p:cNvSpPr/>
          <p:nvPr/>
        </p:nvSpPr>
        <p:spPr>
          <a:xfrm>
            <a:off x="7894488" y="2582475"/>
            <a:ext cx="589500" cy="2757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sp>
        <p:nvSpPr>
          <p:cNvPr id="3988" name="Google Shape;3988;p114"/>
          <p:cNvSpPr/>
          <p:nvPr/>
        </p:nvSpPr>
        <p:spPr>
          <a:xfrm>
            <a:off x="7017222" y="19325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4</a:t>
            </a:r>
            <a:endParaRPr b="1" sz="1200">
              <a:latin typeface="DM Sans"/>
              <a:ea typeface="DM Sans"/>
              <a:cs typeface="DM Sans"/>
              <a:sym typeface="DM Sans"/>
            </a:endParaRPr>
          </a:p>
        </p:txBody>
      </p:sp>
      <p:sp>
        <p:nvSpPr>
          <p:cNvPr id="3998" name="Google Shape;3998;p114"/>
          <p:cNvSpPr/>
          <p:nvPr/>
        </p:nvSpPr>
        <p:spPr>
          <a:xfrm>
            <a:off x="7944891" y="3218267"/>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9</a:t>
            </a:r>
            <a:endParaRPr b="1" sz="1200">
              <a:latin typeface="DM Sans"/>
              <a:ea typeface="DM Sans"/>
              <a:cs typeface="DM Sans"/>
              <a:sym typeface="DM Sans"/>
            </a:endParaRPr>
          </a:p>
        </p:txBody>
      </p:sp>
      <p:cxnSp>
        <p:nvCxnSpPr>
          <p:cNvPr id="4028" name="Google Shape;4028;p114"/>
          <p:cNvCxnSpPr>
            <a:stCxn id="3998" idx="0"/>
          </p:cNvCxnSpPr>
          <p:nvPr/>
        </p:nvCxnSpPr>
        <p:spPr>
          <a:xfrm rot="-5400000">
            <a:off x="7867191" y="3037517"/>
            <a:ext cx="360900" cy="600"/>
          </a:xfrm>
          <a:prstGeom prst="bentConnector3">
            <a:avLst>
              <a:gd fmla="val 50000" name="adj1"/>
            </a:avLst>
          </a:prstGeom>
          <a:noFill/>
          <a:ln cap="flat" cmpd="sng" w="19050">
            <a:solidFill>
              <a:srgbClr val="4299E0"/>
            </a:solidFill>
            <a:prstDash val="solid"/>
            <a:round/>
            <a:headEnd len="sm" w="sm" type="none"/>
            <a:tailEnd len="sm" w="sm" type="none"/>
          </a:ln>
        </p:spPr>
      </p:cxnSp>
      <p:sp>
        <p:nvSpPr>
          <p:cNvPr id="4029" name="Google Shape;4029;p114"/>
          <p:cNvSpPr/>
          <p:nvPr/>
        </p:nvSpPr>
        <p:spPr>
          <a:xfrm>
            <a:off x="7441404" y="3903416"/>
            <a:ext cx="63900" cy="67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30" name="Google Shape;4030;p114"/>
          <p:cNvCxnSpPr>
            <a:stCxn id="4018" idx="1"/>
            <a:endCxn id="3991" idx="2"/>
          </p:cNvCxnSpPr>
          <p:nvPr/>
        </p:nvCxnSpPr>
        <p:spPr>
          <a:xfrm rot="10800000">
            <a:off x="7044851" y="2858190"/>
            <a:ext cx="1049700" cy="1077900"/>
          </a:xfrm>
          <a:prstGeom prst="bentConnector2">
            <a:avLst/>
          </a:prstGeom>
          <a:noFill/>
          <a:ln cap="flat" cmpd="sng" w="19050">
            <a:solidFill>
              <a:srgbClr val="4299E0"/>
            </a:solidFill>
            <a:prstDash val="solid"/>
            <a:round/>
            <a:headEnd len="sm" w="sm" type="none"/>
            <a:tailEnd len="sm" w="sm" type="triangle"/>
          </a:ln>
        </p:spPr>
      </p:cxnSp>
      <p:sp>
        <p:nvSpPr>
          <p:cNvPr id="4020" name="Google Shape;4020;p114"/>
          <p:cNvSpPr/>
          <p:nvPr/>
        </p:nvSpPr>
        <p:spPr>
          <a:xfrm>
            <a:off x="8822311" y="3827748"/>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7</a:t>
            </a:r>
            <a:endParaRPr b="1" sz="1200">
              <a:latin typeface="DM Sans"/>
              <a:ea typeface="DM Sans"/>
              <a:cs typeface="DM Sans"/>
              <a:sym typeface="DM Sans"/>
            </a:endParaRPr>
          </a:p>
        </p:txBody>
      </p:sp>
      <p:sp>
        <p:nvSpPr>
          <p:cNvPr id="4018" name="Google Shape;4018;p114"/>
          <p:cNvSpPr/>
          <p:nvPr/>
        </p:nvSpPr>
        <p:spPr>
          <a:xfrm>
            <a:off x="8094551" y="3798990"/>
            <a:ext cx="685800" cy="274200"/>
          </a:xfrm>
          <a:prstGeom prst="roundRect">
            <a:avLst>
              <a:gd fmla="val 22186"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sp>
        <p:nvSpPr>
          <p:cNvPr id="3994" name="Google Shape;3994;p114"/>
          <p:cNvSpPr/>
          <p:nvPr/>
        </p:nvSpPr>
        <p:spPr>
          <a:xfrm>
            <a:off x="9251691" y="3798990"/>
            <a:ext cx="796500" cy="274200"/>
          </a:xfrm>
          <a:prstGeom prst="roundRect">
            <a:avLst>
              <a:gd fmla="val 22836" name="adj"/>
            </a:avLst>
          </a:prstGeom>
          <a:solidFill>
            <a:srgbClr val="FFFFFF"/>
          </a:solid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4031" name="Google Shape;4031;p114"/>
          <p:cNvSpPr/>
          <p:nvPr/>
        </p:nvSpPr>
        <p:spPr>
          <a:xfrm>
            <a:off x="8378036" y="6496634"/>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9</a:t>
            </a:r>
            <a:endParaRPr b="1" sz="1000">
              <a:latin typeface="DM Sans"/>
              <a:ea typeface="DM Sans"/>
              <a:cs typeface="DM Sans"/>
              <a:sym typeface="DM Sans"/>
            </a:endParaRPr>
          </a:p>
        </p:txBody>
      </p:sp>
      <p:grpSp>
        <p:nvGrpSpPr>
          <p:cNvPr id="4032" name="Google Shape;4032;p114"/>
          <p:cNvGrpSpPr/>
          <p:nvPr/>
        </p:nvGrpSpPr>
        <p:grpSpPr>
          <a:xfrm>
            <a:off x="10606481" y="3507444"/>
            <a:ext cx="826200" cy="363728"/>
            <a:chOff x="10606481" y="3507444"/>
            <a:chExt cx="826200" cy="363728"/>
          </a:xfrm>
        </p:grpSpPr>
        <p:sp>
          <p:nvSpPr>
            <p:cNvPr id="4033" name="Google Shape;4033;p114"/>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034" name="Google Shape;4034;p114"/>
            <p:cNvPicPr preferRelativeResize="0"/>
            <p:nvPr/>
          </p:nvPicPr>
          <p:blipFill>
            <a:blip r:embed="rId21">
              <a:alphaModFix/>
            </a:blip>
            <a:stretch>
              <a:fillRect/>
            </a:stretch>
          </p:blipFill>
          <p:spPr>
            <a:xfrm>
              <a:off x="10914442" y="3507444"/>
              <a:ext cx="219600" cy="219600"/>
            </a:xfrm>
            <a:prstGeom prst="ellipse">
              <a:avLst/>
            </a:prstGeom>
            <a:noFill/>
            <a:ln>
              <a:noFill/>
            </a:ln>
          </p:spPr>
        </p:pic>
      </p:grpSp>
      <p:sp>
        <p:nvSpPr>
          <p:cNvPr id="4035" name="Google Shape;4035;p114"/>
          <p:cNvSpPr/>
          <p:nvPr/>
        </p:nvSpPr>
        <p:spPr>
          <a:xfrm>
            <a:off x="5893101" y="2583025"/>
            <a:ext cx="685800" cy="274200"/>
          </a:xfrm>
          <a:prstGeom prst="roundRect">
            <a:avLst>
              <a:gd fmla="val 17595"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Agent Framework</a:t>
            </a:r>
            <a:endParaRPr sz="900">
              <a:solidFill>
                <a:schemeClr val="accent2"/>
              </a:solidFill>
              <a:latin typeface="DM Sans SemiBold"/>
              <a:ea typeface="DM Sans SemiBold"/>
              <a:cs typeface="DM Sans SemiBold"/>
              <a:sym typeface="DM Sans SemiBold"/>
            </a:endParaRPr>
          </a:p>
        </p:txBody>
      </p:sp>
      <p:cxnSp>
        <p:nvCxnSpPr>
          <p:cNvPr id="4036" name="Google Shape;4036;p114"/>
          <p:cNvCxnSpPr>
            <a:stCxn id="3954" idx="2"/>
            <a:endCxn id="3955" idx="3"/>
          </p:cNvCxnSpPr>
          <p:nvPr/>
        </p:nvCxnSpPr>
        <p:spPr>
          <a:xfrm rot="5400000">
            <a:off x="5225425" y="2958525"/>
            <a:ext cx="459900" cy="256200"/>
          </a:xfrm>
          <a:prstGeom prst="bentConnector2">
            <a:avLst/>
          </a:prstGeom>
          <a:noFill/>
          <a:ln cap="flat" cmpd="sng" w="19050">
            <a:solidFill>
              <a:schemeClr val="accent4"/>
            </a:solidFill>
            <a:prstDash val="solid"/>
            <a:round/>
            <a:headEnd len="sm" w="sm" type="triangle"/>
            <a:tailEnd len="sm" w="sm" type="none"/>
          </a:ln>
        </p:spPr>
      </p:cxnSp>
      <p:sp>
        <p:nvSpPr>
          <p:cNvPr id="3983" name="Google Shape;3983;p114"/>
          <p:cNvSpPr/>
          <p:nvPr/>
        </p:nvSpPr>
        <p:spPr>
          <a:xfrm>
            <a:off x="5167063" y="1945900"/>
            <a:ext cx="887100" cy="173700"/>
          </a:xfrm>
          <a:prstGeom prst="roundRect">
            <a:avLst>
              <a:gd fmla="val 22186"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Asset Bundles</a:t>
            </a:r>
            <a:endParaRPr sz="900">
              <a:solidFill>
                <a:schemeClr val="accent2"/>
              </a:solidFill>
              <a:latin typeface="DM Sans SemiBold"/>
              <a:ea typeface="DM Sans SemiBold"/>
              <a:cs typeface="DM Sans SemiBold"/>
              <a:sym typeface="DM Sans SemiBold"/>
            </a:endParaRPr>
          </a:p>
        </p:txBody>
      </p:sp>
      <p:cxnSp>
        <p:nvCxnSpPr>
          <p:cNvPr id="4037" name="Google Shape;4037;p114"/>
          <p:cNvCxnSpPr/>
          <p:nvPr/>
        </p:nvCxnSpPr>
        <p:spPr>
          <a:xfrm>
            <a:off x="6060522" y="2033198"/>
            <a:ext cx="192000" cy="600"/>
          </a:xfrm>
          <a:prstGeom prst="bentConnector3">
            <a:avLst>
              <a:gd fmla="val 49969" name="adj1"/>
            </a:avLst>
          </a:prstGeom>
          <a:noFill/>
          <a:ln cap="flat" cmpd="sng" w="19050">
            <a:solidFill>
              <a:schemeClr val="accent4"/>
            </a:solidFill>
            <a:prstDash val="solid"/>
            <a:round/>
            <a:headEnd len="sm" w="sm" type="none"/>
            <a:tailEnd len="sm" w="sm"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1" name="Shape 4041"/>
        <p:cNvGrpSpPr/>
        <p:nvPr/>
      </p:nvGrpSpPr>
      <p:grpSpPr>
        <a:xfrm>
          <a:off x="0" y="0"/>
          <a:ext cx="0" cy="0"/>
          <a:chOff x="0" y="0"/>
          <a:chExt cx="0" cy="0"/>
        </a:xfrm>
      </p:grpSpPr>
      <p:sp>
        <p:nvSpPr>
          <p:cNvPr id="4042" name="Google Shape;4042;p115"/>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4043" name="Google Shape;4043;p115"/>
          <p:cNvGrpSpPr/>
          <p:nvPr/>
        </p:nvGrpSpPr>
        <p:grpSpPr>
          <a:xfrm rot="-5400000">
            <a:off x="8118194" y="4175940"/>
            <a:ext cx="198576" cy="208513"/>
            <a:chOff x="3295749" y="3922446"/>
            <a:chExt cx="198576" cy="208513"/>
          </a:xfrm>
        </p:grpSpPr>
        <p:sp>
          <p:nvSpPr>
            <p:cNvPr id="4044" name="Google Shape;4044;p115"/>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45" name="Google Shape;4045;p115"/>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046" name="Google Shape;4046;p115"/>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047" name="Google Shape;4047;p115"/>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048" name="Google Shape;4048;p115"/>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049" name="Google Shape;4049;p115"/>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4050" name="Google Shape;4050;p115"/>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4051" name="Google Shape;4051;p115"/>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6 Business Intelligence</a:t>
            </a:r>
            <a:endParaRPr b="1" sz="3600">
              <a:latin typeface="DM Sans"/>
              <a:ea typeface="DM Sans"/>
              <a:cs typeface="DM Sans"/>
              <a:sym typeface="DM Sans"/>
            </a:endParaRPr>
          </a:p>
        </p:txBody>
      </p:sp>
      <p:sp>
        <p:nvSpPr>
          <p:cNvPr id="4052" name="Google Shape;4052;p115"/>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4053" name="Google Shape;4053;p115"/>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4054" name="Google Shape;4054;p115"/>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4055" name="Google Shape;4055;p115"/>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4056" name="Google Shape;4056;p115"/>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Engineering and </a:t>
            </a:r>
            <a:r>
              <a:rPr lang="en" sz="1100">
                <a:solidFill>
                  <a:schemeClr val="accent5"/>
                </a:solidFill>
                <a:latin typeface="DM Sans Medium"/>
                <a:ea typeface="DM Sans Medium"/>
                <a:cs typeface="DM Sans Medium"/>
                <a:sym typeface="DM Sans Medium"/>
              </a:rPr>
              <a:t>Processing</a:t>
            </a:r>
            <a:endParaRPr sz="1100">
              <a:solidFill>
                <a:schemeClr val="accent5"/>
              </a:solidFill>
              <a:latin typeface="DM Sans Medium"/>
              <a:ea typeface="DM Sans Medium"/>
              <a:cs typeface="DM Sans Medium"/>
              <a:sym typeface="DM Sans Medium"/>
            </a:endParaRPr>
          </a:p>
        </p:txBody>
      </p:sp>
      <p:sp>
        <p:nvSpPr>
          <p:cNvPr id="4057" name="Google Shape;4057;p115"/>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4058" name="Google Shape;4058;p115"/>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4059" name="Google Shape;4059;p115"/>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4060" name="Google Shape;4060;p115"/>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4061" name="Google Shape;4061;p115"/>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4062" name="Google Shape;4062;p115"/>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4063" name="Google Shape;4063;p115"/>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4064" name="Google Shape;4064;p115"/>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4065" name="Google Shape;4065;p115"/>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4066" name="Google Shape;4066;p115"/>
          <p:cNvSpPr/>
          <p:nvPr/>
        </p:nvSpPr>
        <p:spPr>
          <a:xfrm>
            <a:off x="7507780" y="3207784"/>
            <a:ext cx="6858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grpSp>
        <p:nvGrpSpPr>
          <p:cNvPr id="4067" name="Google Shape;4067;p115"/>
          <p:cNvGrpSpPr/>
          <p:nvPr/>
        </p:nvGrpSpPr>
        <p:grpSpPr>
          <a:xfrm>
            <a:off x="4283501" y="5741943"/>
            <a:ext cx="1044000" cy="397683"/>
            <a:chOff x="4661400" y="6214292"/>
            <a:chExt cx="1044000" cy="397683"/>
          </a:xfrm>
        </p:grpSpPr>
        <p:sp>
          <p:nvSpPr>
            <p:cNvPr id="4068" name="Google Shape;4068;p115"/>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4069" name="Google Shape;4069;p115"/>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4070" name="Google Shape;4070;p115"/>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grpSp>
        <p:nvGrpSpPr>
          <p:cNvPr id="4071" name="Google Shape;4071;p115"/>
          <p:cNvGrpSpPr/>
          <p:nvPr/>
        </p:nvGrpSpPr>
        <p:grpSpPr>
          <a:xfrm>
            <a:off x="9357275" y="4466615"/>
            <a:ext cx="635100" cy="393231"/>
            <a:chOff x="9738981" y="3936515"/>
            <a:chExt cx="635100" cy="393231"/>
          </a:xfrm>
        </p:grpSpPr>
        <p:sp>
          <p:nvSpPr>
            <p:cNvPr id="4072" name="Google Shape;4072;p115"/>
            <p:cNvSpPr txBox="1"/>
            <p:nvPr/>
          </p:nvSpPr>
          <p:spPr>
            <a:xfrm>
              <a:off x="9738981" y="4175845"/>
              <a:ext cx="63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BI Tool</a:t>
              </a:r>
              <a:endParaRPr sz="900">
                <a:solidFill>
                  <a:schemeClr val="accent1"/>
                </a:solidFill>
                <a:latin typeface="DM Sans Medium"/>
                <a:ea typeface="DM Sans Medium"/>
                <a:cs typeface="DM Sans Medium"/>
                <a:sym typeface="DM Sans Medium"/>
              </a:endParaRPr>
            </a:p>
          </p:txBody>
        </p:sp>
        <p:pic>
          <p:nvPicPr>
            <p:cNvPr id="4073" name="Google Shape;4073;p115"/>
            <p:cNvPicPr preferRelativeResize="0"/>
            <p:nvPr/>
          </p:nvPicPr>
          <p:blipFill>
            <a:blip r:embed="rId4">
              <a:alphaModFix/>
            </a:blip>
            <a:stretch>
              <a:fillRect/>
            </a:stretch>
          </p:blipFill>
          <p:spPr>
            <a:xfrm>
              <a:off x="9923943" y="3936515"/>
              <a:ext cx="265176" cy="265176"/>
            </a:xfrm>
            <a:prstGeom prst="rect">
              <a:avLst/>
            </a:prstGeom>
            <a:noFill/>
            <a:ln>
              <a:noFill/>
            </a:ln>
          </p:spPr>
        </p:pic>
      </p:grpSp>
      <p:sp>
        <p:nvSpPr>
          <p:cNvPr id="4074" name="Google Shape;4074;p115"/>
          <p:cNvSpPr/>
          <p:nvPr/>
        </p:nvSpPr>
        <p:spPr>
          <a:xfrm>
            <a:off x="6727825" y="3127550"/>
            <a:ext cx="640800" cy="2463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4075" name="Google Shape;4075;p115"/>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4076" name="Google Shape;4076;p115"/>
          <p:cNvPicPr preferRelativeResize="0"/>
          <p:nvPr/>
        </p:nvPicPr>
        <p:blipFill>
          <a:blip r:embed="rId5">
            <a:alphaModFix/>
          </a:blip>
          <a:stretch>
            <a:fillRect/>
          </a:stretch>
        </p:blipFill>
        <p:spPr>
          <a:xfrm>
            <a:off x="3367671" y="5181455"/>
            <a:ext cx="200700" cy="191237"/>
          </a:xfrm>
          <a:prstGeom prst="rect">
            <a:avLst/>
          </a:prstGeom>
          <a:noFill/>
          <a:ln>
            <a:noFill/>
          </a:ln>
        </p:spPr>
      </p:pic>
      <p:sp>
        <p:nvSpPr>
          <p:cNvPr id="4077" name="Google Shape;4077;p115"/>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4078" name="Google Shape;4078;p115"/>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cxnSp>
        <p:nvCxnSpPr>
          <p:cNvPr id="4079" name="Google Shape;4079;p115"/>
          <p:cNvCxnSpPr>
            <a:stCxn id="4080" idx="2"/>
            <a:endCxn id="4069" idx="1"/>
          </p:cNvCxnSpPr>
          <p:nvPr/>
        </p:nvCxnSpPr>
        <p:spPr>
          <a:xfrm flipH="1" rot="-5400000">
            <a:off x="4223034" y="5439696"/>
            <a:ext cx="367500" cy="502200"/>
          </a:xfrm>
          <a:prstGeom prst="bentConnector2">
            <a:avLst/>
          </a:prstGeom>
          <a:noFill/>
          <a:ln cap="flat" cmpd="sng" w="19050">
            <a:solidFill>
              <a:schemeClr val="accent4"/>
            </a:solidFill>
            <a:prstDash val="solid"/>
            <a:round/>
            <a:headEnd len="sm" w="sm" type="triangle"/>
            <a:tailEnd len="sm" w="sm" type="none"/>
          </a:ln>
        </p:spPr>
      </p:cxnSp>
      <p:pic>
        <p:nvPicPr>
          <p:cNvPr id="4081" name="Google Shape;4081;p115"/>
          <p:cNvPicPr preferRelativeResize="0"/>
          <p:nvPr/>
        </p:nvPicPr>
        <p:blipFill>
          <a:blip r:embed="rId6">
            <a:alphaModFix/>
          </a:blip>
          <a:stretch>
            <a:fillRect/>
          </a:stretch>
        </p:blipFill>
        <p:spPr>
          <a:xfrm>
            <a:off x="4998129" y="1403077"/>
            <a:ext cx="259650" cy="279625"/>
          </a:xfrm>
          <a:prstGeom prst="rect">
            <a:avLst/>
          </a:prstGeom>
          <a:noFill/>
          <a:ln>
            <a:noFill/>
          </a:ln>
        </p:spPr>
      </p:pic>
      <p:sp>
        <p:nvSpPr>
          <p:cNvPr id="4080" name="Google Shape;4080;p115"/>
          <p:cNvSpPr/>
          <p:nvPr/>
        </p:nvSpPr>
        <p:spPr>
          <a:xfrm>
            <a:off x="4104084" y="5415546"/>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82" name="Google Shape;4082;p115"/>
          <p:cNvSpPr/>
          <p:nvPr/>
        </p:nvSpPr>
        <p:spPr>
          <a:xfrm>
            <a:off x="8279671" y="2582483"/>
            <a:ext cx="685500" cy="275700"/>
          </a:xfrm>
          <a:prstGeom prst="roundRect">
            <a:avLst>
              <a:gd fmla="val 14403"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4083" name="Google Shape;4083;p115"/>
          <p:cNvGrpSpPr/>
          <p:nvPr/>
        </p:nvGrpSpPr>
        <p:grpSpPr>
          <a:xfrm>
            <a:off x="5357469" y="5168059"/>
            <a:ext cx="1015163" cy="210402"/>
            <a:chOff x="6995676" y="6025175"/>
            <a:chExt cx="1015163" cy="210402"/>
          </a:xfrm>
        </p:grpSpPr>
        <p:sp>
          <p:nvSpPr>
            <p:cNvPr id="4084" name="Google Shape;4084;p115"/>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4085" name="Google Shape;4085;p115"/>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4086" name="Google Shape;4086;p115"/>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4087" name="Google Shape;4087;p115"/>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088" name="Google Shape;4088;p115"/>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089" name="Google Shape;4089;p115"/>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090" name="Google Shape;4090;p115"/>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91" name="Google Shape;4091;p115"/>
            <p:cNvCxnSpPr>
              <a:stCxn id="4088" idx="4"/>
              <a:endCxn id="4092"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4092" name="Google Shape;4092;p115"/>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093" name="Google Shape;4093;p115"/>
            <p:cNvCxnSpPr>
              <a:stCxn id="4087" idx="4"/>
              <a:endCxn id="4090"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4094" name="Google Shape;4094;p115"/>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4095" name="Google Shape;4095;p115"/>
          <p:cNvGrpSpPr/>
          <p:nvPr/>
        </p:nvGrpSpPr>
        <p:grpSpPr>
          <a:xfrm>
            <a:off x="861763" y="1388635"/>
            <a:ext cx="879600" cy="565670"/>
            <a:chOff x="820734" y="1742570"/>
            <a:chExt cx="879600" cy="565670"/>
          </a:xfrm>
        </p:grpSpPr>
        <p:sp>
          <p:nvSpPr>
            <p:cNvPr id="4096" name="Google Shape;4096;p115"/>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097" name="Google Shape;4097;p115"/>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4098" name="Google Shape;4098;p115"/>
          <p:cNvGrpSpPr/>
          <p:nvPr/>
        </p:nvGrpSpPr>
        <p:grpSpPr>
          <a:xfrm>
            <a:off x="1278400" y="4282495"/>
            <a:ext cx="462900" cy="422268"/>
            <a:chOff x="1296935" y="4254734"/>
            <a:chExt cx="462900" cy="422268"/>
          </a:xfrm>
        </p:grpSpPr>
        <p:pic>
          <p:nvPicPr>
            <p:cNvPr id="4099" name="Google Shape;4099;p115"/>
            <p:cNvPicPr preferRelativeResize="0"/>
            <p:nvPr/>
          </p:nvPicPr>
          <p:blipFill rotWithShape="1">
            <a:blip r:embed="rId8">
              <a:alphaModFix/>
            </a:blip>
            <a:srcRect b="0" l="0" r="0" t="0"/>
            <a:stretch/>
          </p:blipFill>
          <p:spPr>
            <a:xfrm>
              <a:off x="1395798" y="4254734"/>
              <a:ext cx="265176" cy="265176"/>
            </a:xfrm>
            <a:prstGeom prst="rect">
              <a:avLst/>
            </a:prstGeom>
            <a:noFill/>
            <a:ln>
              <a:noFill/>
            </a:ln>
          </p:spPr>
        </p:pic>
        <p:sp>
          <p:nvSpPr>
            <p:cNvPr id="4100" name="Google Shape;4100;p115"/>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4101" name="Google Shape;4101;p115"/>
          <p:cNvGrpSpPr/>
          <p:nvPr/>
        </p:nvGrpSpPr>
        <p:grpSpPr>
          <a:xfrm>
            <a:off x="861800" y="1970622"/>
            <a:ext cx="879600" cy="558086"/>
            <a:chOff x="820771" y="2866176"/>
            <a:chExt cx="879600" cy="558086"/>
          </a:xfrm>
        </p:grpSpPr>
        <p:sp>
          <p:nvSpPr>
            <p:cNvPr id="4102" name="Google Shape;4102;p115"/>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4103" name="Google Shape;4103;p115"/>
            <p:cNvPicPr preferRelativeResize="0"/>
            <p:nvPr/>
          </p:nvPicPr>
          <p:blipFill>
            <a:blip r:embed="rId9">
              <a:alphaModFix/>
            </a:blip>
            <a:stretch>
              <a:fillRect/>
            </a:stretch>
          </p:blipFill>
          <p:spPr>
            <a:xfrm>
              <a:off x="1127949" y="2866176"/>
              <a:ext cx="265176" cy="265176"/>
            </a:xfrm>
            <a:prstGeom prst="rect">
              <a:avLst/>
            </a:prstGeom>
            <a:noFill/>
            <a:ln>
              <a:noFill/>
            </a:ln>
          </p:spPr>
        </p:pic>
      </p:grpSp>
      <p:grpSp>
        <p:nvGrpSpPr>
          <p:cNvPr id="4104" name="Google Shape;4104;p115"/>
          <p:cNvGrpSpPr/>
          <p:nvPr/>
        </p:nvGrpSpPr>
        <p:grpSpPr>
          <a:xfrm>
            <a:off x="903312" y="2545026"/>
            <a:ext cx="796500" cy="542824"/>
            <a:chOff x="862283" y="2315806"/>
            <a:chExt cx="796500" cy="542824"/>
          </a:xfrm>
        </p:grpSpPr>
        <p:sp>
          <p:nvSpPr>
            <p:cNvPr id="4105" name="Google Shape;4105;p115"/>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106" name="Google Shape;4106;p115"/>
            <p:cNvPicPr preferRelativeResize="0"/>
            <p:nvPr/>
          </p:nvPicPr>
          <p:blipFill>
            <a:blip r:embed="rId8">
              <a:alphaModFix/>
            </a:blip>
            <a:stretch>
              <a:fillRect/>
            </a:stretch>
          </p:blipFill>
          <p:spPr>
            <a:xfrm>
              <a:off x="1127949" y="2315806"/>
              <a:ext cx="265176" cy="265176"/>
            </a:xfrm>
            <a:prstGeom prst="rect">
              <a:avLst/>
            </a:prstGeom>
            <a:noFill/>
            <a:ln>
              <a:noFill/>
            </a:ln>
          </p:spPr>
        </p:pic>
      </p:grpSp>
      <p:grpSp>
        <p:nvGrpSpPr>
          <p:cNvPr id="4107" name="Google Shape;4107;p115"/>
          <p:cNvGrpSpPr/>
          <p:nvPr/>
        </p:nvGrpSpPr>
        <p:grpSpPr>
          <a:xfrm>
            <a:off x="861700" y="3104161"/>
            <a:ext cx="879600" cy="559474"/>
            <a:chOff x="820671" y="3997940"/>
            <a:chExt cx="879600" cy="559474"/>
          </a:xfrm>
        </p:grpSpPr>
        <p:pic>
          <p:nvPicPr>
            <p:cNvPr id="4108" name="Google Shape;4108;p115"/>
            <p:cNvPicPr preferRelativeResize="0"/>
            <p:nvPr/>
          </p:nvPicPr>
          <p:blipFill>
            <a:blip r:embed="rId10">
              <a:alphaModFix/>
            </a:blip>
            <a:stretch>
              <a:fillRect/>
            </a:stretch>
          </p:blipFill>
          <p:spPr>
            <a:xfrm>
              <a:off x="1127949" y="3997940"/>
              <a:ext cx="265176" cy="265176"/>
            </a:xfrm>
            <a:prstGeom prst="rect">
              <a:avLst/>
            </a:prstGeom>
            <a:noFill/>
            <a:ln>
              <a:noFill/>
            </a:ln>
          </p:spPr>
        </p:pic>
        <p:sp>
          <p:nvSpPr>
            <p:cNvPr id="4109" name="Google Shape;4109;p115"/>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4110" name="Google Shape;4110;p115"/>
          <p:cNvGrpSpPr/>
          <p:nvPr/>
        </p:nvGrpSpPr>
        <p:grpSpPr>
          <a:xfrm>
            <a:off x="920210" y="3679952"/>
            <a:ext cx="761100" cy="558519"/>
            <a:chOff x="880006" y="3431841"/>
            <a:chExt cx="761100" cy="558519"/>
          </a:xfrm>
        </p:grpSpPr>
        <p:pic>
          <p:nvPicPr>
            <p:cNvPr id="4111" name="Google Shape;4111;p115"/>
            <p:cNvPicPr preferRelativeResize="0"/>
            <p:nvPr/>
          </p:nvPicPr>
          <p:blipFill>
            <a:blip r:embed="rId11">
              <a:alphaModFix/>
            </a:blip>
            <a:stretch>
              <a:fillRect/>
            </a:stretch>
          </p:blipFill>
          <p:spPr>
            <a:xfrm>
              <a:off x="1127949" y="3431841"/>
              <a:ext cx="265176" cy="265176"/>
            </a:xfrm>
            <a:prstGeom prst="rect">
              <a:avLst/>
            </a:prstGeom>
            <a:noFill/>
            <a:ln>
              <a:noFill/>
            </a:ln>
          </p:spPr>
        </p:pic>
        <p:sp>
          <p:nvSpPr>
            <p:cNvPr id="4112" name="Google Shape;4112;p115"/>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4113" name="Google Shape;4113;p115"/>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4114" name="Google Shape;4114;p115"/>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4115" name="Google Shape;4115;p115"/>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4116" name="Google Shape;4116;p115"/>
          <p:cNvGrpSpPr/>
          <p:nvPr/>
        </p:nvGrpSpPr>
        <p:grpSpPr>
          <a:xfrm>
            <a:off x="10745081" y="3937546"/>
            <a:ext cx="549000" cy="366196"/>
            <a:chOff x="10745081" y="3937546"/>
            <a:chExt cx="549000" cy="366196"/>
          </a:xfrm>
        </p:grpSpPr>
        <p:pic>
          <p:nvPicPr>
            <p:cNvPr id="4117" name="Google Shape;4117;p115"/>
            <p:cNvPicPr preferRelativeResize="0"/>
            <p:nvPr/>
          </p:nvPicPr>
          <p:blipFill>
            <a:blip r:embed="rId12">
              <a:alphaModFix/>
            </a:blip>
            <a:stretch>
              <a:fillRect/>
            </a:stretch>
          </p:blipFill>
          <p:spPr>
            <a:xfrm>
              <a:off x="10912331" y="3937546"/>
              <a:ext cx="214500" cy="217452"/>
            </a:xfrm>
            <a:prstGeom prst="rect">
              <a:avLst/>
            </a:prstGeom>
            <a:noFill/>
            <a:ln>
              <a:noFill/>
            </a:ln>
          </p:spPr>
        </p:pic>
        <p:sp>
          <p:nvSpPr>
            <p:cNvPr id="4118" name="Google Shape;4118;p115"/>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4119" name="Google Shape;4119;p115"/>
          <p:cNvSpPr/>
          <p:nvPr/>
        </p:nvSpPr>
        <p:spPr>
          <a:xfrm>
            <a:off x="10521581" y="3219266"/>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4120" name="Google Shape;4120;p115"/>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4121" name="Google Shape;4121;p115"/>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4122" name="Google Shape;4122;p115"/>
          <p:cNvGrpSpPr/>
          <p:nvPr/>
        </p:nvGrpSpPr>
        <p:grpSpPr>
          <a:xfrm>
            <a:off x="10597029" y="1623535"/>
            <a:ext cx="845100" cy="405937"/>
            <a:chOff x="10597029" y="1623535"/>
            <a:chExt cx="845100" cy="405937"/>
          </a:xfrm>
        </p:grpSpPr>
        <p:sp>
          <p:nvSpPr>
            <p:cNvPr id="4123" name="Google Shape;4123;p115"/>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4124" name="Google Shape;4124;p115"/>
            <p:cNvPicPr preferRelativeResize="0"/>
            <p:nvPr/>
          </p:nvPicPr>
          <p:blipFill>
            <a:blip r:embed="rId13">
              <a:alphaModFix/>
            </a:blip>
            <a:stretch>
              <a:fillRect/>
            </a:stretch>
          </p:blipFill>
          <p:spPr>
            <a:xfrm>
              <a:off x="10850739" y="1623535"/>
              <a:ext cx="265176" cy="265176"/>
            </a:xfrm>
            <a:prstGeom prst="rect">
              <a:avLst/>
            </a:prstGeom>
            <a:noFill/>
            <a:ln>
              <a:noFill/>
            </a:ln>
          </p:spPr>
        </p:pic>
      </p:grpSp>
      <p:sp>
        <p:nvSpPr>
          <p:cNvPr id="4125" name="Google Shape;4125;p115"/>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4126" name="Google Shape;4126;p115"/>
          <p:cNvGrpSpPr/>
          <p:nvPr/>
        </p:nvGrpSpPr>
        <p:grpSpPr>
          <a:xfrm>
            <a:off x="10702031" y="2486073"/>
            <a:ext cx="635100" cy="543395"/>
            <a:chOff x="10702031" y="2486073"/>
            <a:chExt cx="635100" cy="543395"/>
          </a:xfrm>
        </p:grpSpPr>
        <p:sp>
          <p:nvSpPr>
            <p:cNvPr id="4127" name="Google Shape;4127;p115"/>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4128" name="Google Shape;4128;p115"/>
            <p:cNvPicPr preferRelativeResize="0"/>
            <p:nvPr/>
          </p:nvPicPr>
          <p:blipFill>
            <a:blip r:embed="rId14">
              <a:alphaModFix/>
            </a:blip>
            <a:stretch>
              <a:fillRect/>
            </a:stretch>
          </p:blipFill>
          <p:spPr>
            <a:xfrm>
              <a:off x="10850716" y="2486073"/>
              <a:ext cx="265176" cy="265176"/>
            </a:xfrm>
            <a:prstGeom prst="rect">
              <a:avLst/>
            </a:prstGeom>
            <a:noFill/>
            <a:ln>
              <a:noFill/>
            </a:ln>
          </p:spPr>
        </p:pic>
      </p:grpSp>
      <p:sp>
        <p:nvSpPr>
          <p:cNvPr id="4129" name="Google Shape;4129;p115"/>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4130" name="Google Shape;4130;p115"/>
          <p:cNvGrpSpPr/>
          <p:nvPr/>
        </p:nvGrpSpPr>
        <p:grpSpPr>
          <a:xfrm>
            <a:off x="10621328" y="4994250"/>
            <a:ext cx="796500" cy="553688"/>
            <a:chOff x="10621328" y="4994250"/>
            <a:chExt cx="796500" cy="553688"/>
          </a:xfrm>
        </p:grpSpPr>
        <p:sp>
          <p:nvSpPr>
            <p:cNvPr id="4131" name="Google Shape;4131;p115"/>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4132" name="Google Shape;4132;p115"/>
            <p:cNvPicPr preferRelativeResize="0"/>
            <p:nvPr/>
          </p:nvPicPr>
          <p:blipFill>
            <a:blip r:embed="rId15">
              <a:alphaModFix/>
            </a:blip>
            <a:stretch>
              <a:fillRect/>
            </a:stretch>
          </p:blipFill>
          <p:spPr>
            <a:xfrm>
              <a:off x="10864167" y="4994250"/>
              <a:ext cx="265176" cy="265176"/>
            </a:xfrm>
            <a:prstGeom prst="rect">
              <a:avLst/>
            </a:prstGeom>
            <a:noFill/>
            <a:ln>
              <a:noFill/>
            </a:ln>
          </p:spPr>
        </p:pic>
      </p:grpSp>
      <p:sp>
        <p:nvSpPr>
          <p:cNvPr id="4133" name="Google Shape;4133;p115"/>
          <p:cNvSpPr/>
          <p:nvPr/>
        </p:nvSpPr>
        <p:spPr>
          <a:xfrm>
            <a:off x="8319989" y="3207784"/>
            <a:ext cx="6858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4134" name="Google Shape;4134;p115"/>
          <p:cNvPicPr preferRelativeResize="0"/>
          <p:nvPr/>
        </p:nvPicPr>
        <p:blipFill>
          <a:blip r:embed="rId16">
            <a:alphaModFix/>
          </a:blip>
          <a:stretch>
            <a:fillRect/>
          </a:stretch>
        </p:blipFill>
        <p:spPr>
          <a:xfrm>
            <a:off x="4351863" y="5186555"/>
            <a:ext cx="173400" cy="173400"/>
          </a:xfrm>
          <a:prstGeom prst="rect">
            <a:avLst/>
          </a:prstGeom>
          <a:noFill/>
          <a:ln>
            <a:noFill/>
          </a:ln>
        </p:spPr>
      </p:pic>
      <p:sp>
        <p:nvSpPr>
          <p:cNvPr id="4135" name="Google Shape;4135;p115"/>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4136" name="Google Shape;4136;p115"/>
          <p:cNvGrpSpPr/>
          <p:nvPr/>
        </p:nvGrpSpPr>
        <p:grpSpPr>
          <a:xfrm>
            <a:off x="911400" y="4663311"/>
            <a:ext cx="336000" cy="426753"/>
            <a:chOff x="929785" y="4678386"/>
            <a:chExt cx="336000" cy="426753"/>
          </a:xfrm>
        </p:grpSpPr>
        <p:sp>
          <p:nvSpPr>
            <p:cNvPr id="4137" name="Google Shape;4137;p115"/>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4138" name="Google Shape;4138;p115" title="primary-icon-navy-spark-cluster.png"/>
            <p:cNvPicPr preferRelativeResize="0"/>
            <p:nvPr/>
          </p:nvPicPr>
          <p:blipFill>
            <a:blip r:embed="rId17">
              <a:alphaModFix/>
            </a:blip>
            <a:stretch>
              <a:fillRect/>
            </a:stretch>
          </p:blipFill>
          <p:spPr>
            <a:xfrm>
              <a:off x="963302" y="4678386"/>
              <a:ext cx="269065" cy="269063"/>
            </a:xfrm>
            <a:prstGeom prst="rect">
              <a:avLst/>
            </a:prstGeom>
            <a:noFill/>
            <a:ln>
              <a:noFill/>
            </a:ln>
          </p:spPr>
        </p:pic>
      </p:grpSp>
      <p:grpSp>
        <p:nvGrpSpPr>
          <p:cNvPr id="4139" name="Google Shape;4139;p115"/>
          <p:cNvGrpSpPr/>
          <p:nvPr/>
        </p:nvGrpSpPr>
        <p:grpSpPr>
          <a:xfrm>
            <a:off x="1366236" y="4655157"/>
            <a:ext cx="324300" cy="434522"/>
            <a:chOff x="1377357" y="4647990"/>
            <a:chExt cx="324300" cy="434522"/>
          </a:xfrm>
        </p:grpSpPr>
        <p:sp>
          <p:nvSpPr>
            <p:cNvPr id="4140" name="Google Shape;4140;p115"/>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4141" name="Google Shape;4141;p115" title="primary-icon-navy-hive-metastore-execution.png"/>
            <p:cNvPicPr preferRelativeResize="0"/>
            <p:nvPr/>
          </p:nvPicPr>
          <p:blipFill>
            <a:blip r:embed="rId18">
              <a:alphaModFix/>
            </a:blip>
            <a:stretch>
              <a:fillRect/>
            </a:stretch>
          </p:blipFill>
          <p:spPr>
            <a:xfrm>
              <a:off x="1379822" y="4647990"/>
              <a:ext cx="282300" cy="282300"/>
            </a:xfrm>
            <a:prstGeom prst="rect">
              <a:avLst/>
            </a:prstGeom>
            <a:noFill/>
            <a:ln>
              <a:noFill/>
            </a:ln>
          </p:spPr>
        </p:pic>
      </p:grpSp>
      <p:grpSp>
        <p:nvGrpSpPr>
          <p:cNvPr id="4142" name="Google Shape;4142;p115"/>
          <p:cNvGrpSpPr/>
          <p:nvPr/>
        </p:nvGrpSpPr>
        <p:grpSpPr>
          <a:xfrm>
            <a:off x="899750" y="4283846"/>
            <a:ext cx="359100" cy="422318"/>
            <a:chOff x="899750" y="4215307"/>
            <a:chExt cx="359100" cy="422318"/>
          </a:xfrm>
        </p:grpSpPr>
        <p:sp>
          <p:nvSpPr>
            <p:cNvPr id="4143" name="Google Shape;4143;p115"/>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4144" name="Google Shape;4144;p115" title="primary-icon-navy-data-warehouse-2.png"/>
            <p:cNvPicPr preferRelativeResize="0"/>
            <p:nvPr/>
          </p:nvPicPr>
          <p:blipFill>
            <a:blip r:embed="rId19">
              <a:alphaModFix/>
            </a:blip>
            <a:stretch>
              <a:fillRect/>
            </a:stretch>
          </p:blipFill>
          <p:spPr>
            <a:xfrm>
              <a:off x="912450" y="4215307"/>
              <a:ext cx="336000" cy="273665"/>
            </a:xfrm>
            <a:prstGeom prst="rect">
              <a:avLst/>
            </a:prstGeom>
            <a:noFill/>
            <a:ln>
              <a:noFill/>
            </a:ln>
          </p:spPr>
        </p:pic>
      </p:grpSp>
      <p:sp>
        <p:nvSpPr>
          <p:cNvPr id="4145" name="Google Shape;4145;p115"/>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4146" name="Google Shape;4146;p115"/>
          <p:cNvGrpSpPr/>
          <p:nvPr/>
        </p:nvGrpSpPr>
        <p:grpSpPr>
          <a:xfrm>
            <a:off x="1247501" y="5175655"/>
            <a:ext cx="524700" cy="496901"/>
            <a:chOff x="1266036" y="5196700"/>
            <a:chExt cx="524700" cy="496901"/>
          </a:xfrm>
        </p:grpSpPr>
        <p:sp>
          <p:nvSpPr>
            <p:cNvPr id="4147" name="Google Shape;4147;p115"/>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4148" name="Google Shape;4148;p115" title="primary-icon-navy-data-sharing.png"/>
            <p:cNvPicPr preferRelativeResize="0"/>
            <p:nvPr/>
          </p:nvPicPr>
          <p:blipFill>
            <a:blip r:embed="rId20">
              <a:alphaModFix/>
            </a:blip>
            <a:stretch>
              <a:fillRect/>
            </a:stretch>
          </p:blipFill>
          <p:spPr>
            <a:xfrm>
              <a:off x="1393854" y="5196700"/>
              <a:ext cx="269065" cy="269063"/>
            </a:xfrm>
            <a:prstGeom prst="rect">
              <a:avLst/>
            </a:prstGeom>
            <a:noFill/>
            <a:ln>
              <a:noFill/>
            </a:ln>
          </p:spPr>
        </p:pic>
      </p:grpSp>
      <p:grpSp>
        <p:nvGrpSpPr>
          <p:cNvPr id="4149" name="Google Shape;4149;p115"/>
          <p:cNvGrpSpPr/>
          <p:nvPr/>
        </p:nvGrpSpPr>
        <p:grpSpPr>
          <a:xfrm>
            <a:off x="816949" y="5175643"/>
            <a:ext cx="524700" cy="496193"/>
            <a:chOff x="835484" y="5196688"/>
            <a:chExt cx="524700" cy="496193"/>
          </a:xfrm>
        </p:grpSpPr>
        <p:sp>
          <p:nvSpPr>
            <p:cNvPr id="4150" name="Google Shape;4150;p115"/>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4151" name="Google Shape;4151;p115" title="primary-icon-navy-distribution.png"/>
            <p:cNvPicPr preferRelativeResize="0"/>
            <p:nvPr/>
          </p:nvPicPr>
          <p:blipFill>
            <a:blip r:embed="rId21">
              <a:alphaModFix/>
            </a:blip>
            <a:stretch>
              <a:fillRect/>
            </a:stretch>
          </p:blipFill>
          <p:spPr>
            <a:xfrm>
              <a:off x="963302" y="5196688"/>
              <a:ext cx="269065" cy="269063"/>
            </a:xfrm>
            <a:prstGeom prst="rect">
              <a:avLst/>
            </a:prstGeom>
            <a:noFill/>
            <a:ln>
              <a:noFill/>
            </a:ln>
          </p:spPr>
        </p:pic>
      </p:grpSp>
      <p:sp>
        <p:nvSpPr>
          <p:cNvPr id="4152" name="Google Shape;4152;p115"/>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4153" name="Google Shape;4153;p115"/>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4154" name="Google Shape;4154;p115"/>
          <p:cNvSpPr/>
          <p:nvPr/>
        </p:nvSpPr>
        <p:spPr>
          <a:xfrm>
            <a:off x="9352775" y="3179562"/>
            <a:ext cx="796500" cy="274200"/>
          </a:xfrm>
          <a:prstGeom prst="roundRect">
            <a:avLst>
              <a:gd fmla="val 22836"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Genie</a:t>
            </a:r>
            <a:endParaRPr sz="900">
              <a:solidFill>
                <a:schemeClr val="accent2"/>
              </a:solidFill>
              <a:latin typeface="DM Sans SemiBold"/>
              <a:ea typeface="DM Sans SemiBold"/>
              <a:cs typeface="DM Sans SemiBold"/>
              <a:sym typeface="DM Sans SemiBold"/>
            </a:endParaRPr>
          </a:p>
        </p:txBody>
      </p:sp>
      <p:sp>
        <p:nvSpPr>
          <p:cNvPr id="4155" name="Google Shape;4155;p115"/>
          <p:cNvSpPr/>
          <p:nvPr/>
        </p:nvSpPr>
        <p:spPr>
          <a:xfrm>
            <a:off x="9352775" y="2825260"/>
            <a:ext cx="796500" cy="274200"/>
          </a:xfrm>
          <a:prstGeom prst="roundRect">
            <a:avLst>
              <a:gd fmla="val 22836"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Dashboards</a:t>
            </a:r>
            <a:endParaRPr sz="900">
              <a:solidFill>
                <a:schemeClr val="accent2"/>
              </a:solidFill>
              <a:latin typeface="DM Sans SemiBold"/>
              <a:ea typeface="DM Sans SemiBold"/>
              <a:cs typeface="DM Sans SemiBold"/>
              <a:sym typeface="DM Sans SemiBold"/>
            </a:endParaRPr>
          </a:p>
        </p:txBody>
      </p:sp>
      <p:sp>
        <p:nvSpPr>
          <p:cNvPr id="4156" name="Google Shape;4156;p115"/>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4157" name="Google Shape;4157;p115"/>
          <p:cNvSpPr/>
          <p:nvPr/>
        </p:nvSpPr>
        <p:spPr>
          <a:xfrm>
            <a:off x="9352775" y="3798990"/>
            <a:ext cx="796500" cy="274200"/>
          </a:xfrm>
          <a:prstGeom prst="roundRect">
            <a:avLst>
              <a:gd fmla="val 22836"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4158" name="Google Shape;4158;p115"/>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4159" name="Google Shape;4159;p115"/>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4160" name="Google Shape;4160;p115"/>
          <p:cNvSpPr/>
          <p:nvPr/>
        </p:nvSpPr>
        <p:spPr>
          <a:xfrm>
            <a:off x="4566099" y="3179550"/>
            <a:ext cx="761100" cy="274200"/>
          </a:xfrm>
          <a:prstGeom prst="roundRect">
            <a:avLst>
              <a:gd fmla="val 19944"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4161" name="Google Shape;4161;p115"/>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4162" name="Google Shape;4162;p115"/>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4163" name="Google Shape;4163;p115"/>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4164" name="Google Shape;4164;p115"/>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4165" name="Google Shape;4165;p115"/>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sp>
        <p:nvSpPr>
          <p:cNvPr id="4166" name="Google Shape;4166;p115"/>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cxnSp>
        <p:nvCxnSpPr>
          <p:cNvPr id="4167" name="Google Shape;4167;p115"/>
          <p:cNvCxnSpPr>
            <a:stCxn id="4160" idx="1"/>
          </p:cNvCxnSpPr>
          <p:nvPr/>
        </p:nvCxnSpPr>
        <p:spPr>
          <a:xfrm flipH="1">
            <a:off x="4085799" y="3316650"/>
            <a:ext cx="480300" cy="1490400"/>
          </a:xfrm>
          <a:prstGeom prst="bentConnector2">
            <a:avLst/>
          </a:prstGeom>
          <a:noFill/>
          <a:ln cap="flat" cmpd="sng" w="19050">
            <a:solidFill>
              <a:schemeClr val="accent4"/>
            </a:solidFill>
            <a:prstDash val="solid"/>
            <a:round/>
            <a:headEnd len="sm" w="sm" type="triangle"/>
            <a:tailEnd len="sm" w="sm" type="none"/>
          </a:ln>
        </p:spPr>
      </p:cxnSp>
      <p:cxnSp>
        <p:nvCxnSpPr>
          <p:cNvPr id="4168" name="Google Shape;4168;p115"/>
          <p:cNvCxnSpPr>
            <a:stCxn id="4169" idx="2"/>
            <a:endCxn id="4164" idx="3"/>
          </p:cNvCxnSpPr>
          <p:nvPr/>
        </p:nvCxnSpPr>
        <p:spPr>
          <a:xfrm flipH="1">
            <a:off x="3963695" y="4560313"/>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4170" name="Google Shape;4170;p115"/>
          <p:cNvCxnSpPr>
            <a:stCxn id="4166" idx="1"/>
            <a:endCxn id="4169" idx="6"/>
          </p:cNvCxnSpPr>
          <p:nvPr/>
        </p:nvCxnSpPr>
        <p:spPr>
          <a:xfrm flipH="1">
            <a:off x="4120750" y="4560313"/>
            <a:ext cx="175200" cy="600"/>
          </a:xfrm>
          <a:prstGeom prst="bentConnector3">
            <a:avLst>
              <a:gd fmla="val 49959" name="adj1"/>
            </a:avLst>
          </a:prstGeom>
          <a:noFill/>
          <a:ln cap="flat" cmpd="sng" w="19050">
            <a:solidFill>
              <a:schemeClr val="accent4"/>
            </a:solidFill>
            <a:prstDash val="solid"/>
            <a:round/>
            <a:headEnd len="sm" w="sm" type="none"/>
            <a:tailEnd len="sm" w="sm" type="none"/>
          </a:ln>
        </p:spPr>
      </p:cxnSp>
      <p:sp>
        <p:nvSpPr>
          <p:cNvPr id="4169" name="Google Shape;4169;p115"/>
          <p:cNvSpPr/>
          <p:nvPr/>
        </p:nvSpPr>
        <p:spPr>
          <a:xfrm>
            <a:off x="4053095" y="4526413"/>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171" name="Google Shape;4171;p115"/>
          <p:cNvCxnSpPr>
            <a:stCxn id="4165" idx="1"/>
            <a:endCxn id="4166"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none"/>
            <a:tailEnd len="sm" w="sm" type="triangle"/>
          </a:ln>
        </p:spPr>
      </p:cxnSp>
      <p:sp>
        <p:nvSpPr>
          <p:cNvPr id="4172" name="Google Shape;4172;p115"/>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4173" name="Google Shape;4173;p115"/>
          <p:cNvSpPr/>
          <p:nvPr/>
        </p:nvSpPr>
        <p:spPr>
          <a:xfrm>
            <a:off x="4318824" y="379900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4174" name="Google Shape;4174;p115"/>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4175" name="Google Shape;4175;p115"/>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cxnSp>
        <p:nvCxnSpPr>
          <p:cNvPr id="4176" name="Google Shape;4176;p115"/>
          <p:cNvCxnSpPr>
            <a:stCxn id="4074" idx="0"/>
            <a:endCxn id="4082" idx="1"/>
          </p:cNvCxnSpPr>
          <p:nvPr/>
        </p:nvCxnSpPr>
        <p:spPr>
          <a:xfrm rot="-5400000">
            <a:off x="7460425" y="2308250"/>
            <a:ext cx="407100" cy="1231500"/>
          </a:xfrm>
          <a:prstGeom prst="bentConnector2">
            <a:avLst/>
          </a:prstGeom>
          <a:noFill/>
          <a:ln cap="flat" cmpd="sng" w="19050">
            <a:solidFill>
              <a:srgbClr val="4299E0"/>
            </a:solidFill>
            <a:prstDash val="solid"/>
            <a:round/>
            <a:headEnd len="sm" w="sm" type="triangle"/>
            <a:tailEnd len="sm" w="sm" type="none"/>
          </a:ln>
        </p:spPr>
      </p:cxnSp>
      <p:cxnSp>
        <p:nvCxnSpPr>
          <p:cNvPr id="4177" name="Google Shape;4177;p115"/>
          <p:cNvCxnSpPr>
            <a:stCxn id="4133" idx="1"/>
            <a:endCxn id="4066" idx="3"/>
          </p:cNvCxnSpPr>
          <p:nvPr/>
        </p:nvCxnSpPr>
        <p:spPr>
          <a:xfrm flipH="1">
            <a:off x="8193689" y="3344884"/>
            <a:ext cx="126300" cy="600"/>
          </a:xfrm>
          <a:prstGeom prst="bentConnector3">
            <a:avLst>
              <a:gd fmla="val 50043" name="adj1"/>
            </a:avLst>
          </a:prstGeom>
          <a:noFill/>
          <a:ln cap="flat" cmpd="sng" w="19050">
            <a:solidFill>
              <a:schemeClr val="accent4"/>
            </a:solidFill>
            <a:prstDash val="solid"/>
            <a:round/>
            <a:headEnd len="sm" w="sm" type="triangle"/>
            <a:tailEnd len="sm" w="sm" type="none"/>
          </a:ln>
        </p:spPr>
      </p:cxnSp>
      <p:cxnSp>
        <p:nvCxnSpPr>
          <p:cNvPr id="4178" name="Google Shape;4178;p115"/>
          <p:cNvCxnSpPr>
            <a:stCxn id="4133" idx="3"/>
            <a:endCxn id="4179" idx="1"/>
          </p:cNvCxnSpPr>
          <p:nvPr/>
        </p:nvCxnSpPr>
        <p:spPr>
          <a:xfrm>
            <a:off x="9005789" y="3344884"/>
            <a:ext cx="521400" cy="1893600"/>
          </a:xfrm>
          <a:prstGeom prst="bentConnector3">
            <a:avLst>
              <a:gd fmla="val 33000" name="adj1"/>
            </a:avLst>
          </a:prstGeom>
          <a:noFill/>
          <a:ln cap="flat" cmpd="sng" w="19050">
            <a:solidFill>
              <a:schemeClr val="accent4"/>
            </a:solidFill>
            <a:prstDash val="solid"/>
            <a:round/>
            <a:headEnd len="sm" w="sm" type="none"/>
            <a:tailEnd len="sm" w="sm" type="triangle"/>
          </a:ln>
        </p:spPr>
      </p:cxnSp>
      <p:cxnSp>
        <p:nvCxnSpPr>
          <p:cNvPr id="4180" name="Google Shape;4180;p115"/>
          <p:cNvCxnSpPr>
            <a:stCxn id="4133" idx="3"/>
            <a:endCxn id="4155" idx="1"/>
          </p:cNvCxnSpPr>
          <p:nvPr/>
        </p:nvCxnSpPr>
        <p:spPr>
          <a:xfrm flipH="1" rot="10800000">
            <a:off x="9005789" y="2962384"/>
            <a:ext cx="347100" cy="382500"/>
          </a:xfrm>
          <a:prstGeom prst="bentConnector3">
            <a:avLst>
              <a:gd fmla="val 49984" name="adj1"/>
            </a:avLst>
          </a:prstGeom>
          <a:noFill/>
          <a:ln cap="flat" cmpd="sng" w="19050">
            <a:solidFill>
              <a:schemeClr val="accent4"/>
            </a:solidFill>
            <a:prstDash val="solid"/>
            <a:round/>
            <a:headEnd len="sm" w="sm" type="none"/>
            <a:tailEnd len="sm" w="sm" type="triangle"/>
          </a:ln>
        </p:spPr>
      </p:cxnSp>
      <p:cxnSp>
        <p:nvCxnSpPr>
          <p:cNvPr id="4181" name="Google Shape;4181;p115"/>
          <p:cNvCxnSpPr>
            <a:endCxn id="4154" idx="1"/>
          </p:cNvCxnSpPr>
          <p:nvPr/>
        </p:nvCxnSpPr>
        <p:spPr>
          <a:xfrm>
            <a:off x="9184475" y="3316062"/>
            <a:ext cx="168300" cy="600"/>
          </a:xfrm>
          <a:prstGeom prst="bentConnector3">
            <a:avLst>
              <a:gd fmla="val 50000" name="adj1"/>
            </a:avLst>
          </a:prstGeom>
          <a:noFill/>
          <a:ln cap="flat" cmpd="sng" w="19050">
            <a:solidFill>
              <a:schemeClr val="accent4"/>
            </a:solidFill>
            <a:prstDash val="solid"/>
            <a:round/>
            <a:headEnd len="sm" w="sm" type="none"/>
            <a:tailEnd len="sm" w="sm" type="triangle"/>
          </a:ln>
        </p:spPr>
      </p:cxnSp>
      <p:sp>
        <p:nvSpPr>
          <p:cNvPr id="4182" name="Google Shape;4182;p115"/>
          <p:cNvSpPr/>
          <p:nvPr/>
        </p:nvSpPr>
        <p:spPr>
          <a:xfrm>
            <a:off x="9069597" y="3416295"/>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cxnSp>
        <p:nvCxnSpPr>
          <p:cNvPr id="4183" name="Google Shape;4183;p115"/>
          <p:cNvCxnSpPr/>
          <p:nvPr/>
        </p:nvCxnSpPr>
        <p:spPr>
          <a:xfrm flipH="1">
            <a:off x="7368625" y="3282354"/>
            <a:ext cx="146700" cy="600"/>
          </a:xfrm>
          <a:prstGeom prst="bentConnector3">
            <a:avLst>
              <a:gd fmla="val 50000" name="adj1"/>
            </a:avLst>
          </a:prstGeom>
          <a:noFill/>
          <a:ln cap="flat" cmpd="sng" w="19050">
            <a:solidFill>
              <a:srgbClr val="4299E0"/>
            </a:solidFill>
            <a:prstDash val="solid"/>
            <a:round/>
            <a:headEnd len="sm" w="sm" type="triangle"/>
            <a:tailEnd len="sm" w="sm" type="none"/>
          </a:ln>
        </p:spPr>
      </p:cxnSp>
      <p:sp>
        <p:nvSpPr>
          <p:cNvPr id="4184" name="Google Shape;4184;p115"/>
          <p:cNvSpPr/>
          <p:nvPr/>
        </p:nvSpPr>
        <p:spPr>
          <a:xfrm>
            <a:off x="6726100" y="5967925"/>
            <a:ext cx="36345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85" name="Google Shape;4185;p115"/>
          <p:cNvSpPr txBox="1"/>
          <p:nvPr/>
        </p:nvSpPr>
        <p:spPr>
          <a:xfrm>
            <a:off x="7007648" y="6006407"/>
            <a:ext cx="3244200" cy="712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100">
                <a:solidFill>
                  <a:schemeClr val="accent5"/>
                </a:solidFill>
                <a:latin typeface="DM Sans"/>
                <a:ea typeface="DM Sans"/>
                <a:cs typeface="DM Sans"/>
                <a:sym typeface="DM Sans"/>
              </a:rPr>
              <a:t>Access DWH from different BI and App clients</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0"/>
              </a:spcAft>
              <a:buNone/>
            </a:pPr>
            <a:r>
              <a:rPr lang="en" sz="1100">
                <a:solidFill>
                  <a:schemeClr val="accent5"/>
                </a:solidFill>
                <a:latin typeface="DM Sans"/>
                <a:ea typeface="DM Sans"/>
                <a:cs typeface="DM Sans"/>
                <a:sym typeface="DM Sans"/>
              </a:rPr>
              <a:t>Check access permissions and read from object storage</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400"/>
              </a:spcAft>
              <a:buNone/>
            </a:pPr>
            <a:r>
              <a:rPr lang="en" sz="1100">
                <a:solidFill>
                  <a:schemeClr val="accent5"/>
                </a:solidFill>
                <a:latin typeface="DM Sans"/>
                <a:ea typeface="DM Sans"/>
                <a:cs typeface="DM Sans"/>
                <a:sym typeface="DM Sans"/>
              </a:rPr>
              <a:t>Integrate AI models into SQL</a:t>
            </a:r>
            <a:endParaRPr sz="1100">
              <a:solidFill>
                <a:schemeClr val="accent5"/>
              </a:solidFill>
              <a:latin typeface="DM Sans"/>
              <a:ea typeface="DM Sans"/>
              <a:cs typeface="DM Sans"/>
              <a:sym typeface="DM Sans"/>
            </a:endParaRPr>
          </a:p>
        </p:txBody>
      </p:sp>
      <p:sp>
        <p:nvSpPr>
          <p:cNvPr id="4186" name="Google Shape;4186;p115"/>
          <p:cNvSpPr/>
          <p:nvPr/>
        </p:nvSpPr>
        <p:spPr>
          <a:xfrm>
            <a:off x="6782856" y="6551344"/>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4187" name="Google Shape;4187;p115"/>
          <p:cNvSpPr/>
          <p:nvPr/>
        </p:nvSpPr>
        <p:spPr>
          <a:xfrm>
            <a:off x="6782856" y="5999409"/>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188" name="Google Shape;4188;p115"/>
          <p:cNvSpPr/>
          <p:nvPr/>
        </p:nvSpPr>
        <p:spPr>
          <a:xfrm>
            <a:off x="6782856" y="6210485"/>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189" name="Google Shape;4189;p115"/>
          <p:cNvSpPr/>
          <p:nvPr/>
        </p:nvSpPr>
        <p:spPr>
          <a:xfrm>
            <a:off x="6945772" y="2617866"/>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cxnSp>
        <p:nvCxnSpPr>
          <p:cNvPr id="4190" name="Google Shape;4190;p115"/>
          <p:cNvCxnSpPr>
            <a:endCxn id="4157" idx="1"/>
          </p:cNvCxnSpPr>
          <p:nvPr/>
        </p:nvCxnSpPr>
        <p:spPr>
          <a:xfrm>
            <a:off x="9184175" y="3935490"/>
            <a:ext cx="168600" cy="600"/>
          </a:xfrm>
          <a:prstGeom prst="bentConnector3">
            <a:avLst>
              <a:gd fmla="val 50000" name="adj1"/>
            </a:avLst>
          </a:prstGeom>
          <a:noFill/>
          <a:ln cap="flat" cmpd="sng" w="19050">
            <a:solidFill>
              <a:schemeClr val="accent4"/>
            </a:solidFill>
            <a:prstDash val="solid"/>
            <a:round/>
            <a:headEnd len="sm" w="sm" type="none"/>
            <a:tailEnd len="sm" w="sm" type="triangle"/>
          </a:ln>
        </p:spPr>
      </p:cxnSp>
      <p:cxnSp>
        <p:nvCxnSpPr>
          <p:cNvPr id="4191" name="Google Shape;4191;p115"/>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4192" name="Google Shape;4192;p115"/>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grpSp>
        <p:nvGrpSpPr>
          <p:cNvPr id="4193" name="Google Shape;4193;p115"/>
          <p:cNvGrpSpPr/>
          <p:nvPr/>
        </p:nvGrpSpPr>
        <p:grpSpPr>
          <a:xfrm>
            <a:off x="9133775" y="5106027"/>
            <a:ext cx="1082100" cy="391902"/>
            <a:chOff x="9515475" y="4663855"/>
            <a:chExt cx="1082100" cy="391902"/>
          </a:xfrm>
        </p:grpSpPr>
        <p:sp>
          <p:nvSpPr>
            <p:cNvPr id="4194" name="Google Shape;4194;p115"/>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4179" name="Google Shape;4179;p115"/>
            <p:cNvPicPr preferRelativeResize="0"/>
            <p:nvPr/>
          </p:nvPicPr>
          <p:blipFill>
            <a:blip r:embed="rId10">
              <a:alphaModFix/>
            </a:blip>
            <a:stretch>
              <a:fillRect/>
            </a:stretch>
          </p:blipFill>
          <p:spPr>
            <a:xfrm>
              <a:off x="9908871" y="4663855"/>
              <a:ext cx="265176" cy="265176"/>
            </a:xfrm>
            <a:prstGeom prst="rect">
              <a:avLst/>
            </a:prstGeom>
            <a:noFill/>
            <a:ln>
              <a:noFill/>
            </a:ln>
          </p:spPr>
        </p:pic>
      </p:grpSp>
      <p:cxnSp>
        <p:nvCxnSpPr>
          <p:cNvPr id="4195" name="Google Shape;4195;p115"/>
          <p:cNvCxnSpPr>
            <a:endCxn id="4073" idx="1"/>
          </p:cNvCxnSpPr>
          <p:nvPr/>
        </p:nvCxnSpPr>
        <p:spPr>
          <a:xfrm>
            <a:off x="9174137" y="4598603"/>
            <a:ext cx="368100" cy="600"/>
          </a:xfrm>
          <a:prstGeom prst="bentConnector3">
            <a:avLst>
              <a:gd fmla="val 50000" name="adj1"/>
            </a:avLst>
          </a:prstGeom>
          <a:noFill/>
          <a:ln cap="flat" cmpd="sng" w="19050">
            <a:solidFill>
              <a:schemeClr val="accent4"/>
            </a:solidFill>
            <a:prstDash val="solid"/>
            <a:round/>
            <a:headEnd len="sm" w="sm" type="none"/>
            <a:tailEnd len="sm" w="sm" type="triangle"/>
          </a:ln>
        </p:spPr>
      </p:cxnSp>
      <p:cxnSp>
        <p:nvCxnSpPr>
          <p:cNvPr id="4196" name="Google Shape;4196;p115"/>
          <p:cNvCxnSpPr/>
          <p:nvPr/>
        </p:nvCxnSpPr>
        <p:spPr>
          <a:xfrm flipH="1">
            <a:off x="5331399" y="3422850"/>
            <a:ext cx="2179800" cy="600"/>
          </a:xfrm>
          <a:prstGeom prst="bentConnector3">
            <a:avLst>
              <a:gd fmla="val 50000" name="adj1"/>
            </a:avLst>
          </a:prstGeom>
          <a:noFill/>
          <a:ln cap="flat" cmpd="sng" w="9525">
            <a:solidFill>
              <a:schemeClr val="accent4"/>
            </a:solidFill>
            <a:prstDash val="dash"/>
            <a:round/>
            <a:headEnd len="sm" w="sm" type="none"/>
            <a:tailEnd len="sm" w="sm" type="none"/>
          </a:ln>
        </p:spPr>
      </p:cxnSp>
      <p:sp>
        <p:nvSpPr>
          <p:cNvPr id="4197" name="Google Shape;4197;p115"/>
          <p:cNvSpPr txBox="1"/>
          <p:nvPr/>
        </p:nvSpPr>
        <p:spPr>
          <a:xfrm rot="-6614">
            <a:off x="5733802" y="3303267"/>
            <a:ext cx="623701" cy="110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i="1" lang="en" sz="800">
                <a:solidFill>
                  <a:srgbClr val="DD9312"/>
                </a:solidFill>
                <a:latin typeface="DM Sans Medium"/>
                <a:ea typeface="DM Sans Medium"/>
                <a:cs typeface="DM Sans Medium"/>
                <a:sym typeface="DM Sans Medium"/>
              </a:rPr>
              <a:t>part of</a:t>
            </a:r>
            <a:endParaRPr i="1" sz="800">
              <a:solidFill>
                <a:srgbClr val="DD9312"/>
              </a:solidFill>
              <a:latin typeface="DM Sans Medium"/>
              <a:ea typeface="DM Sans Medium"/>
              <a:cs typeface="DM Sans Medium"/>
              <a:sym typeface="DM Sans Medium"/>
            </a:endParaRPr>
          </a:p>
        </p:txBody>
      </p:sp>
      <p:grpSp>
        <p:nvGrpSpPr>
          <p:cNvPr id="4198" name="Google Shape;4198;p115"/>
          <p:cNvGrpSpPr/>
          <p:nvPr/>
        </p:nvGrpSpPr>
        <p:grpSpPr>
          <a:xfrm>
            <a:off x="10606481" y="3507444"/>
            <a:ext cx="826200" cy="363728"/>
            <a:chOff x="10606481" y="3507444"/>
            <a:chExt cx="826200" cy="363728"/>
          </a:xfrm>
        </p:grpSpPr>
        <p:sp>
          <p:nvSpPr>
            <p:cNvPr id="4199" name="Google Shape;4199;p115"/>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200" name="Google Shape;4200;p115"/>
            <p:cNvPicPr preferRelativeResize="0"/>
            <p:nvPr/>
          </p:nvPicPr>
          <p:blipFill>
            <a:blip r:embed="rId22">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4" name="Shape 4204"/>
        <p:cNvGrpSpPr/>
        <p:nvPr/>
      </p:nvGrpSpPr>
      <p:grpSpPr>
        <a:xfrm>
          <a:off x="0" y="0"/>
          <a:ext cx="0" cy="0"/>
          <a:chOff x="0" y="0"/>
          <a:chExt cx="0" cy="0"/>
        </a:xfrm>
      </p:grpSpPr>
      <p:sp>
        <p:nvSpPr>
          <p:cNvPr id="4205" name="Google Shape;4205;p116"/>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4206" name="Google Shape;4206;p116"/>
          <p:cNvGrpSpPr/>
          <p:nvPr/>
        </p:nvGrpSpPr>
        <p:grpSpPr>
          <a:xfrm rot="-5400000">
            <a:off x="8118194" y="4175940"/>
            <a:ext cx="198576" cy="208513"/>
            <a:chOff x="3295749" y="3922446"/>
            <a:chExt cx="198576" cy="208513"/>
          </a:xfrm>
        </p:grpSpPr>
        <p:sp>
          <p:nvSpPr>
            <p:cNvPr id="4207" name="Google Shape;4207;p116"/>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208" name="Google Shape;4208;p116"/>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209" name="Google Shape;4209;p116"/>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210" name="Google Shape;4210;p116"/>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211" name="Google Shape;4211;p116"/>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212" name="Google Shape;4212;p116"/>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4213" name="Google Shape;4213;p116"/>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4214" name="Google Shape;4214;p116"/>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7 Business Apps</a:t>
            </a:r>
            <a:endParaRPr b="1" sz="3600">
              <a:latin typeface="DM Sans"/>
              <a:ea typeface="DM Sans"/>
              <a:cs typeface="DM Sans"/>
              <a:sym typeface="DM Sans"/>
            </a:endParaRPr>
          </a:p>
        </p:txBody>
      </p:sp>
      <p:sp>
        <p:nvSpPr>
          <p:cNvPr id="4215" name="Google Shape;4215;p116"/>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4216" name="Google Shape;4216;p116"/>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4217" name="Google Shape;4217;p116"/>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4218" name="Google Shape;4218;p116"/>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4219" name="Google Shape;4219;p116"/>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Engineering and </a:t>
            </a:r>
            <a:r>
              <a:rPr lang="en" sz="1100">
                <a:solidFill>
                  <a:schemeClr val="accent5"/>
                </a:solidFill>
                <a:latin typeface="DM Sans Medium"/>
                <a:ea typeface="DM Sans Medium"/>
                <a:cs typeface="DM Sans Medium"/>
                <a:sym typeface="DM Sans Medium"/>
              </a:rPr>
              <a:t>Processing</a:t>
            </a:r>
            <a:endParaRPr sz="1100">
              <a:solidFill>
                <a:schemeClr val="accent5"/>
              </a:solidFill>
              <a:latin typeface="DM Sans Medium"/>
              <a:ea typeface="DM Sans Medium"/>
              <a:cs typeface="DM Sans Medium"/>
              <a:sym typeface="DM Sans Medium"/>
            </a:endParaRPr>
          </a:p>
        </p:txBody>
      </p:sp>
      <p:sp>
        <p:nvSpPr>
          <p:cNvPr id="4220" name="Google Shape;4220;p116"/>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4221" name="Google Shape;4221;p116"/>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4222" name="Google Shape;4222;p116"/>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4223" name="Google Shape;4223;p116"/>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4224" name="Google Shape;4224;p116"/>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4225" name="Google Shape;4225;p116"/>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4226" name="Google Shape;4226;p116"/>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4227" name="Google Shape;4227;p116"/>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4228" name="Google Shape;4228;p116"/>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4229" name="Google Shape;4229;p116"/>
          <p:cNvSpPr/>
          <p:nvPr/>
        </p:nvSpPr>
        <p:spPr>
          <a:xfrm>
            <a:off x="7507780" y="3207784"/>
            <a:ext cx="6858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grpSp>
        <p:nvGrpSpPr>
          <p:cNvPr id="4230" name="Google Shape;4230;p116"/>
          <p:cNvGrpSpPr/>
          <p:nvPr/>
        </p:nvGrpSpPr>
        <p:grpSpPr>
          <a:xfrm>
            <a:off x="4283501" y="5741943"/>
            <a:ext cx="1044000" cy="397683"/>
            <a:chOff x="4661400" y="6214292"/>
            <a:chExt cx="1044000" cy="397683"/>
          </a:xfrm>
        </p:grpSpPr>
        <p:sp>
          <p:nvSpPr>
            <p:cNvPr id="4231" name="Google Shape;4231;p116"/>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4232" name="Google Shape;4232;p116"/>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4233" name="Google Shape;4233;p116"/>
          <p:cNvSpPr/>
          <p:nvPr/>
        </p:nvSpPr>
        <p:spPr>
          <a:xfrm>
            <a:off x="6727825" y="3127550"/>
            <a:ext cx="640800" cy="2463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4234" name="Google Shape;4234;p116"/>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4235" name="Google Shape;4235;p116"/>
          <p:cNvPicPr preferRelativeResize="0"/>
          <p:nvPr/>
        </p:nvPicPr>
        <p:blipFill>
          <a:blip r:embed="rId4">
            <a:alphaModFix/>
          </a:blip>
          <a:stretch>
            <a:fillRect/>
          </a:stretch>
        </p:blipFill>
        <p:spPr>
          <a:xfrm>
            <a:off x="3367671" y="5181455"/>
            <a:ext cx="200700" cy="191237"/>
          </a:xfrm>
          <a:prstGeom prst="rect">
            <a:avLst/>
          </a:prstGeom>
          <a:noFill/>
          <a:ln>
            <a:noFill/>
          </a:ln>
        </p:spPr>
      </p:pic>
      <p:sp>
        <p:nvSpPr>
          <p:cNvPr id="4236" name="Google Shape;4236;p116"/>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4237" name="Google Shape;4237;p116"/>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cxnSp>
        <p:nvCxnSpPr>
          <p:cNvPr id="4238" name="Google Shape;4238;p116"/>
          <p:cNvCxnSpPr>
            <a:stCxn id="4239" idx="2"/>
            <a:endCxn id="4232" idx="1"/>
          </p:cNvCxnSpPr>
          <p:nvPr/>
        </p:nvCxnSpPr>
        <p:spPr>
          <a:xfrm flipH="1" rot="-5400000">
            <a:off x="4223034" y="5439696"/>
            <a:ext cx="367500" cy="502200"/>
          </a:xfrm>
          <a:prstGeom prst="bentConnector2">
            <a:avLst/>
          </a:prstGeom>
          <a:noFill/>
          <a:ln cap="flat" cmpd="sng" w="19050">
            <a:solidFill>
              <a:schemeClr val="accent4"/>
            </a:solidFill>
            <a:prstDash val="solid"/>
            <a:round/>
            <a:headEnd len="sm" w="sm" type="triangle"/>
            <a:tailEnd len="sm" w="sm" type="none"/>
          </a:ln>
        </p:spPr>
      </p:cxnSp>
      <p:pic>
        <p:nvPicPr>
          <p:cNvPr id="4240" name="Google Shape;4240;p116"/>
          <p:cNvPicPr preferRelativeResize="0"/>
          <p:nvPr/>
        </p:nvPicPr>
        <p:blipFill>
          <a:blip r:embed="rId5">
            <a:alphaModFix/>
          </a:blip>
          <a:stretch>
            <a:fillRect/>
          </a:stretch>
        </p:blipFill>
        <p:spPr>
          <a:xfrm>
            <a:off x="4998129" y="1403077"/>
            <a:ext cx="259650" cy="279625"/>
          </a:xfrm>
          <a:prstGeom prst="rect">
            <a:avLst/>
          </a:prstGeom>
          <a:noFill/>
          <a:ln>
            <a:noFill/>
          </a:ln>
        </p:spPr>
      </p:pic>
      <p:sp>
        <p:nvSpPr>
          <p:cNvPr id="4239" name="Google Shape;4239;p116"/>
          <p:cNvSpPr/>
          <p:nvPr/>
        </p:nvSpPr>
        <p:spPr>
          <a:xfrm>
            <a:off x="4104084" y="5415546"/>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241" name="Google Shape;4241;p116"/>
          <p:cNvGrpSpPr/>
          <p:nvPr/>
        </p:nvGrpSpPr>
        <p:grpSpPr>
          <a:xfrm>
            <a:off x="5357469" y="5168059"/>
            <a:ext cx="1015163" cy="210402"/>
            <a:chOff x="6995676" y="6025175"/>
            <a:chExt cx="1015163" cy="210402"/>
          </a:xfrm>
        </p:grpSpPr>
        <p:sp>
          <p:nvSpPr>
            <p:cNvPr id="4242" name="Google Shape;4242;p116"/>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4243" name="Google Shape;4243;p116"/>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4244" name="Google Shape;4244;p116"/>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4245" name="Google Shape;4245;p116"/>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246" name="Google Shape;4246;p116"/>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247" name="Google Shape;4247;p116"/>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248" name="Google Shape;4248;p116"/>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249" name="Google Shape;4249;p116"/>
            <p:cNvCxnSpPr>
              <a:stCxn id="4246" idx="4"/>
              <a:endCxn id="4250"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4250" name="Google Shape;4250;p116"/>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251" name="Google Shape;4251;p116"/>
            <p:cNvCxnSpPr>
              <a:stCxn id="4245" idx="4"/>
              <a:endCxn id="4248"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4252" name="Google Shape;4252;p116"/>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4253" name="Google Shape;4253;p116"/>
          <p:cNvGrpSpPr/>
          <p:nvPr/>
        </p:nvGrpSpPr>
        <p:grpSpPr>
          <a:xfrm>
            <a:off x="861763" y="1388635"/>
            <a:ext cx="879600" cy="565670"/>
            <a:chOff x="820734" y="1742570"/>
            <a:chExt cx="879600" cy="565670"/>
          </a:xfrm>
        </p:grpSpPr>
        <p:sp>
          <p:nvSpPr>
            <p:cNvPr id="4254" name="Google Shape;4254;p116"/>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255" name="Google Shape;4255;p116"/>
            <p:cNvPicPr preferRelativeResize="0"/>
            <p:nvPr/>
          </p:nvPicPr>
          <p:blipFill>
            <a:blip r:embed="rId6">
              <a:alphaModFix/>
            </a:blip>
            <a:stretch>
              <a:fillRect/>
            </a:stretch>
          </p:blipFill>
          <p:spPr>
            <a:xfrm>
              <a:off x="1127949" y="1742570"/>
              <a:ext cx="265176" cy="265176"/>
            </a:xfrm>
            <a:prstGeom prst="rect">
              <a:avLst/>
            </a:prstGeom>
            <a:noFill/>
            <a:ln>
              <a:noFill/>
            </a:ln>
          </p:spPr>
        </p:pic>
      </p:grpSp>
      <p:grpSp>
        <p:nvGrpSpPr>
          <p:cNvPr id="4256" name="Google Shape;4256;p116"/>
          <p:cNvGrpSpPr/>
          <p:nvPr/>
        </p:nvGrpSpPr>
        <p:grpSpPr>
          <a:xfrm>
            <a:off x="1278400" y="4282495"/>
            <a:ext cx="462900" cy="422268"/>
            <a:chOff x="1296935" y="4254734"/>
            <a:chExt cx="462900" cy="422268"/>
          </a:xfrm>
        </p:grpSpPr>
        <p:pic>
          <p:nvPicPr>
            <p:cNvPr id="4257" name="Google Shape;4257;p116"/>
            <p:cNvPicPr preferRelativeResize="0"/>
            <p:nvPr/>
          </p:nvPicPr>
          <p:blipFill rotWithShape="1">
            <a:blip r:embed="rId7">
              <a:alphaModFix/>
            </a:blip>
            <a:srcRect b="0" l="0" r="0" t="0"/>
            <a:stretch/>
          </p:blipFill>
          <p:spPr>
            <a:xfrm>
              <a:off x="1395798" y="4254734"/>
              <a:ext cx="265176" cy="265176"/>
            </a:xfrm>
            <a:prstGeom prst="rect">
              <a:avLst/>
            </a:prstGeom>
            <a:noFill/>
            <a:ln>
              <a:noFill/>
            </a:ln>
          </p:spPr>
        </p:pic>
        <p:sp>
          <p:nvSpPr>
            <p:cNvPr id="4258" name="Google Shape;4258;p116"/>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4259" name="Google Shape;4259;p116"/>
          <p:cNvGrpSpPr/>
          <p:nvPr/>
        </p:nvGrpSpPr>
        <p:grpSpPr>
          <a:xfrm>
            <a:off x="861800" y="1970622"/>
            <a:ext cx="879600" cy="558086"/>
            <a:chOff x="820771" y="2866176"/>
            <a:chExt cx="879600" cy="558086"/>
          </a:xfrm>
        </p:grpSpPr>
        <p:sp>
          <p:nvSpPr>
            <p:cNvPr id="4260" name="Google Shape;4260;p116"/>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4261" name="Google Shape;4261;p116"/>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4262" name="Google Shape;4262;p116"/>
          <p:cNvGrpSpPr/>
          <p:nvPr/>
        </p:nvGrpSpPr>
        <p:grpSpPr>
          <a:xfrm>
            <a:off x="903312" y="2545026"/>
            <a:ext cx="796500" cy="542824"/>
            <a:chOff x="862283" y="2315806"/>
            <a:chExt cx="796500" cy="542824"/>
          </a:xfrm>
        </p:grpSpPr>
        <p:sp>
          <p:nvSpPr>
            <p:cNvPr id="4263" name="Google Shape;4263;p116"/>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264" name="Google Shape;4264;p116"/>
            <p:cNvPicPr preferRelativeResize="0"/>
            <p:nvPr/>
          </p:nvPicPr>
          <p:blipFill>
            <a:blip r:embed="rId7">
              <a:alphaModFix/>
            </a:blip>
            <a:stretch>
              <a:fillRect/>
            </a:stretch>
          </p:blipFill>
          <p:spPr>
            <a:xfrm>
              <a:off x="1127949" y="2315806"/>
              <a:ext cx="265176" cy="265176"/>
            </a:xfrm>
            <a:prstGeom prst="rect">
              <a:avLst/>
            </a:prstGeom>
            <a:noFill/>
            <a:ln>
              <a:noFill/>
            </a:ln>
          </p:spPr>
        </p:pic>
      </p:grpSp>
      <p:grpSp>
        <p:nvGrpSpPr>
          <p:cNvPr id="4265" name="Google Shape;4265;p116"/>
          <p:cNvGrpSpPr/>
          <p:nvPr/>
        </p:nvGrpSpPr>
        <p:grpSpPr>
          <a:xfrm>
            <a:off x="861700" y="3104161"/>
            <a:ext cx="879600" cy="559474"/>
            <a:chOff x="820671" y="3997940"/>
            <a:chExt cx="879600" cy="559474"/>
          </a:xfrm>
        </p:grpSpPr>
        <p:pic>
          <p:nvPicPr>
            <p:cNvPr id="4266" name="Google Shape;4266;p116"/>
            <p:cNvPicPr preferRelativeResize="0"/>
            <p:nvPr/>
          </p:nvPicPr>
          <p:blipFill>
            <a:blip r:embed="rId9">
              <a:alphaModFix/>
            </a:blip>
            <a:stretch>
              <a:fillRect/>
            </a:stretch>
          </p:blipFill>
          <p:spPr>
            <a:xfrm>
              <a:off x="1127949" y="3997940"/>
              <a:ext cx="265176" cy="265176"/>
            </a:xfrm>
            <a:prstGeom prst="rect">
              <a:avLst/>
            </a:prstGeom>
            <a:noFill/>
            <a:ln>
              <a:noFill/>
            </a:ln>
          </p:spPr>
        </p:pic>
        <p:sp>
          <p:nvSpPr>
            <p:cNvPr id="4267" name="Google Shape;4267;p116"/>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4268" name="Google Shape;4268;p116"/>
          <p:cNvGrpSpPr/>
          <p:nvPr/>
        </p:nvGrpSpPr>
        <p:grpSpPr>
          <a:xfrm>
            <a:off x="920210" y="3679952"/>
            <a:ext cx="761100" cy="558519"/>
            <a:chOff x="880006" y="3431841"/>
            <a:chExt cx="761100" cy="558519"/>
          </a:xfrm>
        </p:grpSpPr>
        <p:pic>
          <p:nvPicPr>
            <p:cNvPr id="4269" name="Google Shape;4269;p116"/>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4270" name="Google Shape;4270;p116"/>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4271" name="Google Shape;4271;p116"/>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4272" name="Google Shape;4272;p116"/>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4273" name="Google Shape;4273;p116"/>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4274" name="Google Shape;4274;p116"/>
          <p:cNvGrpSpPr/>
          <p:nvPr/>
        </p:nvGrpSpPr>
        <p:grpSpPr>
          <a:xfrm>
            <a:off x="10745081" y="3937546"/>
            <a:ext cx="549000" cy="366196"/>
            <a:chOff x="10745081" y="3937546"/>
            <a:chExt cx="549000" cy="366196"/>
          </a:xfrm>
        </p:grpSpPr>
        <p:pic>
          <p:nvPicPr>
            <p:cNvPr id="4275" name="Google Shape;4275;p116"/>
            <p:cNvPicPr preferRelativeResize="0"/>
            <p:nvPr/>
          </p:nvPicPr>
          <p:blipFill>
            <a:blip r:embed="rId11">
              <a:alphaModFix/>
            </a:blip>
            <a:stretch>
              <a:fillRect/>
            </a:stretch>
          </p:blipFill>
          <p:spPr>
            <a:xfrm>
              <a:off x="10912331" y="3937546"/>
              <a:ext cx="214500" cy="217452"/>
            </a:xfrm>
            <a:prstGeom prst="rect">
              <a:avLst/>
            </a:prstGeom>
            <a:noFill/>
            <a:ln>
              <a:noFill/>
            </a:ln>
          </p:spPr>
        </p:pic>
        <p:sp>
          <p:nvSpPr>
            <p:cNvPr id="4276" name="Google Shape;4276;p116"/>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4277" name="Google Shape;4277;p116"/>
          <p:cNvSpPr/>
          <p:nvPr/>
        </p:nvSpPr>
        <p:spPr>
          <a:xfrm>
            <a:off x="10521581" y="3219266"/>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4278" name="Google Shape;4278;p116"/>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4279" name="Google Shape;4279;p116"/>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4280" name="Google Shape;4280;p116"/>
          <p:cNvGrpSpPr/>
          <p:nvPr/>
        </p:nvGrpSpPr>
        <p:grpSpPr>
          <a:xfrm>
            <a:off x="10597029" y="1623535"/>
            <a:ext cx="845100" cy="405937"/>
            <a:chOff x="10597029" y="1623535"/>
            <a:chExt cx="845100" cy="405937"/>
          </a:xfrm>
        </p:grpSpPr>
        <p:sp>
          <p:nvSpPr>
            <p:cNvPr id="4281" name="Google Shape;4281;p116"/>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4282" name="Google Shape;4282;p116"/>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4283" name="Google Shape;4283;p116"/>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4284" name="Google Shape;4284;p116"/>
          <p:cNvGrpSpPr/>
          <p:nvPr/>
        </p:nvGrpSpPr>
        <p:grpSpPr>
          <a:xfrm>
            <a:off x="10702031" y="2486073"/>
            <a:ext cx="635100" cy="543395"/>
            <a:chOff x="10702031" y="2486073"/>
            <a:chExt cx="635100" cy="543395"/>
          </a:xfrm>
        </p:grpSpPr>
        <p:sp>
          <p:nvSpPr>
            <p:cNvPr id="4285" name="Google Shape;4285;p116"/>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4286" name="Google Shape;4286;p116"/>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4287" name="Google Shape;4287;p116"/>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4288" name="Google Shape;4288;p116"/>
          <p:cNvGrpSpPr/>
          <p:nvPr/>
        </p:nvGrpSpPr>
        <p:grpSpPr>
          <a:xfrm>
            <a:off x="10621328" y="4994250"/>
            <a:ext cx="796500" cy="553688"/>
            <a:chOff x="10621328" y="4994250"/>
            <a:chExt cx="796500" cy="553688"/>
          </a:xfrm>
        </p:grpSpPr>
        <p:sp>
          <p:nvSpPr>
            <p:cNvPr id="4289" name="Google Shape;4289;p116"/>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4290" name="Google Shape;4290;p116"/>
            <p:cNvPicPr preferRelativeResize="0"/>
            <p:nvPr/>
          </p:nvPicPr>
          <p:blipFill>
            <a:blip r:embed="rId14">
              <a:alphaModFix/>
            </a:blip>
            <a:stretch>
              <a:fillRect/>
            </a:stretch>
          </p:blipFill>
          <p:spPr>
            <a:xfrm>
              <a:off x="10864167" y="4994250"/>
              <a:ext cx="265176" cy="265176"/>
            </a:xfrm>
            <a:prstGeom prst="rect">
              <a:avLst/>
            </a:prstGeom>
            <a:noFill/>
            <a:ln>
              <a:noFill/>
            </a:ln>
          </p:spPr>
        </p:pic>
      </p:grpSp>
      <p:sp>
        <p:nvSpPr>
          <p:cNvPr id="4291" name="Google Shape;4291;p116"/>
          <p:cNvSpPr/>
          <p:nvPr/>
        </p:nvSpPr>
        <p:spPr>
          <a:xfrm>
            <a:off x="8319989" y="3207784"/>
            <a:ext cx="6858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4292" name="Google Shape;4292;p116"/>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4293" name="Google Shape;4293;p116"/>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4294" name="Google Shape;4294;p116"/>
          <p:cNvGrpSpPr/>
          <p:nvPr/>
        </p:nvGrpSpPr>
        <p:grpSpPr>
          <a:xfrm>
            <a:off x="911400" y="4663311"/>
            <a:ext cx="336000" cy="426753"/>
            <a:chOff x="929785" y="4678386"/>
            <a:chExt cx="336000" cy="426753"/>
          </a:xfrm>
        </p:grpSpPr>
        <p:sp>
          <p:nvSpPr>
            <p:cNvPr id="4295" name="Google Shape;4295;p116"/>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4296" name="Google Shape;4296;p116"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4297" name="Google Shape;4297;p116"/>
          <p:cNvGrpSpPr/>
          <p:nvPr/>
        </p:nvGrpSpPr>
        <p:grpSpPr>
          <a:xfrm>
            <a:off x="1366236" y="4655157"/>
            <a:ext cx="324300" cy="434522"/>
            <a:chOff x="1377357" y="4647990"/>
            <a:chExt cx="324300" cy="434522"/>
          </a:xfrm>
        </p:grpSpPr>
        <p:sp>
          <p:nvSpPr>
            <p:cNvPr id="4298" name="Google Shape;4298;p116"/>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4299" name="Google Shape;4299;p116"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grpSp>
        <p:nvGrpSpPr>
          <p:cNvPr id="4300" name="Google Shape;4300;p116"/>
          <p:cNvGrpSpPr/>
          <p:nvPr/>
        </p:nvGrpSpPr>
        <p:grpSpPr>
          <a:xfrm>
            <a:off x="899750" y="4283846"/>
            <a:ext cx="359100" cy="422318"/>
            <a:chOff x="899750" y="4215307"/>
            <a:chExt cx="359100" cy="422318"/>
          </a:xfrm>
        </p:grpSpPr>
        <p:sp>
          <p:nvSpPr>
            <p:cNvPr id="4301" name="Google Shape;4301;p116"/>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4302" name="Google Shape;4302;p116"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sp>
        <p:nvSpPr>
          <p:cNvPr id="4303" name="Google Shape;4303;p116"/>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4304" name="Google Shape;4304;p116"/>
          <p:cNvGrpSpPr/>
          <p:nvPr/>
        </p:nvGrpSpPr>
        <p:grpSpPr>
          <a:xfrm>
            <a:off x="1247501" y="5175655"/>
            <a:ext cx="524700" cy="496901"/>
            <a:chOff x="1266036" y="5196700"/>
            <a:chExt cx="524700" cy="496901"/>
          </a:xfrm>
        </p:grpSpPr>
        <p:sp>
          <p:nvSpPr>
            <p:cNvPr id="4305" name="Google Shape;4305;p116"/>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4306" name="Google Shape;4306;p116" title="primary-icon-navy-data-sharing.png"/>
            <p:cNvPicPr preferRelativeResize="0"/>
            <p:nvPr/>
          </p:nvPicPr>
          <p:blipFill>
            <a:blip r:embed="rId19">
              <a:alphaModFix/>
            </a:blip>
            <a:stretch>
              <a:fillRect/>
            </a:stretch>
          </p:blipFill>
          <p:spPr>
            <a:xfrm>
              <a:off x="1393854" y="5196700"/>
              <a:ext cx="269065" cy="269063"/>
            </a:xfrm>
            <a:prstGeom prst="rect">
              <a:avLst/>
            </a:prstGeom>
            <a:noFill/>
            <a:ln>
              <a:noFill/>
            </a:ln>
          </p:spPr>
        </p:pic>
      </p:grpSp>
      <p:grpSp>
        <p:nvGrpSpPr>
          <p:cNvPr id="4307" name="Google Shape;4307;p116"/>
          <p:cNvGrpSpPr/>
          <p:nvPr/>
        </p:nvGrpSpPr>
        <p:grpSpPr>
          <a:xfrm>
            <a:off x="816949" y="5175643"/>
            <a:ext cx="524700" cy="496193"/>
            <a:chOff x="835484" y="5196688"/>
            <a:chExt cx="524700" cy="496193"/>
          </a:xfrm>
        </p:grpSpPr>
        <p:sp>
          <p:nvSpPr>
            <p:cNvPr id="4308" name="Google Shape;4308;p116"/>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4309" name="Google Shape;4309;p116" title="primary-icon-navy-distribution.png"/>
            <p:cNvPicPr preferRelativeResize="0"/>
            <p:nvPr/>
          </p:nvPicPr>
          <p:blipFill>
            <a:blip r:embed="rId20">
              <a:alphaModFix/>
            </a:blip>
            <a:stretch>
              <a:fillRect/>
            </a:stretch>
          </p:blipFill>
          <p:spPr>
            <a:xfrm>
              <a:off x="963302" y="5196688"/>
              <a:ext cx="269065" cy="269063"/>
            </a:xfrm>
            <a:prstGeom prst="rect">
              <a:avLst/>
            </a:prstGeom>
            <a:noFill/>
            <a:ln>
              <a:noFill/>
            </a:ln>
          </p:spPr>
        </p:pic>
      </p:grpSp>
      <p:sp>
        <p:nvSpPr>
          <p:cNvPr id="4310" name="Google Shape;4310;p116"/>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4311" name="Google Shape;4311;p116"/>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4312" name="Google Shape;4312;p116"/>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4313" name="Google Shape;4313;p116"/>
          <p:cNvSpPr/>
          <p:nvPr/>
        </p:nvSpPr>
        <p:spPr>
          <a:xfrm>
            <a:off x="9352775" y="3802250"/>
            <a:ext cx="796500" cy="274200"/>
          </a:xfrm>
          <a:prstGeom prst="roundRect">
            <a:avLst>
              <a:gd fmla="val 22836"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4314" name="Google Shape;4314;p116"/>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4315" name="Google Shape;4315;p116"/>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4316" name="Google Shape;4316;p116"/>
          <p:cNvSpPr/>
          <p:nvPr/>
        </p:nvSpPr>
        <p:spPr>
          <a:xfrm>
            <a:off x="4566099" y="3179550"/>
            <a:ext cx="761100" cy="274200"/>
          </a:xfrm>
          <a:prstGeom prst="roundRect">
            <a:avLst>
              <a:gd fmla="val 19944"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4317" name="Google Shape;4317;p116"/>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4318" name="Google Shape;4318;p116"/>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4319" name="Google Shape;4319;p116"/>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4320" name="Google Shape;4320;p116"/>
          <p:cNvSpPr/>
          <p:nvPr/>
        </p:nvSpPr>
        <p:spPr>
          <a:xfrm>
            <a:off x="3322843" y="442321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4321" name="Google Shape;4321;p116"/>
          <p:cNvSpPr/>
          <p:nvPr/>
        </p:nvSpPr>
        <p:spPr>
          <a:xfrm>
            <a:off x="5693094" y="4423213"/>
            <a:ext cx="685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sp>
        <p:nvSpPr>
          <p:cNvPr id="4322" name="Google Shape;4322;p116"/>
          <p:cNvSpPr/>
          <p:nvPr/>
        </p:nvSpPr>
        <p:spPr>
          <a:xfrm>
            <a:off x="4295950" y="442321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cxnSp>
        <p:nvCxnSpPr>
          <p:cNvPr id="4323" name="Google Shape;4323;p116"/>
          <p:cNvCxnSpPr>
            <a:stCxn id="4316" idx="1"/>
          </p:cNvCxnSpPr>
          <p:nvPr/>
        </p:nvCxnSpPr>
        <p:spPr>
          <a:xfrm flipH="1">
            <a:off x="4085799" y="3316650"/>
            <a:ext cx="480300" cy="1490400"/>
          </a:xfrm>
          <a:prstGeom prst="bentConnector2">
            <a:avLst/>
          </a:prstGeom>
          <a:noFill/>
          <a:ln cap="flat" cmpd="sng" w="19050">
            <a:solidFill>
              <a:schemeClr val="accent4"/>
            </a:solidFill>
            <a:prstDash val="solid"/>
            <a:round/>
            <a:headEnd len="sm" w="sm" type="triangle"/>
            <a:tailEnd len="sm" w="sm" type="none"/>
          </a:ln>
        </p:spPr>
      </p:cxnSp>
      <p:cxnSp>
        <p:nvCxnSpPr>
          <p:cNvPr id="4324" name="Google Shape;4324;p116"/>
          <p:cNvCxnSpPr>
            <a:stCxn id="4325" idx="2"/>
            <a:endCxn id="4320" idx="3"/>
          </p:cNvCxnSpPr>
          <p:nvPr/>
        </p:nvCxnSpPr>
        <p:spPr>
          <a:xfrm flipH="1">
            <a:off x="3963695" y="4560313"/>
            <a:ext cx="89400" cy="600"/>
          </a:xfrm>
          <a:prstGeom prst="bentConnector3">
            <a:avLst>
              <a:gd fmla="val 50029" name="adj1"/>
            </a:avLst>
          </a:prstGeom>
          <a:noFill/>
          <a:ln cap="flat" cmpd="sng" w="9525">
            <a:solidFill>
              <a:schemeClr val="dk2"/>
            </a:solidFill>
            <a:prstDash val="dash"/>
            <a:round/>
            <a:headEnd len="sm" w="sm" type="none"/>
            <a:tailEnd len="sm" w="sm" type="none"/>
          </a:ln>
        </p:spPr>
      </p:cxnSp>
      <p:cxnSp>
        <p:nvCxnSpPr>
          <p:cNvPr id="4326" name="Google Shape;4326;p116"/>
          <p:cNvCxnSpPr>
            <a:stCxn id="4322" idx="1"/>
            <a:endCxn id="4325" idx="6"/>
          </p:cNvCxnSpPr>
          <p:nvPr/>
        </p:nvCxnSpPr>
        <p:spPr>
          <a:xfrm flipH="1">
            <a:off x="4120750" y="4560313"/>
            <a:ext cx="175200" cy="600"/>
          </a:xfrm>
          <a:prstGeom prst="bentConnector3">
            <a:avLst>
              <a:gd fmla="val 49959" name="adj1"/>
            </a:avLst>
          </a:prstGeom>
          <a:noFill/>
          <a:ln cap="flat" cmpd="sng" w="19050">
            <a:solidFill>
              <a:schemeClr val="accent4"/>
            </a:solidFill>
            <a:prstDash val="solid"/>
            <a:round/>
            <a:headEnd len="sm" w="sm" type="none"/>
            <a:tailEnd len="sm" w="sm" type="none"/>
          </a:ln>
        </p:spPr>
      </p:cxnSp>
      <p:sp>
        <p:nvSpPr>
          <p:cNvPr id="4325" name="Google Shape;4325;p116"/>
          <p:cNvSpPr/>
          <p:nvPr/>
        </p:nvSpPr>
        <p:spPr>
          <a:xfrm>
            <a:off x="4053095" y="4526413"/>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327" name="Google Shape;4327;p116"/>
          <p:cNvCxnSpPr>
            <a:stCxn id="4321" idx="1"/>
            <a:endCxn id="4322" idx="3"/>
          </p:cNvCxnSpPr>
          <p:nvPr/>
        </p:nvCxnSpPr>
        <p:spPr>
          <a:xfrm flipH="1">
            <a:off x="5036394" y="4560313"/>
            <a:ext cx="656700" cy="600"/>
          </a:xfrm>
          <a:prstGeom prst="bentConnector3">
            <a:avLst>
              <a:gd fmla="val 50003" name="adj1"/>
            </a:avLst>
          </a:prstGeom>
          <a:noFill/>
          <a:ln cap="flat" cmpd="sng" w="19050">
            <a:solidFill>
              <a:schemeClr val="accent4"/>
            </a:solidFill>
            <a:prstDash val="solid"/>
            <a:round/>
            <a:headEnd len="sm" w="sm" type="none"/>
            <a:tailEnd len="sm" w="sm" type="triangle"/>
          </a:ln>
        </p:spPr>
      </p:cxnSp>
      <p:sp>
        <p:nvSpPr>
          <p:cNvPr id="4328" name="Google Shape;4328;p116"/>
          <p:cNvSpPr/>
          <p:nvPr/>
        </p:nvSpPr>
        <p:spPr>
          <a:xfrm>
            <a:off x="3984547" y="4285141"/>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sp>
        <p:nvSpPr>
          <p:cNvPr id="4329" name="Google Shape;4329;p116"/>
          <p:cNvSpPr/>
          <p:nvPr/>
        </p:nvSpPr>
        <p:spPr>
          <a:xfrm>
            <a:off x="4318824" y="3802250"/>
            <a:ext cx="640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4330" name="Google Shape;4330;p116"/>
          <p:cNvSpPr/>
          <p:nvPr/>
        </p:nvSpPr>
        <p:spPr>
          <a:xfrm>
            <a:off x="5840018" y="3802250"/>
            <a:ext cx="6858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4331" name="Google Shape;4331;p116"/>
          <p:cNvSpPr/>
          <p:nvPr/>
        </p:nvSpPr>
        <p:spPr>
          <a:xfrm>
            <a:off x="5019267" y="3802250"/>
            <a:ext cx="761100" cy="274200"/>
          </a:xfrm>
          <a:prstGeom prst="roundRect">
            <a:avLst>
              <a:gd fmla="val 17361"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cxnSp>
        <p:nvCxnSpPr>
          <p:cNvPr id="4332" name="Google Shape;4332;p116"/>
          <p:cNvCxnSpPr>
            <a:stCxn id="4233" idx="0"/>
            <a:endCxn id="4333" idx="1"/>
          </p:cNvCxnSpPr>
          <p:nvPr/>
        </p:nvCxnSpPr>
        <p:spPr>
          <a:xfrm rot="-5400000">
            <a:off x="7264075" y="2504600"/>
            <a:ext cx="407100" cy="838800"/>
          </a:xfrm>
          <a:prstGeom prst="bentConnector2">
            <a:avLst/>
          </a:prstGeom>
          <a:noFill/>
          <a:ln cap="flat" cmpd="sng" w="19050">
            <a:solidFill>
              <a:schemeClr val="accent4"/>
            </a:solidFill>
            <a:prstDash val="solid"/>
            <a:round/>
            <a:headEnd len="sm" w="sm" type="triangle"/>
            <a:tailEnd len="sm" w="sm" type="none"/>
          </a:ln>
        </p:spPr>
      </p:cxnSp>
      <p:cxnSp>
        <p:nvCxnSpPr>
          <p:cNvPr id="4334" name="Google Shape;4334;p116"/>
          <p:cNvCxnSpPr/>
          <p:nvPr/>
        </p:nvCxnSpPr>
        <p:spPr>
          <a:xfrm flipH="1">
            <a:off x="5331399" y="3422850"/>
            <a:ext cx="2179800" cy="600"/>
          </a:xfrm>
          <a:prstGeom prst="bentConnector3">
            <a:avLst>
              <a:gd fmla="val 50000" name="adj1"/>
            </a:avLst>
          </a:prstGeom>
          <a:noFill/>
          <a:ln cap="flat" cmpd="sng" w="9525">
            <a:solidFill>
              <a:schemeClr val="accent4"/>
            </a:solidFill>
            <a:prstDash val="dash"/>
            <a:round/>
            <a:headEnd len="sm" w="sm" type="none"/>
            <a:tailEnd len="sm" w="sm" type="none"/>
          </a:ln>
        </p:spPr>
      </p:cxnSp>
      <p:cxnSp>
        <p:nvCxnSpPr>
          <p:cNvPr id="4335" name="Google Shape;4335;p116"/>
          <p:cNvCxnSpPr>
            <a:stCxn id="4291" idx="1"/>
            <a:endCxn id="4229" idx="3"/>
          </p:cNvCxnSpPr>
          <p:nvPr/>
        </p:nvCxnSpPr>
        <p:spPr>
          <a:xfrm flipH="1">
            <a:off x="8193689" y="3344884"/>
            <a:ext cx="126300" cy="600"/>
          </a:xfrm>
          <a:prstGeom prst="bentConnector3">
            <a:avLst>
              <a:gd fmla="val 50043" name="adj1"/>
            </a:avLst>
          </a:prstGeom>
          <a:noFill/>
          <a:ln cap="flat" cmpd="sng" w="19050">
            <a:solidFill>
              <a:schemeClr val="accent4"/>
            </a:solidFill>
            <a:prstDash val="solid"/>
            <a:round/>
            <a:headEnd len="sm" w="sm" type="triangle"/>
            <a:tailEnd len="sm" w="sm" type="none"/>
          </a:ln>
        </p:spPr>
      </p:cxnSp>
      <p:cxnSp>
        <p:nvCxnSpPr>
          <p:cNvPr id="4336" name="Google Shape;4336;p116"/>
          <p:cNvCxnSpPr>
            <a:stCxn id="4291" idx="3"/>
            <a:endCxn id="4337" idx="0"/>
          </p:cNvCxnSpPr>
          <p:nvPr/>
        </p:nvCxnSpPr>
        <p:spPr>
          <a:xfrm>
            <a:off x="9005789" y="3344884"/>
            <a:ext cx="587400" cy="457500"/>
          </a:xfrm>
          <a:prstGeom prst="bentConnector2">
            <a:avLst/>
          </a:prstGeom>
          <a:noFill/>
          <a:ln cap="flat" cmpd="sng" w="19050">
            <a:solidFill>
              <a:schemeClr val="accent4"/>
            </a:solidFill>
            <a:prstDash val="solid"/>
            <a:round/>
            <a:headEnd len="sm" w="sm" type="none"/>
            <a:tailEnd len="sm" w="sm" type="triangle"/>
          </a:ln>
        </p:spPr>
      </p:cxnSp>
      <p:cxnSp>
        <p:nvCxnSpPr>
          <p:cNvPr id="4338" name="Google Shape;4338;p116"/>
          <p:cNvCxnSpPr/>
          <p:nvPr/>
        </p:nvCxnSpPr>
        <p:spPr>
          <a:xfrm flipH="1">
            <a:off x="7368625" y="3282354"/>
            <a:ext cx="146700" cy="600"/>
          </a:xfrm>
          <a:prstGeom prst="bentConnector3">
            <a:avLst>
              <a:gd fmla="val 50000" name="adj1"/>
            </a:avLst>
          </a:prstGeom>
          <a:noFill/>
          <a:ln cap="flat" cmpd="sng" w="19050">
            <a:solidFill>
              <a:schemeClr val="accent4"/>
            </a:solidFill>
            <a:prstDash val="solid"/>
            <a:round/>
            <a:headEnd len="sm" w="sm" type="triangle"/>
            <a:tailEnd len="sm" w="sm" type="none"/>
          </a:ln>
        </p:spPr>
      </p:cxnSp>
      <p:cxnSp>
        <p:nvCxnSpPr>
          <p:cNvPr id="4339" name="Google Shape;4339;p116"/>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sp>
        <p:nvSpPr>
          <p:cNvPr id="4340" name="Google Shape;4340;p116"/>
          <p:cNvSpPr/>
          <p:nvPr/>
        </p:nvSpPr>
        <p:spPr>
          <a:xfrm>
            <a:off x="8262513" y="2268975"/>
            <a:ext cx="6858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4333" name="Google Shape;4333;p116"/>
          <p:cNvSpPr/>
          <p:nvPr/>
        </p:nvSpPr>
        <p:spPr>
          <a:xfrm>
            <a:off x="7887054" y="2582475"/>
            <a:ext cx="589500" cy="2757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cxnSp>
        <p:nvCxnSpPr>
          <p:cNvPr id="4341" name="Google Shape;4341;p116"/>
          <p:cNvCxnSpPr>
            <a:stCxn id="4340" idx="2"/>
            <a:endCxn id="4333" idx="3"/>
          </p:cNvCxnSpPr>
          <p:nvPr/>
        </p:nvCxnSpPr>
        <p:spPr>
          <a:xfrm rot="5400000">
            <a:off x="8452413" y="2567175"/>
            <a:ext cx="177000" cy="129000"/>
          </a:xfrm>
          <a:prstGeom prst="bentConnector2">
            <a:avLst/>
          </a:prstGeom>
          <a:noFill/>
          <a:ln cap="flat" cmpd="sng" w="19050">
            <a:solidFill>
              <a:schemeClr val="accent4"/>
            </a:solidFill>
            <a:prstDash val="solid"/>
            <a:round/>
            <a:headEnd len="sm" w="sm" type="triangle"/>
            <a:tailEnd len="sm" w="sm" type="triangle"/>
          </a:ln>
        </p:spPr>
      </p:cxnSp>
      <p:sp>
        <p:nvSpPr>
          <p:cNvPr id="4342" name="Google Shape;4342;p116"/>
          <p:cNvSpPr/>
          <p:nvPr/>
        </p:nvSpPr>
        <p:spPr>
          <a:xfrm>
            <a:off x="7512089" y="3802250"/>
            <a:ext cx="685800" cy="274200"/>
          </a:xfrm>
          <a:prstGeom prst="roundRect">
            <a:avLst>
              <a:gd fmla="val 14403"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sp>
        <p:nvSpPr>
          <p:cNvPr id="4343" name="Google Shape;4343;p116"/>
          <p:cNvSpPr/>
          <p:nvPr/>
        </p:nvSpPr>
        <p:spPr>
          <a:xfrm>
            <a:off x="9352960" y="3823036"/>
            <a:ext cx="75900" cy="6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344" name="Google Shape;4344;p116"/>
          <p:cNvCxnSpPr>
            <a:stCxn id="4342" idx="3"/>
            <a:endCxn id="4313" idx="1"/>
          </p:cNvCxnSpPr>
          <p:nvPr/>
        </p:nvCxnSpPr>
        <p:spPr>
          <a:xfrm>
            <a:off x="8197889" y="3939350"/>
            <a:ext cx="1155000" cy="600"/>
          </a:xfrm>
          <a:prstGeom prst="bentConnector3">
            <a:avLst>
              <a:gd fmla="val 49995" name="adj1"/>
            </a:avLst>
          </a:prstGeom>
          <a:noFill/>
          <a:ln cap="flat" cmpd="sng" w="19050">
            <a:solidFill>
              <a:schemeClr val="accent4"/>
            </a:solidFill>
            <a:prstDash val="solid"/>
            <a:round/>
            <a:headEnd len="sm" w="sm" type="none"/>
            <a:tailEnd len="sm" w="sm" type="triangle"/>
          </a:ln>
        </p:spPr>
      </p:cxnSp>
      <p:cxnSp>
        <p:nvCxnSpPr>
          <p:cNvPr id="4345" name="Google Shape;4345;p116"/>
          <p:cNvCxnSpPr>
            <a:stCxn id="4340" idx="3"/>
            <a:endCxn id="4313" idx="0"/>
          </p:cNvCxnSpPr>
          <p:nvPr/>
        </p:nvCxnSpPr>
        <p:spPr>
          <a:xfrm>
            <a:off x="8948313" y="2406075"/>
            <a:ext cx="802800" cy="1396200"/>
          </a:xfrm>
          <a:prstGeom prst="bentConnector2">
            <a:avLst/>
          </a:prstGeom>
          <a:noFill/>
          <a:ln cap="flat" cmpd="sng" w="19050">
            <a:solidFill>
              <a:schemeClr val="accent4"/>
            </a:solidFill>
            <a:prstDash val="solid"/>
            <a:round/>
            <a:headEnd len="sm" w="sm" type="none"/>
            <a:tailEnd len="sm" w="sm" type="triangle"/>
          </a:ln>
        </p:spPr>
      </p:cxnSp>
      <p:sp>
        <p:nvSpPr>
          <p:cNvPr id="4346" name="Google Shape;4346;p116"/>
          <p:cNvSpPr/>
          <p:nvPr/>
        </p:nvSpPr>
        <p:spPr>
          <a:xfrm>
            <a:off x="9253537" y="3243499"/>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4347" name="Google Shape;4347;p116"/>
          <p:cNvSpPr/>
          <p:nvPr/>
        </p:nvSpPr>
        <p:spPr>
          <a:xfrm>
            <a:off x="9648568" y="2775124"/>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4</a:t>
            </a:r>
            <a:endParaRPr b="1" sz="1200">
              <a:latin typeface="DM Sans"/>
              <a:ea typeface="DM Sans"/>
              <a:cs typeface="DM Sans"/>
              <a:sym typeface="DM Sans"/>
            </a:endParaRPr>
          </a:p>
        </p:txBody>
      </p:sp>
      <p:sp>
        <p:nvSpPr>
          <p:cNvPr id="4348" name="Google Shape;4348;p116"/>
          <p:cNvSpPr txBox="1"/>
          <p:nvPr/>
        </p:nvSpPr>
        <p:spPr>
          <a:xfrm rot="-7088">
            <a:off x="5827350" y="3303240"/>
            <a:ext cx="436501" cy="110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i="1" lang="en" sz="800">
                <a:solidFill>
                  <a:srgbClr val="DD9312"/>
                </a:solidFill>
                <a:latin typeface="DM Sans Light"/>
                <a:ea typeface="DM Sans Light"/>
                <a:cs typeface="DM Sans Light"/>
                <a:sym typeface="DM Sans Light"/>
              </a:rPr>
              <a:t>part of</a:t>
            </a:r>
            <a:endParaRPr i="1" sz="800">
              <a:solidFill>
                <a:srgbClr val="DD9312"/>
              </a:solidFill>
              <a:latin typeface="DM Sans Light"/>
              <a:ea typeface="DM Sans Light"/>
              <a:cs typeface="DM Sans Light"/>
              <a:sym typeface="DM Sans Light"/>
            </a:endParaRPr>
          </a:p>
        </p:txBody>
      </p:sp>
      <p:sp>
        <p:nvSpPr>
          <p:cNvPr id="4337" name="Google Shape;4337;p116"/>
          <p:cNvSpPr/>
          <p:nvPr/>
        </p:nvSpPr>
        <p:spPr>
          <a:xfrm>
            <a:off x="9559429" y="3802248"/>
            <a:ext cx="67800" cy="6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49" name="Google Shape;4349;p116"/>
          <p:cNvSpPr/>
          <p:nvPr/>
        </p:nvSpPr>
        <p:spPr>
          <a:xfrm>
            <a:off x="8672899" y="3836895"/>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sp>
        <p:nvSpPr>
          <p:cNvPr id="4350" name="Google Shape;4350;p116"/>
          <p:cNvSpPr/>
          <p:nvPr/>
        </p:nvSpPr>
        <p:spPr>
          <a:xfrm>
            <a:off x="6164725" y="5967925"/>
            <a:ext cx="41958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51" name="Google Shape;4351;p116"/>
          <p:cNvSpPr txBox="1"/>
          <p:nvPr/>
        </p:nvSpPr>
        <p:spPr>
          <a:xfrm>
            <a:off x="8623725" y="6031608"/>
            <a:ext cx="1783200" cy="66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Check permissions and read data</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Access models via REST API</a:t>
            </a:r>
            <a:endParaRPr sz="1100">
              <a:solidFill>
                <a:schemeClr val="accent5"/>
              </a:solidFill>
              <a:latin typeface="DM Sans"/>
              <a:ea typeface="DM Sans"/>
              <a:cs typeface="DM Sans"/>
              <a:sym typeface="DM Sans"/>
            </a:endParaRPr>
          </a:p>
        </p:txBody>
      </p:sp>
      <p:sp>
        <p:nvSpPr>
          <p:cNvPr id="4352" name="Google Shape;4352;p116"/>
          <p:cNvSpPr txBox="1"/>
          <p:nvPr/>
        </p:nvSpPr>
        <p:spPr>
          <a:xfrm>
            <a:off x="6470700" y="6031609"/>
            <a:ext cx="1812300" cy="656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lang="en" sz="1100">
                <a:solidFill>
                  <a:schemeClr val="accent5"/>
                </a:solidFill>
                <a:latin typeface="DM Sans"/>
                <a:ea typeface="DM Sans"/>
                <a:cs typeface="DM Sans"/>
                <a:sym typeface="DM Sans"/>
              </a:rPr>
              <a:t>Read data from an OLTP DB</a:t>
            </a:r>
            <a:endParaRPr sz="1100">
              <a:solidFill>
                <a:schemeClr val="accent5"/>
              </a:solidFill>
              <a:latin typeface="DM Sans"/>
              <a:ea typeface="DM Sans"/>
              <a:cs typeface="DM Sans"/>
              <a:sym typeface="DM Sans"/>
            </a:endParaRPr>
          </a:p>
          <a:p>
            <a:pPr indent="0" lvl="0" marL="0" marR="0" rtl="0" algn="l">
              <a:lnSpc>
                <a:spcPct val="90000"/>
              </a:lnSpc>
              <a:spcBef>
                <a:spcPts val="400"/>
              </a:spcBef>
              <a:spcAft>
                <a:spcPts val="400"/>
              </a:spcAft>
              <a:buNone/>
            </a:pPr>
            <a:r>
              <a:rPr lang="en" sz="1100">
                <a:solidFill>
                  <a:schemeClr val="accent5"/>
                </a:solidFill>
                <a:latin typeface="DM Sans"/>
                <a:ea typeface="DM Sans"/>
                <a:cs typeface="DM Sans"/>
                <a:sym typeface="DM Sans"/>
              </a:rPr>
              <a:t>Access data via JDBC from the DWH including AI based results</a:t>
            </a:r>
            <a:endParaRPr sz="1100">
              <a:solidFill>
                <a:schemeClr val="accent5"/>
              </a:solidFill>
              <a:latin typeface="DM Sans"/>
              <a:ea typeface="DM Sans"/>
              <a:cs typeface="DM Sans"/>
              <a:sym typeface="DM Sans"/>
            </a:endParaRPr>
          </a:p>
        </p:txBody>
      </p:sp>
      <p:sp>
        <p:nvSpPr>
          <p:cNvPr id="4353" name="Google Shape;4353;p116"/>
          <p:cNvSpPr/>
          <p:nvPr/>
        </p:nvSpPr>
        <p:spPr>
          <a:xfrm>
            <a:off x="8408669" y="6021968"/>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4354" name="Google Shape;4354;p116"/>
          <p:cNvSpPr/>
          <p:nvPr/>
        </p:nvSpPr>
        <p:spPr>
          <a:xfrm>
            <a:off x="8408669" y="6370242"/>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4</a:t>
            </a:r>
            <a:endParaRPr b="1" sz="1000">
              <a:latin typeface="DM Sans"/>
              <a:ea typeface="DM Sans"/>
              <a:cs typeface="DM Sans"/>
              <a:sym typeface="DM Sans"/>
            </a:endParaRPr>
          </a:p>
        </p:txBody>
      </p:sp>
      <p:sp>
        <p:nvSpPr>
          <p:cNvPr id="4355" name="Google Shape;4355;p116"/>
          <p:cNvSpPr/>
          <p:nvPr/>
        </p:nvSpPr>
        <p:spPr>
          <a:xfrm>
            <a:off x="6249456" y="6021968"/>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356" name="Google Shape;4356;p116"/>
          <p:cNvSpPr/>
          <p:nvPr/>
        </p:nvSpPr>
        <p:spPr>
          <a:xfrm>
            <a:off x="6249456" y="6233044"/>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357" name="Google Shape;4357;p116"/>
          <p:cNvSpPr/>
          <p:nvPr/>
        </p:nvSpPr>
        <p:spPr>
          <a:xfrm>
            <a:off x="6945787" y="2617874"/>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grpSp>
        <p:nvGrpSpPr>
          <p:cNvPr id="4358" name="Google Shape;4358;p116"/>
          <p:cNvGrpSpPr/>
          <p:nvPr/>
        </p:nvGrpSpPr>
        <p:grpSpPr>
          <a:xfrm>
            <a:off x="10606481" y="3507444"/>
            <a:ext cx="826200" cy="363728"/>
            <a:chOff x="10606481" y="3507444"/>
            <a:chExt cx="826200" cy="363728"/>
          </a:xfrm>
        </p:grpSpPr>
        <p:sp>
          <p:nvSpPr>
            <p:cNvPr id="4359" name="Google Shape;4359;p116"/>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360" name="Google Shape;4360;p116"/>
            <p:cNvPicPr preferRelativeResize="0"/>
            <p:nvPr/>
          </p:nvPicPr>
          <p:blipFill>
            <a:blip r:embed="rId21">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4" name="Shape 4364"/>
        <p:cNvGrpSpPr/>
        <p:nvPr/>
      </p:nvGrpSpPr>
      <p:grpSpPr>
        <a:xfrm>
          <a:off x="0" y="0"/>
          <a:ext cx="0" cy="0"/>
          <a:chOff x="0" y="0"/>
          <a:chExt cx="0" cy="0"/>
        </a:xfrm>
      </p:grpSpPr>
      <p:sp>
        <p:nvSpPr>
          <p:cNvPr id="4365" name="Google Shape;4365;p117"/>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8 Lakehouse Federation</a:t>
            </a:r>
            <a:endParaRPr b="1" sz="3600">
              <a:latin typeface="DM Sans"/>
              <a:ea typeface="DM Sans"/>
              <a:cs typeface="DM Sans"/>
              <a:sym typeface="DM Sans"/>
            </a:endParaRPr>
          </a:p>
        </p:txBody>
      </p:sp>
      <p:sp>
        <p:nvSpPr>
          <p:cNvPr id="4366" name="Google Shape;4366;p117"/>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4367" name="Google Shape;4367;p117"/>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368" name="Google Shape;4368;p117"/>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369" name="Google Shape;4369;p117"/>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370" name="Google Shape;4370;p117"/>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371" name="Google Shape;4371;p117"/>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4372" name="Google Shape;4372;p117"/>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grpSp>
        <p:nvGrpSpPr>
          <p:cNvPr id="4373" name="Google Shape;4373;p117"/>
          <p:cNvGrpSpPr/>
          <p:nvPr/>
        </p:nvGrpSpPr>
        <p:grpSpPr>
          <a:xfrm>
            <a:off x="2986792" y="3550528"/>
            <a:ext cx="198576" cy="211709"/>
            <a:chOff x="3295749" y="3919250"/>
            <a:chExt cx="198576" cy="211709"/>
          </a:xfrm>
        </p:grpSpPr>
        <p:sp>
          <p:nvSpPr>
            <p:cNvPr id="4374" name="Google Shape;4374;p117"/>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75" name="Google Shape;4375;p117"/>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376" name="Google Shape;4376;p117"/>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4377" name="Google Shape;4377;p117"/>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grpSp>
        <p:nvGrpSpPr>
          <p:cNvPr id="4378" name="Google Shape;4378;p117"/>
          <p:cNvGrpSpPr/>
          <p:nvPr/>
        </p:nvGrpSpPr>
        <p:grpSpPr>
          <a:xfrm rot="-5400000">
            <a:off x="8118194" y="4175940"/>
            <a:ext cx="198576" cy="208513"/>
            <a:chOff x="3295749" y="3922446"/>
            <a:chExt cx="198576" cy="208513"/>
          </a:xfrm>
        </p:grpSpPr>
        <p:sp>
          <p:nvSpPr>
            <p:cNvPr id="4379" name="Google Shape;4379;p117"/>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80" name="Google Shape;4380;p117"/>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381" name="Google Shape;4381;p117"/>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4382" name="Google Shape;4382;p117"/>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4383" name="Google Shape;4383;p117"/>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4384" name="Google Shape;4384;p117"/>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4385" name="Google Shape;4385;p117"/>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4386" name="Google Shape;4386;p117"/>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4387" name="Google Shape;4387;p117"/>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4388" name="Google Shape;4388;p117"/>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4389" name="Google Shape;4389;p117"/>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4390" name="Google Shape;4390;p117"/>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4391" name="Google Shape;4391;p117"/>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4392" name="Google Shape;4392;p117"/>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pic>
        <p:nvPicPr>
          <p:cNvPr id="4393" name="Google Shape;4393;p117"/>
          <p:cNvPicPr preferRelativeResize="0"/>
          <p:nvPr/>
        </p:nvPicPr>
        <p:blipFill>
          <a:blip r:embed="rId3">
            <a:alphaModFix/>
          </a:blip>
          <a:stretch>
            <a:fillRect/>
          </a:stretch>
        </p:blipFill>
        <p:spPr>
          <a:xfrm>
            <a:off x="4998129" y="1403077"/>
            <a:ext cx="259650" cy="279625"/>
          </a:xfrm>
          <a:prstGeom prst="rect">
            <a:avLst/>
          </a:prstGeom>
          <a:noFill/>
          <a:ln>
            <a:noFill/>
          </a:ln>
        </p:spPr>
      </p:pic>
      <p:grpSp>
        <p:nvGrpSpPr>
          <p:cNvPr id="4394" name="Google Shape;4394;p117"/>
          <p:cNvGrpSpPr/>
          <p:nvPr/>
        </p:nvGrpSpPr>
        <p:grpSpPr>
          <a:xfrm>
            <a:off x="5357469" y="5168059"/>
            <a:ext cx="1015163" cy="210402"/>
            <a:chOff x="6995676" y="6025175"/>
            <a:chExt cx="1015163" cy="210402"/>
          </a:xfrm>
        </p:grpSpPr>
        <p:sp>
          <p:nvSpPr>
            <p:cNvPr id="4395" name="Google Shape;4395;p117"/>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4396" name="Google Shape;4396;p117"/>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4397" name="Google Shape;4397;p117"/>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4398" name="Google Shape;4398;p117"/>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399" name="Google Shape;4399;p117"/>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400" name="Google Shape;4400;p117"/>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401" name="Google Shape;4401;p117"/>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402" name="Google Shape;4402;p117"/>
            <p:cNvCxnSpPr>
              <a:stCxn id="4399" idx="4"/>
              <a:endCxn id="4403"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4403" name="Google Shape;4403;p117"/>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404" name="Google Shape;4404;p117"/>
            <p:cNvCxnSpPr>
              <a:stCxn id="4398" idx="4"/>
              <a:endCxn id="4401"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4405" name="Google Shape;4405;p117"/>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rgbClr val="CCCCCC"/>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4406" name="Google Shape;4406;p117"/>
          <p:cNvGrpSpPr/>
          <p:nvPr/>
        </p:nvGrpSpPr>
        <p:grpSpPr>
          <a:xfrm>
            <a:off x="861763" y="1388635"/>
            <a:ext cx="879600" cy="565670"/>
            <a:chOff x="820734" y="1742570"/>
            <a:chExt cx="879600" cy="565670"/>
          </a:xfrm>
        </p:grpSpPr>
        <p:sp>
          <p:nvSpPr>
            <p:cNvPr id="4407" name="Google Shape;4407;p117"/>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408" name="Google Shape;4408;p117"/>
            <p:cNvPicPr preferRelativeResize="0"/>
            <p:nvPr/>
          </p:nvPicPr>
          <p:blipFill>
            <a:blip r:embed="rId4">
              <a:alphaModFix/>
            </a:blip>
            <a:stretch>
              <a:fillRect/>
            </a:stretch>
          </p:blipFill>
          <p:spPr>
            <a:xfrm>
              <a:off x="1127949" y="1742570"/>
              <a:ext cx="265176" cy="265176"/>
            </a:xfrm>
            <a:prstGeom prst="rect">
              <a:avLst/>
            </a:prstGeom>
            <a:noFill/>
            <a:ln>
              <a:noFill/>
            </a:ln>
          </p:spPr>
        </p:pic>
      </p:grpSp>
      <p:grpSp>
        <p:nvGrpSpPr>
          <p:cNvPr id="4409" name="Google Shape;4409;p117"/>
          <p:cNvGrpSpPr/>
          <p:nvPr/>
        </p:nvGrpSpPr>
        <p:grpSpPr>
          <a:xfrm>
            <a:off x="861800" y="1970622"/>
            <a:ext cx="879600" cy="558086"/>
            <a:chOff x="820771" y="2866176"/>
            <a:chExt cx="879600" cy="558086"/>
          </a:xfrm>
        </p:grpSpPr>
        <p:sp>
          <p:nvSpPr>
            <p:cNvPr id="4410" name="Google Shape;4410;p117"/>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4411" name="Google Shape;4411;p117"/>
            <p:cNvPicPr preferRelativeResize="0"/>
            <p:nvPr/>
          </p:nvPicPr>
          <p:blipFill>
            <a:blip r:embed="rId5">
              <a:alphaModFix/>
            </a:blip>
            <a:stretch>
              <a:fillRect/>
            </a:stretch>
          </p:blipFill>
          <p:spPr>
            <a:xfrm>
              <a:off x="1127949" y="2866176"/>
              <a:ext cx="265176" cy="265176"/>
            </a:xfrm>
            <a:prstGeom prst="rect">
              <a:avLst/>
            </a:prstGeom>
            <a:noFill/>
            <a:ln>
              <a:noFill/>
            </a:ln>
          </p:spPr>
        </p:pic>
      </p:grpSp>
      <p:grpSp>
        <p:nvGrpSpPr>
          <p:cNvPr id="4412" name="Google Shape;4412;p117"/>
          <p:cNvGrpSpPr/>
          <p:nvPr/>
        </p:nvGrpSpPr>
        <p:grpSpPr>
          <a:xfrm>
            <a:off x="903312" y="2545026"/>
            <a:ext cx="796500" cy="542824"/>
            <a:chOff x="862283" y="2315806"/>
            <a:chExt cx="796500" cy="542824"/>
          </a:xfrm>
        </p:grpSpPr>
        <p:sp>
          <p:nvSpPr>
            <p:cNvPr id="4413" name="Google Shape;4413;p117"/>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414" name="Google Shape;4414;p117"/>
            <p:cNvPicPr preferRelativeResize="0"/>
            <p:nvPr/>
          </p:nvPicPr>
          <p:blipFill>
            <a:blip r:embed="rId6">
              <a:alphaModFix/>
            </a:blip>
            <a:stretch>
              <a:fillRect/>
            </a:stretch>
          </p:blipFill>
          <p:spPr>
            <a:xfrm>
              <a:off x="1127949" y="2315806"/>
              <a:ext cx="265176" cy="265176"/>
            </a:xfrm>
            <a:prstGeom prst="rect">
              <a:avLst/>
            </a:prstGeom>
            <a:noFill/>
            <a:ln>
              <a:noFill/>
            </a:ln>
          </p:spPr>
        </p:pic>
      </p:grpSp>
      <p:grpSp>
        <p:nvGrpSpPr>
          <p:cNvPr id="4415" name="Google Shape;4415;p117"/>
          <p:cNvGrpSpPr/>
          <p:nvPr/>
        </p:nvGrpSpPr>
        <p:grpSpPr>
          <a:xfrm>
            <a:off x="861700" y="3104161"/>
            <a:ext cx="879600" cy="559474"/>
            <a:chOff x="820671" y="3997940"/>
            <a:chExt cx="879600" cy="559474"/>
          </a:xfrm>
        </p:grpSpPr>
        <p:pic>
          <p:nvPicPr>
            <p:cNvPr id="4416" name="Google Shape;4416;p117"/>
            <p:cNvPicPr preferRelativeResize="0"/>
            <p:nvPr/>
          </p:nvPicPr>
          <p:blipFill>
            <a:blip r:embed="rId7">
              <a:alphaModFix/>
            </a:blip>
            <a:stretch>
              <a:fillRect/>
            </a:stretch>
          </p:blipFill>
          <p:spPr>
            <a:xfrm>
              <a:off x="1127949" y="3997940"/>
              <a:ext cx="265176" cy="265176"/>
            </a:xfrm>
            <a:prstGeom prst="rect">
              <a:avLst/>
            </a:prstGeom>
            <a:noFill/>
            <a:ln>
              <a:noFill/>
            </a:ln>
          </p:spPr>
        </p:pic>
        <p:sp>
          <p:nvSpPr>
            <p:cNvPr id="4417" name="Google Shape;4417;p117"/>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4418" name="Google Shape;4418;p117"/>
          <p:cNvGrpSpPr/>
          <p:nvPr/>
        </p:nvGrpSpPr>
        <p:grpSpPr>
          <a:xfrm>
            <a:off x="920210" y="3679952"/>
            <a:ext cx="761100" cy="558519"/>
            <a:chOff x="880006" y="3431841"/>
            <a:chExt cx="761100" cy="558519"/>
          </a:xfrm>
        </p:grpSpPr>
        <p:pic>
          <p:nvPicPr>
            <p:cNvPr id="4419" name="Google Shape;4419;p117"/>
            <p:cNvPicPr preferRelativeResize="0"/>
            <p:nvPr/>
          </p:nvPicPr>
          <p:blipFill>
            <a:blip r:embed="rId8">
              <a:alphaModFix/>
            </a:blip>
            <a:stretch>
              <a:fillRect/>
            </a:stretch>
          </p:blipFill>
          <p:spPr>
            <a:xfrm>
              <a:off x="1127949" y="3431841"/>
              <a:ext cx="265176" cy="265176"/>
            </a:xfrm>
            <a:prstGeom prst="rect">
              <a:avLst/>
            </a:prstGeom>
            <a:noFill/>
            <a:ln>
              <a:noFill/>
            </a:ln>
          </p:spPr>
        </p:pic>
        <p:sp>
          <p:nvSpPr>
            <p:cNvPr id="4420" name="Google Shape;4420;p117"/>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4421" name="Google Shape;4421;p117"/>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4422" name="Google Shape;4422;p117"/>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4423" name="Google Shape;4423;p117"/>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4424" name="Google Shape;4424;p117"/>
          <p:cNvGrpSpPr/>
          <p:nvPr/>
        </p:nvGrpSpPr>
        <p:grpSpPr>
          <a:xfrm>
            <a:off x="10745081" y="3937546"/>
            <a:ext cx="549000" cy="366196"/>
            <a:chOff x="10745081" y="3937546"/>
            <a:chExt cx="549000" cy="366196"/>
          </a:xfrm>
        </p:grpSpPr>
        <p:pic>
          <p:nvPicPr>
            <p:cNvPr id="4425" name="Google Shape;4425;p117"/>
            <p:cNvPicPr preferRelativeResize="0"/>
            <p:nvPr/>
          </p:nvPicPr>
          <p:blipFill>
            <a:blip r:embed="rId9">
              <a:alphaModFix/>
            </a:blip>
            <a:stretch>
              <a:fillRect/>
            </a:stretch>
          </p:blipFill>
          <p:spPr>
            <a:xfrm>
              <a:off x="10912331" y="3937546"/>
              <a:ext cx="214500" cy="217452"/>
            </a:xfrm>
            <a:prstGeom prst="rect">
              <a:avLst/>
            </a:prstGeom>
            <a:noFill/>
            <a:ln>
              <a:noFill/>
            </a:ln>
          </p:spPr>
        </p:pic>
        <p:sp>
          <p:nvSpPr>
            <p:cNvPr id="4426" name="Google Shape;4426;p117"/>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4427" name="Google Shape;4427;p117"/>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4428" name="Google Shape;4428;p117"/>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4429" name="Google Shape;4429;p117"/>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4430" name="Google Shape;4430;p117"/>
          <p:cNvGrpSpPr/>
          <p:nvPr/>
        </p:nvGrpSpPr>
        <p:grpSpPr>
          <a:xfrm>
            <a:off x="10597029" y="1623535"/>
            <a:ext cx="845100" cy="405937"/>
            <a:chOff x="10597029" y="1623535"/>
            <a:chExt cx="845100" cy="405937"/>
          </a:xfrm>
        </p:grpSpPr>
        <p:sp>
          <p:nvSpPr>
            <p:cNvPr id="4431" name="Google Shape;4431;p117"/>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4432" name="Google Shape;4432;p117"/>
            <p:cNvPicPr preferRelativeResize="0"/>
            <p:nvPr/>
          </p:nvPicPr>
          <p:blipFill>
            <a:blip r:embed="rId10">
              <a:alphaModFix/>
            </a:blip>
            <a:stretch>
              <a:fillRect/>
            </a:stretch>
          </p:blipFill>
          <p:spPr>
            <a:xfrm>
              <a:off x="10850739" y="1623535"/>
              <a:ext cx="265176" cy="265176"/>
            </a:xfrm>
            <a:prstGeom prst="rect">
              <a:avLst/>
            </a:prstGeom>
            <a:noFill/>
            <a:ln>
              <a:noFill/>
            </a:ln>
          </p:spPr>
        </p:pic>
      </p:grpSp>
      <p:sp>
        <p:nvSpPr>
          <p:cNvPr id="4433" name="Google Shape;4433;p117"/>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4434" name="Google Shape;4434;p117"/>
          <p:cNvGrpSpPr/>
          <p:nvPr/>
        </p:nvGrpSpPr>
        <p:grpSpPr>
          <a:xfrm>
            <a:off x="10702031" y="2486073"/>
            <a:ext cx="635100" cy="543395"/>
            <a:chOff x="10702031" y="2486073"/>
            <a:chExt cx="635100" cy="543395"/>
          </a:xfrm>
        </p:grpSpPr>
        <p:sp>
          <p:nvSpPr>
            <p:cNvPr id="4435" name="Google Shape;4435;p117"/>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4436" name="Google Shape;4436;p117"/>
            <p:cNvPicPr preferRelativeResize="0"/>
            <p:nvPr/>
          </p:nvPicPr>
          <p:blipFill>
            <a:blip r:embed="rId11">
              <a:alphaModFix/>
            </a:blip>
            <a:stretch>
              <a:fillRect/>
            </a:stretch>
          </p:blipFill>
          <p:spPr>
            <a:xfrm>
              <a:off x="10850716" y="2486073"/>
              <a:ext cx="265176" cy="265176"/>
            </a:xfrm>
            <a:prstGeom prst="rect">
              <a:avLst/>
            </a:prstGeom>
            <a:noFill/>
            <a:ln>
              <a:noFill/>
            </a:ln>
          </p:spPr>
        </p:pic>
      </p:grpSp>
      <p:sp>
        <p:nvSpPr>
          <p:cNvPr id="4437" name="Google Shape;4437;p117"/>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4438" name="Google Shape;4438;p117"/>
          <p:cNvGrpSpPr/>
          <p:nvPr/>
        </p:nvGrpSpPr>
        <p:grpSpPr>
          <a:xfrm>
            <a:off x="10621328" y="4994250"/>
            <a:ext cx="796500" cy="553688"/>
            <a:chOff x="10621328" y="4994250"/>
            <a:chExt cx="796500" cy="553688"/>
          </a:xfrm>
        </p:grpSpPr>
        <p:sp>
          <p:nvSpPr>
            <p:cNvPr id="4439" name="Google Shape;4439;p117"/>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4440" name="Google Shape;4440;p117"/>
            <p:cNvPicPr preferRelativeResize="0"/>
            <p:nvPr/>
          </p:nvPicPr>
          <p:blipFill>
            <a:blip r:embed="rId12">
              <a:alphaModFix/>
            </a:blip>
            <a:stretch>
              <a:fillRect/>
            </a:stretch>
          </p:blipFill>
          <p:spPr>
            <a:xfrm>
              <a:off x="10864167" y="4994250"/>
              <a:ext cx="265176" cy="265176"/>
            </a:xfrm>
            <a:prstGeom prst="rect">
              <a:avLst/>
            </a:prstGeom>
            <a:noFill/>
            <a:ln>
              <a:noFill/>
            </a:ln>
          </p:spPr>
        </p:pic>
      </p:grpSp>
      <p:sp>
        <p:nvSpPr>
          <p:cNvPr id="4441" name="Google Shape;4441;p117"/>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sp>
        <p:nvSpPr>
          <p:cNvPr id="4442" name="Google Shape;4442;p117"/>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4443" name="Google Shape;4443;p117"/>
          <p:cNvGrpSpPr/>
          <p:nvPr/>
        </p:nvGrpSpPr>
        <p:grpSpPr>
          <a:xfrm>
            <a:off x="1247501" y="5175655"/>
            <a:ext cx="524700" cy="496901"/>
            <a:chOff x="1266036" y="5196700"/>
            <a:chExt cx="524700" cy="496901"/>
          </a:xfrm>
        </p:grpSpPr>
        <p:sp>
          <p:nvSpPr>
            <p:cNvPr id="4444" name="Google Shape;4444;p117"/>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4445" name="Google Shape;4445;p117" title="primary-icon-navy-data-sharing.png"/>
            <p:cNvPicPr preferRelativeResize="0"/>
            <p:nvPr/>
          </p:nvPicPr>
          <p:blipFill>
            <a:blip r:embed="rId13">
              <a:alphaModFix/>
            </a:blip>
            <a:stretch>
              <a:fillRect/>
            </a:stretch>
          </p:blipFill>
          <p:spPr>
            <a:xfrm>
              <a:off x="1393854" y="5196700"/>
              <a:ext cx="269065" cy="269063"/>
            </a:xfrm>
            <a:prstGeom prst="rect">
              <a:avLst/>
            </a:prstGeom>
            <a:noFill/>
            <a:ln>
              <a:noFill/>
            </a:ln>
          </p:spPr>
        </p:pic>
      </p:grpSp>
      <p:grpSp>
        <p:nvGrpSpPr>
          <p:cNvPr id="4446" name="Google Shape;4446;p117"/>
          <p:cNvGrpSpPr/>
          <p:nvPr/>
        </p:nvGrpSpPr>
        <p:grpSpPr>
          <a:xfrm>
            <a:off x="816949" y="5175643"/>
            <a:ext cx="524700" cy="496193"/>
            <a:chOff x="835484" y="5196688"/>
            <a:chExt cx="524700" cy="496193"/>
          </a:xfrm>
        </p:grpSpPr>
        <p:sp>
          <p:nvSpPr>
            <p:cNvPr id="4447" name="Google Shape;4447;p117"/>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4448" name="Google Shape;4448;p117" title="primary-icon-navy-distribution.png"/>
            <p:cNvPicPr preferRelativeResize="0"/>
            <p:nvPr/>
          </p:nvPicPr>
          <p:blipFill>
            <a:blip r:embed="rId14">
              <a:alphaModFix/>
            </a:blip>
            <a:stretch>
              <a:fillRect/>
            </a:stretch>
          </p:blipFill>
          <p:spPr>
            <a:xfrm>
              <a:off x="963302" y="5196688"/>
              <a:ext cx="269065" cy="269063"/>
            </a:xfrm>
            <a:prstGeom prst="rect">
              <a:avLst/>
            </a:prstGeom>
            <a:noFill/>
            <a:ln>
              <a:noFill/>
            </a:ln>
          </p:spPr>
        </p:pic>
      </p:grpSp>
      <p:sp>
        <p:nvSpPr>
          <p:cNvPr id="4449" name="Google Shape;4449;p117"/>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4450" name="Google Shape;4450;p117"/>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4451" name="Google Shape;4451;p117"/>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4452" name="Google Shape;4452;p117"/>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4453" name="Google Shape;4453;p117"/>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4454" name="Google Shape;4454;p117"/>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4455" name="Google Shape;4455;p117"/>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4456" name="Google Shape;4456;p117"/>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4457" name="Google Shape;4457;p117"/>
          <p:cNvSpPr/>
          <p:nvPr/>
        </p:nvSpPr>
        <p:spPr>
          <a:xfrm>
            <a:off x="3320074" y="4237438"/>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4458" name="Google Shape;4458;p117"/>
          <p:cNvSpPr/>
          <p:nvPr/>
        </p:nvSpPr>
        <p:spPr>
          <a:xfrm>
            <a:off x="4942359" y="442206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4459" name="Google Shape;4459;p117"/>
          <p:cNvSpPr/>
          <p:nvPr/>
        </p:nvSpPr>
        <p:spPr>
          <a:xfrm>
            <a:off x="4086515" y="4422063"/>
            <a:ext cx="7041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Lakehouse Federation</a:t>
            </a:r>
            <a:endParaRPr sz="900">
              <a:solidFill>
                <a:schemeClr val="accent2"/>
              </a:solidFill>
              <a:latin typeface="DM Sans SemiBold"/>
              <a:ea typeface="DM Sans SemiBold"/>
              <a:cs typeface="DM Sans SemiBold"/>
              <a:sym typeface="DM Sans SemiBold"/>
            </a:endParaRPr>
          </a:p>
        </p:txBody>
      </p:sp>
      <p:sp>
        <p:nvSpPr>
          <p:cNvPr id="4460" name="Google Shape;4460;p117"/>
          <p:cNvSpPr/>
          <p:nvPr/>
        </p:nvSpPr>
        <p:spPr>
          <a:xfrm>
            <a:off x="2868763" y="3216481"/>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cxnSp>
        <p:nvCxnSpPr>
          <p:cNvPr id="4461" name="Google Shape;4461;p117"/>
          <p:cNvCxnSpPr>
            <a:stCxn id="4462" idx="2"/>
            <a:endCxn id="4458" idx="3"/>
          </p:cNvCxnSpPr>
          <p:nvPr/>
        </p:nvCxnSpPr>
        <p:spPr>
          <a:xfrm rot="5400000">
            <a:off x="5291719" y="3844806"/>
            <a:ext cx="1105500" cy="323400"/>
          </a:xfrm>
          <a:prstGeom prst="bentConnector2">
            <a:avLst/>
          </a:prstGeom>
          <a:noFill/>
          <a:ln cap="flat" cmpd="sng" w="19050">
            <a:solidFill>
              <a:srgbClr val="4299E0"/>
            </a:solidFill>
            <a:prstDash val="solid"/>
            <a:round/>
            <a:headEnd len="sm" w="sm" type="triangle"/>
            <a:tailEnd len="sm" w="sm" type="none"/>
          </a:ln>
        </p:spPr>
      </p:cxnSp>
      <p:sp>
        <p:nvSpPr>
          <p:cNvPr id="4463" name="Google Shape;4463;p117"/>
          <p:cNvSpPr/>
          <p:nvPr/>
        </p:nvSpPr>
        <p:spPr>
          <a:xfrm>
            <a:off x="5904602" y="3718513"/>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cxnSp>
        <p:nvCxnSpPr>
          <p:cNvPr id="4464" name="Google Shape;4464;p117"/>
          <p:cNvCxnSpPr>
            <a:stCxn id="4465" idx="4"/>
            <a:endCxn id="4457" idx="0"/>
          </p:cNvCxnSpPr>
          <p:nvPr/>
        </p:nvCxnSpPr>
        <p:spPr>
          <a:xfrm flipH="1" rot="-5400000">
            <a:off x="3198124" y="3794491"/>
            <a:ext cx="885300" cy="600"/>
          </a:xfrm>
          <a:prstGeom prst="bentConnector3">
            <a:avLst>
              <a:gd fmla="val 50000" name="adj1"/>
            </a:avLst>
          </a:prstGeom>
          <a:noFill/>
          <a:ln cap="flat" cmpd="sng" w="9525">
            <a:solidFill>
              <a:schemeClr val="dk2"/>
            </a:solidFill>
            <a:prstDash val="dash"/>
            <a:round/>
            <a:headEnd len="sm" w="sm" type="none"/>
            <a:tailEnd len="sm" w="sm" type="none"/>
          </a:ln>
        </p:spPr>
      </p:cxnSp>
      <p:sp>
        <p:nvSpPr>
          <p:cNvPr id="4466" name="Google Shape;4466;p117"/>
          <p:cNvSpPr/>
          <p:nvPr/>
        </p:nvSpPr>
        <p:spPr>
          <a:xfrm>
            <a:off x="2852463" y="4456713"/>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cxnSp>
        <p:nvCxnSpPr>
          <p:cNvPr id="4467" name="Google Shape;4467;p117"/>
          <p:cNvCxnSpPr>
            <a:stCxn id="4466" idx="6"/>
            <a:endCxn id="4459" idx="1"/>
          </p:cNvCxnSpPr>
          <p:nvPr/>
        </p:nvCxnSpPr>
        <p:spPr>
          <a:xfrm>
            <a:off x="3057363" y="4559163"/>
            <a:ext cx="1029300" cy="600"/>
          </a:xfrm>
          <a:prstGeom prst="bentConnector3">
            <a:avLst>
              <a:gd fmla="val 49993" name="adj1"/>
            </a:avLst>
          </a:prstGeom>
          <a:noFill/>
          <a:ln cap="flat" cmpd="sng" w="19050">
            <a:solidFill>
              <a:schemeClr val="accent4"/>
            </a:solidFill>
            <a:prstDash val="solid"/>
            <a:round/>
            <a:headEnd len="sm" w="sm" type="none"/>
            <a:tailEnd len="sm" w="sm" type="triangle"/>
          </a:ln>
        </p:spPr>
      </p:cxnSp>
      <p:cxnSp>
        <p:nvCxnSpPr>
          <p:cNvPr id="4468" name="Google Shape;4468;p117"/>
          <p:cNvCxnSpPr>
            <a:stCxn id="4460" idx="2"/>
          </p:cNvCxnSpPr>
          <p:nvPr/>
        </p:nvCxnSpPr>
        <p:spPr>
          <a:xfrm flipH="1">
            <a:off x="1769863" y="3318931"/>
            <a:ext cx="1098900" cy="1089900"/>
          </a:xfrm>
          <a:prstGeom prst="bentConnector3">
            <a:avLst>
              <a:gd fmla="val 50000" name="adj1"/>
            </a:avLst>
          </a:prstGeom>
          <a:noFill/>
          <a:ln cap="flat" cmpd="sng" w="19050">
            <a:solidFill>
              <a:srgbClr val="4299E0"/>
            </a:solidFill>
            <a:prstDash val="solid"/>
            <a:round/>
            <a:headEnd len="sm" w="sm" type="none"/>
            <a:tailEnd len="sm" w="sm" type="none"/>
          </a:ln>
        </p:spPr>
      </p:cxnSp>
      <p:sp>
        <p:nvSpPr>
          <p:cNvPr id="4469" name="Google Shape;4469;p117"/>
          <p:cNvSpPr/>
          <p:nvPr/>
        </p:nvSpPr>
        <p:spPr>
          <a:xfrm>
            <a:off x="2597079" y="4525413"/>
            <a:ext cx="67800" cy="67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470" name="Google Shape;4470;p117"/>
          <p:cNvCxnSpPr>
            <a:endCxn id="4466" idx="2"/>
          </p:cNvCxnSpPr>
          <p:nvPr/>
        </p:nvCxnSpPr>
        <p:spPr>
          <a:xfrm>
            <a:off x="1770063" y="4558563"/>
            <a:ext cx="1082400" cy="600"/>
          </a:xfrm>
          <a:prstGeom prst="bentConnector3">
            <a:avLst>
              <a:gd fmla="val 50000" name="adj1"/>
            </a:avLst>
          </a:prstGeom>
          <a:noFill/>
          <a:ln cap="flat" cmpd="sng" w="19050">
            <a:solidFill>
              <a:schemeClr val="accent4"/>
            </a:solidFill>
            <a:prstDash val="solid"/>
            <a:round/>
            <a:headEnd len="sm" w="sm" type="none"/>
            <a:tailEnd len="sm" w="sm" type="none"/>
          </a:ln>
        </p:spPr>
      </p:cxnSp>
      <p:cxnSp>
        <p:nvCxnSpPr>
          <p:cNvPr id="4471" name="Google Shape;4471;p117"/>
          <p:cNvCxnSpPr>
            <a:stCxn id="4460" idx="6"/>
            <a:endCxn id="4462" idx="1"/>
          </p:cNvCxnSpPr>
          <p:nvPr/>
        </p:nvCxnSpPr>
        <p:spPr>
          <a:xfrm flipH="1" rot="10800000">
            <a:off x="3073663" y="3316531"/>
            <a:ext cx="2552100" cy="2400"/>
          </a:xfrm>
          <a:prstGeom prst="bentConnector3">
            <a:avLst>
              <a:gd fmla="val 49997" name="adj1"/>
            </a:avLst>
          </a:prstGeom>
          <a:noFill/>
          <a:ln cap="flat" cmpd="sng" w="19050">
            <a:solidFill>
              <a:srgbClr val="4299E0"/>
            </a:solidFill>
            <a:prstDash val="solid"/>
            <a:round/>
            <a:headEnd len="sm" w="sm" type="none"/>
            <a:tailEnd len="sm" w="sm" type="triangle"/>
          </a:ln>
        </p:spPr>
      </p:cxnSp>
      <p:sp>
        <p:nvSpPr>
          <p:cNvPr id="4465" name="Google Shape;4465;p117"/>
          <p:cNvSpPr/>
          <p:nvPr/>
        </p:nvSpPr>
        <p:spPr>
          <a:xfrm>
            <a:off x="3606574" y="3284341"/>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472" name="Google Shape;4472;p117"/>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cxnSp>
        <p:nvCxnSpPr>
          <p:cNvPr id="4473" name="Google Shape;4473;p117"/>
          <p:cNvCxnSpPr>
            <a:stCxn id="4459" idx="3"/>
            <a:endCxn id="4458" idx="1"/>
          </p:cNvCxnSpPr>
          <p:nvPr/>
        </p:nvCxnSpPr>
        <p:spPr>
          <a:xfrm>
            <a:off x="4790615" y="4559163"/>
            <a:ext cx="151800" cy="600"/>
          </a:xfrm>
          <a:prstGeom prst="bentConnector3">
            <a:avLst>
              <a:gd fmla="val 49982" name="adj1"/>
            </a:avLst>
          </a:prstGeom>
          <a:noFill/>
          <a:ln cap="flat" cmpd="sng" w="19050">
            <a:solidFill>
              <a:schemeClr val="accent4"/>
            </a:solidFill>
            <a:prstDash val="solid"/>
            <a:round/>
            <a:headEnd len="sm" w="sm" type="none"/>
            <a:tailEnd len="sm" w="sm" type="triangle"/>
          </a:ln>
        </p:spPr>
      </p:cxnSp>
      <p:grpSp>
        <p:nvGrpSpPr>
          <p:cNvPr id="4474" name="Google Shape;4474;p117"/>
          <p:cNvGrpSpPr/>
          <p:nvPr/>
        </p:nvGrpSpPr>
        <p:grpSpPr>
          <a:xfrm>
            <a:off x="1278400" y="4282495"/>
            <a:ext cx="462900" cy="422268"/>
            <a:chOff x="1296935" y="4254734"/>
            <a:chExt cx="462900" cy="422268"/>
          </a:xfrm>
        </p:grpSpPr>
        <p:pic>
          <p:nvPicPr>
            <p:cNvPr id="4475" name="Google Shape;4475;p117"/>
            <p:cNvPicPr preferRelativeResize="0"/>
            <p:nvPr/>
          </p:nvPicPr>
          <p:blipFill rotWithShape="1">
            <a:blip r:embed="rId6">
              <a:alphaModFix/>
            </a:blip>
            <a:srcRect b="0" l="0" r="0" t="0"/>
            <a:stretch/>
          </p:blipFill>
          <p:spPr>
            <a:xfrm>
              <a:off x="1395798" y="4254734"/>
              <a:ext cx="265176" cy="265176"/>
            </a:xfrm>
            <a:prstGeom prst="rect">
              <a:avLst/>
            </a:prstGeom>
            <a:noFill/>
            <a:ln>
              <a:noFill/>
            </a:ln>
          </p:spPr>
        </p:pic>
        <p:sp>
          <p:nvSpPr>
            <p:cNvPr id="4476" name="Google Shape;4476;p117"/>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4477" name="Google Shape;4477;p117"/>
          <p:cNvGrpSpPr/>
          <p:nvPr/>
        </p:nvGrpSpPr>
        <p:grpSpPr>
          <a:xfrm>
            <a:off x="911400" y="4663311"/>
            <a:ext cx="336000" cy="426753"/>
            <a:chOff x="929785" y="4678386"/>
            <a:chExt cx="336000" cy="426753"/>
          </a:xfrm>
        </p:grpSpPr>
        <p:sp>
          <p:nvSpPr>
            <p:cNvPr id="4478" name="Google Shape;4478;p117"/>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4479" name="Google Shape;4479;p117" title="primary-icon-navy-spark-cluster.png"/>
            <p:cNvPicPr preferRelativeResize="0"/>
            <p:nvPr/>
          </p:nvPicPr>
          <p:blipFill>
            <a:blip r:embed="rId15">
              <a:alphaModFix/>
            </a:blip>
            <a:stretch>
              <a:fillRect/>
            </a:stretch>
          </p:blipFill>
          <p:spPr>
            <a:xfrm>
              <a:off x="963302" y="4678386"/>
              <a:ext cx="269065" cy="269063"/>
            </a:xfrm>
            <a:prstGeom prst="rect">
              <a:avLst/>
            </a:prstGeom>
            <a:noFill/>
            <a:ln>
              <a:noFill/>
            </a:ln>
          </p:spPr>
        </p:pic>
      </p:grpSp>
      <p:grpSp>
        <p:nvGrpSpPr>
          <p:cNvPr id="4480" name="Google Shape;4480;p117"/>
          <p:cNvGrpSpPr/>
          <p:nvPr/>
        </p:nvGrpSpPr>
        <p:grpSpPr>
          <a:xfrm>
            <a:off x="899750" y="4283846"/>
            <a:ext cx="359100" cy="422318"/>
            <a:chOff x="899750" y="4215307"/>
            <a:chExt cx="359100" cy="422318"/>
          </a:xfrm>
        </p:grpSpPr>
        <p:sp>
          <p:nvSpPr>
            <p:cNvPr id="4481" name="Google Shape;4481;p117"/>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4482" name="Google Shape;4482;p117" title="primary-icon-navy-data-warehouse-2.png"/>
            <p:cNvPicPr preferRelativeResize="0"/>
            <p:nvPr/>
          </p:nvPicPr>
          <p:blipFill>
            <a:blip r:embed="rId16">
              <a:alphaModFix/>
            </a:blip>
            <a:stretch>
              <a:fillRect/>
            </a:stretch>
          </p:blipFill>
          <p:spPr>
            <a:xfrm>
              <a:off x="912450" y="4215307"/>
              <a:ext cx="336000" cy="273665"/>
            </a:xfrm>
            <a:prstGeom prst="rect">
              <a:avLst/>
            </a:prstGeom>
            <a:noFill/>
            <a:ln>
              <a:noFill/>
            </a:ln>
          </p:spPr>
        </p:pic>
      </p:grpSp>
      <p:sp>
        <p:nvSpPr>
          <p:cNvPr id="4483" name="Google Shape;4483;p117"/>
          <p:cNvSpPr/>
          <p:nvPr/>
        </p:nvSpPr>
        <p:spPr>
          <a:xfrm>
            <a:off x="6726100" y="5865406"/>
            <a:ext cx="3634500" cy="9393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484" name="Google Shape;4484;p117"/>
          <p:cNvSpPr txBox="1"/>
          <p:nvPr/>
        </p:nvSpPr>
        <p:spPr>
          <a:xfrm>
            <a:off x="7001250" y="5911681"/>
            <a:ext cx="3319500" cy="864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100">
                <a:solidFill>
                  <a:schemeClr val="accent5"/>
                </a:solidFill>
                <a:latin typeface="DM Sans"/>
                <a:ea typeface="DM Sans"/>
                <a:cs typeface="DM Sans"/>
                <a:sym typeface="DM Sans"/>
              </a:rPr>
              <a:t>Integrate external metadata into Unity Catalog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0"/>
              </a:spcAft>
              <a:buNone/>
            </a:pPr>
            <a:r>
              <a:rPr lang="en" sz="1100">
                <a:solidFill>
                  <a:schemeClr val="accent5"/>
                </a:solidFill>
                <a:latin typeface="DM Sans"/>
                <a:ea typeface="DM Sans"/>
                <a:cs typeface="DM Sans"/>
                <a:sym typeface="DM Sans"/>
              </a:rPr>
              <a:t>Discover remote data in Unity Catalog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400"/>
              </a:spcAft>
              <a:buNone/>
            </a:pPr>
            <a:r>
              <a:rPr lang="en" sz="1100">
                <a:solidFill>
                  <a:schemeClr val="accent5"/>
                </a:solidFill>
                <a:latin typeface="DM Sans"/>
                <a:ea typeface="DM Sans"/>
                <a:cs typeface="DM Sans"/>
                <a:sym typeface="DM Sans"/>
              </a:rPr>
              <a:t>Check access permissions and read from the remote source (JDBC; works for any Databricks service and client   , since all use Spark/Photon) </a:t>
            </a:r>
            <a:endParaRPr sz="1100">
              <a:solidFill>
                <a:schemeClr val="accent5"/>
              </a:solidFill>
              <a:latin typeface="DM Sans"/>
              <a:ea typeface="DM Sans"/>
              <a:cs typeface="DM Sans"/>
              <a:sym typeface="DM Sans"/>
            </a:endParaRPr>
          </a:p>
        </p:txBody>
      </p:sp>
      <p:sp>
        <p:nvSpPr>
          <p:cNvPr id="4485" name="Google Shape;4485;p117"/>
          <p:cNvSpPr/>
          <p:nvPr/>
        </p:nvSpPr>
        <p:spPr>
          <a:xfrm>
            <a:off x="6782856" y="5914415"/>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486" name="Google Shape;4486;p117"/>
          <p:cNvSpPr/>
          <p:nvPr/>
        </p:nvSpPr>
        <p:spPr>
          <a:xfrm>
            <a:off x="6782856" y="6111673"/>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487" name="Google Shape;4487;p117"/>
          <p:cNvSpPr/>
          <p:nvPr/>
        </p:nvSpPr>
        <p:spPr>
          <a:xfrm>
            <a:off x="6782856" y="6307460"/>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cxnSp>
        <p:nvCxnSpPr>
          <p:cNvPr id="4488" name="Google Shape;4488;p117"/>
          <p:cNvCxnSpPr/>
          <p:nvPr/>
        </p:nvCxnSpPr>
        <p:spPr>
          <a:xfrm>
            <a:off x="6386719" y="3263015"/>
            <a:ext cx="3219900" cy="0"/>
          </a:xfrm>
          <a:prstGeom prst="straightConnector1">
            <a:avLst/>
          </a:prstGeom>
          <a:noFill/>
          <a:ln cap="flat" cmpd="sng" w="9525">
            <a:solidFill>
              <a:srgbClr val="4299E0"/>
            </a:solidFill>
            <a:prstDash val="dot"/>
            <a:round/>
            <a:headEnd len="med" w="med" type="none"/>
            <a:tailEnd len="med" w="med" type="oval"/>
          </a:ln>
        </p:spPr>
      </p:cxnSp>
      <p:cxnSp>
        <p:nvCxnSpPr>
          <p:cNvPr id="4489" name="Google Shape;4489;p117"/>
          <p:cNvCxnSpPr/>
          <p:nvPr/>
        </p:nvCxnSpPr>
        <p:spPr>
          <a:xfrm rot="10800000">
            <a:off x="6234319" y="2643195"/>
            <a:ext cx="0" cy="536100"/>
          </a:xfrm>
          <a:prstGeom prst="straightConnector1">
            <a:avLst/>
          </a:prstGeom>
          <a:noFill/>
          <a:ln cap="flat" cmpd="sng" w="9525">
            <a:solidFill>
              <a:srgbClr val="4299E0"/>
            </a:solidFill>
            <a:prstDash val="dot"/>
            <a:round/>
            <a:headEnd len="med" w="med" type="none"/>
            <a:tailEnd len="med" w="med" type="oval"/>
          </a:ln>
        </p:spPr>
      </p:cxnSp>
      <p:sp>
        <p:nvSpPr>
          <p:cNvPr id="4462" name="Google Shape;4462;p117"/>
          <p:cNvSpPr/>
          <p:nvPr/>
        </p:nvSpPr>
        <p:spPr>
          <a:xfrm>
            <a:off x="5625619" y="3179556"/>
            <a:ext cx="761100" cy="274200"/>
          </a:xfrm>
          <a:prstGeom prst="roundRect">
            <a:avLst>
              <a:gd fmla="val 19944"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cxnSp>
        <p:nvCxnSpPr>
          <p:cNvPr id="4490" name="Google Shape;4490;p117"/>
          <p:cNvCxnSpPr/>
          <p:nvPr/>
        </p:nvCxnSpPr>
        <p:spPr>
          <a:xfrm>
            <a:off x="7737800" y="3391400"/>
            <a:ext cx="1853400" cy="522600"/>
          </a:xfrm>
          <a:prstGeom prst="bentConnector3">
            <a:avLst>
              <a:gd fmla="val 99810" name="adj1"/>
            </a:avLst>
          </a:prstGeom>
          <a:noFill/>
          <a:ln cap="flat" cmpd="sng" w="9525">
            <a:solidFill>
              <a:srgbClr val="4299E0"/>
            </a:solidFill>
            <a:prstDash val="dot"/>
            <a:round/>
            <a:headEnd len="med" w="med" type="none"/>
            <a:tailEnd len="med" w="med" type="oval"/>
          </a:ln>
        </p:spPr>
      </p:cxnSp>
      <p:sp>
        <p:nvSpPr>
          <p:cNvPr id="4491" name="Google Shape;4491;p117"/>
          <p:cNvSpPr/>
          <p:nvPr/>
        </p:nvSpPr>
        <p:spPr>
          <a:xfrm>
            <a:off x="8183690" y="6664698"/>
            <a:ext cx="57900" cy="57900"/>
          </a:xfrm>
          <a:prstGeom prst="ellipse">
            <a:avLst/>
          </a:prstGeom>
          <a:solidFill>
            <a:srgbClr val="4299E0"/>
          </a:solidFill>
          <a:ln cap="flat" cmpd="sng" w="9525">
            <a:solidFill>
              <a:srgbClr val="429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492" name="Google Shape;4492;p117"/>
          <p:cNvCxnSpPr/>
          <p:nvPr/>
        </p:nvCxnSpPr>
        <p:spPr>
          <a:xfrm>
            <a:off x="6386719" y="3392856"/>
            <a:ext cx="1381200" cy="0"/>
          </a:xfrm>
          <a:prstGeom prst="straightConnector1">
            <a:avLst/>
          </a:prstGeom>
          <a:noFill/>
          <a:ln cap="flat" cmpd="sng" w="9525">
            <a:solidFill>
              <a:srgbClr val="4299E0"/>
            </a:solidFill>
            <a:prstDash val="dot"/>
            <a:round/>
            <a:headEnd len="med" w="med" type="none"/>
            <a:tailEnd len="med" w="med" type="oval"/>
          </a:ln>
        </p:spPr>
      </p:cxnSp>
      <p:grpSp>
        <p:nvGrpSpPr>
          <p:cNvPr id="4493" name="Google Shape;4493;p117"/>
          <p:cNvGrpSpPr/>
          <p:nvPr/>
        </p:nvGrpSpPr>
        <p:grpSpPr>
          <a:xfrm>
            <a:off x="10606481" y="3507444"/>
            <a:ext cx="826200" cy="363728"/>
            <a:chOff x="10606481" y="3507444"/>
            <a:chExt cx="826200" cy="363728"/>
          </a:xfrm>
        </p:grpSpPr>
        <p:sp>
          <p:nvSpPr>
            <p:cNvPr id="4494" name="Google Shape;4494;p117"/>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495" name="Google Shape;4495;p117"/>
            <p:cNvPicPr preferRelativeResize="0"/>
            <p:nvPr/>
          </p:nvPicPr>
          <p:blipFill>
            <a:blip r:embed="rId17">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9" name="Shape 4499"/>
        <p:cNvGrpSpPr/>
        <p:nvPr/>
      </p:nvGrpSpPr>
      <p:grpSpPr>
        <a:xfrm>
          <a:off x="0" y="0"/>
          <a:ext cx="0" cy="0"/>
          <a:chOff x="0" y="0"/>
          <a:chExt cx="0" cy="0"/>
        </a:xfrm>
      </p:grpSpPr>
      <p:sp>
        <p:nvSpPr>
          <p:cNvPr id="4500" name="Google Shape;4500;p118"/>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501" name="Google Shape;4501;p118"/>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502" name="Google Shape;4502;p118"/>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503" name="Google Shape;4503;p118"/>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504" name="Google Shape;4504;p118"/>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4505" name="Google Shape;4505;p118"/>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4506" name="Google Shape;4506;p118"/>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9 Catalog Federation</a:t>
            </a:r>
            <a:endParaRPr b="1" sz="3600">
              <a:latin typeface="DM Sans"/>
              <a:ea typeface="DM Sans"/>
              <a:cs typeface="DM Sans"/>
              <a:sym typeface="DM Sans"/>
            </a:endParaRPr>
          </a:p>
        </p:txBody>
      </p:sp>
      <p:sp>
        <p:nvSpPr>
          <p:cNvPr id="4507" name="Google Shape;4507;p118"/>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grpSp>
        <p:nvGrpSpPr>
          <p:cNvPr id="4508" name="Google Shape;4508;p118"/>
          <p:cNvGrpSpPr/>
          <p:nvPr/>
        </p:nvGrpSpPr>
        <p:grpSpPr>
          <a:xfrm>
            <a:off x="2986792" y="3550528"/>
            <a:ext cx="198576" cy="211709"/>
            <a:chOff x="3295749" y="3919250"/>
            <a:chExt cx="198576" cy="211709"/>
          </a:xfrm>
        </p:grpSpPr>
        <p:sp>
          <p:nvSpPr>
            <p:cNvPr id="4509" name="Google Shape;4509;p118"/>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10" name="Google Shape;4510;p118"/>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511" name="Google Shape;4511;p118"/>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4512" name="Google Shape;4512;p118"/>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grpSp>
        <p:nvGrpSpPr>
          <p:cNvPr id="4513" name="Google Shape;4513;p118"/>
          <p:cNvGrpSpPr/>
          <p:nvPr/>
        </p:nvGrpSpPr>
        <p:grpSpPr>
          <a:xfrm rot="-5400000">
            <a:off x="8118194" y="4175940"/>
            <a:ext cx="198576" cy="208513"/>
            <a:chOff x="3295749" y="3922446"/>
            <a:chExt cx="198576" cy="208513"/>
          </a:xfrm>
        </p:grpSpPr>
        <p:sp>
          <p:nvSpPr>
            <p:cNvPr id="4514" name="Google Shape;4514;p118"/>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15" name="Google Shape;4515;p118"/>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516" name="Google Shape;4516;p118"/>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4517" name="Google Shape;4517;p118"/>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4518" name="Google Shape;4518;p118"/>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4519" name="Google Shape;4519;p118"/>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4520" name="Google Shape;4520;p118"/>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4521" name="Google Shape;4521;p118"/>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4522" name="Google Shape;4522;p118"/>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4523" name="Google Shape;4523;p118"/>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4524" name="Google Shape;4524;p118"/>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4525" name="Google Shape;4525;p118"/>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4526" name="Google Shape;4526;p118"/>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grpSp>
        <p:nvGrpSpPr>
          <p:cNvPr id="4527" name="Google Shape;4527;p118"/>
          <p:cNvGrpSpPr/>
          <p:nvPr/>
        </p:nvGrpSpPr>
        <p:grpSpPr>
          <a:xfrm>
            <a:off x="4283501" y="5741943"/>
            <a:ext cx="1044000" cy="397683"/>
            <a:chOff x="4661400" y="6214292"/>
            <a:chExt cx="1044000" cy="397683"/>
          </a:xfrm>
        </p:grpSpPr>
        <p:sp>
          <p:nvSpPr>
            <p:cNvPr id="4528" name="Google Shape;4528;p118"/>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4529" name="Google Shape;4529;p118"/>
            <p:cNvPicPr preferRelativeResize="0"/>
            <p:nvPr/>
          </p:nvPicPr>
          <p:blipFill>
            <a:blip r:embed="rId3">
              <a:alphaModFix/>
            </a:blip>
            <a:stretch>
              <a:fillRect/>
            </a:stretch>
          </p:blipFill>
          <p:spPr>
            <a:xfrm>
              <a:off x="5035638" y="6214292"/>
              <a:ext cx="265176" cy="265176"/>
            </a:xfrm>
            <a:prstGeom prst="rect">
              <a:avLst/>
            </a:prstGeom>
            <a:noFill/>
            <a:ln>
              <a:noFill/>
            </a:ln>
          </p:spPr>
        </p:pic>
      </p:grpSp>
      <p:sp>
        <p:nvSpPr>
          <p:cNvPr id="4530" name="Google Shape;4530;p118"/>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pic>
        <p:nvPicPr>
          <p:cNvPr id="4531" name="Google Shape;4531;p118"/>
          <p:cNvPicPr preferRelativeResize="0"/>
          <p:nvPr/>
        </p:nvPicPr>
        <p:blipFill>
          <a:blip r:embed="rId4">
            <a:alphaModFix/>
          </a:blip>
          <a:stretch>
            <a:fillRect/>
          </a:stretch>
        </p:blipFill>
        <p:spPr>
          <a:xfrm>
            <a:off x="4998129" y="1403077"/>
            <a:ext cx="259650" cy="279625"/>
          </a:xfrm>
          <a:prstGeom prst="rect">
            <a:avLst/>
          </a:prstGeom>
          <a:noFill/>
          <a:ln>
            <a:noFill/>
          </a:ln>
        </p:spPr>
      </p:pic>
      <p:sp>
        <p:nvSpPr>
          <p:cNvPr id="4532" name="Google Shape;4532;p118"/>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rgbClr val="CCCCCC"/>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4533" name="Google Shape;4533;p118"/>
          <p:cNvGrpSpPr/>
          <p:nvPr/>
        </p:nvGrpSpPr>
        <p:grpSpPr>
          <a:xfrm>
            <a:off x="861763" y="1388635"/>
            <a:ext cx="879600" cy="565670"/>
            <a:chOff x="820734" y="1742570"/>
            <a:chExt cx="879600" cy="565670"/>
          </a:xfrm>
        </p:grpSpPr>
        <p:sp>
          <p:nvSpPr>
            <p:cNvPr id="4534" name="Google Shape;4534;p118"/>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535" name="Google Shape;4535;p118"/>
            <p:cNvPicPr preferRelativeResize="0"/>
            <p:nvPr/>
          </p:nvPicPr>
          <p:blipFill>
            <a:blip r:embed="rId5">
              <a:alphaModFix/>
            </a:blip>
            <a:stretch>
              <a:fillRect/>
            </a:stretch>
          </p:blipFill>
          <p:spPr>
            <a:xfrm>
              <a:off x="1127949" y="1742570"/>
              <a:ext cx="265176" cy="265176"/>
            </a:xfrm>
            <a:prstGeom prst="rect">
              <a:avLst/>
            </a:prstGeom>
            <a:noFill/>
            <a:ln>
              <a:noFill/>
            </a:ln>
          </p:spPr>
        </p:pic>
      </p:grpSp>
      <p:grpSp>
        <p:nvGrpSpPr>
          <p:cNvPr id="4536" name="Google Shape;4536;p118"/>
          <p:cNvGrpSpPr/>
          <p:nvPr/>
        </p:nvGrpSpPr>
        <p:grpSpPr>
          <a:xfrm>
            <a:off x="861800" y="1970622"/>
            <a:ext cx="879600" cy="558086"/>
            <a:chOff x="820771" y="2866176"/>
            <a:chExt cx="879600" cy="558086"/>
          </a:xfrm>
        </p:grpSpPr>
        <p:sp>
          <p:nvSpPr>
            <p:cNvPr id="4537" name="Google Shape;4537;p118"/>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4538" name="Google Shape;4538;p118"/>
            <p:cNvPicPr preferRelativeResize="0"/>
            <p:nvPr/>
          </p:nvPicPr>
          <p:blipFill>
            <a:blip r:embed="rId6">
              <a:alphaModFix/>
            </a:blip>
            <a:stretch>
              <a:fillRect/>
            </a:stretch>
          </p:blipFill>
          <p:spPr>
            <a:xfrm>
              <a:off x="1127949" y="2866176"/>
              <a:ext cx="265176" cy="265176"/>
            </a:xfrm>
            <a:prstGeom prst="rect">
              <a:avLst/>
            </a:prstGeom>
            <a:noFill/>
            <a:ln>
              <a:noFill/>
            </a:ln>
          </p:spPr>
        </p:pic>
      </p:grpSp>
      <p:grpSp>
        <p:nvGrpSpPr>
          <p:cNvPr id="4539" name="Google Shape;4539;p118"/>
          <p:cNvGrpSpPr/>
          <p:nvPr/>
        </p:nvGrpSpPr>
        <p:grpSpPr>
          <a:xfrm>
            <a:off x="903312" y="2545026"/>
            <a:ext cx="796500" cy="542824"/>
            <a:chOff x="862283" y="2315806"/>
            <a:chExt cx="796500" cy="542824"/>
          </a:xfrm>
        </p:grpSpPr>
        <p:sp>
          <p:nvSpPr>
            <p:cNvPr id="4540" name="Google Shape;4540;p118"/>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541" name="Google Shape;4541;p118"/>
            <p:cNvPicPr preferRelativeResize="0"/>
            <p:nvPr/>
          </p:nvPicPr>
          <p:blipFill>
            <a:blip r:embed="rId7">
              <a:alphaModFix/>
            </a:blip>
            <a:stretch>
              <a:fillRect/>
            </a:stretch>
          </p:blipFill>
          <p:spPr>
            <a:xfrm>
              <a:off x="1127949" y="2315806"/>
              <a:ext cx="265176" cy="265176"/>
            </a:xfrm>
            <a:prstGeom prst="rect">
              <a:avLst/>
            </a:prstGeom>
            <a:noFill/>
            <a:ln>
              <a:noFill/>
            </a:ln>
          </p:spPr>
        </p:pic>
      </p:grpSp>
      <p:grpSp>
        <p:nvGrpSpPr>
          <p:cNvPr id="4542" name="Google Shape;4542;p118"/>
          <p:cNvGrpSpPr/>
          <p:nvPr/>
        </p:nvGrpSpPr>
        <p:grpSpPr>
          <a:xfrm>
            <a:off x="861700" y="3104161"/>
            <a:ext cx="879600" cy="559474"/>
            <a:chOff x="820671" y="3997940"/>
            <a:chExt cx="879600" cy="559474"/>
          </a:xfrm>
        </p:grpSpPr>
        <p:pic>
          <p:nvPicPr>
            <p:cNvPr id="4543" name="Google Shape;4543;p118"/>
            <p:cNvPicPr preferRelativeResize="0"/>
            <p:nvPr/>
          </p:nvPicPr>
          <p:blipFill>
            <a:blip r:embed="rId8">
              <a:alphaModFix/>
            </a:blip>
            <a:stretch>
              <a:fillRect/>
            </a:stretch>
          </p:blipFill>
          <p:spPr>
            <a:xfrm>
              <a:off x="1127949" y="3997940"/>
              <a:ext cx="265176" cy="265176"/>
            </a:xfrm>
            <a:prstGeom prst="rect">
              <a:avLst/>
            </a:prstGeom>
            <a:noFill/>
            <a:ln>
              <a:noFill/>
            </a:ln>
          </p:spPr>
        </p:pic>
        <p:sp>
          <p:nvSpPr>
            <p:cNvPr id="4544" name="Google Shape;4544;p118"/>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4545" name="Google Shape;4545;p118"/>
          <p:cNvGrpSpPr/>
          <p:nvPr/>
        </p:nvGrpSpPr>
        <p:grpSpPr>
          <a:xfrm>
            <a:off x="920210" y="3679952"/>
            <a:ext cx="761100" cy="558519"/>
            <a:chOff x="880006" y="3431841"/>
            <a:chExt cx="761100" cy="558519"/>
          </a:xfrm>
        </p:grpSpPr>
        <p:pic>
          <p:nvPicPr>
            <p:cNvPr id="4546" name="Google Shape;4546;p118"/>
            <p:cNvPicPr preferRelativeResize="0"/>
            <p:nvPr/>
          </p:nvPicPr>
          <p:blipFill>
            <a:blip r:embed="rId9">
              <a:alphaModFix/>
            </a:blip>
            <a:stretch>
              <a:fillRect/>
            </a:stretch>
          </p:blipFill>
          <p:spPr>
            <a:xfrm>
              <a:off x="1127949" y="3431841"/>
              <a:ext cx="265176" cy="265176"/>
            </a:xfrm>
            <a:prstGeom prst="rect">
              <a:avLst/>
            </a:prstGeom>
            <a:noFill/>
            <a:ln>
              <a:noFill/>
            </a:ln>
          </p:spPr>
        </p:pic>
        <p:sp>
          <p:nvSpPr>
            <p:cNvPr id="4547" name="Google Shape;4547;p118"/>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4548" name="Google Shape;4548;p118"/>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4549" name="Google Shape;4549;p118"/>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4550" name="Google Shape;4550;p118"/>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4551" name="Google Shape;4551;p118"/>
          <p:cNvGrpSpPr/>
          <p:nvPr/>
        </p:nvGrpSpPr>
        <p:grpSpPr>
          <a:xfrm>
            <a:off x="10745081" y="3937546"/>
            <a:ext cx="549000" cy="366196"/>
            <a:chOff x="10745081" y="3937546"/>
            <a:chExt cx="549000" cy="366196"/>
          </a:xfrm>
        </p:grpSpPr>
        <p:pic>
          <p:nvPicPr>
            <p:cNvPr id="4552" name="Google Shape;4552;p118"/>
            <p:cNvPicPr preferRelativeResize="0"/>
            <p:nvPr/>
          </p:nvPicPr>
          <p:blipFill>
            <a:blip r:embed="rId10">
              <a:alphaModFix/>
            </a:blip>
            <a:stretch>
              <a:fillRect/>
            </a:stretch>
          </p:blipFill>
          <p:spPr>
            <a:xfrm>
              <a:off x="10912331" y="3937546"/>
              <a:ext cx="214500" cy="217452"/>
            </a:xfrm>
            <a:prstGeom prst="rect">
              <a:avLst/>
            </a:prstGeom>
            <a:noFill/>
            <a:ln>
              <a:noFill/>
            </a:ln>
          </p:spPr>
        </p:pic>
        <p:sp>
          <p:nvSpPr>
            <p:cNvPr id="4553" name="Google Shape;4553;p118"/>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4554" name="Google Shape;4554;p118"/>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4555" name="Google Shape;4555;p118"/>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sp>
        <p:nvSpPr>
          <p:cNvPr id="4556" name="Google Shape;4556;p118"/>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4557" name="Google Shape;4557;p118"/>
          <p:cNvGrpSpPr/>
          <p:nvPr/>
        </p:nvGrpSpPr>
        <p:grpSpPr>
          <a:xfrm>
            <a:off x="10597029" y="1623535"/>
            <a:ext cx="845100" cy="405937"/>
            <a:chOff x="10597029" y="1623535"/>
            <a:chExt cx="845100" cy="405937"/>
          </a:xfrm>
        </p:grpSpPr>
        <p:sp>
          <p:nvSpPr>
            <p:cNvPr id="4558" name="Google Shape;4558;p118"/>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4559" name="Google Shape;4559;p118"/>
            <p:cNvPicPr preferRelativeResize="0"/>
            <p:nvPr/>
          </p:nvPicPr>
          <p:blipFill>
            <a:blip r:embed="rId11">
              <a:alphaModFix/>
            </a:blip>
            <a:stretch>
              <a:fillRect/>
            </a:stretch>
          </p:blipFill>
          <p:spPr>
            <a:xfrm>
              <a:off x="10850739" y="1623535"/>
              <a:ext cx="265176" cy="265176"/>
            </a:xfrm>
            <a:prstGeom prst="rect">
              <a:avLst/>
            </a:prstGeom>
            <a:noFill/>
            <a:ln>
              <a:noFill/>
            </a:ln>
          </p:spPr>
        </p:pic>
      </p:grpSp>
      <p:sp>
        <p:nvSpPr>
          <p:cNvPr id="4560" name="Google Shape;4560;p118"/>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4561" name="Google Shape;4561;p118"/>
          <p:cNvGrpSpPr/>
          <p:nvPr/>
        </p:nvGrpSpPr>
        <p:grpSpPr>
          <a:xfrm>
            <a:off x="10702031" y="2486073"/>
            <a:ext cx="635100" cy="543395"/>
            <a:chOff x="10702031" y="2486073"/>
            <a:chExt cx="635100" cy="543395"/>
          </a:xfrm>
        </p:grpSpPr>
        <p:sp>
          <p:nvSpPr>
            <p:cNvPr id="4562" name="Google Shape;4562;p118"/>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4563" name="Google Shape;4563;p118"/>
            <p:cNvPicPr preferRelativeResize="0"/>
            <p:nvPr/>
          </p:nvPicPr>
          <p:blipFill>
            <a:blip r:embed="rId12">
              <a:alphaModFix/>
            </a:blip>
            <a:stretch>
              <a:fillRect/>
            </a:stretch>
          </p:blipFill>
          <p:spPr>
            <a:xfrm>
              <a:off x="10850716" y="2486073"/>
              <a:ext cx="265176" cy="265176"/>
            </a:xfrm>
            <a:prstGeom prst="rect">
              <a:avLst/>
            </a:prstGeom>
            <a:noFill/>
            <a:ln>
              <a:noFill/>
            </a:ln>
          </p:spPr>
        </p:pic>
      </p:grpSp>
      <p:sp>
        <p:nvSpPr>
          <p:cNvPr id="4564" name="Google Shape;4564;p118"/>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4565" name="Google Shape;4565;p118"/>
          <p:cNvGrpSpPr/>
          <p:nvPr/>
        </p:nvGrpSpPr>
        <p:grpSpPr>
          <a:xfrm>
            <a:off x="10621328" y="4994250"/>
            <a:ext cx="796500" cy="553688"/>
            <a:chOff x="10621328" y="4994250"/>
            <a:chExt cx="796500" cy="553688"/>
          </a:xfrm>
        </p:grpSpPr>
        <p:sp>
          <p:nvSpPr>
            <p:cNvPr id="4566" name="Google Shape;4566;p118"/>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4567" name="Google Shape;4567;p118"/>
            <p:cNvPicPr preferRelativeResize="0"/>
            <p:nvPr/>
          </p:nvPicPr>
          <p:blipFill>
            <a:blip r:embed="rId13">
              <a:alphaModFix/>
            </a:blip>
            <a:stretch>
              <a:fillRect/>
            </a:stretch>
          </p:blipFill>
          <p:spPr>
            <a:xfrm>
              <a:off x="10864167" y="4994250"/>
              <a:ext cx="265176" cy="265176"/>
            </a:xfrm>
            <a:prstGeom prst="rect">
              <a:avLst/>
            </a:prstGeom>
            <a:noFill/>
            <a:ln>
              <a:noFill/>
            </a:ln>
          </p:spPr>
        </p:pic>
      </p:grpSp>
      <p:sp>
        <p:nvSpPr>
          <p:cNvPr id="4568" name="Google Shape;4568;p118"/>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4569" name="Google Shape;4569;p118"/>
          <p:cNvGrpSpPr/>
          <p:nvPr/>
        </p:nvGrpSpPr>
        <p:grpSpPr>
          <a:xfrm>
            <a:off x="1367211" y="4439503"/>
            <a:ext cx="324300" cy="434522"/>
            <a:chOff x="1377357" y="4647990"/>
            <a:chExt cx="324300" cy="434522"/>
          </a:xfrm>
        </p:grpSpPr>
        <p:sp>
          <p:nvSpPr>
            <p:cNvPr id="4570" name="Google Shape;4570;p118"/>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4571" name="Google Shape;4571;p118" title="primary-icon-navy-hive-metastore-execution.png"/>
            <p:cNvPicPr preferRelativeResize="0"/>
            <p:nvPr/>
          </p:nvPicPr>
          <p:blipFill>
            <a:blip r:embed="rId14">
              <a:alphaModFix/>
            </a:blip>
            <a:stretch>
              <a:fillRect/>
            </a:stretch>
          </p:blipFill>
          <p:spPr>
            <a:xfrm>
              <a:off x="1379822" y="4647990"/>
              <a:ext cx="282300" cy="282300"/>
            </a:xfrm>
            <a:prstGeom prst="rect">
              <a:avLst/>
            </a:prstGeom>
            <a:noFill/>
            <a:ln>
              <a:noFill/>
            </a:ln>
          </p:spPr>
        </p:pic>
      </p:grpSp>
      <p:sp>
        <p:nvSpPr>
          <p:cNvPr id="4572" name="Google Shape;4572;p118"/>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4573" name="Google Shape;4573;p118"/>
          <p:cNvGrpSpPr/>
          <p:nvPr/>
        </p:nvGrpSpPr>
        <p:grpSpPr>
          <a:xfrm>
            <a:off x="1247501" y="5175655"/>
            <a:ext cx="524700" cy="496901"/>
            <a:chOff x="1266036" y="5196700"/>
            <a:chExt cx="524700" cy="496901"/>
          </a:xfrm>
        </p:grpSpPr>
        <p:sp>
          <p:nvSpPr>
            <p:cNvPr id="4574" name="Google Shape;4574;p118"/>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4575" name="Google Shape;4575;p118" title="primary-icon-navy-data-sharing.png"/>
            <p:cNvPicPr preferRelativeResize="0"/>
            <p:nvPr/>
          </p:nvPicPr>
          <p:blipFill>
            <a:blip r:embed="rId15">
              <a:alphaModFix/>
            </a:blip>
            <a:stretch>
              <a:fillRect/>
            </a:stretch>
          </p:blipFill>
          <p:spPr>
            <a:xfrm>
              <a:off x="1393854" y="5196700"/>
              <a:ext cx="269065" cy="269063"/>
            </a:xfrm>
            <a:prstGeom prst="rect">
              <a:avLst/>
            </a:prstGeom>
            <a:noFill/>
            <a:ln>
              <a:noFill/>
            </a:ln>
          </p:spPr>
        </p:pic>
      </p:grpSp>
      <p:grpSp>
        <p:nvGrpSpPr>
          <p:cNvPr id="4576" name="Google Shape;4576;p118"/>
          <p:cNvGrpSpPr/>
          <p:nvPr/>
        </p:nvGrpSpPr>
        <p:grpSpPr>
          <a:xfrm>
            <a:off x="816949" y="5175643"/>
            <a:ext cx="524700" cy="496193"/>
            <a:chOff x="835484" y="5196688"/>
            <a:chExt cx="524700" cy="496193"/>
          </a:xfrm>
        </p:grpSpPr>
        <p:sp>
          <p:nvSpPr>
            <p:cNvPr id="4577" name="Google Shape;4577;p118"/>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4578" name="Google Shape;4578;p118" title="primary-icon-navy-distribution.png"/>
            <p:cNvPicPr preferRelativeResize="0"/>
            <p:nvPr/>
          </p:nvPicPr>
          <p:blipFill>
            <a:blip r:embed="rId16">
              <a:alphaModFix/>
            </a:blip>
            <a:stretch>
              <a:fillRect/>
            </a:stretch>
          </p:blipFill>
          <p:spPr>
            <a:xfrm>
              <a:off x="963302" y="5196688"/>
              <a:ext cx="269065" cy="269063"/>
            </a:xfrm>
            <a:prstGeom prst="rect">
              <a:avLst/>
            </a:prstGeom>
            <a:noFill/>
            <a:ln>
              <a:noFill/>
            </a:ln>
          </p:spPr>
        </p:pic>
      </p:grpSp>
      <p:sp>
        <p:nvSpPr>
          <p:cNvPr id="4579" name="Google Shape;4579;p118"/>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4580" name="Google Shape;4580;p118"/>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4581" name="Google Shape;4581;p118"/>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4582" name="Google Shape;4582;p118"/>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4583" name="Google Shape;4583;p118"/>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4584" name="Google Shape;4584;p118"/>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4585" name="Google Shape;4585;p118"/>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4586" name="Google Shape;4586;p118"/>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4587" name="Google Shape;4587;p118"/>
          <p:cNvSpPr/>
          <p:nvPr/>
        </p:nvSpPr>
        <p:spPr>
          <a:xfrm>
            <a:off x="7304862" y="4422063"/>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4588" name="Google Shape;4588;p118"/>
          <p:cNvSpPr/>
          <p:nvPr/>
        </p:nvSpPr>
        <p:spPr>
          <a:xfrm>
            <a:off x="4942359" y="4422063"/>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4589" name="Google Shape;4589;p118"/>
          <p:cNvSpPr/>
          <p:nvPr/>
        </p:nvSpPr>
        <p:spPr>
          <a:xfrm>
            <a:off x="4086515" y="4422063"/>
            <a:ext cx="7041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HMS Federation</a:t>
            </a:r>
            <a:endParaRPr sz="900">
              <a:solidFill>
                <a:schemeClr val="accent2"/>
              </a:solidFill>
              <a:latin typeface="DM Sans SemiBold"/>
              <a:ea typeface="DM Sans SemiBold"/>
              <a:cs typeface="DM Sans SemiBold"/>
              <a:sym typeface="DM Sans SemiBold"/>
            </a:endParaRPr>
          </a:p>
        </p:txBody>
      </p:sp>
      <p:cxnSp>
        <p:nvCxnSpPr>
          <p:cNvPr id="4590" name="Google Shape;4590;p118"/>
          <p:cNvCxnSpPr>
            <a:stCxn id="4591" idx="6"/>
            <a:endCxn id="4587" idx="1"/>
          </p:cNvCxnSpPr>
          <p:nvPr/>
        </p:nvCxnSpPr>
        <p:spPr>
          <a:xfrm>
            <a:off x="6150109" y="4559484"/>
            <a:ext cx="1154700" cy="600"/>
          </a:xfrm>
          <a:prstGeom prst="bentConnector3">
            <a:avLst>
              <a:gd fmla="val 50002" name="adj1"/>
            </a:avLst>
          </a:prstGeom>
          <a:noFill/>
          <a:ln cap="flat" cmpd="sng" w="9525">
            <a:solidFill>
              <a:schemeClr val="dk2"/>
            </a:solidFill>
            <a:prstDash val="dash"/>
            <a:round/>
            <a:headEnd len="sm" w="sm" type="none"/>
            <a:tailEnd len="sm" w="sm" type="none"/>
          </a:ln>
        </p:spPr>
      </p:cxnSp>
      <p:sp>
        <p:nvSpPr>
          <p:cNvPr id="4592" name="Google Shape;4592;p118"/>
          <p:cNvSpPr/>
          <p:nvPr/>
        </p:nvSpPr>
        <p:spPr>
          <a:xfrm>
            <a:off x="2852463" y="4456713"/>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cxnSp>
        <p:nvCxnSpPr>
          <p:cNvPr id="4593" name="Google Shape;4593;p118"/>
          <p:cNvCxnSpPr>
            <a:stCxn id="4592" idx="6"/>
            <a:endCxn id="4589" idx="1"/>
          </p:cNvCxnSpPr>
          <p:nvPr/>
        </p:nvCxnSpPr>
        <p:spPr>
          <a:xfrm>
            <a:off x="3057363" y="4559163"/>
            <a:ext cx="1029300" cy="600"/>
          </a:xfrm>
          <a:prstGeom prst="bentConnector3">
            <a:avLst>
              <a:gd fmla="val 49993" name="adj1"/>
            </a:avLst>
          </a:prstGeom>
          <a:noFill/>
          <a:ln cap="flat" cmpd="sng" w="19050">
            <a:solidFill>
              <a:schemeClr val="accent4"/>
            </a:solidFill>
            <a:prstDash val="solid"/>
            <a:round/>
            <a:headEnd len="sm" w="sm" type="none"/>
            <a:tailEnd len="sm" w="sm" type="triangle"/>
          </a:ln>
        </p:spPr>
      </p:cxnSp>
      <p:cxnSp>
        <p:nvCxnSpPr>
          <p:cNvPr id="4594" name="Google Shape;4594;p118"/>
          <p:cNvCxnSpPr>
            <a:stCxn id="4595" idx="3"/>
            <a:endCxn id="4529" idx="1"/>
          </p:cNvCxnSpPr>
          <p:nvPr/>
        </p:nvCxnSpPr>
        <p:spPr>
          <a:xfrm>
            <a:off x="1771272" y="4678956"/>
            <a:ext cx="2886600" cy="1195500"/>
          </a:xfrm>
          <a:prstGeom prst="bentConnector3">
            <a:avLst>
              <a:gd fmla="val 13794" name="adj1"/>
            </a:avLst>
          </a:prstGeom>
          <a:noFill/>
          <a:ln cap="flat" cmpd="sng" w="9525">
            <a:solidFill>
              <a:schemeClr val="accent4"/>
            </a:solidFill>
            <a:prstDash val="dash"/>
            <a:round/>
            <a:headEnd len="sm" w="sm" type="none"/>
            <a:tailEnd len="sm" w="sm" type="none"/>
          </a:ln>
        </p:spPr>
      </p:cxnSp>
      <p:cxnSp>
        <p:nvCxnSpPr>
          <p:cNvPr id="4596" name="Google Shape;4596;p118"/>
          <p:cNvCxnSpPr>
            <a:stCxn id="4597" idx="2"/>
            <a:endCxn id="4529" idx="3"/>
          </p:cNvCxnSpPr>
          <p:nvPr/>
        </p:nvCxnSpPr>
        <p:spPr>
          <a:xfrm rot="5400000">
            <a:off x="4308529" y="4068355"/>
            <a:ext cx="2420700" cy="1191900"/>
          </a:xfrm>
          <a:prstGeom prst="bentConnector2">
            <a:avLst/>
          </a:prstGeom>
          <a:noFill/>
          <a:ln cap="flat" cmpd="sng" w="19050">
            <a:solidFill>
              <a:srgbClr val="4299E0"/>
            </a:solidFill>
            <a:prstDash val="solid"/>
            <a:round/>
            <a:headEnd len="sm" w="sm" type="triangle"/>
            <a:tailEnd len="sm" w="sm" type="none"/>
          </a:ln>
        </p:spPr>
      </p:cxnSp>
      <p:cxnSp>
        <p:nvCxnSpPr>
          <p:cNvPr id="4598" name="Google Shape;4598;p118"/>
          <p:cNvCxnSpPr>
            <a:stCxn id="4599" idx="3"/>
            <a:endCxn id="4592" idx="2"/>
          </p:cNvCxnSpPr>
          <p:nvPr/>
        </p:nvCxnSpPr>
        <p:spPr>
          <a:xfrm>
            <a:off x="1771272" y="4559163"/>
            <a:ext cx="1081200" cy="600"/>
          </a:xfrm>
          <a:prstGeom prst="bentConnector3">
            <a:avLst>
              <a:gd fmla="val 50000" name="adj1"/>
            </a:avLst>
          </a:prstGeom>
          <a:noFill/>
          <a:ln cap="flat" cmpd="sng" w="19050">
            <a:solidFill>
              <a:schemeClr val="accent4"/>
            </a:solidFill>
            <a:prstDash val="solid"/>
            <a:round/>
            <a:headEnd len="sm" w="sm" type="none"/>
            <a:tailEnd len="sm" w="sm" type="none"/>
          </a:ln>
        </p:spPr>
      </p:cxnSp>
      <p:sp>
        <p:nvSpPr>
          <p:cNvPr id="4600" name="Google Shape;4600;p118"/>
          <p:cNvSpPr txBox="1"/>
          <p:nvPr/>
        </p:nvSpPr>
        <p:spPr>
          <a:xfrm rot="-1198">
            <a:off x="2026526" y="5941137"/>
            <a:ext cx="1721400" cy="1248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 sz="900">
                <a:solidFill>
                  <a:srgbClr val="DD9312"/>
                </a:solidFill>
                <a:latin typeface="DM Sans Medium"/>
                <a:ea typeface="DM Sans Medium"/>
                <a:cs typeface="DM Sans Medium"/>
                <a:sym typeface="DM Sans Medium"/>
              </a:rPr>
              <a:t>Underlying cloud storage</a:t>
            </a:r>
            <a:endParaRPr sz="900">
              <a:solidFill>
                <a:srgbClr val="DD9312"/>
              </a:solidFill>
              <a:latin typeface="DM Sans Medium"/>
              <a:ea typeface="DM Sans Medium"/>
              <a:cs typeface="DM Sans Medium"/>
              <a:sym typeface="DM Sans Medium"/>
            </a:endParaRPr>
          </a:p>
        </p:txBody>
      </p:sp>
      <p:sp>
        <p:nvSpPr>
          <p:cNvPr id="4595" name="Google Shape;4595;p118"/>
          <p:cNvSpPr/>
          <p:nvPr/>
        </p:nvSpPr>
        <p:spPr>
          <a:xfrm>
            <a:off x="1730172" y="4645056"/>
            <a:ext cx="411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99" name="Google Shape;4599;p118"/>
          <p:cNvSpPr/>
          <p:nvPr/>
        </p:nvSpPr>
        <p:spPr>
          <a:xfrm>
            <a:off x="1730172" y="4525263"/>
            <a:ext cx="41100" cy="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601" name="Google Shape;4601;p118"/>
          <p:cNvSpPr/>
          <p:nvPr/>
        </p:nvSpPr>
        <p:spPr>
          <a:xfrm>
            <a:off x="5625619" y="3179556"/>
            <a:ext cx="761100" cy="274200"/>
          </a:xfrm>
          <a:prstGeom prst="roundRect">
            <a:avLst>
              <a:gd fmla="val 19944"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4591" name="Google Shape;4591;p118"/>
          <p:cNvSpPr/>
          <p:nvPr/>
        </p:nvSpPr>
        <p:spPr>
          <a:xfrm>
            <a:off x="6082309" y="4525584"/>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602" name="Google Shape;4602;p118"/>
          <p:cNvCxnSpPr/>
          <p:nvPr/>
        </p:nvCxnSpPr>
        <p:spPr>
          <a:xfrm>
            <a:off x="10391950" y="979075"/>
            <a:ext cx="0" cy="4608900"/>
          </a:xfrm>
          <a:prstGeom prst="straightConnector1">
            <a:avLst/>
          </a:prstGeom>
          <a:noFill/>
          <a:ln cap="flat" cmpd="sng" w="9525">
            <a:solidFill>
              <a:schemeClr val="accent1"/>
            </a:solidFill>
            <a:prstDash val="dash"/>
            <a:round/>
            <a:headEnd len="med" w="med" type="none"/>
            <a:tailEnd len="med" w="med" type="none"/>
          </a:ln>
        </p:spPr>
      </p:cxnSp>
      <p:cxnSp>
        <p:nvCxnSpPr>
          <p:cNvPr id="4603" name="Google Shape;4603;p118"/>
          <p:cNvCxnSpPr>
            <a:stCxn id="4589" idx="3"/>
            <a:endCxn id="4588" idx="1"/>
          </p:cNvCxnSpPr>
          <p:nvPr/>
        </p:nvCxnSpPr>
        <p:spPr>
          <a:xfrm>
            <a:off x="4790615" y="4559163"/>
            <a:ext cx="151800" cy="600"/>
          </a:xfrm>
          <a:prstGeom prst="bentConnector3">
            <a:avLst>
              <a:gd fmla="val 49982" name="adj1"/>
            </a:avLst>
          </a:prstGeom>
          <a:noFill/>
          <a:ln cap="flat" cmpd="sng" w="19050">
            <a:solidFill>
              <a:schemeClr val="accent4"/>
            </a:solidFill>
            <a:prstDash val="solid"/>
            <a:round/>
            <a:headEnd len="sm" w="sm" type="none"/>
            <a:tailEnd len="sm" w="sm" type="triangle"/>
          </a:ln>
        </p:spPr>
      </p:cxnSp>
      <p:cxnSp>
        <p:nvCxnSpPr>
          <p:cNvPr id="4604" name="Google Shape;4604;p118"/>
          <p:cNvCxnSpPr>
            <a:stCxn id="4605" idx="2"/>
            <a:endCxn id="4588" idx="3"/>
          </p:cNvCxnSpPr>
          <p:nvPr/>
        </p:nvCxnSpPr>
        <p:spPr>
          <a:xfrm rot="5400000">
            <a:off x="5199408" y="3937255"/>
            <a:ext cx="1105200" cy="138600"/>
          </a:xfrm>
          <a:prstGeom prst="bentConnector2">
            <a:avLst/>
          </a:prstGeom>
          <a:noFill/>
          <a:ln cap="flat" cmpd="sng" w="19050">
            <a:solidFill>
              <a:srgbClr val="4299E0"/>
            </a:solidFill>
            <a:prstDash val="solid"/>
            <a:round/>
            <a:headEnd len="sm" w="sm" type="triangle"/>
            <a:tailEnd len="sm" w="sm" type="none"/>
          </a:ln>
        </p:spPr>
      </p:cxnSp>
      <p:sp>
        <p:nvSpPr>
          <p:cNvPr id="4606" name="Google Shape;4606;p118"/>
          <p:cNvSpPr/>
          <p:nvPr/>
        </p:nvSpPr>
        <p:spPr>
          <a:xfrm>
            <a:off x="5718838" y="3768550"/>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4607" name="Google Shape;4607;p118"/>
          <p:cNvSpPr/>
          <p:nvPr/>
        </p:nvSpPr>
        <p:spPr>
          <a:xfrm>
            <a:off x="6013738" y="3768556"/>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sp>
        <p:nvSpPr>
          <p:cNvPr id="4605" name="Google Shape;4605;p118"/>
          <p:cNvSpPr/>
          <p:nvPr/>
        </p:nvSpPr>
        <p:spPr>
          <a:xfrm>
            <a:off x="5769708" y="336245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97" name="Google Shape;4597;p118"/>
          <p:cNvSpPr/>
          <p:nvPr/>
        </p:nvSpPr>
        <p:spPr>
          <a:xfrm>
            <a:off x="6063229" y="336245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608" name="Google Shape;4608;p118"/>
          <p:cNvCxnSpPr/>
          <p:nvPr/>
        </p:nvCxnSpPr>
        <p:spPr>
          <a:xfrm rot="10800000">
            <a:off x="6234319" y="2643195"/>
            <a:ext cx="0" cy="536100"/>
          </a:xfrm>
          <a:prstGeom prst="straightConnector1">
            <a:avLst/>
          </a:prstGeom>
          <a:noFill/>
          <a:ln cap="flat" cmpd="sng" w="9525">
            <a:solidFill>
              <a:srgbClr val="4299E0"/>
            </a:solidFill>
            <a:prstDash val="dot"/>
            <a:round/>
            <a:headEnd len="med" w="med" type="none"/>
            <a:tailEnd len="med" w="med" type="oval"/>
          </a:ln>
        </p:spPr>
      </p:cxnSp>
      <p:cxnSp>
        <p:nvCxnSpPr>
          <p:cNvPr id="4609" name="Google Shape;4609;p118"/>
          <p:cNvCxnSpPr/>
          <p:nvPr/>
        </p:nvCxnSpPr>
        <p:spPr>
          <a:xfrm>
            <a:off x="6386719" y="3263015"/>
            <a:ext cx="3219900" cy="0"/>
          </a:xfrm>
          <a:prstGeom prst="straightConnector1">
            <a:avLst/>
          </a:prstGeom>
          <a:noFill/>
          <a:ln cap="flat" cmpd="sng" w="9525">
            <a:solidFill>
              <a:srgbClr val="4299E0"/>
            </a:solidFill>
            <a:prstDash val="dot"/>
            <a:round/>
            <a:headEnd len="med" w="med" type="none"/>
            <a:tailEnd len="med" w="med" type="oval"/>
          </a:ln>
        </p:spPr>
      </p:cxnSp>
      <p:cxnSp>
        <p:nvCxnSpPr>
          <p:cNvPr id="4610" name="Google Shape;4610;p118"/>
          <p:cNvCxnSpPr/>
          <p:nvPr/>
        </p:nvCxnSpPr>
        <p:spPr>
          <a:xfrm>
            <a:off x="7737800" y="3391400"/>
            <a:ext cx="1853400" cy="522600"/>
          </a:xfrm>
          <a:prstGeom prst="bentConnector3">
            <a:avLst>
              <a:gd fmla="val 99810" name="adj1"/>
            </a:avLst>
          </a:prstGeom>
          <a:noFill/>
          <a:ln cap="flat" cmpd="sng" w="9525">
            <a:solidFill>
              <a:srgbClr val="4299E0"/>
            </a:solidFill>
            <a:prstDash val="dot"/>
            <a:round/>
            <a:headEnd len="med" w="med" type="none"/>
            <a:tailEnd len="med" w="med" type="oval"/>
          </a:ln>
        </p:spPr>
      </p:cxnSp>
      <p:cxnSp>
        <p:nvCxnSpPr>
          <p:cNvPr id="4611" name="Google Shape;4611;p118"/>
          <p:cNvCxnSpPr/>
          <p:nvPr/>
        </p:nvCxnSpPr>
        <p:spPr>
          <a:xfrm>
            <a:off x="6386719" y="3392856"/>
            <a:ext cx="1381200" cy="0"/>
          </a:xfrm>
          <a:prstGeom prst="straightConnector1">
            <a:avLst/>
          </a:prstGeom>
          <a:noFill/>
          <a:ln cap="flat" cmpd="sng" w="9525">
            <a:solidFill>
              <a:srgbClr val="4299E0"/>
            </a:solidFill>
            <a:prstDash val="dot"/>
            <a:round/>
            <a:headEnd len="med" w="med" type="none"/>
            <a:tailEnd len="med" w="med" type="oval"/>
          </a:ln>
        </p:spPr>
      </p:cxnSp>
      <p:sp>
        <p:nvSpPr>
          <p:cNvPr id="4612" name="Google Shape;4612;p118"/>
          <p:cNvSpPr/>
          <p:nvPr/>
        </p:nvSpPr>
        <p:spPr>
          <a:xfrm>
            <a:off x="6726100" y="5865406"/>
            <a:ext cx="3634500" cy="9393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613" name="Google Shape;4613;p118"/>
          <p:cNvSpPr txBox="1"/>
          <p:nvPr/>
        </p:nvSpPr>
        <p:spPr>
          <a:xfrm>
            <a:off x="7001250" y="5911681"/>
            <a:ext cx="3319500" cy="864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100">
                <a:solidFill>
                  <a:schemeClr val="accent5"/>
                </a:solidFill>
                <a:latin typeface="DM Sans"/>
                <a:ea typeface="DM Sans"/>
                <a:cs typeface="DM Sans"/>
                <a:sym typeface="DM Sans"/>
              </a:rPr>
              <a:t>Integrate external metadata into Unity Catalog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0"/>
              </a:spcAft>
              <a:buNone/>
            </a:pPr>
            <a:r>
              <a:rPr lang="en" sz="1100">
                <a:solidFill>
                  <a:schemeClr val="accent5"/>
                </a:solidFill>
                <a:latin typeface="DM Sans"/>
                <a:ea typeface="DM Sans"/>
                <a:cs typeface="DM Sans"/>
                <a:sym typeface="DM Sans"/>
              </a:rPr>
              <a:t>Discover remote data in Unity Catalog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400"/>
              </a:spcAft>
              <a:buNone/>
            </a:pPr>
            <a:r>
              <a:rPr lang="en" sz="1100">
                <a:solidFill>
                  <a:schemeClr val="accent5"/>
                </a:solidFill>
                <a:latin typeface="DM Sans"/>
                <a:ea typeface="DM Sans"/>
                <a:cs typeface="DM Sans"/>
                <a:sym typeface="DM Sans"/>
              </a:rPr>
              <a:t>Check access permissions and read directly from the object storage (for any Databricks service and client   , since all use Spark/Photon) </a:t>
            </a:r>
            <a:endParaRPr sz="1100">
              <a:solidFill>
                <a:schemeClr val="accent5"/>
              </a:solidFill>
              <a:latin typeface="DM Sans"/>
              <a:ea typeface="DM Sans"/>
              <a:cs typeface="DM Sans"/>
              <a:sym typeface="DM Sans"/>
            </a:endParaRPr>
          </a:p>
        </p:txBody>
      </p:sp>
      <p:sp>
        <p:nvSpPr>
          <p:cNvPr id="4614" name="Google Shape;4614;p118"/>
          <p:cNvSpPr/>
          <p:nvPr/>
        </p:nvSpPr>
        <p:spPr>
          <a:xfrm>
            <a:off x="6782856" y="5914415"/>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615" name="Google Shape;4615;p118"/>
          <p:cNvSpPr/>
          <p:nvPr/>
        </p:nvSpPr>
        <p:spPr>
          <a:xfrm>
            <a:off x="6782856" y="6111673"/>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616" name="Google Shape;4616;p118"/>
          <p:cNvSpPr/>
          <p:nvPr/>
        </p:nvSpPr>
        <p:spPr>
          <a:xfrm>
            <a:off x="6782856" y="6307460"/>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4617" name="Google Shape;4617;p118"/>
          <p:cNvSpPr/>
          <p:nvPr/>
        </p:nvSpPr>
        <p:spPr>
          <a:xfrm>
            <a:off x="7390608" y="6664698"/>
            <a:ext cx="57900" cy="57900"/>
          </a:xfrm>
          <a:prstGeom prst="ellipse">
            <a:avLst/>
          </a:prstGeom>
          <a:solidFill>
            <a:srgbClr val="4299E0"/>
          </a:solidFill>
          <a:ln cap="flat" cmpd="sng" w="9525">
            <a:solidFill>
              <a:srgbClr val="429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618" name="Google Shape;4618;p118"/>
          <p:cNvGrpSpPr/>
          <p:nvPr/>
        </p:nvGrpSpPr>
        <p:grpSpPr>
          <a:xfrm>
            <a:off x="10606481" y="3507444"/>
            <a:ext cx="826200" cy="363728"/>
            <a:chOff x="10606481" y="3507444"/>
            <a:chExt cx="826200" cy="363728"/>
          </a:xfrm>
        </p:grpSpPr>
        <p:sp>
          <p:nvSpPr>
            <p:cNvPr id="4619" name="Google Shape;4619;p118"/>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620" name="Google Shape;4620;p118"/>
            <p:cNvPicPr preferRelativeResize="0"/>
            <p:nvPr/>
          </p:nvPicPr>
          <p:blipFill>
            <a:blip r:embed="rId17">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4" name="Shape 4624"/>
        <p:cNvGrpSpPr/>
        <p:nvPr/>
      </p:nvGrpSpPr>
      <p:grpSpPr>
        <a:xfrm>
          <a:off x="0" y="0"/>
          <a:ext cx="0" cy="0"/>
          <a:chOff x="0" y="0"/>
          <a:chExt cx="0" cy="0"/>
        </a:xfrm>
      </p:grpSpPr>
      <p:sp>
        <p:nvSpPr>
          <p:cNvPr id="4625" name="Google Shape;4625;p119"/>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4626" name="Google Shape;4626;p119"/>
          <p:cNvGrpSpPr/>
          <p:nvPr/>
        </p:nvGrpSpPr>
        <p:grpSpPr>
          <a:xfrm rot="-5400000">
            <a:off x="8118194" y="4175940"/>
            <a:ext cx="198576" cy="208513"/>
            <a:chOff x="3295749" y="3922446"/>
            <a:chExt cx="198576" cy="208513"/>
          </a:xfrm>
        </p:grpSpPr>
        <p:sp>
          <p:nvSpPr>
            <p:cNvPr id="4627" name="Google Shape;4627;p119"/>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628" name="Google Shape;4628;p119"/>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629" name="Google Shape;4629;p119"/>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630" name="Google Shape;4630;p119"/>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4631" name="Google Shape;4631;p119"/>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632" name="Google Shape;4632;p119"/>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4633" name="Google Shape;4633;p119"/>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4634" name="Google Shape;4634;p119"/>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10a Sharing Data</a:t>
            </a:r>
            <a:endParaRPr b="1" sz="3600">
              <a:latin typeface="DM Sans"/>
              <a:ea typeface="DM Sans"/>
              <a:cs typeface="DM Sans"/>
              <a:sym typeface="DM Sans"/>
            </a:endParaRPr>
          </a:p>
        </p:txBody>
      </p:sp>
      <p:sp>
        <p:nvSpPr>
          <p:cNvPr id="4635" name="Google Shape;4635;p119"/>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grpSp>
        <p:nvGrpSpPr>
          <p:cNvPr id="4636" name="Google Shape;4636;p119"/>
          <p:cNvGrpSpPr/>
          <p:nvPr/>
        </p:nvGrpSpPr>
        <p:grpSpPr>
          <a:xfrm>
            <a:off x="2986792" y="3550528"/>
            <a:ext cx="198576" cy="211709"/>
            <a:chOff x="3295749" y="3919250"/>
            <a:chExt cx="198576" cy="211709"/>
          </a:xfrm>
        </p:grpSpPr>
        <p:sp>
          <p:nvSpPr>
            <p:cNvPr id="4637" name="Google Shape;4637;p119"/>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638" name="Google Shape;4638;p119"/>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639" name="Google Shape;4639;p119"/>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4640" name="Google Shape;4640;p119"/>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4641" name="Google Shape;4641;p119"/>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4642" name="Google Shape;4642;p119"/>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Engineering and Processing</a:t>
            </a:r>
            <a:endParaRPr sz="1100">
              <a:solidFill>
                <a:srgbClr val="CCCCCC"/>
              </a:solidFill>
              <a:latin typeface="DM Sans Medium"/>
              <a:ea typeface="DM Sans Medium"/>
              <a:cs typeface="DM Sans Medium"/>
              <a:sym typeface="DM Sans Medium"/>
            </a:endParaRPr>
          </a:p>
        </p:txBody>
      </p:sp>
      <p:sp>
        <p:nvSpPr>
          <p:cNvPr id="4643" name="Google Shape;4643;p119"/>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4644" name="Google Shape;4644;p119"/>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4645" name="Google Shape;4645;p119"/>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4646" name="Google Shape;4646;p119"/>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4647" name="Google Shape;4647;p119"/>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4648" name="Google Shape;4648;p119"/>
          <p:cNvSpPr/>
          <p:nvPr/>
        </p:nvSpPr>
        <p:spPr>
          <a:xfrm>
            <a:off x="9133775" y="4867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4649" name="Google Shape;4649;p119"/>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4650" name="Google Shape;4650;p119"/>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4651" name="Google Shape;4651;p119"/>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4652" name="Google Shape;4652;p119"/>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4653" name="Google Shape;4653;p119"/>
          <p:cNvSpPr/>
          <p:nvPr/>
        </p:nvSpPr>
        <p:spPr>
          <a:xfrm>
            <a:off x="6728475" y="4997825"/>
            <a:ext cx="502200" cy="223800"/>
          </a:xfrm>
          <a:prstGeom prst="roundRect">
            <a:avLst>
              <a:gd fmla="val 20281"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Market</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place</a:t>
            </a:r>
            <a:endParaRPr sz="900">
              <a:solidFill>
                <a:schemeClr val="accent2"/>
              </a:solidFill>
              <a:latin typeface="DM Sans SemiBold"/>
              <a:ea typeface="DM Sans SemiBold"/>
              <a:cs typeface="DM Sans SemiBold"/>
              <a:sym typeface="DM Sans SemiBold"/>
            </a:endParaRPr>
          </a:p>
        </p:txBody>
      </p:sp>
      <p:sp>
        <p:nvSpPr>
          <p:cNvPr id="4654" name="Google Shape;4654;p119"/>
          <p:cNvSpPr/>
          <p:nvPr/>
        </p:nvSpPr>
        <p:spPr>
          <a:xfrm>
            <a:off x="7289449" y="4242488"/>
            <a:ext cx="6408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grpSp>
        <p:nvGrpSpPr>
          <p:cNvPr id="4655" name="Google Shape;4655;p119"/>
          <p:cNvGrpSpPr/>
          <p:nvPr/>
        </p:nvGrpSpPr>
        <p:grpSpPr>
          <a:xfrm>
            <a:off x="9152825" y="5050522"/>
            <a:ext cx="1044000" cy="400292"/>
            <a:chOff x="9534531" y="5079108"/>
            <a:chExt cx="1044000" cy="400292"/>
          </a:xfrm>
        </p:grpSpPr>
        <p:sp>
          <p:nvSpPr>
            <p:cNvPr id="4656" name="Google Shape;4656;p119"/>
            <p:cNvSpPr txBox="1"/>
            <p:nvPr/>
          </p:nvSpPr>
          <p:spPr>
            <a:xfrm>
              <a:off x="9534531" y="5325500"/>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4657" name="Google Shape;4657;p119"/>
            <p:cNvPicPr preferRelativeResize="0"/>
            <p:nvPr/>
          </p:nvPicPr>
          <p:blipFill>
            <a:blip r:embed="rId3">
              <a:alphaModFix/>
            </a:blip>
            <a:stretch>
              <a:fillRect/>
            </a:stretch>
          </p:blipFill>
          <p:spPr>
            <a:xfrm>
              <a:off x="9908871" y="5079108"/>
              <a:ext cx="265176" cy="265176"/>
            </a:xfrm>
            <a:prstGeom prst="rect">
              <a:avLst/>
            </a:prstGeom>
            <a:noFill/>
            <a:ln>
              <a:noFill/>
            </a:ln>
          </p:spPr>
        </p:pic>
      </p:grpSp>
      <p:grpSp>
        <p:nvGrpSpPr>
          <p:cNvPr id="4658" name="Google Shape;4658;p119"/>
          <p:cNvGrpSpPr/>
          <p:nvPr/>
        </p:nvGrpSpPr>
        <p:grpSpPr>
          <a:xfrm>
            <a:off x="4283501" y="5741943"/>
            <a:ext cx="1044000" cy="397683"/>
            <a:chOff x="4661400" y="6214292"/>
            <a:chExt cx="1044000" cy="397683"/>
          </a:xfrm>
        </p:grpSpPr>
        <p:sp>
          <p:nvSpPr>
            <p:cNvPr id="4659" name="Google Shape;4659;p119"/>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4660" name="Google Shape;4660;p119"/>
            <p:cNvPicPr preferRelativeResize="0"/>
            <p:nvPr/>
          </p:nvPicPr>
          <p:blipFill>
            <a:blip r:embed="rId4">
              <a:alphaModFix/>
            </a:blip>
            <a:stretch>
              <a:fillRect/>
            </a:stretch>
          </p:blipFill>
          <p:spPr>
            <a:xfrm>
              <a:off x="5035638" y="6214292"/>
              <a:ext cx="265176" cy="265176"/>
            </a:xfrm>
            <a:prstGeom prst="rect">
              <a:avLst/>
            </a:prstGeom>
            <a:noFill/>
            <a:ln>
              <a:noFill/>
            </a:ln>
          </p:spPr>
        </p:pic>
      </p:grpSp>
      <p:sp>
        <p:nvSpPr>
          <p:cNvPr id="4661" name="Google Shape;4661;p119"/>
          <p:cNvSpPr/>
          <p:nvPr/>
        </p:nvSpPr>
        <p:spPr>
          <a:xfrm>
            <a:off x="7378942" y="5095543"/>
            <a:ext cx="666600" cy="292500"/>
          </a:xfrm>
          <a:prstGeom prst="roundRect">
            <a:avLst>
              <a:gd fmla="val 17511" name="adj"/>
            </a:avLst>
          </a:prstGeom>
          <a:no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Sharing</a:t>
            </a:r>
            <a:endParaRPr sz="900">
              <a:solidFill>
                <a:schemeClr val="accent2"/>
              </a:solidFill>
              <a:latin typeface="DM Sans SemiBold"/>
              <a:ea typeface="DM Sans SemiBold"/>
              <a:cs typeface="DM Sans SemiBold"/>
              <a:sym typeface="DM Sans SemiBold"/>
            </a:endParaRPr>
          </a:p>
        </p:txBody>
      </p:sp>
      <p:pic>
        <p:nvPicPr>
          <p:cNvPr id="4662" name="Google Shape;4662;p119"/>
          <p:cNvPicPr preferRelativeResize="0"/>
          <p:nvPr/>
        </p:nvPicPr>
        <p:blipFill>
          <a:blip r:embed="rId5">
            <a:alphaModFix/>
          </a:blip>
          <a:stretch>
            <a:fillRect/>
          </a:stretch>
        </p:blipFill>
        <p:spPr>
          <a:xfrm>
            <a:off x="7406153" y="5167926"/>
            <a:ext cx="173400" cy="145181"/>
          </a:xfrm>
          <a:prstGeom prst="rect">
            <a:avLst/>
          </a:prstGeom>
          <a:noFill/>
          <a:ln>
            <a:noFill/>
          </a:ln>
        </p:spPr>
      </p:pic>
      <p:sp>
        <p:nvSpPr>
          <p:cNvPr id="4663" name="Google Shape;4663;p119"/>
          <p:cNvSpPr/>
          <p:nvPr/>
        </p:nvSpPr>
        <p:spPr>
          <a:xfrm>
            <a:off x="332284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4664" name="Google Shape;4664;p119"/>
          <p:cNvPicPr preferRelativeResize="0"/>
          <p:nvPr/>
        </p:nvPicPr>
        <p:blipFill>
          <a:blip r:embed="rId6">
            <a:alphaModFix/>
          </a:blip>
          <a:stretch>
            <a:fillRect/>
          </a:stretch>
        </p:blipFill>
        <p:spPr>
          <a:xfrm>
            <a:off x="3367671" y="5181455"/>
            <a:ext cx="200700" cy="191237"/>
          </a:xfrm>
          <a:prstGeom prst="rect">
            <a:avLst/>
          </a:prstGeom>
          <a:noFill/>
          <a:ln>
            <a:noFill/>
          </a:ln>
        </p:spPr>
      </p:pic>
      <p:sp>
        <p:nvSpPr>
          <p:cNvPr id="4665" name="Google Shape;4665;p119"/>
          <p:cNvSpPr/>
          <p:nvPr/>
        </p:nvSpPr>
        <p:spPr>
          <a:xfrm>
            <a:off x="6449009" y="4435338"/>
            <a:ext cx="740400" cy="2742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4666" name="Google Shape;4666;p119"/>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4667" name="Google Shape;4667;p119"/>
          <p:cNvSpPr/>
          <p:nvPr/>
        </p:nvSpPr>
        <p:spPr>
          <a:xfrm>
            <a:off x="4332250" y="5121992"/>
            <a:ext cx="704100" cy="292500"/>
          </a:xfrm>
          <a:prstGeom prst="roundRect">
            <a:avLst>
              <a:gd fmla="val 14403" name="adj"/>
            </a:avLst>
          </a:prstGeom>
          <a:solidFill>
            <a:srgbClr val="FFFFFF"/>
          </a:solidFill>
          <a:ln cap="flat" cmpd="sng" w="952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pic>
        <p:nvPicPr>
          <p:cNvPr id="4668" name="Google Shape;4668;p119"/>
          <p:cNvPicPr preferRelativeResize="0"/>
          <p:nvPr/>
        </p:nvPicPr>
        <p:blipFill>
          <a:blip r:embed="rId7">
            <a:alphaModFix/>
          </a:blip>
          <a:stretch>
            <a:fillRect/>
          </a:stretch>
        </p:blipFill>
        <p:spPr>
          <a:xfrm>
            <a:off x="4998129" y="1403077"/>
            <a:ext cx="259650" cy="279625"/>
          </a:xfrm>
          <a:prstGeom prst="rect">
            <a:avLst/>
          </a:prstGeom>
          <a:noFill/>
          <a:ln>
            <a:noFill/>
          </a:ln>
        </p:spPr>
      </p:pic>
      <p:sp>
        <p:nvSpPr>
          <p:cNvPr id="4669" name="Google Shape;4669;p119"/>
          <p:cNvSpPr/>
          <p:nvPr/>
        </p:nvSpPr>
        <p:spPr>
          <a:xfrm>
            <a:off x="4104084" y="5415524"/>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670" name="Google Shape;4670;p119"/>
          <p:cNvGrpSpPr/>
          <p:nvPr/>
        </p:nvGrpSpPr>
        <p:grpSpPr>
          <a:xfrm>
            <a:off x="5357469" y="5168059"/>
            <a:ext cx="1015163" cy="210402"/>
            <a:chOff x="6995676" y="6025175"/>
            <a:chExt cx="1015163" cy="210402"/>
          </a:xfrm>
        </p:grpSpPr>
        <p:sp>
          <p:nvSpPr>
            <p:cNvPr id="4671" name="Google Shape;4671;p119"/>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4672" name="Google Shape;4672;p119"/>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4673" name="Google Shape;4673;p119"/>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4674" name="Google Shape;4674;p119"/>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675" name="Google Shape;4675;p119"/>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676" name="Google Shape;4676;p119"/>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677" name="Google Shape;4677;p119"/>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678" name="Google Shape;4678;p119"/>
            <p:cNvCxnSpPr>
              <a:stCxn id="4675" idx="4"/>
              <a:endCxn id="4679"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4679" name="Google Shape;4679;p119"/>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680" name="Google Shape;4680;p119"/>
            <p:cNvCxnSpPr>
              <a:stCxn id="4674" idx="4"/>
              <a:endCxn id="4677"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4681" name="Google Shape;4681;p119"/>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rgbClr val="CCCCCC"/>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grpSp>
        <p:nvGrpSpPr>
          <p:cNvPr id="4682" name="Google Shape;4682;p119"/>
          <p:cNvGrpSpPr/>
          <p:nvPr/>
        </p:nvGrpSpPr>
        <p:grpSpPr>
          <a:xfrm>
            <a:off x="861763" y="1388635"/>
            <a:ext cx="879600" cy="565670"/>
            <a:chOff x="820734" y="1742570"/>
            <a:chExt cx="879600" cy="565670"/>
          </a:xfrm>
        </p:grpSpPr>
        <p:sp>
          <p:nvSpPr>
            <p:cNvPr id="4683" name="Google Shape;4683;p119"/>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684" name="Google Shape;4684;p119"/>
            <p:cNvPicPr preferRelativeResize="0"/>
            <p:nvPr/>
          </p:nvPicPr>
          <p:blipFill>
            <a:blip r:embed="rId8">
              <a:alphaModFix/>
            </a:blip>
            <a:stretch>
              <a:fillRect/>
            </a:stretch>
          </p:blipFill>
          <p:spPr>
            <a:xfrm>
              <a:off x="1127949" y="1742570"/>
              <a:ext cx="265176" cy="265176"/>
            </a:xfrm>
            <a:prstGeom prst="rect">
              <a:avLst/>
            </a:prstGeom>
            <a:noFill/>
            <a:ln>
              <a:noFill/>
            </a:ln>
          </p:spPr>
        </p:pic>
      </p:grpSp>
      <p:grpSp>
        <p:nvGrpSpPr>
          <p:cNvPr id="4685" name="Google Shape;4685;p119"/>
          <p:cNvGrpSpPr/>
          <p:nvPr/>
        </p:nvGrpSpPr>
        <p:grpSpPr>
          <a:xfrm>
            <a:off x="1278400" y="4282495"/>
            <a:ext cx="462900" cy="422268"/>
            <a:chOff x="1296935" y="4254734"/>
            <a:chExt cx="462900" cy="422268"/>
          </a:xfrm>
        </p:grpSpPr>
        <p:pic>
          <p:nvPicPr>
            <p:cNvPr id="4686" name="Google Shape;4686;p119"/>
            <p:cNvPicPr preferRelativeResize="0"/>
            <p:nvPr/>
          </p:nvPicPr>
          <p:blipFill rotWithShape="1">
            <a:blip r:embed="rId9">
              <a:alphaModFix/>
            </a:blip>
            <a:srcRect b="0" l="0" r="0" t="0"/>
            <a:stretch/>
          </p:blipFill>
          <p:spPr>
            <a:xfrm>
              <a:off x="1395798" y="4254734"/>
              <a:ext cx="265176" cy="265176"/>
            </a:xfrm>
            <a:prstGeom prst="rect">
              <a:avLst/>
            </a:prstGeom>
            <a:noFill/>
            <a:ln>
              <a:noFill/>
            </a:ln>
          </p:spPr>
        </p:pic>
        <p:sp>
          <p:nvSpPr>
            <p:cNvPr id="4687" name="Google Shape;4687;p119"/>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4688" name="Google Shape;4688;p119"/>
          <p:cNvGrpSpPr/>
          <p:nvPr/>
        </p:nvGrpSpPr>
        <p:grpSpPr>
          <a:xfrm>
            <a:off x="861800" y="1970622"/>
            <a:ext cx="879600" cy="558086"/>
            <a:chOff x="820771" y="2866176"/>
            <a:chExt cx="879600" cy="558086"/>
          </a:xfrm>
        </p:grpSpPr>
        <p:sp>
          <p:nvSpPr>
            <p:cNvPr id="4689" name="Google Shape;4689;p119"/>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4690" name="Google Shape;4690;p119"/>
            <p:cNvPicPr preferRelativeResize="0"/>
            <p:nvPr/>
          </p:nvPicPr>
          <p:blipFill>
            <a:blip r:embed="rId10">
              <a:alphaModFix/>
            </a:blip>
            <a:stretch>
              <a:fillRect/>
            </a:stretch>
          </p:blipFill>
          <p:spPr>
            <a:xfrm>
              <a:off x="1127949" y="2866176"/>
              <a:ext cx="265176" cy="265176"/>
            </a:xfrm>
            <a:prstGeom prst="rect">
              <a:avLst/>
            </a:prstGeom>
            <a:noFill/>
            <a:ln>
              <a:noFill/>
            </a:ln>
          </p:spPr>
        </p:pic>
      </p:grpSp>
      <p:grpSp>
        <p:nvGrpSpPr>
          <p:cNvPr id="4691" name="Google Shape;4691;p119"/>
          <p:cNvGrpSpPr/>
          <p:nvPr/>
        </p:nvGrpSpPr>
        <p:grpSpPr>
          <a:xfrm>
            <a:off x="903312" y="2545026"/>
            <a:ext cx="796500" cy="542824"/>
            <a:chOff x="862283" y="2315806"/>
            <a:chExt cx="796500" cy="542824"/>
          </a:xfrm>
        </p:grpSpPr>
        <p:sp>
          <p:nvSpPr>
            <p:cNvPr id="4692" name="Google Shape;4692;p119"/>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4693" name="Google Shape;4693;p119"/>
            <p:cNvPicPr preferRelativeResize="0"/>
            <p:nvPr/>
          </p:nvPicPr>
          <p:blipFill>
            <a:blip r:embed="rId9">
              <a:alphaModFix/>
            </a:blip>
            <a:stretch>
              <a:fillRect/>
            </a:stretch>
          </p:blipFill>
          <p:spPr>
            <a:xfrm>
              <a:off x="1127949" y="2315806"/>
              <a:ext cx="265176" cy="265176"/>
            </a:xfrm>
            <a:prstGeom prst="rect">
              <a:avLst/>
            </a:prstGeom>
            <a:noFill/>
            <a:ln>
              <a:noFill/>
            </a:ln>
          </p:spPr>
        </p:pic>
      </p:grpSp>
      <p:grpSp>
        <p:nvGrpSpPr>
          <p:cNvPr id="4694" name="Google Shape;4694;p119"/>
          <p:cNvGrpSpPr/>
          <p:nvPr/>
        </p:nvGrpSpPr>
        <p:grpSpPr>
          <a:xfrm>
            <a:off x="861700" y="3104161"/>
            <a:ext cx="879600" cy="559474"/>
            <a:chOff x="820671" y="3997940"/>
            <a:chExt cx="879600" cy="559474"/>
          </a:xfrm>
        </p:grpSpPr>
        <p:pic>
          <p:nvPicPr>
            <p:cNvPr id="4695" name="Google Shape;4695;p119"/>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4696" name="Google Shape;4696;p119"/>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4697" name="Google Shape;4697;p119"/>
          <p:cNvGrpSpPr/>
          <p:nvPr/>
        </p:nvGrpSpPr>
        <p:grpSpPr>
          <a:xfrm>
            <a:off x="920210" y="3679952"/>
            <a:ext cx="761100" cy="558519"/>
            <a:chOff x="880006" y="3431841"/>
            <a:chExt cx="761100" cy="558519"/>
          </a:xfrm>
        </p:grpSpPr>
        <p:pic>
          <p:nvPicPr>
            <p:cNvPr id="4698" name="Google Shape;4698;p119"/>
            <p:cNvPicPr preferRelativeResize="0"/>
            <p:nvPr/>
          </p:nvPicPr>
          <p:blipFill>
            <a:blip r:embed="rId11">
              <a:alphaModFix/>
            </a:blip>
            <a:stretch>
              <a:fillRect/>
            </a:stretch>
          </p:blipFill>
          <p:spPr>
            <a:xfrm>
              <a:off x="1127949" y="3431841"/>
              <a:ext cx="265176" cy="265176"/>
            </a:xfrm>
            <a:prstGeom prst="rect">
              <a:avLst/>
            </a:prstGeom>
            <a:noFill/>
            <a:ln>
              <a:noFill/>
            </a:ln>
          </p:spPr>
        </p:pic>
        <p:sp>
          <p:nvSpPr>
            <p:cNvPr id="4699" name="Google Shape;4699;p119"/>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4700" name="Google Shape;4700;p119"/>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4701" name="Google Shape;4701;p119"/>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4702" name="Google Shape;4702;p119"/>
          <p:cNvSpPr/>
          <p:nvPr/>
        </p:nvSpPr>
        <p:spPr>
          <a:xfrm>
            <a:off x="6728475" y="5249873"/>
            <a:ext cx="502200" cy="223800"/>
          </a:xfrm>
          <a:prstGeom prst="roundRect">
            <a:avLst>
              <a:gd fmla="val 20281" name="adj"/>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Clean Rooms</a:t>
            </a:r>
            <a:endParaRPr sz="900">
              <a:solidFill>
                <a:schemeClr val="accent2"/>
              </a:solidFill>
              <a:latin typeface="DM Sans SemiBold"/>
              <a:ea typeface="DM Sans SemiBold"/>
              <a:cs typeface="DM Sans SemiBold"/>
              <a:sym typeface="DM Sans SemiBold"/>
            </a:endParaRPr>
          </a:p>
        </p:txBody>
      </p:sp>
      <p:sp>
        <p:nvSpPr>
          <p:cNvPr id="4703" name="Google Shape;4703;p119"/>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4704" name="Google Shape;4704;p119"/>
          <p:cNvGrpSpPr/>
          <p:nvPr/>
        </p:nvGrpSpPr>
        <p:grpSpPr>
          <a:xfrm>
            <a:off x="10745081" y="3937546"/>
            <a:ext cx="549000" cy="366196"/>
            <a:chOff x="10745081" y="3937546"/>
            <a:chExt cx="549000" cy="366196"/>
          </a:xfrm>
        </p:grpSpPr>
        <p:pic>
          <p:nvPicPr>
            <p:cNvPr id="4705" name="Google Shape;4705;p119"/>
            <p:cNvPicPr preferRelativeResize="0"/>
            <p:nvPr/>
          </p:nvPicPr>
          <p:blipFill>
            <a:blip r:embed="rId12">
              <a:alphaModFix/>
            </a:blip>
            <a:stretch>
              <a:fillRect/>
            </a:stretch>
          </p:blipFill>
          <p:spPr>
            <a:xfrm>
              <a:off x="10912331" y="3937546"/>
              <a:ext cx="214500" cy="217452"/>
            </a:xfrm>
            <a:prstGeom prst="rect">
              <a:avLst/>
            </a:prstGeom>
            <a:noFill/>
            <a:ln>
              <a:noFill/>
            </a:ln>
          </p:spPr>
        </p:pic>
        <p:sp>
          <p:nvSpPr>
            <p:cNvPr id="4706" name="Google Shape;4706;p119"/>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4707" name="Google Shape;4707;p119"/>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4708" name="Google Shape;4708;p119"/>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4709" name="Google Shape;4709;p119"/>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4710" name="Google Shape;4710;p119"/>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4711" name="Google Shape;4711;p119"/>
          <p:cNvGrpSpPr/>
          <p:nvPr/>
        </p:nvGrpSpPr>
        <p:grpSpPr>
          <a:xfrm>
            <a:off x="10597029" y="1623535"/>
            <a:ext cx="845100" cy="405937"/>
            <a:chOff x="10597029" y="1623535"/>
            <a:chExt cx="845100" cy="405937"/>
          </a:xfrm>
        </p:grpSpPr>
        <p:sp>
          <p:nvSpPr>
            <p:cNvPr id="4712" name="Google Shape;4712;p119"/>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4713" name="Google Shape;4713;p119"/>
            <p:cNvPicPr preferRelativeResize="0"/>
            <p:nvPr/>
          </p:nvPicPr>
          <p:blipFill>
            <a:blip r:embed="rId13">
              <a:alphaModFix/>
            </a:blip>
            <a:stretch>
              <a:fillRect/>
            </a:stretch>
          </p:blipFill>
          <p:spPr>
            <a:xfrm>
              <a:off x="10850739" y="1623535"/>
              <a:ext cx="265176" cy="265176"/>
            </a:xfrm>
            <a:prstGeom prst="rect">
              <a:avLst/>
            </a:prstGeom>
            <a:noFill/>
            <a:ln>
              <a:noFill/>
            </a:ln>
          </p:spPr>
        </p:pic>
      </p:grpSp>
      <p:sp>
        <p:nvSpPr>
          <p:cNvPr id="4714" name="Google Shape;4714;p119"/>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4715" name="Google Shape;4715;p119"/>
          <p:cNvGrpSpPr/>
          <p:nvPr/>
        </p:nvGrpSpPr>
        <p:grpSpPr>
          <a:xfrm>
            <a:off x="10702031" y="2486073"/>
            <a:ext cx="635100" cy="543395"/>
            <a:chOff x="10702031" y="2486073"/>
            <a:chExt cx="635100" cy="543395"/>
          </a:xfrm>
        </p:grpSpPr>
        <p:sp>
          <p:nvSpPr>
            <p:cNvPr id="4716" name="Google Shape;4716;p119"/>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4717" name="Google Shape;4717;p119"/>
            <p:cNvPicPr preferRelativeResize="0"/>
            <p:nvPr/>
          </p:nvPicPr>
          <p:blipFill>
            <a:blip r:embed="rId14">
              <a:alphaModFix/>
            </a:blip>
            <a:stretch>
              <a:fillRect/>
            </a:stretch>
          </p:blipFill>
          <p:spPr>
            <a:xfrm>
              <a:off x="10850716" y="2486073"/>
              <a:ext cx="265176" cy="265176"/>
            </a:xfrm>
            <a:prstGeom prst="rect">
              <a:avLst/>
            </a:prstGeom>
            <a:noFill/>
            <a:ln>
              <a:noFill/>
            </a:ln>
          </p:spPr>
        </p:pic>
      </p:grpSp>
      <p:sp>
        <p:nvSpPr>
          <p:cNvPr id="4718" name="Google Shape;4718;p119"/>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4719" name="Google Shape;4719;p119"/>
          <p:cNvGrpSpPr/>
          <p:nvPr/>
        </p:nvGrpSpPr>
        <p:grpSpPr>
          <a:xfrm>
            <a:off x="10621328" y="4994250"/>
            <a:ext cx="796500" cy="553688"/>
            <a:chOff x="10621328" y="4994250"/>
            <a:chExt cx="796500" cy="553688"/>
          </a:xfrm>
        </p:grpSpPr>
        <p:sp>
          <p:nvSpPr>
            <p:cNvPr id="4720" name="Google Shape;4720;p119"/>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4721" name="Google Shape;4721;p119"/>
            <p:cNvPicPr preferRelativeResize="0"/>
            <p:nvPr/>
          </p:nvPicPr>
          <p:blipFill>
            <a:blip r:embed="rId15">
              <a:alphaModFix/>
            </a:blip>
            <a:stretch>
              <a:fillRect/>
            </a:stretch>
          </p:blipFill>
          <p:spPr>
            <a:xfrm>
              <a:off x="10864167" y="4994250"/>
              <a:ext cx="265176" cy="265176"/>
            </a:xfrm>
            <a:prstGeom prst="rect">
              <a:avLst/>
            </a:prstGeom>
            <a:noFill/>
            <a:ln>
              <a:noFill/>
            </a:ln>
          </p:spPr>
        </p:pic>
      </p:grpSp>
      <p:pic>
        <p:nvPicPr>
          <p:cNvPr id="4722" name="Google Shape;4722;p119"/>
          <p:cNvPicPr preferRelativeResize="0"/>
          <p:nvPr/>
        </p:nvPicPr>
        <p:blipFill>
          <a:blip r:embed="rId16">
            <a:alphaModFix/>
          </a:blip>
          <a:stretch>
            <a:fillRect/>
          </a:stretch>
        </p:blipFill>
        <p:spPr>
          <a:xfrm>
            <a:off x="4351863" y="5186555"/>
            <a:ext cx="173400" cy="173400"/>
          </a:xfrm>
          <a:prstGeom prst="rect">
            <a:avLst/>
          </a:prstGeom>
          <a:noFill/>
          <a:ln>
            <a:noFill/>
          </a:ln>
        </p:spPr>
      </p:pic>
      <p:sp>
        <p:nvSpPr>
          <p:cNvPr id="4723" name="Google Shape;4723;p119"/>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grpSp>
        <p:nvGrpSpPr>
          <p:cNvPr id="4724" name="Google Shape;4724;p119"/>
          <p:cNvGrpSpPr/>
          <p:nvPr/>
        </p:nvGrpSpPr>
        <p:grpSpPr>
          <a:xfrm>
            <a:off x="911400" y="4663311"/>
            <a:ext cx="336000" cy="426753"/>
            <a:chOff x="929785" y="4678386"/>
            <a:chExt cx="336000" cy="426753"/>
          </a:xfrm>
        </p:grpSpPr>
        <p:sp>
          <p:nvSpPr>
            <p:cNvPr id="4725" name="Google Shape;4725;p119"/>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4726" name="Google Shape;4726;p119" title="primary-icon-navy-spark-cluster.png"/>
            <p:cNvPicPr preferRelativeResize="0"/>
            <p:nvPr/>
          </p:nvPicPr>
          <p:blipFill>
            <a:blip r:embed="rId17">
              <a:alphaModFix/>
            </a:blip>
            <a:stretch>
              <a:fillRect/>
            </a:stretch>
          </p:blipFill>
          <p:spPr>
            <a:xfrm>
              <a:off x="963302" y="4678386"/>
              <a:ext cx="269065" cy="269063"/>
            </a:xfrm>
            <a:prstGeom prst="rect">
              <a:avLst/>
            </a:prstGeom>
            <a:noFill/>
            <a:ln>
              <a:noFill/>
            </a:ln>
          </p:spPr>
        </p:pic>
      </p:grpSp>
      <p:grpSp>
        <p:nvGrpSpPr>
          <p:cNvPr id="4727" name="Google Shape;4727;p119"/>
          <p:cNvGrpSpPr/>
          <p:nvPr/>
        </p:nvGrpSpPr>
        <p:grpSpPr>
          <a:xfrm>
            <a:off x="1366236" y="4655157"/>
            <a:ext cx="324300" cy="434522"/>
            <a:chOff x="1377357" y="4647990"/>
            <a:chExt cx="324300" cy="434522"/>
          </a:xfrm>
        </p:grpSpPr>
        <p:sp>
          <p:nvSpPr>
            <p:cNvPr id="4728" name="Google Shape;4728;p119"/>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4729" name="Google Shape;4729;p119" title="primary-icon-navy-hive-metastore-execution.png"/>
            <p:cNvPicPr preferRelativeResize="0"/>
            <p:nvPr/>
          </p:nvPicPr>
          <p:blipFill>
            <a:blip r:embed="rId18">
              <a:alphaModFix/>
            </a:blip>
            <a:stretch>
              <a:fillRect/>
            </a:stretch>
          </p:blipFill>
          <p:spPr>
            <a:xfrm>
              <a:off x="1379822" y="4647990"/>
              <a:ext cx="282300" cy="282300"/>
            </a:xfrm>
            <a:prstGeom prst="rect">
              <a:avLst/>
            </a:prstGeom>
            <a:noFill/>
            <a:ln>
              <a:noFill/>
            </a:ln>
          </p:spPr>
        </p:pic>
      </p:grpSp>
      <p:grpSp>
        <p:nvGrpSpPr>
          <p:cNvPr id="4730" name="Google Shape;4730;p119"/>
          <p:cNvGrpSpPr/>
          <p:nvPr/>
        </p:nvGrpSpPr>
        <p:grpSpPr>
          <a:xfrm>
            <a:off x="899750" y="4283846"/>
            <a:ext cx="359100" cy="422318"/>
            <a:chOff x="899750" y="4215307"/>
            <a:chExt cx="359100" cy="422318"/>
          </a:xfrm>
        </p:grpSpPr>
        <p:sp>
          <p:nvSpPr>
            <p:cNvPr id="4731" name="Google Shape;4731;p119"/>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4732" name="Google Shape;4732;p119" title="primary-icon-navy-data-warehouse-2.png"/>
            <p:cNvPicPr preferRelativeResize="0"/>
            <p:nvPr/>
          </p:nvPicPr>
          <p:blipFill>
            <a:blip r:embed="rId19">
              <a:alphaModFix/>
            </a:blip>
            <a:stretch>
              <a:fillRect/>
            </a:stretch>
          </p:blipFill>
          <p:spPr>
            <a:xfrm>
              <a:off x="912450" y="4215307"/>
              <a:ext cx="336000" cy="273665"/>
            </a:xfrm>
            <a:prstGeom prst="rect">
              <a:avLst/>
            </a:prstGeom>
            <a:noFill/>
            <a:ln>
              <a:noFill/>
            </a:ln>
          </p:spPr>
        </p:pic>
      </p:grpSp>
      <p:sp>
        <p:nvSpPr>
          <p:cNvPr id="4733" name="Google Shape;4733;p119"/>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4734" name="Google Shape;4734;p119"/>
          <p:cNvGrpSpPr/>
          <p:nvPr/>
        </p:nvGrpSpPr>
        <p:grpSpPr>
          <a:xfrm>
            <a:off x="1247501" y="5175655"/>
            <a:ext cx="524700" cy="496901"/>
            <a:chOff x="1266036" y="5196700"/>
            <a:chExt cx="524700" cy="496901"/>
          </a:xfrm>
        </p:grpSpPr>
        <p:sp>
          <p:nvSpPr>
            <p:cNvPr id="4735" name="Google Shape;4735;p119"/>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4736" name="Google Shape;4736;p119" title="primary-icon-navy-data-sharing.png"/>
            <p:cNvPicPr preferRelativeResize="0"/>
            <p:nvPr/>
          </p:nvPicPr>
          <p:blipFill>
            <a:blip r:embed="rId20">
              <a:alphaModFix/>
            </a:blip>
            <a:stretch>
              <a:fillRect/>
            </a:stretch>
          </p:blipFill>
          <p:spPr>
            <a:xfrm>
              <a:off x="1393854" y="5196700"/>
              <a:ext cx="269065" cy="269063"/>
            </a:xfrm>
            <a:prstGeom prst="rect">
              <a:avLst/>
            </a:prstGeom>
            <a:noFill/>
            <a:ln>
              <a:noFill/>
            </a:ln>
          </p:spPr>
        </p:pic>
      </p:grpSp>
      <p:grpSp>
        <p:nvGrpSpPr>
          <p:cNvPr id="4737" name="Google Shape;4737;p119"/>
          <p:cNvGrpSpPr/>
          <p:nvPr/>
        </p:nvGrpSpPr>
        <p:grpSpPr>
          <a:xfrm>
            <a:off x="816949" y="5175643"/>
            <a:ext cx="524700" cy="496193"/>
            <a:chOff x="835484" y="5196688"/>
            <a:chExt cx="524700" cy="496193"/>
          </a:xfrm>
        </p:grpSpPr>
        <p:sp>
          <p:nvSpPr>
            <p:cNvPr id="4738" name="Google Shape;4738;p119"/>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4739" name="Google Shape;4739;p119" title="primary-icon-navy-distribution.png"/>
            <p:cNvPicPr preferRelativeResize="0"/>
            <p:nvPr/>
          </p:nvPicPr>
          <p:blipFill>
            <a:blip r:embed="rId21">
              <a:alphaModFix/>
            </a:blip>
            <a:stretch>
              <a:fillRect/>
            </a:stretch>
          </p:blipFill>
          <p:spPr>
            <a:xfrm>
              <a:off x="963302" y="5196688"/>
              <a:ext cx="269065" cy="269063"/>
            </a:xfrm>
            <a:prstGeom prst="rect">
              <a:avLst/>
            </a:prstGeom>
            <a:noFill/>
            <a:ln>
              <a:noFill/>
            </a:ln>
          </p:spPr>
        </p:pic>
      </p:grpSp>
      <p:sp>
        <p:nvSpPr>
          <p:cNvPr id="4740" name="Google Shape;4740;p119"/>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4741" name="Google Shape;4741;p119"/>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4742" name="Google Shape;4742;p119"/>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4743" name="Google Shape;4743;p119"/>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4744" name="Google Shape;4744;p119"/>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4745" name="Google Shape;4745;p119"/>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4746" name="Google Shape;4746;p119"/>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4747" name="Google Shape;4747;p119"/>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4748" name="Google Shape;4748;p119"/>
          <p:cNvSpPr/>
          <p:nvPr/>
        </p:nvSpPr>
        <p:spPr>
          <a:xfrm>
            <a:off x="6726100" y="5967925"/>
            <a:ext cx="36345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749" name="Google Shape;4749;p119"/>
          <p:cNvCxnSpPr>
            <a:stCxn id="4750" idx="0"/>
            <a:endCxn id="4654" idx="3"/>
          </p:cNvCxnSpPr>
          <p:nvPr/>
        </p:nvCxnSpPr>
        <p:spPr>
          <a:xfrm flipH="1" rot="5400000">
            <a:off x="7696049" y="4613646"/>
            <a:ext cx="825000" cy="356700"/>
          </a:xfrm>
          <a:prstGeom prst="bentConnector2">
            <a:avLst/>
          </a:prstGeom>
          <a:noFill/>
          <a:ln cap="flat" cmpd="sng" w="9525">
            <a:solidFill>
              <a:schemeClr val="dk2"/>
            </a:solidFill>
            <a:prstDash val="dash"/>
            <a:round/>
            <a:headEnd len="sm" w="sm" type="none"/>
            <a:tailEnd len="sm" w="sm" type="none"/>
          </a:ln>
        </p:spPr>
      </p:cxnSp>
      <p:cxnSp>
        <p:nvCxnSpPr>
          <p:cNvPr id="4751" name="Google Shape;4751;p119"/>
          <p:cNvCxnSpPr>
            <a:stCxn id="4660" idx="3"/>
            <a:endCxn id="4656" idx="2"/>
          </p:cNvCxnSpPr>
          <p:nvPr/>
        </p:nvCxnSpPr>
        <p:spPr>
          <a:xfrm flipH="1" rot="10800000">
            <a:off x="4922914" y="5450931"/>
            <a:ext cx="4752000" cy="423600"/>
          </a:xfrm>
          <a:prstGeom prst="bentConnector2">
            <a:avLst/>
          </a:prstGeom>
          <a:noFill/>
          <a:ln cap="flat" cmpd="sng" w="19050">
            <a:solidFill>
              <a:schemeClr val="accent4"/>
            </a:solidFill>
            <a:prstDash val="solid"/>
            <a:round/>
            <a:headEnd len="sm" w="sm" type="none"/>
            <a:tailEnd len="sm" w="sm" type="triangle"/>
          </a:ln>
        </p:spPr>
      </p:cxnSp>
      <p:cxnSp>
        <p:nvCxnSpPr>
          <p:cNvPr id="4752" name="Google Shape;4752;p119"/>
          <p:cNvCxnSpPr>
            <a:stCxn id="4669" idx="2"/>
            <a:endCxn id="4660" idx="1"/>
          </p:cNvCxnSpPr>
          <p:nvPr/>
        </p:nvCxnSpPr>
        <p:spPr>
          <a:xfrm flipH="1" rot="-5400000">
            <a:off x="4223034" y="5439674"/>
            <a:ext cx="367500" cy="502200"/>
          </a:xfrm>
          <a:prstGeom prst="bentConnector2">
            <a:avLst/>
          </a:prstGeom>
          <a:noFill/>
          <a:ln cap="flat" cmpd="sng" w="19050">
            <a:solidFill>
              <a:schemeClr val="accent4"/>
            </a:solidFill>
            <a:prstDash val="solid"/>
            <a:round/>
            <a:headEnd len="sm" w="sm" type="none"/>
            <a:tailEnd len="sm" w="sm" type="triangle"/>
          </a:ln>
        </p:spPr>
      </p:cxnSp>
      <p:cxnSp>
        <p:nvCxnSpPr>
          <p:cNvPr id="4753" name="Google Shape;4753;p119"/>
          <p:cNvCxnSpPr>
            <a:stCxn id="4640" idx="2"/>
            <a:endCxn id="4754" idx="2"/>
          </p:cNvCxnSpPr>
          <p:nvPr/>
        </p:nvCxnSpPr>
        <p:spPr>
          <a:xfrm rot="-5400000">
            <a:off x="8409625" y="4415000"/>
            <a:ext cx="55500" cy="2128200"/>
          </a:xfrm>
          <a:prstGeom prst="bentConnector3">
            <a:avLst>
              <a:gd fmla="val -327613" name="adj1"/>
            </a:avLst>
          </a:prstGeom>
          <a:noFill/>
          <a:ln cap="flat" cmpd="sng" w="19050">
            <a:solidFill>
              <a:schemeClr val="accent4"/>
            </a:solidFill>
            <a:prstDash val="solid"/>
            <a:round/>
            <a:headEnd len="sm" w="sm" type="none"/>
            <a:tailEnd len="sm" w="sm" type="triangle"/>
          </a:ln>
        </p:spPr>
      </p:cxnSp>
      <p:cxnSp>
        <p:nvCxnSpPr>
          <p:cNvPr id="4755" name="Google Shape;4755;p119"/>
          <p:cNvCxnSpPr>
            <a:endCxn id="4661" idx="3"/>
          </p:cNvCxnSpPr>
          <p:nvPr/>
        </p:nvCxnSpPr>
        <p:spPr>
          <a:xfrm flipH="1">
            <a:off x="8045542" y="5241193"/>
            <a:ext cx="1092300" cy="600"/>
          </a:xfrm>
          <a:prstGeom prst="bentConnector3">
            <a:avLst>
              <a:gd fmla="val 50000" name="adj1"/>
            </a:avLst>
          </a:prstGeom>
          <a:noFill/>
          <a:ln cap="flat" cmpd="sng" w="19050">
            <a:solidFill>
              <a:schemeClr val="accent4"/>
            </a:solidFill>
            <a:prstDash val="solid"/>
            <a:round/>
            <a:headEnd len="sm" w="sm" type="triangle"/>
            <a:tailEnd len="sm" w="sm" type="none"/>
          </a:ln>
        </p:spPr>
      </p:cxnSp>
      <p:cxnSp>
        <p:nvCxnSpPr>
          <p:cNvPr id="4756" name="Google Shape;4756;p119"/>
          <p:cNvCxnSpPr>
            <a:stCxn id="4653" idx="3"/>
            <a:endCxn id="4661" idx="1"/>
          </p:cNvCxnSpPr>
          <p:nvPr/>
        </p:nvCxnSpPr>
        <p:spPr>
          <a:xfrm>
            <a:off x="7230675" y="5109725"/>
            <a:ext cx="148200" cy="132000"/>
          </a:xfrm>
          <a:prstGeom prst="bentConnector3">
            <a:avLst>
              <a:gd fmla="val 30888" name="adj1"/>
            </a:avLst>
          </a:prstGeom>
          <a:noFill/>
          <a:ln cap="flat" cmpd="sng" w="9525">
            <a:solidFill>
              <a:schemeClr val="accent4"/>
            </a:solidFill>
            <a:prstDash val="solid"/>
            <a:round/>
            <a:headEnd len="sm" w="sm" type="none"/>
            <a:tailEnd len="sm" w="sm" type="triangle"/>
          </a:ln>
        </p:spPr>
      </p:cxnSp>
      <p:cxnSp>
        <p:nvCxnSpPr>
          <p:cNvPr id="4757" name="Google Shape;4757;p119"/>
          <p:cNvCxnSpPr>
            <a:stCxn id="4702" idx="3"/>
            <a:endCxn id="4661" idx="1"/>
          </p:cNvCxnSpPr>
          <p:nvPr/>
        </p:nvCxnSpPr>
        <p:spPr>
          <a:xfrm flipH="1" rot="10800000">
            <a:off x="7230675" y="5241773"/>
            <a:ext cx="148200" cy="120000"/>
          </a:xfrm>
          <a:prstGeom prst="bentConnector3">
            <a:avLst>
              <a:gd fmla="val 30888" name="adj1"/>
            </a:avLst>
          </a:prstGeom>
          <a:noFill/>
          <a:ln cap="flat" cmpd="sng" w="9525">
            <a:solidFill>
              <a:schemeClr val="accent4"/>
            </a:solidFill>
            <a:prstDash val="solid"/>
            <a:round/>
            <a:headEnd len="sm" w="sm" type="none"/>
            <a:tailEnd len="sm" w="sm" type="triangle"/>
          </a:ln>
        </p:spPr>
      </p:cxnSp>
      <p:sp>
        <p:nvSpPr>
          <p:cNvPr id="4750" name="Google Shape;4750;p119"/>
          <p:cNvSpPr/>
          <p:nvPr/>
        </p:nvSpPr>
        <p:spPr>
          <a:xfrm>
            <a:off x="8252999" y="5204496"/>
            <a:ext cx="67800" cy="67800"/>
          </a:xfrm>
          <a:prstGeom prst="ellipse">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758" name="Google Shape;4758;p119"/>
          <p:cNvCxnSpPr>
            <a:stCxn id="4665" idx="3"/>
            <a:endCxn id="4661" idx="0"/>
          </p:cNvCxnSpPr>
          <p:nvPr/>
        </p:nvCxnSpPr>
        <p:spPr>
          <a:xfrm>
            <a:off x="7189409" y="4572438"/>
            <a:ext cx="522900" cy="523200"/>
          </a:xfrm>
          <a:prstGeom prst="bentConnector2">
            <a:avLst/>
          </a:prstGeom>
          <a:noFill/>
          <a:ln cap="flat" cmpd="sng" w="9525">
            <a:solidFill>
              <a:schemeClr val="accent4"/>
            </a:solidFill>
            <a:prstDash val="solid"/>
            <a:round/>
            <a:headEnd len="sm" w="sm" type="none"/>
            <a:tailEnd len="sm" w="sm" type="triangle"/>
          </a:ln>
        </p:spPr>
      </p:cxnSp>
      <p:sp>
        <p:nvSpPr>
          <p:cNvPr id="4759" name="Google Shape;4759;p119"/>
          <p:cNvSpPr/>
          <p:nvPr/>
        </p:nvSpPr>
        <p:spPr>
          <a:xfrm>
            <a:off x="8420709" y="5585633"/>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sp>
        <p:nvSpPr>
          <p:cNvPr id="4760" name="Google Shape;4760;p119"/>
          <p:cNvSpPr/>
          <p:nvPr/>
        </p:nvSpPr>
        <p:spPr>
          <a:xfrm>
            <a:off x="8596272" y="5140758"/>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sp>
        <p:nvSpPr>
          <p:cNvPr id="4761" name="Google Shape;4761;p119"/>
          <p:cNvSpPr/>
          <p:nvPr/>
        </p:nvSpPr>
        <p:spPr>
          <a:xfrm>
            <a:off x="6246209" y="5763020"/>
            <a:ext cx="204900" cy="2049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sp>
        <p:nvSpPr>
          <p:cNvPr id="4762" name="Google Shape;4762;p119"/>
          <p:cNvSpPr txBox="1"/>
          <p:nvPr/>
        </p:nvSpPr>
        <p:spPr>
          <a:xfrm>
            <a:off x="6998039" y="6036648"/>
            <a:ext cx="3116100" cy="559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100">
                <a:solidFill>
                  <a:schemeClr val="accent5"/>
                </a:solidFill>
                <a:latin typeface="DM Sans"/>
                <a:ea typeface="DM Sans"/>
                <a:cs typeface="DM Sans"/>
                <a:sym typeface="DM Sans"/>
              </a:rPr>
              <a:t>Configure sharing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0"/>
              </a:spcAft>
              <a:buNone/>
            </a:pPr>
            <a:r>
              <a:rPr lang="en" sz="1100">
                <a:solidFill>
                  <a:schemeClr val="accent5"/>
                </a:solidFill>
                <a:latin typeface="DM Sans"/>
                <a:ea typeface="DM Sans"/>
                <a:cs typeface="DM Sans"/>
                <a:sym typeface="DM Sans"/>
              </a:rPr>
              <a:t>Discover shared data, and check permissions</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400"/>
              </a:spcAft>
              <a:buNone/>
            </a:pPr>
            <a:r>
              <a:rPr lang="en" sz="1100">
                <a:solidFill>
                  <a:schemeClr val="accent5"/>
                </a:solidFill>
                <a:latin typeface="DM Sans"/>
                <a:ea typeface="DM Sans"/>
                <a:cs typeface="DM Sans"/>
                <a:sym typeface="DM Sans"/>
              </a:rPr>
              <a:t>Direct and secure storage access</a:t>
            </a:r>
            <a:endParaRPr sz="1100">
              <a:solidFill>
                <a:schemeClr val="accent5"/>
              </a:solidFill>
              <a:latin typeface="DM Sans"/>
              <a:ea typeface="DM Sans"/>
              <a:cs typeface="DM Sans"/>
              <a:sym typeface="DM Sans"/>
            </a:endParaRPr>
          </a:p>
        </p:txBody>
      </p:sp>
      <p:sp>
        <p:nvSpPr>
          <p:cNvPr id="4763" name="Google Shape;4763;p119"/>
          <p:cNvSpPr/>
          <p:nvPr/>
        </p:nvSpPr>
        <p:spPr>
          <a:xfrm>
            <a:off x="6782856" y="6030450"/>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764" name="Google Shape;4764;p119"/>
          <p:cNvSpPr/>
          <p:nvPr/>
        </p:nvSpPr>
        <p:spPr>
          <a:xfrm>
            <a:off x="6782856" y="6231415"/>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765" name="Google Shape;4765;p119"/>
          <p:cNvSpPr/>
          <p:nvPr/>
        </p:nvSpPr>
        <p:spPr>
          <a:xfrm>
            <a:off x="6782856" y="6435077"/>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4754" name="Google Shape;4754;p119"/>
          <p:cNvSpPr/>
          <p:nvPr/>
        </p:nvSpPr>
        <p:spPr>
          <a:xfrm>
            <a:off x="9463496" y="535976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766" name="Google Shape;4766;p119"/>
          <p:cNvGrpSpPr/>
          <p:nvPr/>
        </p:nvGrpSpPr>
        <p:grpSpPr>
          <a:xfrm>
            <a:off x="10606481" y="3507444"/>
            <a:ext cx="826200" cy="363728"/>
            <a:chOff x="10606481" y="3507444"/>
            <a:chExt cx="826200" cy="363728"/>
          </a:xfrm>
        </p:grpSpPr>
        <p:sp>
          <p:nvSpPr>
            <p:cNvPr id="4767" name="Google Shape;4767;p119"/>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768" name="Google Shape;4768;p119"/>
            <p:cNvPicPr preferRelativeResize="0"/>
            <p:nvPr/>
          </p:nvPicPr>
          <p:blipFill>
            <a:blip r:embed="rId22">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2" name="Shape 4772"/>
        <p:cNvGrpSpPr/>
        <p:nvPr/>
      </p:nvGrpSpPr>
      <p:grpSpPr>
        <a:xfrm>
          <a:off x="0" y="0"/>
          <a:ext cx="0" cy="0"/>
          <a:chOff x="0" y="0"/>
          <a:chExt cx="0" cy="0"/>
        </a:xfrm>
      </p:grpSpPr>
      <p:sp>
        <p:nvSpPr>
          <p:cNvPr id="4773" name="Google Shape;4773;p120"/>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10b Consuming Shared Data</a:t>
            </a:r>
            <a:endParaRPr b="1" sz="3600">
              <a:latin typeface="DM Sans"/>
              <a:ea typeface="DM Sans"/>
              <a:cs typeface="DM Sans"/>
              <a:sym typeface="DM Sans"/>
            </a:endParaRPr>
          </a:p>
        </p:txBody>
      </p:sp>
      <p:sp>
        <p:nvSpPr>
          <p:cNvPr id="4774" name="Google Shape;4774;p120"/>
          <p:cNvSpPr txBox="1"/>
          <p:nvPr>
            <p:ph idx="12" type="sldNum"/>
          </p:nvPr>
        </p:nvSpPr>
        <p:spPr>
          <a:xfrm>
            <a:off x="10866463" y="6351634"/>
            <a:ext cx="666600" cy="524700"/>
          </a:xfrm>
          <a:prstGeom prst="rect">
            <a:avLst/>
          </a:prstGeom>
        </p:spPr>
        <p:txBody>
          <a:bodyPr anchorCtr="0" anchor="t" bIns="121875" lIns="121875" spcFirstLastPara="1" rIns="121875" wrap="square" tIns="121875">
            <a:noAutofit/>
          </a:bodyPr>
          <a:lstStyle/>
          <a:p>
            <a:pPr indent="0" lvl="0" marL="0" rtl="0" algn="r">
              <a:spcBef>
                <a:spcPts val="0"/>
              </a:spcBef>
              <a:spcAft>
                <a:spcPts val="0"/>
              </a:spcAft>
              <a:buNone/>
            </a:pPr>
            <a:fld id="{00000000-1234-1234-1234-123412341234}" type="slidenum">
              <a:rPr lang="en"/>
              <a:t>‹#›</a:t>
            </a:fld>
            <a:endParaRPr/>
          </a:p>
        </p:txBody>
      </p:sp>
      <p:sp>
        <p:nvSpPr>
          <p:cNvPr id="4775" name="Google Shape;4775;p120"/>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4776" name="Google Shape;4776;p120"/>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4777" name="Google Shape;4777;p120"/>
          <p:cNvGrpSpPr/>
          <p:nvPr/>
        </p:nvGrpSpPr>
        <p:grpSpPr>
          <a:xfrm>
            <a:off x="10745081" y="3937546"/>
            <a:ext cx="549000" cy="366196"/>
            <a:chOff x="10745081" y="3937546"/>
            <a:chExt cx="549000" cy="366196"/>
          </a:xfrm>
        </p:grpSpPr>
        <p:pic>
          <p:nvPicPr>
            <p:cNvPr id="4778" name="Google Shape;4778;p120"/>
            <p:cNvPicPr preferRelativeResize="0"/>
            <p:nvPr/>
          </p:nvPicPr>
          <p:blipFill>
            <a:blip r:embed="rId3">
              <a:alphaModFix/>
            </a:blip>
            <a:stretch>
              <a:fillRect/>
            </a:stretch>
          </p:blipFill>
          <p:spPr>
            <a:xfrm>
              <a:off x="10912331" y="3937546"/>
              <a:ext cx="214500" cy="217452"/>
            </a:xfrm>
            <a:prstGeom prst="rect">
              <a:avLst/>
            </a:prstGeom>
            <a:noFill/>
            <a:ln>
              <a:noFill/>
            </a:ln>
          </p:spPr>
        </p:pic>
        <p:sp>
          <p:nvSpPr>
            <p:cNvPr id="4779" name="Google Shape;4779;p120"/>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4780" name="Google Shape;4780;p120"/>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4781" name="Google Shape;4781;p120"/>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4782" name="Google Shape;4782;p120"/>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4783" name="Google Shape;4783;p120"/>
          <p:cNvSpPr/>
          <p:nvPr/>
        </p:nvSpPr>
        <p:spPr>
          <a:xfrm>
            <a:off x="10521581" y="1368053"/>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4784" name="Google Shape;4784;p120"/>
          <p:cNvGrpSpPr/>
          <p:nvPr/>
        </p:nvGrpSpPr>
        <p:grpSpPr>
          <a:xfrm>
            <a:off x="10597029" y="1623535"/>
            <a:ext cx="845100" cy="405937"/>
            <a:chOff x="10597029" y="1623535"/>
            <a:chExt cx="845100" cy="405937"/>
          </a:xfrm>
        </p:grpSpPr>
        <p:sp>
          <p:nvSpPr>
            <p:cNvPr id="4785" name="Google Shape;4785;p120"/>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4786" name="Google Shape;4786;p120"/>
            <p:cNvPicPr preferRelativeResize="0"/>
            <p:nvPr/>
          </p:nvPicPr>
          <p:blipFill>
            <a:blip r:embed="rId4">
              <a:alphaModFix/>
            </a:blip>
            <a:stretch>
              <a:fillRect/>
            </a:stretch>
          </p:blipFill>
          <p:spPr>
            <a:xfrm>
              <a:off x="10850739" y="1623535"/>
              <a:ext cx="265176" cy="265176"/>
            </a:xfrm>
            <a:prstGeom prst="rect">
              <a:avLst/>
            </a:prstGeom>
            <a:noFill/>
            <a:ln>
              <a:noFill/>
            </a:ln>
          </p:spPr>
        </p:pic>
      </p:grpSp>
      <p:sp>
        <p:nvSpPr>
          <p:cNvPr id="4787" name="Google Shape;4787;p120"/>
          <p:cNvSpPr/>
          <p:nvPr/>
        </p:nvSpPr>
        <p:spPr>
          <a:xfrm>
            <a:off x="10521581" y="2219271"/>
            <a:ext cx="996000" cy="207000"/>
          </a:xfrm>
          <a:prstGeom prst="roundRect">
            <a:avLst>
              <a:gd fmla="val 16667" name="adj"/>
            </a:avLst>
          </a:prstGeom>
          <a:solidFill>
            <a:srgbClr val="FFFFFF"/>
          </a:solidFill>
          <a:ln cap="flat" cmpd="sng" w="9525">
            <a:solidFill>
              <a:schemeClr val="accent4"/>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4788" name="Google Shape;4788;p120"/>
          <p:cNvGrpSpPr/>
          <p:nvPr/>
        </p:nvGrpSpPr>
        <p:grpSpPr>
          <a:xfrm>
            <a:off x="10702031" y="2486073"/>
            <a:ext cx="635100" cy="543395"/>
            <a:chOff x="10702031" y="2486073"/>
            <a:chExt cx="635100" cy="543395"/>
          </a:xfrm>
        </p:grpSpPr>
        <p:sp>
          <p:nvSpPr>
            <p:cNvPr id="4789" name="Google Shape;4789;p120"/>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4790" name="Google Shape;4790;p120"/>
            <p:cNvPicPr preferRelativeResize="0"/>
            <p:nvPr/>
          </p:nvPicPr>
          <p:blipFill>
            <a:blip r:embed="rId5">
              <a:alphaModFix/>
            </a:blip>
            <a:stretch>
              <a:fillRect/>
            </a:stretch>
          </p:blipFill>
          <p:spPr>
            <a:xfrm>
              <a:off x="10850716" y="2486073"/>
              <a:ext cx="265176" cy="265176"/>
            </a:xfrm>
            <a:prstGeom prst="rect">
              <a:avLst/>
            </a:prstGeom>
            <a:noFill/>
            <a:ln>
              <a:noFill/>
            </a:ln>
          </p:spPr>
        </p:pic>
      </p:grpSp>
      <p:sp>
        <p:nvSpPr>
          <p:cNvPr id="4791" name="Google Shape;4791;p120"/>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4792" name="Google Shape;4792;p120"/>
          <p:cNvGrpSpPr/>
          <p:nvPr/>
        </p:nvGrpSpPr>
        <p:grpSpPr>
          <a:xfrm>
            <a:off x="10621328" y="4994250"/>
            <a:ext cx="796500" cy="553688"/>
            <a:chOff x="10621328" y="4994250"/>
            <a:chExt cx="796500" cy="553688"/>
          </a:xfrm>
        </p:grpSpPr>
        <p:sp>
          <p:nvSpPr>
            <p:cNvPr id="4793" name="Google Shape;4793;p120"/>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4794" name="Google Shape;4794;p120"/>
            <p:cNvPicPr preferRelativeResize="0"/>
            <p:nvPr/>
          </p:nvPicPr>
          <p:blipFill>
            <a:blip r:embed="rId6">
              <a:alphaModFix/>
            </a:blip>
            <a:stretch>
              <a:fillRect/>
            </a:stretch>
          </p:blipFill>
          <p:spPr>
            <a:xfrm>
              <a:off x="10864167" y="4994250"/>
              <a:ext cx="265176" cy="265176"/>
            </a:xfrm>
            <a:prstGeom prst="rect">
              <a:avLst/>
            </a:prstGeom>
            <a:noFill/>
            <a:ln>
              <a:noFill/>
            </a:ln>
          </p:spPr>
        </p:pic>
      </p:grpSp>
      <p:sp>
        <p:nvSpPr>
          <p:cNvPr id="4795" name="Google Shape;4795;p120"/>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sp>
        <p:nvSpPr>
          <p:cNvPr id="4796" name="Google Shape;4796;p120"/>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4797" name="Google Shape;4797;p120"/>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4798" name="Google Shape;4798;p120"/>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sp>
        <p:nvSpPr>
          <p:cNvPr id="4799" name="Google Shape;4799;p120"/>
          <p:cNvSpPr/>
          <p:nvPr/>
        </p:nvSpPr>
        <p:spPr>
          <a:xfrm>
            <a:off x="6726100" y="5967925"/>
            <a:ext cx="3634500" cy="78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00" name="Google Shape;4800;p120"/>
          <p:cNvSpPr txBox="1"/>
          <p:nvPr/>
        </p:nvSpPr>
        <p:spPr>
          <a:xfrm>
            <a:off x="7001249" y="6014212"/>
            <a:ext cx="3194700" cy="712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None/>
            </a:pPr>
            <a:r>
              <a:rPr lang="en" sz="1100">
                <a:solidFill>
                  <a:schemeClr val="accent5"/>
                </a:solidFill>
                <a:latin typeface="DM Sans"/>
                <a:ea typeface="DM Sans"/>
                <a:cs typeface="DM Sans"/>
                <a:sym typeface="DM Sans"/>
              </a:rPr>
              <a:t>Integrate shared metadata into Unity Catalog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0"/>
              </a:spcAft>
              <a:buNone/>
            </a:pPr>
            <a:r>
              <a:rPr lang="en" sz="1100">
                <a:solidFill>
                  <a:schemeClr val="accent5"/>
                </a:solidFill>
                <a:latin typeface="DM Sans"/>
                <a:ea typeface="DM Sans"/>
                <a:cs typeface="DM Sans"/>
                <a:sym typeface="DM Sans"/>
              </a:rPr>
              <a:t>Discover shared data in Unity Catalog</a:t>
            </a:r>
            <a:endParaRPr sz="1100">
              <a:solidFill>
                <a:schemeClr val="accent5"/>
              </a:solidFill>
              <a:latin typeface="DM Sans"/>
              <a:ea typeface="DM Sans"/>
              <a:cs typeface="DM Sans"/>
              <a:sym typeface="DM Sans"/>
            </a:endParaRPr>
          </a:p>
          <a:p>
            <a:pPr indent="0" lvl="0" marL="0" rtl="0" algn="l">
              <a:lnSpc>
                <a:spcPct val="90000"/>
              </a:lnSpc>
              <a:spcBef>
                <a:spcPts val="400"/>
              </a:spcBef>
              <a:spcAft>
                <a:spcPts val="400"/>
              </a:spcAft>
              <a:buNone/>
            </a:pPr>
            <a:r>
              <a:rPr lang="en" sz="1100">
                <a:solidFill>
                  <a:schemeClr val="accent5"/>
                </a:solidFill>
                <a:latin typeface="DM Sans"/>
                <a:ea typeface="DM Sans"/>
                <a:cs typeface="DM Sans"/>
                <a:sym typeface="DM Sans"/>
              </a:rPr>
              <a:t>Check access permissions and read from the remote source</a:t>
            </a:r>
            <a:endParaRPr sz="1100">
              <a:solidFill>
                <a:schemeClr val="accent5"/>
              </a:solidFill>
              <a:latin typeface="DM Sans"/>
              <a:ea typeface="DM Sans"/>
              <a:cs typeface="DM Sans"/>
              <a:sym typeface="DM Sans"/>
            </a:endParaRPr>
          </a:p>
        </p:txBody>
      </p:sp>
      <p:sp>
        <p:nvSpPr>
          <p:cNvPr id="4801" name="Google Shape;4801;p120"/>
          <p:cNvSpPr/>
          <p:nvPr/>
        </p:nvSpPr>
        <p:spPr>
          <a:xfrm>
            <a:off x="6782856" y="6009520"/>
            <a:ext cx="164700" cy="164700"/>
          </a:xfrm>
          <a:prstGeom prst="ellipse">
            <a:avLst/>
          </a:prstGeom>
          <a:solidFill>
            <a:srgbClr val="FFFFFF"/>
          </a:solidFill>
          <a:ln cap="flat" cmpd="sng" w="1905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1</a:t>
            </a:r>
            <a:endParaRPr b="1" sz="1000">
              <a:latin typeface="DM Sans"/>
              <a:ea typeface="DM Sans"/>
              <a:cs typeface="DM Sans"/>
              <a:sym typeface="DM Sans"/>
            </a:endParaRPr>
          </a:p>
        </p:txBody>
      </p:sp>
      <p:sp>
        <p:nvSpPr>
          <p:cNvPr id="4802" name="Google Shape;4802;p120"/>
          <p:cNvSpPr/>
          <p:nvPr/>
        </p:nvSpPr>
        <p:spPr>
          <a:xfrm>
            <a:off x="6782856" y="6210485"/>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2</a:t>
            </a:r>
            <a:endParaRPr b="1" sz="1000">
              <a:latin typeface="DM Sans"/>
              <a:ea typeface="DM Sans"/>
              <a:cs typeface="DM Sans"/>
              <a:sym typeface="DM Sans"/>
            </a:endParaRPr>
          </a:p>
        </p:txBody>
      </p:sp>
      <p:sp>
        <p:nvSpPr>
          <p:cNvPr id="4803" name="Google Shape;4803;p120"/>
          <p:cNvSpPr/>
          <p:nvPr/>
        </p:nvSpPr>
        <p:spPr>
          <a:xfrm>
            <a:off x="6782856" y="6413686"/>
            <a:ext cx="164700" cy="1647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000">
                <a:latin typeface="DM Sans"/>
                <a:ea typeface="DM Sans"/>
                <a:cs typeface="DM Sans"/>
                <a:sym typeface="DM Sans"/>
              </a:rPr>
              <a:t>3</a:t>
            </a:r>
            <a:endParaRPr b="1" sz="1000">
              <a:latin typeface="DM Sans"/>
              <a:ea typeface="DM Sans"/>
              <a:cs typeface="DM Sans"/>
              <a:sym typeface="DM Sans"/>
            </a:endParaRPr>
          </a:p>
        </p:txBody>
      </p:sp>
      <p:sp>
        <p:nvSpPr>
          <p:cNvPr id="4804" name="Google Shape;4804;p120"/>
          <p:cNvSpPr/>
          <p:nvPr/>
        </p:nvSpPr>
        <p:spPr>
          <a:xfrm>
            <a:off x="4664825" y="1368050"/>
            <a:ext cx="5601300" cy="2816700"/>
          </a:xfrm>
          <a:prstGeom prst="roundRect">
            <a:avLst>
              <a:gd fmla="val 4007" name="adj"/>
            </a:avLst>
          </a:prstGeom>
          <a:solidFill>
            <a:srgbClr val="1B516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4805" name="Google Shape;4805;p120"/>
          <p:cNvGrpSpPr/>
          <p:nvPr/>
        </p:nvGrpSpPr>
        <p:grpSpPr>
          <a:xfrm rot="-5400000">
            <a:off x="8118194" y="4175940"/>
            <a:ext cx="198576" cy="208513"/>
            <a:chOff x="3295749" y="3922446"/>
            <a:chExt cx="198576" cy="208513"/>
          </a:xfrm>
        </p:grpSpPr>
        <p:sp>
          <p:nvSpPr>
            <p:cNvPr id="4806" name="Google Shape;4806;p120"/>
            <p:cNvSpPr/>
            <p:nvPr/>
          </p:nvSpPr>
          <p:spPr>
            <a:xfrm>
              <a:off x="3391125" y="3922446"/>
              <a:ext cx="103200" cy="114600"/>
            </a:xfrm>
            <a:prstGeom prst="rect">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07" name="Google Shape;4807;p120"/>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808" name="Google Shape;4808;p120"/>
          <p:cNvSpPr/>
          <p:nvPr/>
        </p:nvSpPr>
        <p:spPr>
          <a:xfrm>
            <a:off x="836750" y="4275513"/>
            <a:ext cx="932400" cy="810300"/>
          </a:xfrm>
          <a:prstGeom prst="roundRect">
            <a:avLst>
              <a:gd fmla="val 9540" name="adj"/>
            </a:avLst>
          </a:prstGeom>
          <a:noFill/>
          <a:ln cap="flat" cmpd="sng" w="9525">
            <a:solidFill>
              <a:srgbClr val="1B5162"/>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4809" name="Google Shape;4809;p120"/>
          <p:cNvSpPr/>
          <p:nvPr/>
        </p:nvSpPr>
        <p:spPr>
          <a:xfrm>
            <a:off x="834550" y="1368050"/>
            <a:ext cx="932400" cy="2858100"/>
          </a:xfrm>
          <a:prstGeom prst="roundRect">
            <a:avLst>
              <a:gd fmla="val 7292" name="adj"/>
            </a:avLst>
          </a:prstGeom>
          <a:solidFill>
            <a:srgbClr val="FFFFFF"/>
          </a:solidFill>
          <a:ln cap="flat" cmpd="sng" w="9525">
            <a:solidFill>
              <a:srgbClr val="1B5162"/>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4810" name="Google Shape;4810;p120"/>
          <p:cNvSpPr/>
          <p:nvPr/>
        </p:nvSpPr>
        <p:spPr>
          <a:xfrm>
            <a:off x="1921625" y="1368050"/>
            <a:ext cx="3586200" cy="2199600"/>
          </a:xfrm>
          <a:prstGeom prst="roundRect">
            <a:avLst>
              <a:gd fmla="val 4007" name="adj"/>
            </a:avLst>
          </a:prstGeom>
          <a:solidFill>
            <a:srgbClr val="1B516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4811" name="Google Shape;4811;p120"/>
          <p:cNvSpPr/>
          <p:nvPr/>
        </p:nvSpPr>
        <p:spPr>
          <a:xfrm>
            <a:off x="3183025" y="1368050"/>
            <a:ext cx="4943100" cy="4195200"/>
          </a:xfrm>
          <a:prstGeom prst="roundRect">
            <a:avLst>
              <a:gd fmla="val 2026" name="adj"/>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18794"/>
              </a:solidFill>
              <a:latin typeface="DM Sans"/>
              <a:ea typeface="DM Sans"/>
              <a:cs typeface="DM Sans"/>
              <a:sym typeface="DM Sans"/>
            </a:endParaRPr>
          </a:p>
        </p:txBody>
      </p:sp>
      <p:sp>
        <p:nvSpPr>
          <p:cNvPr id="4812" name="Google Shape;4812;p120"/>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Data Science, AI / ML and GenAI Apps - Mosaic AI</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40661"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grpSp>
        <p:nvGrpSpPr>
          <p:cNvPr id="4813" name="Google Shape;4813;p120"/>
          <p:cNvGrpSpPr/>
          <p:nvPr/>
        </p:nvGrpSpPr>
        <p:grpSpPr>
          <a:xfrm>
            <a:off x="2986792" y="3550528"/>
            <a:ext cx="198576" cy="211709"/>
            <a:chOff x="3295749" y="3919250"/>
            <a:chExt cx="198576" cy="211709"/>
          </a:xfrm>
        </p:grpSpPr>
        <p:sp>
          <p:nvSpPr>
            <p:cNvPr id="4814" name="Google Shape;4814;p120"/>
            <p:cNvSpPr/>
            <p:nvPr/>
          </p:nvSpPr>
          <p:spPr>
            <a:xfrm>
              <a:off x="3391125" y="3919250"/>
              <a:ext cx="103200" cy="114600"/>
            </a:xfrm>
            <a:prstGeom prst="rect">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15" name="Google Shape;4815;p120"/>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4816" name="Google Shape;4816;p120"/>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Data Management</a:t>
            </a:r>
            <a:endParaRPr sz="1100">
              <a:solidFill>
                <a:srgbClr val="CCCCCC"/>
              </a:solidFill>
              <a:latin typeface="DM Sans Medium"/>
              <a:ea typeface="DM Sans Medium"/>
              <a:cs typeface="DM Sans Medium"/>
              <a:sym typeface="DM Sans Medium"/>
            </a:endParaRPr>
          </a:p>
        </p:txBody>
      </p:sp>
      <p:sp>
        <p:nvSpPr>
          <p:cNvPr id="4817" name="Google Shape;4817;p120"/>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CCCCCC"/>
                </a:solidFill>
                <a:latin typeface="DM Sans Medium"/>
                <a:ea typeface="DM Sans Medium"/>
                <a:cs typeface="DM Sans Medium"/>
                <a:sym typeface="DM Sans Medium"/>
              </a:rPr>
              <a:t>Collaboration</a:t>
            </a:r>
            <a:endParaRPr sz="1100">
              <a:solidFill>
                <a:srgbClr val="CCCCCC"/>
              </a:solidFill>
              <a:latin typeface="DM Sans Medium"/>
              <a:ea typeface="DM Sans Medium"/>
              <a:cs typeface="DM Sans Medium"/>
              <a:sym typeface="DM Sans Medium"/>
            </a:endParaRPr>
          </a:p>
        </p:txBody>
      </p:sp>
      <p:sp>
        <p:nvSpPr>
          <p:cNvPr id="4818" name="Google Shape;4818;p120"/>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Data Engineering and Processing</a:t>
            </a:r>
            <a:endParaRPr sz="1100">
              <a:solidFill>
                <a:srgbClr val="618794"/>
              </a:solidFill>
              <a:latin typeface="DM Sans Medium"/>
              <a:ea typeface="DM Sans Medium"/>
              <a:cs typeface="DM Sans Medium"/>
              <a:sym typeface="DM Sans Medium"/>
            </a:endParaRPr>
          </a:p>
        </p:txBody>
      </p:sp>
      <p:sp>
        <p:nvSpPr>
          <p:cNvPr id="4819" name="Google Shape;4819;p120"/>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   Data and AI Governance - Unity Catalog</a:t>
            </a:r>
            <a:endParaRPr sz="1100">
              <a:solidFill>
                <a:srgbClr val="618794"/>
              </a:solidFill>
              <a:latin typeface="DM Sans Medium"/>
              <a:ea typeface="DM Sans Medium"/>
              <a:cs typeface="DM Sans Medium"/>
              <a:sym typeface="DM Sans Medium"/>
            </a:endParaRPr>
          </a:p>
        </p:txBody>
      </p:sp>
      <p:sp>
        <p:nvSpPr>
          <p:cNvPr id="4820" name="Google Shape;4820;p120"/>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CCCCCC"/>
                </a:solidFill>
                <a:latin typeface="DM Sans Medium"/>
                <a:ea typeface="DM Sans Medium"/>
                <a:cs typeface="DM Sans Medium"/>
                <a:sym typeface="DM Sans Medium"/>
              </a:rPr>
              <a:t>Batch and Streaming</a:t>
            </a:r>
            <a:endParaRPr sz="1100">
              <a:solidFill>
                <a:srgbClr val="CCCCCC"/>
              </a:solidFill>
              <a:latin typeface="DM Sans Medium"/>
              <a:ea typeface="DM Sans Medium"/>
              <a:cs typeface="DM Sans Medium"/>
              <a:sym typeface="DM Sans Medium"/>
            </a:endParaRPr>
          </a:p>
        </p:txBody>
      </p:sp>
      <p:sp>
        <p:nvSpPr>
          <p:cNvPr id="4821" name="Google Shape;4821;p120"/>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Data Warehousing</a:t>
            </a:r>
            <a:endParaRPr sz="1100">
              <a:solidFill>
                <a:srgbClr val="618794"/>
              </a:solidFill>
              <a:latin typeface="DM Sans Medium"/>
              <a:ea typeface="DM Sans Medium"/>
              <a:cs typeface="DM Sans Medium"/>
              <a:sym typeface="DM Sans Medium"/>
            </a:endParaRPr>
          </a:p>
        </p:txBody>
      </p:sp>
      <p:sp>
        <p:nvSpPr>
          <p:cNvPr id="4822" name="Google Shape;4822;p120"/>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rgbClr val="618794"/>
                </a:solidFill>
                <a:latin typeface="DM Sans"/>
                <a:ea typeface="DM Sans"/>
                <a:cs typeface="DM Sans"/>
                <a:sym typeface="DM Sans"/>
              </a:rPr>
              <a:t>Federation</a:t>
            </a:r>
            <a:endParaRPr sz="1100">
              <a:solidFill>
                <a:srgbClr val="618794"/>
              </a:solidFill>
              <a:latin typeface="DM Sans"/>
              <a:ea typeface="DM Sans"/>
              <a:cs typeface="DM Sans"/>
              <a:sym typeface="DM Sans"/>
            </a:endParaRPr>
          </a:p>
        </p:txBody>
      </p:sp>
      <p:sp>
        <p:nvSpPr>
          <p:cNvPr id="4823" name="Google Shape;4823;p120"/>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4824" name="Google Shape;4824;p120"/>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4825" name="Google Shape;4825;p120"/>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4826" name="Google Shape;4826;p120"/>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4827" name="Google Shape;4827;p120"/>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4828" name="Google Shape;4828;p120"/>
          <p:cNvSpPr/>
          <p:nvPr/>
        </p:nvSpPr>
        <p:spPr>
          <a:xfrm>
            <a:off x="4226884" y="4420913"/>
            <a:ext cx="740400" cy="274200"/>
          </a:xfrm>
          <a:prstGeom prst="roundRect">
            <a:avLst>
              <a:gd fmla="val 14403" name="adj"/>
            </a:avLst>
          </a:prstGeom>
          <a:solidFill>
            <a:srgbClr val="FFFFFF"/>
          </a:solidFill>
          <a:ln cap="flat" cmpd="sng" w="9525">
            <a:solidFill>
              <a:srgbClr val="FFAB0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Catalog and Lineage</a:t>
            </a:r>
            <a:endParaRPr sz="900">
              <a:solidFill>
                <a:srgbClr val="00A972"/>
              </a:solidFill>
              <a:latin typeface="DM Sans SemiBold"/>
              <a:ea typeface="DM Sans SemiBold"/>
              <a:cs typeface="DM Sans SemiBold"/>
              <a:sym typeface="DM Sans SemiBold"/>
            </a:endParaRPr>
          </a:p>
        </p:txBody>
      </p:sp>
      <p:sp>
        <p:nvSpPr>
          <p:cNvPr id="4829" name="Google Shape;4829;p120"/>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rgbClr val="618794"/>
                </a:solidFill>
                <a:latin typeface="DM Sans"/>
                <a:ea typeface="DM Sans"/>
                <a:cs typeface="DM Sans"/>
                <a:sym typeface="DM Sans"/>
              </a:rPr>
              <a:t>ETL</a:t>
            </a:r>
            <a:endParaRPr sz="1100">
              <a:solidFill>
                <a:srgbClr val="618794"/>
              </a:solidFill>
              <a:latin typeface="DM Sans"/>
              <a:ea typeface="DM Sans"/>
              <a:cs typeface="DM Sans"/>
              <a:sym typeface="DM Sans"/>
            </a:endParaRPr>
          </a:p>
        </p:txBody>
      </p:sp>
      <p:pic>
        <p:nvPicPr>
          <p:cNvPr id="4830" name="Google Shape;4830;p120"/>
          <p:cNvPicPr preferRelativeResize="0"/>
          <p:nvPr/>
        </p:nvPicPr>
        <p:blipFill>
          <a:blip r:embed="rId7">
            <a:alphaModFix/>
          </a:blip>
          <a:stretch>
            <a:fillRect/>
          </a:stretch>
        </p:blipFill>
        <p:spPr>
          <a:xfrm>
            <a:off x="4998129" y="1403077"/>
            <a:ext cx="259650" cy="279625"/>
          </a:xfrm>
          <a:prstGeom prst="rect">
            <a:avLst/>
          </a:prstGeom>
          <a:noFill/>
          <a:ln>
            <a:noFill/>
          </a:ln>
        </p:spPr>
      </p:pic>
      <p:grpSp>
        <p:nvGrpSpPr>
          <p:cNvPr id="4831" name="Google Shape;4831;p120"/>
          <p:cNvGrpSpPr/>
          <p:nvPr/>
        </p:nvGrpSpPr>
        <p:grpSpPr>
          <a:xfrm>
            <a:off x="5357469" y="5168059"/>
            <a:ext cx="1015163" cy="210402"/>
            <a:chOff x="6995676" y="6025175"/>
            <a:chExt cx="1015163" cy="210402"/>
          </a:xfrm>
        </p:grpSpPr>
        <p:sp>
          <p:nvSpPr>
            <p:cNvPr id="4832" name="Google Shape;4832;p120"/>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4833" name="Google Shape;4833;p120"/>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4834" name="Google Shape;4834;p120"/>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4835" name="Google Shape;4835;p120"/>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836" name="Google Shape;4836;p120"/>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837" name="Google Shape;4837;p120"/>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4838" name="Google Shape;4838;p120"/>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839" name="Google Shape;4839;p120"/>
            <p:cNvCxnSpPr>
              <a:stCxn id="4836" idx="4"/>
              <a:endCxn id="4840"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4840" name="Google Shape;4840;p120"/>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841" name="Google Shape;4841;p120"/>
            <p:cNvCxnSpPr>
              <a:stCxn id="4835" idx="4"/>
              <a:endCxn id="4838"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4842" name="Google Shape;4842;p120"/>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rgbClr val="CCCCCC"/>
                </a:solidFill>
                <a:latin typeface="DM Sans Medium"/>
                <a:ea typeface="DM Sans Medium"/>
                <a:cs typeface="DM Sans Medium"/>
                <a:sym typeface="DM Sans Medium"/>
              </a:rPr>
              <a:t>Data Intelligence</a:t>
            </a:r>
            <a:endParaRPr sz="1100">
              <a:solidFill>
                <a:srgbClr val="CCCCCC"/>
              </a:solidFill>
              <a:latin typeface="DM Sans Medium"/>
              <a:ea typeface="DM Sans Medium"/>
              <a:cs typeface="DM Sans Medium"/>
              <a:sym typeface="DM Sans Medium"/>
            </a:endParaRPr>
          </a:p>
        </p:txBody>
      </p:sp>
      <p:grpSp>
        <p:nvGrpSpPr>
          <p:cNvPr id="4843" name="Google Shape;4843;p120"/>
          <p:cNvGrpSpPr/>
          <p:nvPr/>
        </p:nvGrpSpPr>
        <p:grpSpPr>
          <a:xfrm>
            <a:off x="861763" y="1388635"/>
            <a:ext cx="879600" cy="565670"/>
            <a:chOff x="820734" y="1742570"/>
            <a:chExt cx="879600" cy="565670"/>
          </a:xfrm>
        </p:grpSpPr>
        <p:sp>
          <p:nvSpPr>
            <p:cNvPr id="4844" name="Google Shape;4844;p120"/>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rgbClr val="618794"/>
                  </a:solidFill>
                  <a:latin typeface="DM Sans Medium"/>
                  <a:ea typeface="DM Sans Medium"/>
                  <a:cs typeface="DM Sans Medium"/>
                  <a:sym typeface="DM Sans Medium"/>
                </a:rPr>
                <a:t>(</a:t>
              </a:r>
              <a:r>
                <a:rPr lang="en" sz="800">
                  <a:solidFill>
                    <a:srgbClr val="618794"/>
                  </a:solidFill>
                  <a:latin typeface="DM Sans Medium"/>
                  <a:ea typeface="DM Sans Medium"/>
                  <a:cs typeface="DM Sans Medium"/>
                  <a:sym typeface="DM Sans Medium"/>
                </a:rPr>
                <a:t>semi-</a:t>
              </a:r>
              <a:r>
                <a:rPr i="0" lang="en" sz="800" u="none" cap="none" strike="noStrike">
                  <a:solidFill>
                    <a:srgbClr val="618794"/>
                  </a:solidFill>
                  <a:latin typeface="DM Sans Medium"/>
                  <a:ea typeface="DM Sans Medium"/>
                  <a:cs typeface="DM Sans Medium"/>
                  <a:sym typeface="DM Sans Medium"/>
                </a:rPr>
                <a:t>structured)</a:t>
              </a:r>
              <a:endParaRPr i="0" sz="800" u="none" cap="none" strike="noStrike">
                <a:solidFill>
                  <a:srgbClr val="618794"/>
                </a:solidFill>
                <a:latin typeface="DM Sans Medium"/>
                <a:ea typeface="DM Sans Medium"/>
                <a:cs typeface="DM Sans Medium"/>
                <a:sym typeface="DM Sans Medium"/>
              </a:endParaRPr>
            </a:p>
          </p:txBody>
        </p:sp>
        <p:pic>
          <p:nvPicPr>
            <p:cNvPr id="4845" name="Google Shape;4845;p120"/>
            <p:cNvPicPr preferRelativeResize="0"/>
            <p:nvPr/>
          </p:nvPicPr>
          <p:blipFill>
            <a:blip r:embed="rId8">
              <a:alphaModFix/>
            </a:blip>
            <a:stretch>
              <a:fillRect/>
            </a:stretch>
          </p:blipFill>
          <p:spPr>
            <a:xfrm>
              <a:off x="1127949" y="1742570"/>
              <a:ext cx="265176" cy="265176"/>
            </a:xfrm>
            <a:prstGeom prst="rect">
              <a:avLst/>
            </a:prstGeom>
            <a:noFill/>
            <a:ln>
              <a:noFill/>
            </a:ln>
          </p:spPr>
        </p:pic>
      </p:grpSp>
      <p:grpSp>
        <p:nvGrpSpPr>
          <p:cNvPr id="4846" name="Google Shape;4846;p120"/>
          <p:cNvGrpSpPr/>
          <p:nvPr/>
        </p:nvGrpSpPr>
        <p:grpSpPr>
          <a:xfrm>
            <a:off x="861800" y="1970622"/>
            <a:ext cx="879600" cy="558086"/>
            <a:chOff x="820771" y="2866176"/>
            <a:chExt cx="879600" cy="558086"/>
          </a:xfrm>
        </p:grpSpPr>
        <p:sp>
          <p:nvSpPr>
            <p:cNvPr id="4847" name="Google Shape;4847;p120"/>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rgbClr val="618794"/>
                  </a:solidFill>
                  <a:latin typeface="DM Sans Medium"/>
                  <a:ea typeface="DM Sans Medium"/>
                  <a:cs typeface="DM Sans Medium"/>
                  <a:sym typeface="DM Sans Medium"/>
                </a:rPr>
                <a:t>(unstructured)</a:t>
              </a:r>
              <a:endParaRPr i="0" sz="800" u="none" cap="none" strike="noStrike">
                <a:solidFill>
                  <a:srgbClr val="618794"/>
                </a:solidFill>
                <a:latin typeface="DM Sans Medium"/>
                <a:ea typeface="DM Sans Medium"/>
                <a:cs typeface="DM Sans Medium"/>
                <a:sym typeface="DM Sans Medium"/>
              </a:endParaRPr>
            </a:p>
          </p:txBody>
        </p:sp>
        <p:pic>
          <p:nvPicPr>
            <p:cNvPr id="4848" name="Google Shape;4848;p120"/>
            <p:cNvPicPr preferRelativeResize="0"/>
            <p:nvPr/>
          </p:nvPicPr>
          <p:blipFill>
            <a:blip r:embed="rId9">
              <a:alphaModFix/>
            </a:blip>
            <a:stretch>
              <a:fillRect/>
            </a:stretch>
          </p:blipFill>
          <p:spPr>
            <a:xfrm>
              <a:off x="1127949" y="2866176"/>
              <a:ext cx="265176" cy="265176"/>
            </a:xfrm>
            <a:prstGeom prst="rect">
              <a:avLst/>
            </a:prstGeom>
            <a:noFill/>
            <a:ln>
              <a:noFill/>
            </a:ln>
          </p:spPr>
        </p:pic>
      </p:grpSp>
      <p:grpSp>
        <p:nvGrpSpPr>
          <p:cNvPr id="4849" name="Google Shape;4849;p120"/>
          <p:cNvGrpSpPr/>
          <p:nvPr/>
        </p:nvGrpSpPr>
        <p:grpSpPr>
          <a:xfrm>
            <a:off x="903312" y="2545026"/>
            <a:ext cx="796500" cy="542824"/>
            <a:chOff x="862283" y="2315806"/>
            <a:chExt cx="796500" cy="542824"/>
          </a:xfrm>
        </p:grpSpPr>
        <p:sp>
          <p:nvSpPr>
            <p:cNvPr id="4850" name="Google Shape;4850;p120"/>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rgbClr val="618794"/>
                  </a:solidFill>
                  <a:latin typeface="DM Sans Medium"/>
                  <a:ea typeface="DM Sans Medium"/>
                  <a:cs typeface="DM Sans Medium"/>
                  <a:sym typeface="DM Sans Medium"/>
                </a:rPr>
                <a:t>(structured)</a:t>
              </a:r>
              <a:endParaRPr i="0" sz="800" u="none" cap="none" strike="noStrike">
                <a:solidFill>
                  <a:srgbClr val="618794"/>
                </a:solidFill>
                <a:latin typeface="DM Sans Medium"/>
                <a:ea typeface="DM Sans Medium"/>
                <a:cs typeface="DM Sans Medium"/>
                <a:sym typeface="DM Sans Medium"/>
              </a:endParaRPr>
            </a:p>
          </p:txBody>
        </p:sp>
        <p:pic>
          <p:nvPicPr>
            <p:cNvPr id="4851" name="Google Shape;4851;p120"/>
            <p:cNvPicPr preferRelativeResize="0"/>
            <p:nvPr/>
          </p:nvPicPr>
          <p:blipFill>
            <a:blip r:embed="rId10">
              <a:alphaModFix/>
            </a:blip>
            <a:stretch>
              <a:fillRect/>
            </a:stretch>
          </p:blipFill>
          <p:spPr>
            <a:xfrm>
              <a:off x="1127949" y="2315806"/>
              <a:ext cx="265176" cy="265176"/>
            </a:xfrm>
            <a:prstGeom prst="rect">
              <a:avLst/>
            </a:prstGeom>
            <a:noFill/>
            <a:ln>
              <a:noFill/>
            </a:ln>
          </p:spPr>
        </p:pic>
      </p:grpSp>
      <p:grpSp>
        <p:nvGrpSpPr>
          <p:cNvPr id="4852" name="Google Shape;4852;p120"/>
          <p:cNvGrpSpPr/>
          <p:nvPr/>
        </p:nvGrpSpPr>
        <p:grpSpPr>
          <a:xfrm>
            <a:off x="861700" y="3104161"/>
            <a:ext cx="879600" cy="559474"/>
            <a:chOff x="820671" y="3997940"/>
            <a:chExt cx="879600" cy="559474"/>
          </a:xfrm>
        </p:grpSpPr>
        <p:pic>
          <p:nvPicPr>
            <p:cNvPr id="4853" name="Google Shape;4853;p120"/>
            <p:cNvPicPr preferRelativeResize="0"/>
            <p:nvPr/>
          </p:nvPicPr>
          <p:blipFill>
            <a:blip r:embed="rId11">
              <a:alphaModFix/>
            </a:blip>
            <a:stretch>
              <a:fillRect/>
            </a:stretch>
          </p:blipFill>
          <p:spPr>
            <a:xfrm>
              <a:off x="1127949" y="3997940"/>
              <a:ext cx="265176" cy="265176"/>
            </a:xfrm>
            <a:prstGeom prst="rect">
              <a:avLst/>
            </a:prstGeom>
            <a:noFill/>
            <a:ln>
              <a:noFill/>
            </a:ln>
          </p:spPr>
        </p:pic>
        <p:sp>
          <p:nvSpPr>
            <p:cNvPr id="4854" name="Google Shape;4854;p120"/>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rgbClr val="618794"/>
                  </a:solidFill>
                  <a:latin typeface="DM Sans Medium"/>
                  <a:ea typeface="DM Sans Medium"/>
                  <a:cs typeface="DM Sans Medium"/>
                  <a:sym typeface="DM Sans Medium"/>
                </a:rPr>
                <a:t>(structured)</a:t>
              </a:r>
              <a:endParaRPr i="0" sz="800" u="none" cap="none" strike="noStrike">
                <a:solidFill>
                  <a:srgbClr val="618794"/>
                </a:solidFill>
                <a:latin typeface="DM Sans Medium"/>
                <a:ea typeface="DM Sans Medium"/>
                <a:cs typeface="DM Sans Medium"/>
                <a:sym typeface="DM Sans Medium"/>
              </a:endParaRPr>
            </a:p>
          </p:txBody>
        </p:sp>
      </p:grpSp>
      <p:grpSp>
        <p:nvGrpSpPr>
          <p:cNvPr id="4855" name="Google Shape;4855;p120"/>
          <p:cNvGrpSpPr/>
          <p:nvPr/>
        </p:nvGrpSpPr>
        <p:grpSpPr>
          <a:xfrm>
            <a:off x="920210" y="3679952"/>
            <a:ext cx="761100" cy="558519"/>
            <a:chOff x="880006" y="3431841"/>
            <a:chExt cx="761100" cy="558519"/>
          </a:xfrm>
        </p:grpSpPr>
        <p:pic>
          <p:nvPicPr>
            <p:cNvPr id="4856" name="Google Shape;4856;p120"/>
            <p:cNvPicPr preferRelativeResize="0"/>
            <p:nvPr/>
          </p:nvPicPr>
          <p:blipFill>
            <a:blip r:embed="rId12">
              <a:alphaModFix/>
            </a:blip>
            <a:stretch>
              <a:fillRect/>
            </a:stretch>
          </p:blipFill>
          <p:spPr>
            <a:xfrm>
              <a:off x="1127949" y="3431841"/>
              <a:ext cx="265176" cy="265176"/>
            </a:xfrm>
            <a:prstGeom prst="rect">
              <a:avLst/>
            </a:prstGeom>
            <a:noFill/>
            <a:ln>
              <a:noFill/>
            </a:ln>
          </p:spPr>
        </p:pic>
        <p:sp>
          <p:nvSpPr>
            <p:cNvPr id="4857" name="Google Shape;4857;p120"/>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rgbClr val="618794"/>
                  </a:solidFill>
                  <a:latin typeface="DM Sans Medium"/>
                  <a:ea typeface="DM Sans Medium"/>
                  <a:cs typeface="DM Sans Medium"/>
                  <a:sym typeface="DM Sans Medium"/>
                </a:rPr>
                <a:t>(unstructured)</a:t>
              </a:r>
              <a:endParaRPr i="0" sz="800" u="none" cap="none" strike="noStrike">
                <a:solidFill>
                  <a:srgbClr val="618794"/>
                </a:solidFill>
                <a:latin typeface="DM Sans Medium"/>
                <a:ea typeface="DM Sans Medium"/>
                <a:cs typeface="DM Sans Medium"/>
                <a:sym typeface="DM Sans Medium"/>
              </a:endParaRPr>
            </a:p>
          </p:txBody>
        </p:sp>
      </p:grpSp>
      <p:sp>
        <p:nvSpPr>
          <p:cNvPr id="4858" name="Google Shape;4858;p120"/>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4859" name="Google Shape;4859;p120"/>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4860" name="Google Shape;4860;p120"/>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rgbClr val="618794"/>
                </a:solidFill>
                <a:latin typeface="DM Sans"/>
                <a:ea typeface="DM Sans"/>
                <a:cs typeface="DM Sans"/>
                <a:sym typeface="DM Sans"/>
              </a:rPr>
              <a:t>Sharing</a:t>
            </a:r>
            <a:endParaRPr sz="1100">
              <a:solidFill>
                <a:srgbClr val="618794"/>
              </a:solidFill>
              <a:latin typeface="DM Sans"/>
              <a:ea typeface="DM Sans"/>
              <a:cs typeface="DM Sans"/>
              <a:sym typeface="DM Sans"/>
            </a:endParaRPr>
          </a:p>
        </p:txBody>
      </p:sp>
      <p:sp>
        <p:nvSpPr>
          <p:cNvPr id="4861" name="Google Shape;4861;p120"/>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CCCCCC"/>
                </a:solidFill>
                <a:latin typeface="DM Sans Medium"/>
                <a:ea typeface="DM Sans Medium"/>
                <a:cs typeface="DM Sans Medium"/>
                <a:sym typeface="DM Sans Medium"/>
              </a:rPr>
              <a:t>AI/BI</a:t>
            </a:r>
            <a:endParaRPr sz="1100">
              <a:solidFill>
                <a:srgbClr val="CCCCCC"/>
              </a:solidFill>
              <a:latin typeface="DM Sans Medium"/>
              <a:ea typeface="DM Sans Medium"/>
              <a:cs typeface="DM Sans Medium"/>
              <a:sym typeface="DM Sans Medium"/>
            </a:endParaRPr>
          </a:p>
        </p:txBody>
      </p:sp>
      <p:sp>
        <p:nvSpPr>
          <p:cNvPr id="4862" name="Google Shape;4862;p120"/>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Applications</a:t>
            </a:r>
            <a:endParaRPr sz="1100">
              <a:solidFill>
                <a:srgbClr val="CCCCCC"/>
              </a:solidFill>
              <a:latin typeface="DM Sans Medium"/>
              <a:ea typeface="DM Sans Medium"/>
              <a:cs typeface="DM Sans Medium"/>
              <a:sym typeface="DM Sans Medium"/>
            </a:endParaRPr>
          </a:p>
        </p:txBody>
      </p:sp>
      <p:sp>
        <p:nvSpPr>
          <p:cNvPr id="4863" name="Google Shape;4863;p120"/>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CCCCCC"/>
                </a:solidFill>
                <a:latin typeface="DM Sans Medium"/>
                <a:ea typeface="DM Sans Medium"/>
                <a:cs typeface="DM Sans Medium"/>
                <a:sym typeface="DM Sans Medium"/>
              </a:rPr>
              <a:t>Orchestration, CI/CD, MLOps and DataOps</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100">
              <a:solidFill>
                <a:srgbClr val="CCCCCC"/>
              </a:solidFill>
              <a:latin typeface="DM Sans Medium"/>
              <a:ea typeface="DM Sans Medium"/>
              <a:cs typeface="DM Sans Medium"/>
              <a:sym typeface="DM Sans Medium"/>
            </a:endParaRPr>
          </a:p>
        </p:txBody>
      </p:sp>
      <p:sp>
        <p:nvSpPr>
          <p:cNvPr id="4864" name="Google Shape;4864;p120"/>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CCCCCC"/>
                </a:solidFill>
                <a:latin typeface="DM Sans Medium"/>
                <a:ea typeface="DM Sans Medium"/>
                <a:cs typeface="DM Sans Medium"/>
                <a:sym typeface="DM Sans Medium"/>
              </a:rPr>
              <a:t>Operational DB</a:t>
            </a:r>
            <a:endParaRPr sz="1100">
              <a:solidFill>
                <a:srgbClr val="CCCCCC"/>
              </a:solidFill>
              <a:latin typeface="DM Sans Medium"/>
              <a:ea typeface="DM Sans Medium"/>
              <a:cs typeface="DM Sans Medium"/>
              <a:sym typeface="DM Sans Medium"/>
            </a:endParaRPr>
          </a:p>
        </p:txBody>
      </p:sp>
      <p:sp>
        <p:nvSpPr>
          <p:cNvPr id="4865" name="Google Shape;4865;p120"/>
          <p:cNvSpPr/>
          <p:nvPr/>
        </p:nvSpPr>
        <p:spPr>
          <a:xfrm>
            <a:off x="3320074" y="4237438"/>
            <a:ext cx="640800" cy="274200"/>
          </a:xfrm>
          <a:prstGeom prst="roundRect">
            <a:avLst>
              <a:gd fmla="val 14403" name="adj"/>
            </a:avLst>
          </a:prstGeom>
          <a:solidFill>
            <a:srgbClr val="FFFFFF"/>
          </a:solidFill>
          <a:ln cap="flat" cmpd="sng" w="9525">
            <a:solidFill>
              <a:srgbClr val="FFAB0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Access</a:t>
            </a:r>
            <a:r>
              <a:rPr lang="en" sz="900">
                <a:solidFill>
                  <a:srgbClr val="00A972"/>
                </a:solidFill>
                <a:latin typeface="DM Sans SemiBold"/>
                <a:ea typeface="DM Sans SemiBold"/>
                <a:cs typeface="DM Sans SemiBold"/>
                <a:sym typeface="DM Sans SemiBold"/>
              </a:rPr>
              <a:t> Control</a:t>
            </a:r>
            <a:endParaRPr sz="900">
              <a:solidFill>
                <a:srgbClr val="00A972"/>
              </a:solidFill>
              <a:latin typeface="DM Sans SemiBold"/>
              <a:ea typeface="DM Sans SemiBold"/>
              <a:cs typeface="DM Sans SemiBold"/>
              <a:sym typeface="DM Sans SemiBold"/>
            </a:endParaRPr>
          </a:p>
        </p:txBody>
      </p:sp>
      <p:sp>
        <p:nvSpPr>
          <p:cNvPr id="4866" name="Google Shape;4866;p120"/>
          <p:cNvSpPr/>
          <p:nvPr/>
        </p:nvSpPr>
        <p:spPr>
          <a:xfrm>
            <a:off x="5619274" y="3179556"/>
            <a:ext cx="761100" cy="274200"/>
          </a:xfrm>
          <a:prstGeom prst="roundRect">
            <a:avLst>
              <a:gd fmla="val 19944" name="adj"/>
            </a:avLst>
          </a:prstGeom>
          <a:noFill/>
          <a:ln cap="flat" cmpd="sng" w="9525">
            <a:solidFill>
              <a:srgbClr val="4299E0"/>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Spark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Photon</a:t>
            </a:r>
            <a:endParaRPr sz="900">
              <a:solidFill>
                <a:srgbClr val="00A972"/>
              </a:solidFill>
              <a:latin typeface="DM Sans SemiBold"/>
              <a:ea typeface="DM Sans SemiBold"/>
              <a:cs typeface="DM Sans SemiBold"/>
              <a:sym typeface="DM Sans SemiBold"/>
            </a:endParaRPr>
          </a:p>
        </p:txBody>
      </p:sp>
      <p:sp>
        <p:nvSpPr>
          <p:cNvPr id="4867" name="Google Shape;4867;p120"/>
          <p:cNvSpPr/>
          <p:nvPr/>
        </p:nvSpPr>
        <p:spPr>
          <a:xfrm>
            <a:off x="1697364" y="5221283"/>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868" name="Google Shape;4868;p120"/>
          <p:cNvCxnSpPr>
            <a:stCxn id="4869" idx="6"/>
            <a:endCxn id="4828" idx="1"/>
          </p:cNvCxnSpPr>
          <p:nvPr/>
        </p:nvCxnSpPr>
        <p:spPr>
          <a:xfrm>
            <a:off x="3073663" y="4558032"/>
            <a:ext cx="1153200" cy="600"/>
          </a:xfrm>
          <a:prstGeom prst="bentConnector3">
            <a:avLst>
              <a:gd fmla="val 50001" name="adj1"/>
            </a:avLst>
          </a:prstGeom>
          <a:noFill/>
          <a:ln cap="flat" cmpd="sng" w="19050">
            <a:solidFill>
              <a:srgbClr val="FFAB00"/>
            </a:solidFill>
            <a:prstDash val="solid"/>
            <a:round/>
            <a:headEnd len="sm" w="sm" type="none"/>
            <a:tailEnd len="sm" w="sm" type="triangle"/>
          </a:ln>
        </p:spPr>
      </p:cxnSp>
      <p:cxnSp>
        <p:nvCxnSpPr>
          <p:cNvPr id="4870" name="Google Shape;4870;p120"/>
          <p:cNvCxnSpPr>
            <a:stCxn id="4871" idx="6"/>
            <a:endCxn id="4866" idx="1"/>
          </p:cNvCxnSpPr>
          <p:nvPr/>
        </p:nvCxnSpPr>
        <p:spPr>
          <a:xfrm>
            <a:off x="3070913" y="3316656"/>
            <a:ext cx="2548500" cy="600"/>
          </a:xfrm>
          <a:prstGeom prst="bentConnector3">
            <a:avLst>
              <a:gd fmla="val 49997" name="adj1"/>
            </a:avLst>
          </a:prstGeom>
          <a:noFill/>
          <a:ln cap="flat" cmpd="sng" w="19050">
            <a:solidFill>
              <a:srgbClr val="4299E0"/>
            </a:solidFill>
            <a:prstDash val="solid"/>
            <a:round/>
            <a:headEnd len="sm" w="sm" type="none"/>
            <a:tailEnd len="sm" w="sm" type="triangle"/>
          </a:ln>
        </p:spPr>
      </p:cxnSp>
      <p:sp>
        <p:nvSpPr>
          <p:cNvPr id="4871" name="Google Shape;4871;p120"/>
          <p:cNvSpPr/>
          <p:nvPr/>
        </p:nvSpPr>
        <p:spPr>
          <a:xfrm>
            <a:off x="2866013" y="3214206"/>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3</a:t>
            </a:r>
            <a:endParaRPr b="1" sz="1200">
              <a:latin typeface="DM Sans"/>
              <a:ea typeface="DM Sans"/>
              <a:cs typeface="DM Sans"/>
              <a:sym typeface="DM Sans"/>
            </a:endParaRPr>
          </a:p>
        </p:txBody>
      </p:sp>
      <p:cxnSp>
        <p:nvCxnSpPr>
          <p:cNvPr id="4872" name="Google Shape;4872;p120"/>
          <p:cNvCxnSpPr>
            <a:stCxn id="4873" idx="4"/>
            <a:endCxn id="4865" idx="0"/>
          </p:cNvCxnSpPr>
          <p:nvPr/>
        </p:nvCxnSpPr>
        <p:spPr>
          <a:xfrm flipH="1" rot="-5400000">
            <a:off x="3197374" y="3793656"/>
            <a:ext cx="886800" cy="600"/>
          </a:xfrm>
          <a:prstGeom prst="bentConnector3">
            <a:avLst>
              <a:gd fmla="val 50005" name="adj1"/>
            </a:avLst>
          </a:prstGeom>
          <a:noFill/>
          <a:ln cap="flat" cmpd="sng" w="9525">
            <a:solidFill>
              <a:srgbClr val="FF5F46"/>
            </a:solidFill>
            <a:prstDash val="dash"/>
            <a:round/>
            <a:headEnd len="sm" w="sm" type="none"/>
            <a:tailEnd len="sm" w="sm" type="none"/>
          </a:ln>
        </p:spPr>
      </p:cxnSp>
      <p:sp>
        <p:nvSpPr>
          <p:cNvPr id="4873" name="Google Shape;4873;p120"/>
          <p:cNvSpPr/>
          <p:nvPr/>
        </p:nvSpPr>
        <p:spPr>
          <a:xfrm>
            <a:off x="3606574" y="3282756"/>
            <a:ext cx="67800" cy="67800"/>
          </a:xfrm>
          <a:prstGeom prst="ellipse">
            <a:avLst/>
          </a:prstGeom>
          <a:solidFill>
            <a:srgbClr val="FFFFFF"/>
          </a:solidFill>
          <a:ln cap="flat" cmpd="sng" w="19050">
            <a:solidFill>
              <a:srgbClr val="FF5F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74" name="Google Shape;4874;p120"/>
          <p:cNvSpPr/>
          <p:nvPr/>
        </p:nvSpPr>
        <p:spPr>
          <a:xfrm>
            <a:off x="1697364" y="5289442"/>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69" name="Google Shape;4869;p120"/>
          <p:cNvSpPr/>
          <p:nvPr/>
        </p:nvSpPr>
        <p:spPr>
          <a:xfrm>
            <a:off x="2868763" y="4455582"/>
            <a:ext cx="204900" cy="204900"/>
          </a:xfrm>
          <a:prstGeom prst="ellipse">
            <a:avLst/>
          </a:prstGeom>
          <a:solidFill>
            <a:srgbClr val="FFFFFF"/>
          </a:solidFill>
          <a:ln cap="flat" cmpd="sng" w="19050">
            <a:solidFill>
              <a:srgbClr val="FFAB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1</a:t>
            </a:r>
            <a:endParaRPr b="1" sz="1200">
              <a:latin typeface="DM Sans"/>
              <a:ea typeface="DM Sans"/>
              <a:cs typeface="DM Sans"/>
              <a:sym typeface="DM Sans"/>
            </a:endParaRPr>
          </a:p>
        </p:txBody>
      </p:sp>
      <p:cxnSp>
        <p:nvCxnSpPr>
          <p:cNvPr id="4875" name="Google Shape;4875;p120"/>
          <p:cNvCxnSpPr>
            <a:stCxn id="4867" idx="3"/>
            <a:endCxn id="4871" idx="2"/>
          </p:cNvCxnSpPr>
          <p:nvPr/>
        </p:nvCxnSpPr>
        <p:spPr>
          <a:xfrm flipH="1" rot="10800000">
            <a:off x="1773264" y="3316733"/>
            <a:ext cx="1092600" cy="1950300"/>
          </a:xfrm>
          <a:prstGeom prst="bentConnector3">
            <a:avLst>
              <a:gd fmla="val 50007" name="adj1"/>
            </a:avLst>
          </a:prstGeom>
          <a:noFill/>
          <a:ln cap="flat" cmpd="sng" w="19050">
            <a:solidFill>
              <a:srgbClr val="4299E0"/>
            </a:solidFill>
            <a:prstDash val="solid"/>
            <a:round/>
            <a:headEnd len="sm" w="sm" type="none"/>
            <a:tailEnd len="sm" w="sm" type="none"/>
          </a:ln>
        </p:spPr>
      </p:cxnSp>
      <p:cxnSp>
        <p:nvCxnSpPr>
          <p:cNvPr id="4876" name="Google Shape;4876;p120"/>
          <p:cNvCxnSpPr>
            <a:stCxn id="4874" idx="3"/>
            <a:endCxn id="4869" idx="4"/>
          </p:cNvCxnSpPr>
          <p:nvPr/>
        </p:nvCxnSpPr>
        <p:spPr>
          <a:xfrm flipH="1" rot="10800000">
            <a:off x="1773264" y="4660492"/>
            <a:ext cx="1197900" cy="674700"/>
          </a:xfrm>
          <a:prstGeom prst="bentConnector2">
            <a:avLst/>
          </a:prstGeom>
          <a:noFill/>
          <a:ln cap="flat" cmpd="sng" w="19050">
            <a:solidFill>
              <a:srgbClr val="FFAB00"/>
            </a:solidFill>
            <a:prstDash val="solid"/>
            <a:round/>
            <a:headEnd len="sm" w="sm" type="none"/>
            <a:tailEnd len="sm" w="sm" type="none"/>
          </a:ln>
        </p:spPr>
      </p:cxnSp>
      <p:pic>
        <p:nvPicPr>
          <p:cNvPr id="4877" name="Google Shape;4877;p120"/>
          <p:cNvPicPr preferRelativeResize="0"/>
          <p:nvPr/>
        </p:nvPicPr>
        <p:blipFill>
          <a:blip r:embed="rId13">
            <a:alphaModFix/>
          </a:blip>
          <a:stretch>
            <a:fillRect/>
          </a:stretch>
        </p:blipFill>
        <p:spPr>
          <a:xfrm>
            <a:off x="2356316" y="5120057"/>
            <a:ext cx="191100" cy="160007"/>
          </a:xfrm>
          <a:prstGeom prst="rect">
            <a:avLst/>
          </a:prstGeom>
          <a:noFill/>
          <a:ln>
            <a:noFill/>
          </a:ln>
        </p:spPr>
      </p:pic>
      <p:sp>
        <p:nvSpPr>
          <p:cNvPr id="4878" name="Google Shape;4878;p120"/>
          <p:cNvSpPr/>
          <p:nvPr/>
        </p:nvSpPr>
        <p:spPr>
          <a:xfrm>
            <a:off x="836750" y="5135200"/>
            <a:ext cx="932400" cy="617700"/>
          </a:xfrm>
          <a:prstGeom prst="roundRect">
            <a:avLst>
              <a:gd fmla="val 12696" name="adj"/>
            </a:avLst>
          </a:prstGeom>
          <a:solidFill>
            <a:srgbClr val="1B5162"/>
          </a:solidFill>
          <a:ln cap="flat" cmpd="sng" w="9525">
            <a:solidFill>
              <a:srgbClr val="1B5162"/>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4879" name="Google Shape;4879;p120"/>
          <p:cNvSpPr/>
          <p:nvPr/>
        </p:nvSpPr>
        <p:spPr>
          <a:xfrm>
            <a:off x="875832" y="5161100"/>
            <a:ext cx="854100" cy="565800"/>
          </a:xfrm>
          <a:prstGeom prst="roundRect">
            <a:avLst>
              <a:gd fmla="val 12696" name="adj"/>
            </a:avLst>
          </a:prstGeom>
          <a:solidFill>
            <a:srgbClr val="FFFFFF"/>
          </a:solidFill>
          <a:ln cap="flat" cmpd="sng" w="9525">
            <a:solidFill>
              <a:srgbClr val="1B5162"/>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rgbClr val="1B5162"/>
              </a:solidFill>
              <a:latin typeface="DM Sans Medium"/>
              <a:ea typeface="DM Sans Medium"/>
              <a:cs typeface="DM Sans Medium"/>
              <a:sym typeface="DM Sans Medium"/>
            </a:endParaRPr>
          </a:p>
        </p:txBody>
      </p:sp>
      <p:sp>
        <p:nvSpPr>
          <p:cNvPr id="4880" name="Google Shape;4880;p120"/>
          <p:cNvSpPr txBox="1"/>
          <p:nvPr/>
        </p:nvSpPr>
        <p:spPr>
          <a:xfrm>
            <a:off x="1249281" y="5476985"/>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Delta Shares</a:t>
            </a:r>
            <a:endParaRPr sz="900">
              <a:solidFill>
                <a:srgbClr val="1B5162"/>
              </a:solidFill>
              <a:latin typeface="DM Sans Medium"/>
              <a:ea typeface="DM Sans Medium"/>
              <a:cs typeface="DM Sans Medium"/>
              <a:sym typeface="DM Sans Medium"/>
            </a:endParaRPr>
          </a:p>
        </p:txBody>
      </p:sp>
      <p:sp>
        <p:nvSpPr>
          <p:cNvPr id="4881" name="Google Shape;4881;p120"/>
          <p:cNvSpPr txBox="1"/>
          <p:nvPr/>
        </p:nvSpPr>
        <p:spPr>
          <a:xfrm>
            <a:off x="838880" y="5476264"/>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a:t>
            </a:r>
            <a:endParaRPr sz="900">
              <a:solidFill>
                <a:srgbClr val="1B5162"/>
              </a:solidFill>
              <a:latin typeface="DM Sans Medium"/>
              <a:ea typeface="DM Sans Medium"/>
              <a:cs typeface="DM Sans Medium"/>
              <a:sym typeface="DM Sans Medium"/>
            </a:endParaRPr>
          </a:p>
        </p:txBody>
      </p:sp>
      <p:pic>
        <p:nvPicPr>
          <p:cNvPr id="4882" name="Google Shape;4882;p120"/>
          <p:cNvPicPr preferRelativeResize="0"/>
          <p:nvPr/>
        </p:nvPicPr>
        <p:blipFill>
          <a:blip r:embed="rId13">
            <a:alphaModFix/>
          </a:blip>
          <a:stretch>
            <a:fillRect/>
          </a:stretch>
        </p:blipFill>
        <p:spPr>
          <a:xfrm>
            <a:off x="1400538" y="5229012"/>
            <a:ext cx="228265" cy="191100"/>
          </a:xfrm>
          <a:prstGeom prst="rect">
            <a:avLst/>
          </a:prstGeom>
          <a:noFill/>
          <a:ln>
            <a:noFill/>
          </a:ln>
        </p:spPr>
      </p:pic>
      <p:pic>
        <p:nvPicPr>
          <p:cNvPr descr="Databricks · GitHub" id="4883" name="Google Shape;4883;p120"/>
          <p:cNvPicPr preferRelativeResize="0"/>
          <p:nvPr/>
        </p:nvPicPr>
        <p:blipFill>
          <a:blip r:embed="rId14">
            <a:alphaModFix/>
          </a:blip>
          <a:stretch>
            <a:fillRect/>
          </a:stretch>
        </p:blipFill>
        <p:spPr>
          <a:xfrm>
            <a:off x="994663" y="5215210"/>
            <a:ext cx="228275" cy="228275"/>
          </a:xfrm>
          <a:prstGeom prst="rect">
            <a:avLst/>
          </a:prstGeom>
          <a:noFill/>
          <a:ln>
            <a:noFill/>
          </a:ln>
        </p:spPr>
      </p:pic>
      <p:cxnSp>
        <p:nvCxnSpPr>
          <p:cNvPr id="4884" name="Google Shape;4884;p120"/>
          <p:cNvCxnSpPr>
            <a:stCxn id="4866" idx="2"/>
            <a:endCxn id="4828" idx="3"/>
          </p:cNvCxnSpPr>
          <p:nvPr/>
        </p:nvCxnSpPr>
        <p:spPr>
          <a:xfrm rot="5400000">
            <a:off x="4931374" y="3489606"/>
            <a:ext cx="1104300" cy="1032600"/>
          </a:xfrm>
          <a:prstGeom prst="bentConnector2">
            <a:avLst/>
          </a:prstGeom>
          <a:noFill/>
          <a:ln cap="flat" cmpd="sng" w="19050">
            <a:solidFill>
              <a:srgbClr val="4299E0"/>
            </a:solidFill>
            <a:prstDash val="solid"/>
            <a:round/>
            <a:headEnd len="sm" w="sm" type="triangle"/>
            <a:tailEnd len="sm" w="sm" type="none"/>
          </a:ln>
        </p:spPr>
      </p:cxnSp>
      <p:cxnSp>
        <p:nvCxnSpPr>
          <p:cNvPr id="4885" name="Google Shape;4885;p120"/>
          <p:cNvCxnSpPr/>
          <p:nvPr/>
        </p:nvCxnSpPr>
        <p:spPr>
          <a:xfrm>
            <a:off x="6386719" y="3263015"/>
            <a:ext cx="3219900" cy="0"/>
          </a:xfrm>
          <a:prstGeom prst="straightConnector1">
            <a:avLst/>
          </a:prstGeom>
          <a:noFill/>
          <a:ln cap="flat" cmpd="sng" w="9525">
            <a:solidFill>
              <a:srgbClr val="4299E0"/>
            </a:solidFill>
            <a:prstDash val="dot"/>
            <a:round/>
            <a:headEnd len="med" w="med" type="none"/>
            <a:tailEnd len="med" w="med" type="oval"/>
          </a:ln>
        </p:spPr>
      </p:cxnSp>
      <p:cxnSp>
        <p:nvCxnSpPr>
          <p:cNvPr id="4886" name="Google Shape;4886;p120"/>
          <p:cNvCxnSpPr/>
          <p:nvPr/>
        </p:nvCxnSpPr>
        <p:spPr>
          <a:xfrm rot="10800000">
            <a:off x="6234319" y="2643195"/>
            <a:ext cx="0" cy="536100"/>
          </a:xfrm>
          <a:prstGeom prst="straightConnector1">
            <a:avLst/>
          </a:prstGeom>
          <a:noFill/>
          <a:ln cap="flat" cmpd="sng" w="9525">
            <a:solidFill>
              <a:srgbClr val="4299E0"/>
            </a:solidFill>
            <a:prstDash val="dot"/>
            <a:round/>
            <a:headEnd len="med" w="med" type="none"/>
            <a:tailEnd len="med" w="med" type="oval"/>
          </a:ln>
        </p:spPr>
      </p:cxnSp>
      <p:sp>
        <p:nvSpPr>
          <p:cNvPr id="4887" name="Google Shape;4887;p120"/>
          <p:cNvSpPr/>
          <p:nvPr/>
        </p:nvSpPr>
        <p:spPr>
          <a:xfrm>
            <a:off x="5899313" y="3796500"/>
            <a:ext cx="204900" cy="204900"/>
          </a:xfrm>
          <a:prstGeom prst="ellipse">
            <a:avLst/>
          </a:prstGeom>
          <a:solidFill>
            <a:srgbClr val="FFFFFF"/>
          </a:solidFill>
          <a:ln cap="flat" cmpd="sng" w="19050">
            <a:solidFill>
              <a:srgbClr val="4299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latin typeface="DM Sans"/>
                <a:ea typeface="DM Sans"/>
                <a:cs typeface="DM Sans"/>
                <a:sym typeface="DM Sans"/>
              </a:rPr>
              <a:t>2</a:t>
            </a:r>
            <a:endParaRPr b="1" sz="1200">
              <a:latin typeface="DM Sans"/>
              <a:ea typeface="DM Sans"/>
              <a:cs typeface="DM Sans"/>
              <a:sym typeface="DM Sans"/>
            </a:endParaRPr>
          </a:p>
        </p:txBody>
      </p:sp>
      <p:grpSp>
        <p:nvGrpSpPr>
          <p:cNvPr id="4888" name="Google Shape;4888;p120"/>
          <p:cNvGrpSpPr/>
          <p:nvPr/>
        </p:nvGrpSpPr>
        <p:grpSpPr>
          <a:xfrm>
            <a:off x="1278400" y="4282495"/>
            <a:ext cx="462900" cy="422268"/>
            <a:chOff x="1296935" y="4254734"/>
            <a:chExt cx="462900" cy="422268"/>
          </a:xfrm>
        </p:grpSpPr>
        <p:pic>
          <p:nvPicPr>
            <p:cNvPr id="4889" name="Google Shape;4889;p120"/>
            <p:cNvPicPr preferRelativeResize="0"/>
            <p:nvPr/>
          </p:nvPicPr>
          <p:blipFill rotWithShape="1">
            <a:blip r:embed="rId10">
              <a:alphaModFix/>
            </a:blip>
            <a:srcRect b="0" l="0" r="0" t="0"/>
            <a:stretch/>
          </p:blipFill>
          <p:spPr>
            <a:xfrm>
              <a:off x="1395798" y="4254734"/>
              <a:ext cx="265176" cy="265176"/>
            </a:xfrm>
            <a:prstGeom prst="rect">
              <a:avLst/>
            </a:prstGeom>
            <a:noFill/>
            <a:ln>
              <a:noFill/>
            </a:ln>
          </p:spPr>
        </p:pic>
        <p:sp>
          <p:nvSpPr>
            <p:cNvPr id="4890" name="Google Shape;4890;p120"/>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4891" name="Google Shape;4891;p120"/>
          <p:cNvGrpSpPr/>
          <p:nvPr/>
        </p:nvGrpSpPr>
        <p:grpSpPr>
          <a:xfrm>
            <a:off x="911400" y="4663311"/>
            <a:ext cx="336000" cy="426753"/>
            <a:chOff x="929785" y="4678386"/>
            <a:chExt cx="336000" cy="426753"/>
          </a:xfrm>
        </p:grpSpPr>
        <p:sp>
          <p:nvSpPr>
            <p:cNvPr id="4892" name="Google Shape;4892;p120"/>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4893" name="Google Shape;4893;p120" title="primary-icon-navy-spark-cluster.png"/>
            <p:cNvPicPr preferRelativeResize="0"/>
            <p:nvPr/>
          </p:nvPicPr>
          <p:blipFill>
            <a:blip r:embed="rId15">
              <a:alphaModFix/>
            </a:blip>
            <a:stretch>
              <a:fillRect/>
            </a:stretch>
          </p:blipFill>
          <p:spPr>
            <a:xfrm>
              <a:off x="963302" y="4678386"/>
              <a:ext cx="269065" cy="269063"/>
            </a:xfrm>
            <a:prstGeom prst="rect">
              <a:avLst/>
            </a:prstGeom>
            <a:noFill/>
            <a:ln>
              <a:noFill/>
            </a:ln>
          </p:spPr>
        </p:pic>
      </p:grpSp>
      <p:grpSp>
        <p:nvGrpSpPr>
          <p:cNvPr id="4894" name="Google Shape;4894;p120"/>
          <p:cNvGrpSpPr/>
          <p:nvPr/>
        </p:nvGrpSpPr>
        <p:grpSpPr>
          <a:xfrm>
            <a:off x="1366236" y="4655157"/>
            <a:ext cx="324300" cy="434522"/>
            <a:chOff x="1377357" y="4647990"/>
            <a:chExt cx="324300" cy="434522"/>
          </a:xfrm>
        </p:grpSpPr>
        <p:sp>
          <p:nvSpPr>
            <p:cNvPr id="4895" name="Google Shape;4895;p120"/>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4896" name="Google Shape;4896;p120" title="primary-icon-navy-hive-metastore-execution.png"/>
            <p:cNvPicPr preferRelativeResize="0"/>
            <p:nvPr/>
          </p:nvPicPr>
          <p:blipFill>
            <a:blip r:embed="rId16">
              <a:alphaModFix/>
            </a:blip>
            <a:stretch>
              <a:fillRect/>
            </a:stretch>
          </p:blipFill>
          <p:spPr>
            <a:xfrm>
              <a:off x="1379822" y="4647990"/>
              <a:ext cx="282300" cy="282300"/>
            </a:xfrm>
            <a:prstGeom prst="rect">
              <a:avLst/>
            </a:prstGeom>
            <a:noFill/>
            <a:ln>
              <a:noFill/>
            </a:ln>
          </p:spPr>
        </p:pic>
      </p:grpSp>
      <p:grpSp>
        <p:nvGrpSpPr>
          <p:cNvPr id="4897" name="Google Shape;4897;p120"/>
          <p:cNvGrpSpPr/>
          <p:nvPr/>
        </p:nvGrpSpPr>
        <p:grpSpPr>
          <a:xfrm>
            <a:off x="899750" y="4283846"/>
            <a:ext cx="359100" cy="422318"/>
            <a:chOff x="899750" y="4215307"/>
            <a:chExt cx="359100" cy="422318"/>
          </a:xfrm>
        </p:grpSpPr>
        <p:sp>
          <p:nvSpPr>
            <p:cNvPr id="4898" name="Google Shape;4898;p120"/>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4899" name="Google Shape;4899;p120" title="primary-icon-navy-data-warehouse-2.png"/>
            <p:cNvPicPr preferRelativeResize="0"/>
            <p:nvPr/>
          </p:nvPicPr>
          <p:blipFill>
            <a:blip r:embed="rId17">
              <a:alphaModFix/>
            </a:blip>
            <a:stretch>
              <a:fillRect/>
            </a:stretch>
          </p:blipFill>
          <p:spPr>
            <a:xfrm>
              <a:off x="912450" y="4215307"/>
              <a:ext cx="336000" cy="273665"/>
            </a:xfrm>
            <a:prstGeom prst="rect">
              <a:avLst/>
            </a:prstGeom>
            <a:noFill/>
            <a:ln>
              <a:noFill/>
            </a:ln>
          </p:spPr>
        </p:pic>
      </p:grpSp>
      <p:cxnSp>
        <p:nvCxnSpPr>
          <p:cNvPr id="4900" name="Google Shape;4900;p120"/>
          <p:cNvCxnSpPr/>
          <p:nvPr/>
        </p:nvCxnSpPr>
        <p:spPr>
          <a:xfrm>
            <a:off x="6383175" y="3373475"/>
            <a:ext cx="3207900" cy="540600"/>
          </a:xfrm>
          <a:prstGeom prst="bentConnector3">
            <a:avLst>
              <a:gd fmla="val 99671" name="adj1"/>
            </a:avLst>
          </a:prstGeom>
          <a:noFill/>
          <a:ln cap="flat" cmpd="sng" w="9525">
            <a:solidFill>
              <a:srgbClr val="4299E0"/>
            </a:solidFill>
            <a:prstDash val="dot"/>
            <a:round/>
            <a:headEnd len="med" w="med" type="none"/>
            <a:tailEnd len="med" w="med" type="oval"/>
          </a:ln>
        </p:spPr>
      </p:cxnSp>
      <p:cxnSp>
        <p:nvCxnSpPr>
          <p:cNvPr id="4901" name="Google Shape;4901;p120"/>
          <p:cNvCxnSpPr/>
          <p:nvPr/>
        </p:nvCxnSpPr>
        <p:spPr>
          <a:xfrm>
            <a:off x="6386719" y="3316656"/>
            <a:ext cx="1381200" cy="0"/>
          </a:xfrm>
          <a:prstGeom prst="straightConnector1">
            <a:avLst/>
          </a:prstGeom>
          <a:noFill/>
          <a:ln cap="flat" cmpd="sng" w="9525">
            <a:solidFill>
              <a:srgbClr val="4299E0"/>
            </a:solidFill>
            <a:prstDash val="dot"/>
            <a:round/>
            <a:headEnd len="med" w="med" type="none"/>
            <a:tailEnd len="med" w="med" type="oval"/>
          </a:ln>
        </p:spPr>
      </p:cxnSp>
      <p:grpSp>
        <p:nvGrpSpPr>
          <p:cNvPr id="4902" name="Google Shape;4902;p120"/>
          <p:cNvGrpSpPr/>
          <p:nvPr/>
        </p:nvGrpSpPr>
        <p:grpSpPr>
          <a:xfrm>
            <a:off x="10606481" y="3507444"/>
            <a:ext cx="826200" cy="363728"/>
            <a:chOff x="10606481" y="3507444"/>
            <a:chExt cx="826200" cy="363728"/>
          </a:xfrm>
        </p:grpSpPr>
        <p:sp>
          <p:nvSpPr>
            <p:cNvPr id="4903" name="Google Shape;4903;p120"/>
            <p:cNvSpPr txBox="1"/>
            <p:nvPr/>
          </p:nvSpPr>
          <p:spPr>
            <a:xfrm>
              <a:off x="10606481" y="3746372"/>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Anthropic</a:t>
              </a:r>
              <a:endParaRPr sz="900">
                <a:solidFill>
                  <a:schemeClr val="accent1"/>
                </a:solidFill>
                <a:latin typeface="DM Sans Medium"/>
                <a:ea typeface="DM Sans Medium"/>
                <a:cs typeface="DM Sans Medium"/>
                <a:sym typeface="DM Sans Medium"/>
              </a:endParaRPr>
            </a:p>
          </p:txBody>
        </p:sp>
        <p:pic>
          <p:nvPicPr>
            <p:cNvPr id="4904" name="Google Shape;4904;p120"/>
            <p:cNvPicPr preferRelativeResize="0"/>
            <p:nvPr/>
          </p:nvPicPr>
          <p:blipFill>
            <a:blip r:embed="rId18">
              <a:alphaModFix/>
            </a:blip>
            <a:stretch>
              <a:fillRect/>
            </a:stretch>
          </p:blipFill>
          <p:spPr>
            <a:xfrm>
              <a:off x="10914442" y="3507444"/>
              <a:ext cx="219600" cy="219600"/>
            </a:xfrm>
            <a:prstGeom prst="ellipse">
              <a:avLst/>
            </a:prstGeom>
            <a:noFill/>
            <a:ln>
              <a:noFill/>
            </a:ln>
          </p:spPr>
        </p:pic>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8" name="Shape 4908"/>
        <p:cNvGrpSpPr/>
        <p:nvPr/>
      </p:nvGrpSpPr>
      <p:grpSpPr>
        <a:xfrm>
          <a:off x="0" y="0"/>
          <a:ext cx="0" cy="0"/>
          <a:chOff x="0" y="0"/>
          <a:chExt cx="0" cy="0"/>
        </a:xfrm>
      </p:grpSpPr>
      <p:sp>
        <p:nvSpPr>
          <p:cNvPr id="4909" name="Google Shape;4909;p121"/>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APPENDIX</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3" name="Shape 4913"/>
        <p:cNvGrpSpPr/>
        <p:nvPr/>
      </p:nvGrpSpPr>
      <p:grpSpPr>
        <a:xfrm>
          <a:off x="0" y="0"/>
          <a:ext cx="0" cy="0"/>
          <a:chOff x="0" y="0"/>
          <a:chExt cx="0" cy="0"/>
        </a:xfrm>
      </p:grpSpPr>
      <p:sp>
        <p:nvSpPr>
          <p:cNvPr id="4914" name="Google Shape;4914;p122"/>
          <p:cNvSpPr/>
          <p:nvPr/>
        </p:nvSpPr>
        <p:spPr>
          <a:xfrm>
            <a:off x="7486175" y="2313300"/>
            <a:ext cx="986400" cy="9990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i="1" lang="en" sz="1200">
                <a:solidFill>
                  <a:schemeClr val="accent1"/>
                </a:solidFill>
                <a:latin typeface="DM Sans Medium"/>
                <a:ea typeface="DM Sans Medium"/>
                <a:cs typeface="DM Sans Medium"/>
                <a:sym typeface="DM Sans Medium"/>
              </a:rPr>
              <a:t>Storage</a:t>
            </a:r>
            <a:br>
              <a:rPr i="1" lang="en" sz="1200">
                <a:solidFill>
                  <a:schemeClr val="accent1"/>
                </a:solidFill>
                <a:latin typeface="DM Sans Medium"/>
                <a:ea typeface="DM Sans Medium"/>
                <a:cs typeface="DM Sans Medium"/>
                <a:sym typeface="DM Sans Medium"/>
              </a:rPr>
            </a:br>
            <a:r>
              <a:rPr i="1" lang="en" sz="1200">
                <a:solidFill>
                  <a:schemeClr val="accent1"/>
                </a:solidFill>
                <a:latin typeface="DM Sans Medium"/>
                <a:ea typeface="DM Sans Medium"/>
                <a:cs typeface="DM Sans Medium"/>
                <a:sym typeface="DM Sans Medium"/>
              </a:rPr>
              <a:t>Account</a:t>
            </a:r>
            <a:br>
              <a:rPr i="1" lang="en" sz="1200">
                <a:solidFill>
                  <a:schemeClr val="accent1"/>
                </a:solidFill>
                <a:latin typeface="DM Sans Medium"/>
                <a:ea typeface="DM Sans Medium"/>
                <a:cs typeface="DM Sans Medium"/>
                <a:sym typeface="DM Sans Medium"/>
              </a:rPr>
            </a:br>
            <a:r>
              <a:rPr i="1" lang="en" sz="1000">
                <a:solidFill>
                  <a:schemeClr val="accent1"/>
                </a:solidFill>
                <a:latin typeface="DM Sans"/>
                <a:ea typeface="DM Sans"/>
                <a:cs typeface="DM Sans"/>
                <a:sym typeface="DM Sans"/>
              </a:rPr>
              <a:t>(DBFS)</a:t>
            </a:r>
            <a:endParaRPr i="1" sz="1000">
              <a:solidFill>
                <a:schemeClr val="accent1"/>
              </a:solidFill>
              <a:latin typeface="DM Sans"/>
              <a:ea typeface="DM Sans"/>
              <a:cs typeface="DM Sans"/>
              <a:sym typeface="DM Sans"/>
            </a:endParaRPr>
          </a:p>
        </p:txBody>
      </p:sp>
      <p:sp>
        <p:nvSpPr>
          <p:cNvPr id="4915" name="Google Shape;4915;p122"/>
          <p:cNvSpPr/>
          <p:nvPr/>
        </p:nvSpPr>
        <p:spPr>
          <a:xfrm>
            <a:off x="4086950" y="3432200"/>
            <a:ext cx="2615700" cy="2713500"/>
          </a:xfrm>
          <a:prstGeom prst="roundRect">
            <a:avLst>
              <a:gd fmla="val 5209" name="adj"/>
            </a:avLst>
          </a:prstGeom>
          <a:solidFill>
            <a:srgbClr val="FFFFFF"/>
          </a:solidFill>
          <a:ln cap="flat" cmpd="sng" w="9525">
            <a:solidFill>
              <a:schemeClr val="accent1"/>
            </a:solidFill>
            <a:prstDash val="solid"/>
            <a:round/>
            <a:headEnd len="sm" w="sm" type="none"/>
            <a:tailEnd len="sm" w="sm" type="none"/>
          </a:ln>
        </p:spPr>
        <p:txBody>
          <a:bodyPr anchorCtr="0" anchor="b" bIns="18275" lIns="91425" spcFirstLastPara="1" rIns="91425" wrap="square" tIns="18275">
            <a:noAutofit/>
          </a:bodyPr>
          <a:lstStyle/>
          <a:p>
            <a:pPr indent="0" lvl="0" marL="0" rtl="0" algn="ctr">
              <a:spcBef>
                <a:spcPts val="0"/>
              </a:spcBef>
              <a:spcAft>
                <a:spcPts val="0"/>
              </a:spcAft>
              <a:buNone/>
            </a:pPr>
            <a:r>
              <a:rPr lang="en" sz="1300">
                <a:solidFill>
                  <a:schemeClr val="accent1"/>
                </a:solidFill>
                <a:latin typeface="DM Sans Medium"/>
                <a:ea typeface="DM Sans Medium"/>
                <a:cs typeface="DM Sans Medium"/>
                <a:sym typeface="DM Sans Medium"/>
              </a:rPr>
              <a:t>Compute Plane</a:t>
            </a:r>
            <a:r>
              <a:rPr lang="en" sz="1500">
                <a:solidFill>
                  <a:schemeClr val="accent1"/>
                </a:solidFill>
                <a:latin typeface="DM Sans Medium"/>
                <a:ea typeface="DM Sans Medium"/>
                <a:cs typeface="DM Sans Medium"/>
                <a:sym typeface="DM Sans Medium"/>
              </a:rPr>
              <a:t> </a:t>
            </a:r>
            <a:br>
              <a:rPr lang="en" sz="1500">
                <a:solidFill>
                  <a:schemeClr val="accent1"/>
                </a:solidFill>
                <a:latin typeface="DM Sans Medium"/>
                <a:ea typeface="DM Sans Medium"/>
                <a:cs typeface="DM Sans Medium"/>
                <a:sym typeface="DM Sans Medium"/>
              </a:rPr>
            </a:br>
            <a:r>
              <a:rPr lang="en" sz="900">
                <a:solidFill>
                  <a:schemeClr val="accent1"/>
                </a:solidFill>
                <a:latin typeface="DM Sans"/>
                <a:ea typeface="DM Sans"/>
                <a:cs typeface="DM Sans"/>
                <a:sym typeface="DM Sans"/>
              </a:rPr>
              <a:t>(Customer VNet)</a:t>
            </a:r>
            <a:endParaRPr sz="900">
              <a:solidFill>
                <a:schemeClr val="accent1"/>
              </a:solidFill>
              <a:latin typeface="DM Sans"/>
              <a:ea typeface="DM Sans"/>
              <a:cs typeface="DM Sans"/>
              <a:sym typeface="DM Sans"/>
            </a:endParaRPr>
          </a:p>
        </p:txBody>
      </p:sp>
      <p:sp>
        <p:nvSpPr>
          <p:cNvPr id="4916" name="Google Shape;4916;p122"/>
          <p:cNvSpPr/>
          <p:nvPr/>
        </p:nvSpPr>
        <p:spPr>
          <a:xfrm>
            <a:off x="4210200" y="3542924"/>
            <a:ext cx="2403000" cy="2133600"/>
          </a:xfrm>
          <a:prstGeom prst="roundRect">
            <a:avLst>
              <a:gd fmla="val 7594"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Databricks Cluster Node</a:t>
            </a:r>
            <a:br>
              <a:rPr lang="en" sz="11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(Ubuntu VM)</a:t>
            </a:r>
            <a:endParaRPr sz="900">
              <a:solidFill>
                <a:schemeClr val="accent1"/>
              </a:solidFill>
              <a:latin typeface="DM Sans Medium"/>
              <a:ea typeface="DM Sans Medium"/>
              <a:cs typeface="DM Sans Medium"/>
              <a:sym typeface="DM Sans Medium"/>
            </a:endParaRPr>
          </a:p>
        </p:txBody>
      </p:sp>
      <p:sp>
        <p:nvSpPr>
          <p:cNvPr id="4917" name="Google Shape;4917;p122"/>
          <p:cNvSpPr/>
          <p:nvPr/>
        </p:nvSpPr>
        <p:spPr>
          <a:xfrm>
            <a:off x="4077150" y="1536050"/>
            <a:ext cx="2615700" cy="1596900"/>
          </a:xfrm>
          <a:prstGeom prst="roundRect">
            <a:avLst>
              <a:gd fmla="val 4530"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18275">
            <a:noAutofit/>
          </a:bodyPr>
          <a:lstStyle/>
          <a:p>
            <a:pPr indent="0" lvl="0" marL="0" rtl="0" algn="ctr">
              <a:spcBef>
                <a:spcPts val="0"/>
              </a:spcBef>
              <a:spcAft>
                <a:spcPts val="0"/>
              </a:spcAft>
              <a:buNone/>
            </a:pPr>
            <a:r>
              <a:rPr lang="en">
                <a:solidFill>
                  <a:schemeClr val="dk2"/>
                </a:solidFill>
                <a:latin typeface="DM Sans Medium"/>
                <a:ea typeface="DM Sans Medium"/>
                <a:cs typeface="DM Sans Medium"/>
                <a:sym typeface="DM Sans Medium"/>
              </a:rPr>
              <a:t>Control </a:t>
            </a:r>
            <a:r>
              <a:rPr lang="en">
                <a:solidFill>
                  <a:schemeClr val="dk2"/>
                </a:solidFill>
                <a:latin typeface="DM Sans Medium"/>
                <a:ea typeface="DM Sans Medium"/>
                <a:cs typeface="DM Sans Medium"/>
                <a:sym typeface="DM Sans Medium"/>
              </a:rPr>
              <a:t>Plane</a:t>
            </a:r>
            <a:r>
              <a:rPr lang="en" sz="1600">
                <a:solidFill>
                  <a:schemeClr val="dk2"/>
                </a:solidFill>
                <a:latin typeface="DM Sans Medium"/>
                <a:ea typeface="DM Sans Medium"/>
                <a:cs typeface="DM Sans Medium"/>
                <a:sym typeface="DM Sans Medium"/>
              </a:rPr>
              <a:t> </a:t>
            </a:r>
            <a:endParaRPr sz="1600">
              <a:solidFill>
                <a:schemeClr val="dk2"/>
              </a:solidFill>
              <a:latin typeface="DM Sans Medium"/>
              <a:ea typeface="DM Sans Medium"/>
              <a:cs typeface="DM Sans Medium"/>
              <a:sym typeface="DM Sans Medium"/>
            </a:endParaRPr>
          </a:p>
          <a:p>
            <a:pPr indent="0" lvl="0" marL="0" rtl="0" algn="ctr">
              <a:spcBef>
                <a:spcPts val="0"/>
              </a:spcBef>
              <a:spcAft>
                <a:spcPts val="0"/>
              </a:spcAft>
              <a:buNone/>
            </a:pPr>
            <a:r>
              <a:rPr lang="en" sz="1200">
                <a:solidFill>
                  <a:schemeClr val="accent1"/>
                </a:solidFill>
                <a:latin typeface="DM Sans"/>
                <a:ea typeface="DM Sans"/>
                <a:cs typeface="DM Sans"/>
                <a:sym typeface="DM Sans"/>
              </a:rPr>
              <a:t>(Microsoft VNet)</a:t>
            </a:r>
            <a:endParaRPr sz="1600">
              <a:solidFill>
                <a:schemeClr val="dk2"/>
              </a:solidFill>
              <a:latin typeface="DM Sans Medium"/>
              <a:ea typeface="DM Sans Medium"/>
              <a:cs typeface="DM Sans Medium"/>
              <a:sym typeface="DM Sans Medium"/>
            </a:endParaRPr>
          </a:p>
        </p:txBody>
      </p:sp>
      <p:sp>
        <p:nvSpPr>
          <p:cNvPr id="4918" name="Google Shape;4918;p122"/>
          <p:cNvSpPr/>
          <p:nvPr/>
        </p:nvSpPr>
        <p:spPr>
          <a:xfrm>
            <a:off x="4814100" y="2600550"/>
            <a:ext cx="1177200" cy="4209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200">
                <a:solidFill>
                  <a:schemeClr val="accent1"/>
                </a:solidFill>
                <a:latin typeface="DM Sans Medium"/>
                <a:ea typeface="DM Sans Medium"/>
                <a:cs typeface="DM Sans Medium"/>
                <a:sym typeface="DM Sans Medium"/>
              </a:rPr>
              <a:t>DBFS Services</a:t>
            </a:r>
            <a:endParaRPr i="1" sz="1200">
              <a:solidFill>
                <a:schemeClr val="accent1"/>
              </a:solidFill>
              <a:latin typeface="DM Sans Medium"/>
              <a:ea typeface="DM Sans Medium"/>
              <a:cs typeface="DM Sans Medium"/>
              <a:sym typeface="DM Sans Medium"/>
            </a:endParaRPr>
          </a:p>
        </p:txBody>
      </p:sp>
      <p:sp>
        <p:nvSpPr>
          <p:cNvPr id="4919" name="Google Shape;4919;p122"/>
          <p:cNvSpPr/>
          <p:nvPr/>
        </p:nvSpPr>
        <p:spPr>
          <a:xfrm>
            <a:off x="4815375" y="2076950"/>
            <a:ext cx="1177200" cy="4209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200">
                <a:solidFill>
                  <a:schemeClr val="accent1"/>
                </a:solidFill>
                <a:latin typeface="DM Sans Medium"/>
                <a:ea typeface="DM Sans Medium"/>
                <a:cs typeface="DM Sans Medium"/>
                <a:sym typeface="DM Sans Medium"/>
              </a:rPr>
              <a:t>Unity Metastore</a:t>
            </a:r>
            <a:endParaRPr i="1" sz="1200">
              <a:solidFill>
                <a:schemeClr val="accent1"/>
              </a:solidFill>
              <a:latin typeface="DM Sans Medium"/>
              <a:ea typeface="DM Sans Medium"/>
              <a:cs typeface="DM Sans Medium"/>
              <a:sym typeface="DM Sans Medium"/>
            </a:endParaRPr>
          </a:p>
        </p:txBody>
      </p:sp>
      <p:sp>
        <p:nvSpPr>
          <p:cNvPr id="4920" name="Google Shape;4920;p122"/>
          <p:cNvSpPr/>
          <p:nvPr/>
        </p:nvSpPr>
        <p:spPr>
          <a:xfrm>
            <a:off x="810823" y="938972"/>
            <a:ext cx="176400" cy="12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21" name="Google Shape;4921;p122"/>
          <p:cNvCxnSpPr>
            <a:stCxn id="4919" idx="3"/>
            <a:endCxn id="4922" idx="1"/>
          </p:cNvCxnSpPr>
          <p:nvPr/>
        </p:nvCxnSpPr>
        <p:spPr>
          <a:xfrm>
            <a:off x="5992575" y="2287400"/>
            <a:ext cx="1499400" cy="216300"/>
          </a:xfrm>
          <a:prstGeom prst="curvedConnector3">
            <a:avLst>
              <a:gd fmla="val 49997" name="adj1"/>
            </a:avLst>
          </a:prstGeom>
          <a:noFill/>
          <a:ln cap="flat" cmpd="sng" w="19050">
            <a:solidFill>
              <a:schemeClr val="accent2"/>
            </a:solidFill>
            <a:prstDash val="solid"/>
            <a:round/>
            <a:headEnd len="med" w="med" type="none"/>
            <a:tailEnd len="med" w="med" type="triangle"/>
          </a:ln>
        </p:spPr>
      </p:cxnSp>
      <p:cxnSp>
        <p:nvCxnSpPr>
          <p:cNvPr id="4923" name="Google Shape;4923;p122"/>
          <p:cNvCxnSpPr>
            <a:stCxn id="4918" idx="3"/>
            <a:endCxn id="4922" idx="1"/>
          </p:cNvCxnSpPr>
          <p:nvPr/>
        </p:nvCxnSpPr>
        <p:spPr>
          <a:xfrm flipH="1" rot="10800000">
            <a:off x="5991300" y="2503500"/>
            <a:ext cx="1500600" cy="307500"/>
          </a:xfrm>
          <a:prstGeom prst="curvedConnector3">
            <a:avLst>
              <a:gd fmla="val 50000" name="adj1"/>
            </a:avLst>
          </a:prstGeom>
          <a:noFill/>
          <a:ln cap="flat" cmpd="sng" w="19050">
            <a:solidFill>
              <a:schemeClr val="accent2"/>
            </a:solidFill>
            <a:prstDash val="solid"/>
            <a:round/>
            <a:headEnd len="med" w="med" type="none"/>
            <a:tailEnd len="med" w="med" type="triangle"/>
          </a:ln>
        </p:spPr>
      </p:cxnSp>
      <p:sp>
        <p:nvSpPr>
          <p:cNvPr id="4924" name="Google Shape;4924;p122"/>
          <p:cNvSpPr txBox="1"/>
          <p:nvPr/>
        </p:nvSpPr>
        <p:spPr>
          <a:xfrm>
            <a:off x="6410210" y="1866386"/>
            <a:ext cx="1087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accent2"/>
                </a:solidFill>
                <a:latin typeface="DM Sans Medium"/>
                <a:ea typeface="DM Sans Medium"/>
                <a:cs typeface="DM Sans Medium"/>
                <a:sym typeface="DM Sans Medium"/>
              </a:rPr>
              <a:t>Managed Identity</a:t>
            </a:r>
            <a:endParaRPr sz="1200">
              <a:solidFill>
                <a:schemeClr val="accent2"/>
              </a:solidFill>
              <a:latin typeface="DM Sans Medium"/>
              <a:ea typeface="DM Sans Medium"/>
              <a:cs typeface="DM Sans Medium"/>
              <a:sym typeface="DM Sans Medium"/>
            </a:endParaRPr>
          </a:p>
        </p:txBody>
      </p:sp>
      <p:sp>
        <p:nvSpPr>
          <p:cNvPr id="4925" name="Google Shape;4925;p122"/>
          <p:cNvSpPr/>
          <p:nvPr/>
        </p:nvSpPr>
        <p:spPr>
          <a:xfrm>
            <a:off x="4351675" y="5046225"/>
            <a:ext cx="2088000" cy="420900"/>
          </a:xfrm>
          <a:prstGeom prst="rect">
            <a:avLst/>
          </a:prstGeom>
          <a:solidFill>
            <a:srgbClr val="FFFFFF"/>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DM Sans"/>
                <a:ea typeface="DM Sans"/>
                <a:cs typeface="DM Sans"/>
                <a:sym typeface="DM Sans"/>
              </a:rPr>
              <a:t>Databricks Runtime Container (User Code)</a:t>
            </a:r>
            <a:endParaRPr sz="1000">
              <a:latin typeface="DM Sans"/>
              <a:ea typeface="DM Sans"/>
              <a:cs typeface="DM Sans"/>
              <a:sym typeface="DM Sans"/>
            </a:endParaRPr>
          </a:p>
        </p:txBody>
      </p:sp>
      <p:sp>
        <p:nvSpPr>
          <p:cNvPr id="4926" name="Google Shape;4926;p122"/>
          <p:cNvSpPr/>
          <p:nvPr/>
        </p:nvSpPr>
        <p:spPr>
          <a:xfrm>
            <a:off x="4356438" y="4159575"/>
            <a:ext cx="2088000" cy="420900"/>
          </a:xfrm>
          <a:prstGeom prst="rect">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DM Sans"/>
                <a:ea typeface="DM Sans"/>
                <a:cs typeface="DM Sans"/>
                <a:sym typeface="DM Sans"/>
              </a:rPr>
              <a:t>Data Daemon</a:t>
            </a:r>
            <a:endParaRPr sz="1000">
              <a:latin typeface="DM Sans"/>
              <a:ea typeface="DM Sans"/>
              <a:cs typeface="DM Sans"/>
              <a:sym typeface="DM Sans"/>
            </a:endParaRPr>
          </a:p>
        </p:txBody>
      </p:sp>
      <p:sp>
        <p:nvSpPr>
          <p:cNvPr id="4927" name="Google Shape;4927;p122"/>
          <p:cNvSpPr/>
          <p:nvPr/>
        </p:nvSpPr>
        <p:spPr>
          <a:xfrm>
            <a:off x="1450125" y="4738475"/>
            <a:ext cx="2383500" cy="1038600"/>
          </a:xfrm>
          <a:prstGeom prst="ellipse">
            <a:avLst/>
          </a:prstGeom>
          <a:solidFill>
            <a:srgbClr val="FFFFFF"/>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3"/>
                </a:solidFill>
                <a:latin typeface="DM Sans Medium"/>
                <a:ea typeface="DM Sans Medium"/>
                <a:cs typeface="DM Sans Medium"/>
                <a:sym typeface="DM Sans Medium"/>
              </a:rPr>
              <a:t>Untrusted as </a:t>
            </a:r>
            <a:br>
              <a:rPr lang="en">
                <a:solidFill>
                  <a:schemeClr val="accent3"/>
                </a:solidFill>
                <a:latin typeface="DM Sans Medium"/>
                <a:ea typeface="DM Sans Medium"/>
                <a:cs typeface="DM Sans Medium"/>
                <a:sym typeface="DM Sans Medium"/>
              </a:rPr>
            </a:br>
            <a:r>
              <a:rPr lang="en">
                <a:solidFill>
                  <a:schemeClr val="accent3"/>
                </a:solidFill>
                <a:latin typeface="DM Sans Medium"/>
                <a:ea typeface="DM Sans Medium"/>
                <a:cs typeface="DM Sans Medium"/>
                <a:sym typeface="DM Sans Medium"/>
              </a:rPr>
              <a:t>user code runs here</a:t>
            </a:r>
            <a:endParaRPr>
              <a:solidFill>
                <a:schemeClr val="accent3"/>
              </a:solidFill>
              <a:latin typeface="DM Sans Medium"/>
              <a:ea typeface="DM Sans Medium"/>
              <a:cs typeface="DM Sans Medium"/>
              <a:sym typeface="DM Sans Medium"/>
            </a:endParaRPr>
          </a:p>
          <a:p>
            <a:pPr indent="0" lvl="0" marL="0" rtl="0" algn="ctr">
              <a:spcBef>
                <a:spcPts val="600"/>
              </a:spcBef>
              <a:spcAft>
                <a:spcPts val="600"/>
              </a:spcAft>
              <a:buNone/>
            </a:pPr>
            <a:r>
              <a:rPr lang="en" sz="1000">
                <a:solidFill>
                  <a:schemeClr val="accent5"/>
                </a:solidFill>
                <a:latin typeface="DM Sans Medium"/>
                <a:ea typeface="DM Sans Medium"/>
                <a:cs typeface="DM Sans Medium"/>
                <a:sym typeface="DM Sans Medium"/>
              </a:rPr>
              <a:t>(no account keys stored in this container)</a:t>
            </a:r>
            <a:endParaRPr sz="1000">
              <a:solidFill>
                <a:schemeClr val="accent5"/>
              </a:solidFill>
              <a:latin typeface="DM Sans Medium"/>
              <a:ea typeface="DM Sans Medium"/>
              <a:cs typeface="DM Sans Medium"/>
              <a:sym typeface="DM Sans Medium"/>
            </a:endParaRPr>
          </a:p>
        </p:txBody>
      </p:sp>
      <p:cxnSp>
        <p:nvCxnSpPr>
          <p:cNvPr id="4928" name="Google Shape;4928;p122"/>
          <p:cNvCxnSpPr>
            <a:stCxn id="4925" idx="1"/>
            <a:endCxn id="4927" idx="6"/>
          </p:cNvCxnSpPr>
          <p:nvPr/>
        </p:nvCxnSpPr>
        <p:spPr>
          <a:xfrm flipH="1">
            <a:off x="3833575" y="5256675"/>
            <a:ext cx="518100" cy="1200"/>
          </a:xfrm>
          <a:prstGeom prst="straightConnector1">
            <a:avLst/>
          </a:prstGeom>
          <a:noFill/>
          <a:ln cap="flat" cmpd="sng" w="9525">
            <a:solidFill>
              <a:schemeClr val="accent1"/>
            </a:solidFill>
            <a:prstDash val="dash"/>
            <a:round/>
            <a:headEnd len="med" w="med" type="stealth"/>
            <a:tailEnd len="med" w="med" type="none"/>
          </a:ln>
        </p:spPr>
      </p:cxnSp>
      <p:sp>
        <p:nvSpPr>
          <p:cNvPr id="4929" name="Google Shape;4929;p122"/>
          <p:cNvSpPr/>
          <p:nvPr/>
        </p:nvSpPr>
        <p:spPr>
          <a:xfrm>
            <a:off x="8605275" y="1703525"/>
            <a:ext cx="118800" cy="1038600"/>
          </a:xfrm>
          <a:prstGeom prst="rightBrace">
            <a:avLst>
              <a:gd fmla="val 50000" name="adj1"/>
              <a:gd fmla="val 50000"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4930" name="Google Shape;4930;p122"/>
          <p:cNvSpPr txBox="1"/>
          <p:nvPr/>
        </p:nvSpPr>
        <p:spPr>
          <a:xfrm>
            <a:off x="8807200" y="1758875"/>
            <a:ext cx="1925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chemeClr val="accent2"/>
                </a:solidFill>
                <a:latin typeface="DM Sans"/>
                <a:ea typeface="DM Sans"/>
                <a:cs typeface="DM Sans"/>
                <a:sym typeface="DM Sans"/>
              </a:rPr>
              <a:t>Control Plane to DBFS data flow using the MI</a:t>
            </a:r>
            <a:endParaRPr b="1" i="1" sz="1200">
              <a:solidFill>
                <a:schemeClr val="accent2"/>
              </a:solidFill>
              <a:latin typeface="DM Sans"/>
              <a:ea typeface="DM Sans"/>
              <a:cs typeface="DM Sans"/>
              <a:sym typeface="DM Sans"/>
            </a:endParaRPr>
          </a:p>
          <a:p>
            <a:pPr indent="0" lvl="0" marL="0" rtl="0" algn="l">
              <a:spcBef>
                <a:spcPts val="0"/>
              </a:spcBef>
              <a:spcAft>
                <a:spcPts val="0"/>
              </a:spcAft>
              <a:buNone/>
            </a:pPr>
            <a:r>
              <a:rPr lang="en" sz="1200">
                <a:solidFill>
                  <a:schemeClr val="accent2"/>
                </a:solidFill>
                <a:latin typeface="DM Sans"/>
                <a:ea typeface="DM Sans"/>
                <a:cs typeface="DM Sans"/>
                <a:sym typeface="DM Sans"/>
              </a:rPr>
              <a:t>(separate from clusters to DBFS flow)</a:t>
            </a:r>
            <a:endParaRPr sz="1200">
              <a:solidFill>
                <a:schemeClr val="accent2"/>
              </a:solidFill>
              <a:latin typeface="DM Sans"/>
              <a:ea typeface="DM Sans"/>
              <a:cs typeface="DM Sans"/>
              <a:sym typeface="DM Sans"/>
            </a:endParaRPr>
          </a:p>
        </p:txBody>
      </p:sp>
      <p:cxnSp>
        <p:nvCxnSpPr>
          <p:cNvPr id="4931" name="Google Shape;4931;p122"/>
          <p:cNvCxnSpPr>
            <a:stCxn id="4918" idx="3"/>
            <a:endCxn id="4932" idx="0"/>
          </p:cNvCxnSpPr>
          <p:nvPr/>
        </p:nvCxnSpPr>
        <p:spPr>
          <a:xfrm>
            <a:off x="5991300" y="2811000"/>
            <a:ext cx="358500" cy="1347000"/>
          </a:xfrm>
          <a:prstGeom prst="curvedConnector2">
            <a:avLst/>
          </a:prstGeom>
          <a:noFill/>
          <a:ln cap="flat" cmpd="sng" w="19050">
            <a:solidFill>
              <a:schemeClr val="accent1"/>
            </a:solidFill>
            <a:prstDash val="solid"/>
            <a:round/>
            <a:headEnd len="med" w="med" type="none"/>
            <a:tailEnd len="med" w="med" type="triangle"/>
          </a:ln>
        </p:spPr>
      </p:cxnSp>
      <p:sp>
        <p:nvSpPr>
          <p:cNvPr id="4933" name="Google Shape;4933;p122"/>
          <p:cNvSpPr txBox="1"/>
          <p:nvPr/>
        </p:nvSpPr>
        <p:spPr>
          <a:xfrm>
            <a:off x="6290397" y="3174875"/>
            <a:ext cx="1188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lang="en">
                <a:solidFill>
                  <a:schemeClr val="accent1"/>
                </a:solidFill>
                <a:latin typeface="DM Sans"/>
                <a:ea typeface="DM Sans"/>
                <a:cs typeface="DM Sans"/>
                <a:sym typeface="DM Sans"/>
              </a:rPr>
              <a:t>1</a:t>
            </a:r>
            <a:endParaRPr b="1">
              <a:solidFill>
                <a:schemeClr val="accent1"/>
              </a:solidFill>
              <a:latin typeface="DM Sans"/>
              <a:ea typeface="DM Sans"/>
              <a:cs typeface="DM Sans"/>
              <a:sym typeface="DM Sans"/>
            </a:endParaRPr>
          </a:p>
        </p:txBody>
      </p:sp>
      <p:sp>
        <p:nvSpPr>
          <p:cNvPr id="4934" name="Google Shape;4934;p122"/>
          <p:cNvSpPr/>
          <p:nvPr/>
        </p:nvSpPr>
        <p:spPr>
          <a:xfrm>
            <a:off x="8599250" y="2868400"/>
            <a:ext cx="118800" cy="3344700"/>
          </a:xfrm>
          <a:prstGeom prst="rightBrace">
            <a:avLst>
              <a:gd fmla="val 50000" name="adj1"/>
              <a:gd fmla="val 50000"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935" name="Google Shape;4935;p122"/>
          <p:cNvSpPr txBox="1"/>
          <p:nvPr/>
        </p:nvSpPr>
        <p:spPr>
          <a:xfrm>
            <a:off x="8801150" y="3247896"/>
            <a:ext cx="28809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chemeClr val="accent1"/>
                </a:solidFill>
                <a:latin typeface="DM Sans"/>
                <a:ea typeface="DM Sans"/>
                <a:cs typeface="DM Sans"/>
                <a:sym typeface="DM Sans"/>
              </a:rPr>
              <a:t>Clusters/Compute Plane to DBFS data flow using SAS Tokens</a:t>
            </a:r>
            <a:endParaRPr b="1" i="1" sz="1200">
              <a:solidFill>
                <a:schemeClr val="accent1"/>
              </a:solidFill>
              <a:latin typeface="DM Sans"/>
              <a:ea typeface="DM Sans"/>
              <a:cs typeface="DM Sans"/>
              <a:sym typeface="DM Sans"/>
            </a:endParaRPr>
          </a:p>
          <a:p>
            <a:pPr indent="0" lvl="0" marL="0" rtl="0" algn="l">
              <a:spcBef>
                <a:spcPts val="0"/>
              </a:spcBef>
              <a:spcAft>
                <a:spcPts val="0"/>
              </a:spcAft>
              <a:buNone/>
            </a:pPr>
            <a:r>
              <a:t/>
            </a:r>
            <a:endParaRPr i="1" sz="1200">
              <a:solidFill>
                <a:schemeClr val="accent1"/>
              </a:solidFill>
              <a:latin typeface="DM Sans"/>
              <a:ea typeface="DM Sans"/>
              <a:cs typeface="DM Sans"/>
              <a:sym typeface="DM Sans"/>
            </a:endParaRPr>
          </a:p>
          <a:p>
            <a:pPr indent="0" lvl="0" marL="0" rtl="0" algn="l">
              <a:spcBef>
                <a:spcPts val="0"/>
              </a:spcBef>
              <a:spcAft>
                <a:spcPts val="0"/>
              </a:spcAft>
              <a:buNone/>
            </a:pPr>
            <a:r>
              <a:rPr lang="en" sz="1000">
                <a:solidFill>
                  <a:schemeClr val="accent1"/>
                </a:solidFill>
                <a:latin typeface="DM Sans"/>
                <a:ea typeface="DM Sans"/>
                <a:cs typeface="DM Sans"/>
                <a:sym typeface="DM Sans"/>
              </a:rPr>
              <a:t>1 - Control Plane sends the storage account keys to the Data Daemon during cluster boot</a:t>
            </a:r>
            <a:endParaRPr sz="1000">
              <a:solidFill>
                <a:schemeClr val="accent1"/>
              </a:solidFill>
              <a:latin typeface="DM Sans"/>
              <a:ea typeface="DM Sans"/>
              <a:cs typeface="DM Sans"/>
              <a:sym typeface="DM Sans"/>
            </a:endParaRPr>
          </a:p>
          <a:p>
            <a:pPr indent="0" lvl="0" marL="0" rtl="0" algn="l">
              <a:spcBef>
                <a:spcPts val="0"/>
              </a:spcBef>
              <a:spcAft>
                <a:spcPts val="0"/>
              </a:spcAft>
              <a:buNone/>
            </a:pPr>
            <a:r>
              <a:t/>
            </a:r>
            <a:endParaRPr sz="1000">
              <a:solidFill>
                <a:schemeClr val="accent1"/>
              </a:solidFill>
              <a:latin typeface="DM Sans"/>
              <a:ea typeface="DM Sans"/>
              <a:cs typeface="DM Sans"/>
              <a:sym typeface="DM Sans"/>
            </a:endParaRPr>
          </a:p>
          <a:p>
            <a:pPr indent="0" lvl="0" marL="0" rtl="0" algn="l">
              <a:spcBef>
                <a:spcPts val="0"/>
              </a:spcBef>
              <a:spcAft>
                <a:spcPts val="0"/>
              </a:spcAft>
              <a:buNone/>
            </a:pPr>
            <a:r>
              <a:rPr lang="en" sz="1000">
                <a:solidFill>
                  <a:schemeClr val="accent1"/>
                </a:solidFill>
                <a:latin typeface="DM Sans"/>
                <a:ea typeface="DM Sans"/>
                <a:cs typeface="DM Sans"/>
                <a:sym typeface="DM Sans"/>
              </a:rPr>
              <a:t>2 - Databricks Runtime calls the Data Daemon to ask for a SAS Token for DBFS</a:t>
            </a:r>
            <a:endParaRPr sz="1000">
              <a:solidFill>
                <a:schemeClr val="accent1"/>
              </a:solidFill>
              <a:latin typeface="DM Sans"/>
              <a:ea typeface="DM Sans"/>
              <a:cs typeface="DM Sans"/>
              <a:sym typeface="DM Sans"/>
            </a:endParaRPr>
          </a:p>
          <a:p>
            <a:pPr indent="0" lvl="0" marL="0" rtl="0" algn="l">
              <a:spcBef>
                <a:spcPts val="0"/>
              </a:spcBef>
              <a:spcAft>
                <a:spcPts val="0"/>
              </a:spcAft>
              <a:buNone/>
            </a:pPr>
            <a:r>
              <a:t/>
            </a:r>
            <a:endParaRPr sz="1000">
              <a:solidFill>
                <a:schemeClr val="accent1"/>
              </a:solidFill>
              <a:latin typeface="DM Sans"/>
              <a:ea typeface="DM Sans"/>
              <a:cs typeface="DM Sans"/>
              <a:sym typeface="DM Sans"/>
            </a:endParaRPr>
          </a:p>
          <a:p>
            <a:pPr indent="0" lvl="0" marL="0" rtl="0" algn="l">
              <a:spcBef>
                <a:spcPts val="0"/>
              </a:spcBef>
              <a:spcAft>
                <a:spcPts val="0"/>
              </a:spcAft>
              <a:buNone/>
            </a:pPr>
            <a:r>
              <a:rPr lang="en" sz="1000">
                <a:solidFill>
                  <a:schemeClr val="accent1"/>
                </a:solidFill>
                <a:latin typeface="DM Sans"/>
                <a:ea typeface="DM Sans"/>
                <a:cs typeface="DM Sans"/>
                <a:sym typeface="DM Sans"/>
              </a:rPr>
              <a:t>3 - Data Daemon creates a new SAS Token using the storage account key and sends the SAS Token back to the Runtime</a:t>
            </a:r>
            <a:endParaRPr sz="1000">
              <a:solidFill>
                <a:schemeClr val="accent1"/>
              </a:solidFill>
              <a:latin typeface="DM Sans"/>
              <a:ea typeface="DM Sans"/>
              <a:cs typeface="DM Sans"/>
              <a:sym typeface="DM Sans"/>
            </a:endParaRPr>
          </a:p>
          <a:p>
            <a:pPr indent="0" lvl="0" marL="0" rtl="0" algn="l">
              <a:spcBef>
                <a:spcPts val="0"/>
              </a:spcBef>
              <a:spcAft>
                <a:spcPts val="0"/>
              </a:spcAft>
              <a:buNone/>
            </a:pPr>
            <a:r>
              <a:t/>
            </a:r>
            <a:endParaRPr sz="1000">
              <a:solidFill>
                <a:schemeClr val="accent1"/>
              </a:solidFill>
              <a:latin typeface="DM Sans"/>
              <a:ea typeface="DM Sans"/>
              <a:cs typeface="DM Sans"/>
              <a:sym typeface="DM Sans"/>
            </a:endParaRPr>
          </a:p>
          <a:p>
            <a:pPr indent="0" lvl="0" marL="0" rtl="0" algn="l">
              <a:spcBef>
                <a:spcPts val="0"/>
              </a:spcBef>
              <a:spcAft>
                <a:spcPts val="0"/>
              </a:spcAft>
              <a:buNone/>
            </a:pPr>
            <a:r>
              <a:rPr lang="en" sz="1000">
                <a:solidFill>
                  <a:schemeClr val="accent1"/>
                </a:solidFill>
                <a:latin typeface="DM Sans"/>
                <a:ea typeface="DM Sans"/>
                <a:cs typeface="DM Sans"/>
                <a:sym typeface="DM Sans"/>
              </a:rPr>
              <a:t>4 - Databricks Runtime caches the SAS Token for 1h and uses it to access DBFS</a:t>
            </a:r>
            <a:endParaRPr i="1" sz="1200">
              <a:solidFill>
                <a:schemeClr val="accent1"/>
              </a:solidFill>
              <a:latin typeface="DM Sans"/>
              <a:ea typeface="DM Sans"/>
              <a:cs typeface="DM Sans"/>
              <a:sym typeface="DM Sans"/>
            </a:endParaRPr>
          </a:p>
        </p:txBody>
      </p:sp>
      <p:sp>
        <p:nvSpPr>
          <p:cNvPr id="4936" name="Google Shape;4936;p122"/>
          <p:cNvSpPr txBox="1"/>
          <p:nvPr/>
        </p:nvSpPr>
        <p:spPr>
          <a:xfrm>
            <a:off x="4931999" y="4706914"/>
            <a:ext cx="2091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lang="en">
                <a:solidFill>
                  <a:schemeClr val="accent1"/>
                </a:solidFill>
                <a:latin typeface="DM Sans"/>
                <a:ea typeface="DM Sans"/>
                <a:cs typeface="DM Sans"/>
                <a:sym typeface="DM Sans"/>
              </a:rPr>
              <a:t>2</a:t>
            </a:r>
            <a:endParaRPr b="1">
              <a:solidFill>
                <a:schemeClr val="accent1"/>
              </a:solidFill>
              <a:latin typeface="DM Sans"/>
              <a:ea typeface="DM Sans"/>
              <a:cs typeface="DM Sans"/>
              <a:sym typeface="DM Sans"/>
            </a:endParaRPr>
          </a:p>
        </p:txBody>
      </p:sp>
      <p:cxnSp>
        <p:nvCxnSpPr>
          <p:cNvPr id="4937" name="Google Shape;4937;p122"/>
          <p:cNvCxnSpPr>
            <a:stCxn id="4925" idx="3"/>
            <a:endCxn id="4938" idx="1"/>
          </p:cNvCxnSpPr>
          <p:nvPr/>
        </p:nvCxnSpPr>
        <p:spPr>
          <a:xfrm flipH="1" rot="10800000">
            <a:off x="6439675" y="3109575"/>
            <a:ext cx="908400" cy="2147100"/>
          </a:xfrm>
          <a:prstGeom prst="curvedConnector3">
            <a:avLst>
              <a:gd fmla="val 50006" name="adj1"/>
            </a:avLst>
          </a:prstGeom>
          <a:noFill/>
          <a:ln cap="flat" cmpd="sng" w="19050">
            <a:solidFill>
              <a:schemeClr val="accent1"/>
            </a:solidFill>
            <a:prstDash val="solid"/>
            <a:round/>
            <a:headEnd len="med" w="med" type="none"/>
            <a:tailEnd len="med" w="med" type="triangle"/>
          </a:ln>
        </p:spPr>
      </p:cxnSp>
      <p:sp>
        <p:nvSpPr>
          <p:cNvPr id="4939" name="Google Shape;4939;p122"/>
          <p:cNvSpPr txBox="1"/>
          <p:nvPr/>
        </p:nvSpPr>
        <p:spPr>
          <a:xfrm>
            <a:off x="6856825" y="4054328"/>
            <a:ext cx="2091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lang="en">
                <a:solidFill>
                  <a:schemeClr val="accent1"/>
                </a:solidFill>
                <a:latin typeface="DM Sans"/>
                <a:ea typeface="DM Sans"/>
                <a:cs typeface="DM Sans"/>
                <a:sym typeface="DM Sans"/>
              </a:rPr>
              <a:t>4</a:t>
            </a:r>
            <a:endParaRPr b="1">
              <a:solidFill>
                <a:schemeClr val="accent1"/>
              </a:solidFill>
              <a:latin typeface="DM Sans"/>
              <a:ea typeface="DM Sans"/>
              <a:cs typeface="DM Sans"/>
              <a:sym typeface="DM Sans"/>
            </a:endParaRPr>
          </a:p>
        </p:txBody>
      </p:sp>
      <p:sp>
        <p:nvSpPr>
          <p:cNvPr id="4940" name="Google Shape;4940;p122"/>
          <p:cNvSpPr/>
          <p:nvPr/>
        </p:nvSpPr>
        <p:spPr>
          <a:xfrm>
            <a:off x="1469706" y="3549975"/>
            <a:ext cx="2383500" cy="999000"/>
          </a:xfrm>
          <a:prstGeom prst="ellipse">
            <a:avLst/>
          </a:prstGeom>
          <a:solidFill>
            <a:srgbClr val="FFFFFF"/>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E69A00"/>
                </a:solidFill>
                <a:latin typeface="DM Sans Medium"/>
                <a:ea typeface="DM Sans Medium"/>
                <a:cs typeface="DM Sans Medium"/>
                <a:sym typeface="DM Sans Medium"/>
              </a:rPr>
              <a:t>No customer access to the VM and any other Daemons</a:t>
            </a:r>
            <a:endParaRPr sz="1200">
              <a:solidFill>
                <a:srgbClr val="E69A00"/>
              </a:solidFill>
              <a:latin typeface="DM Sans Medium"/>
              <a:ea typeface="DM Sans Medium"/>
              <a:cs typeface="DM Sans Medium"/>
              <a:sym typeface="DM Sans Medium"/>
            </a:endParaRPr>
          </a:p>
          <a:p>
            <a:pPr indent="0" lvl="0" marL="0" rtl="0" algn="ctr">
              <a:spcBef>
                <a:spcPts val="0"/>
              </a:spcBef>
              <a:spcAft>
                <a:spcPts val="0"/>
              </a:spcAft>
              <a:buNone/>
            </a:pPr>
            <a:r>
              <a:rPr lang="en" sz="1000">
                <a:solidFill>
                  <a:schemeClr val="accent5"/>
                </a:solidFill>
                <a:latin typeface="DM Sans Medium"/>
                <a:ea typeface="DM Sans Medium"/>
                <a:cs typeface="DM Sans Medium"/>
                <a:sym typeface="DM Sans Medium"/>
              </a:rPr>
              <a:t>(Deny Assignments)</a:t>
            </a:r>
            <a:endParaRPr sz="1000">
              <a:solidFill>
                <a:schemeClr val="accent5"/>
              </a:solidFill>
              <a:latin typeface="DM Sans Medium"/>
              <a:ea typeface="DM Sans Medium"/>
              <a:cs typeface="DM Sans Medium"/>
              <a:sym typeface="DM Sans Medium"/>
            </a:endParaRPr>
          </a:p>
        </p:txBody>
      </p:sp>
      <p:cxnSp>
        <p:nvCxnSpPr>
          <p:cNvPr id="4941" name="Google Shape;4941;p122"/>
          <p:cNvCxnSpPr>
            <a:stCxn id="4926" idx="1"/>
            <a:endCxn id="4940" idx="6"/>
          </p:cNvCxnSpPr>
          <p:nvPr/>
        </p:nvCxnSpPr>
        <p:spPr>
          <a:xfrm rot="10800000">
            <a:off x="3853338" y="4049625"/>
            <a:ext cx="503100" cy="320400"/>
          </a:xfrm>
          <a:prstGeom prst="curvedConnector3">
            <a:avLst>
              <a:gd fmla="val 50013" name="adj1"/>
            </a:avLst>
          </a:prstGeom>
          <a:noFill/>
          <a:ln cap="flat" cmpd="sng" w="9525">
            <a:solidFill>
              <a:schemeClr val="accent1"/>
            </a:solidFill>
            <a:prstDash val="dash"/>
            <a:round/>
            <a:headEnd len="med" w="med" type="triangle"/>
            <a:tailEnd len="med" w="med" type="none"/>
          </a:ln>
        </p:spPr>
      </p:cxnSp>
      <p:cxnSp>
        <p:nvCxnSpPr>
          <p:cNvPr id="4942" name="Google Shape;4942;p122"/>
          <p:cNvCxnSpPr>
            <a:endCxn id="4940" idx="6"/>
          </p:cNvCxnSpPr>
          <p:nvPr/>
        </p:nvCxnSpPr>
        <p:spPr>
          <a:xfrm flipH="1">
            <a:off x="3853206" y="3703875"/>
            <a:ext cx="684300" cy="345600"/>
          </a:xfrm>
          <a:prstGeom prst="curvedConnector3">
            <a:avLst>
              <a:gd fmla="val 50000" name="adj1"/>
            </a:avLst>
          </a:prstGeom>
          <a:noFill/>
          <a:ln cap="flat" cmpd="sng" w="9525">
            <a:solidFill>
              <a:schemeClr val="accent1"/>
            </a:solidFill>
            <a:prstDash val="dash"/>
            <a:round/>
            <a:headEnd len="med" w="med" type="triangle"/>
            <a:tailEnd len="med" w="med" type="none"/>
          </a:ln>
        </p:spPr>
      </p:cxnSp>
      <p:sp>
        <p:nvSpPr>
          <p:cNvPr id="4938" name="Google Shape;4938;p122"/>
          <p:cNvSpPr/>
          <p:nvPr/>
        </p:nvSpPr>
        <p:spPr>
          <a:xfrm>
            <a:off x="7348175" y="3018700"/>
            <a:ext cx="194100" cy="1818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36575" lIns="0" spcFirstLastPara="1" rIns="0" wrap="square" tIns="0">
            <a:noAutofit/>
          </a:bodyPr>
          <a:lstStyle/>
          <a:p>
            <a:pPr indent="0" lvl="0" marL="0" rtl="0" algn="ctr">
              <a:spcBef>
                <a:spcPts val="0"/>
              </a:spcBef>
              <a:spcAft>
                <a:spcPts val="0"/>
              </a:spcAft>
              <a:buNone/>
            </a:pPr>
            <a:r>
              <a:rPr lang="en" sz="1100">
                <a:solidFill>
                  <a:schemeClr val="accent1"/>
                </a:solidFill>
                <a:latin typeface="DM Sans Medium"/>
                <a:ea typeface="DM Sans Medium"/>
                <a:cs typeface="DM Sans Medium"/>
                <a:sym typeface="DM Sans Medium"/>
              </a:rPr>
              <a:t>@</a:t>
            </a:r>
            <a:endParaRPr sz="1100">
              <a:solidFill>
                <a:schemeClr val="accent1"/>
              </a:solidFill>
              <a:latin typeface="DM Sans Medium"/>
              <a:ea typeface="DM Sans Medium"/>
              <a:cs typeface="DM Sans Medium"/>
              <a:sym typeface="DM Sans Medium"/>
            </a:endParaRPr>
          </a:p>
        </p:txBody>
      </p:sp>
      <p:sp>
        <p:nvSpPr>
          <p:cNvPr id="4922" name="Google Shape;4922;p122"/>
          <p:cNvSpPr/>
          <p:nvPr/>
        </p:nvSpPr>
        <p:spPr>
          <a:xfrm>
            <a:off x="7491900" y="2458875"/>
            <a:ext cx="89400" cy="8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4943" name="Google Shape;4943;p122"/>
          <p:cNvCxnSpPr/>
          <p:nvPr/>
        </p:nvCxnSpPr>
        <p:spPr>
          <a:xfrm rot="-5400000">
            <a:off x="4955407" y="4814550"/>
            <a:ext cx="460800" cy="600"/>
          </a:xfrm>
          <a:prstGeom prst="curvedConnector3">
            <a:avLst>
              <a:gd fmla="val 50000" name="adj1"/>
            </a:avLst>
          </a:prstGeom>
          <a:noFill/>
          <a:ln cap="flat" cmpd="sng" w="19050">
            <a:solidFill>
              <a:schemeClr val="accent1"/>
            </a:solidFill>
            <a:prstDash val="solid"/>
            <a:round/>
            <a:headEnd len="med" w="med" type="none"/>
            <a:tailEnd len="med" w="med" type="triangle"/>
          </a:ln>
        </p:spPr>
      </p:cxnSp>
      <p:sp>
        <p:nvSpPr>
          <p:cNvPr id="4944" name="Google Shape;4944;p122"/>
          <p:cNvSpPr txBox="1"/>
          <p:nvPr/>
        </p:nvSpPr>
        <p:spPr>
          <a:xfrm>
            <a:off x="5556779" y="4678865"/>
            <a:ext cx="2091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lang="en">
                <a:solidFill>
                  <a:schemeClr val="accent1"/>
                </a:solidFill>
                <a:latin typeface="DM Sans"/>
                <a:ea typeface="DM Sans"/>
                <a:cs typeface="DM Sans"/>
                <a:sym typeface="DM Sans"/>
              </a:rPr>
              <a:t>3</a:t>
            </a:r>
            <a:endParaRPr b="1">
              <a:solidFill>
                <a:schemeClr val="accent1"/>
              </a:solidFill>
              <a:latin typeface="DM Sans"/>
              <a:ea typeface="DM Sans"/>
              <a:cs typeface="DM Sans"/>
              <a:sym typeface="DM Sans"/>
            </a:endParaRPr>
          </a:p>
        </p:txBody>
      </p:sp>
      <p:cxnSp>
        <p:nvCxnSpPr>
          <p:cNvPr id="4945" name="Google Shape;4945;p122"/>
          <p:cNvCxnSpPr/>
          <p:nvPr/>
        </p:nvCxnSpPr>
        <p:spPr>
          <a:xfrm flipH="1" rot="-5395524">
            <a:off x="5399322" y="4813900"/>
            <a:ext cx="460800" cy="671"/>
          </a:xfrm>
          <a:prstGeom prst="curvedConnector3">
            <a:avLst>
              <a:gd fmla="val 50000" name="adj1"/>
            </a:avLst>
          </a:prstGeom>
          <a:noFill/>
          <a:ln cap="flat" cmpd="sng" w="19050">
            <a:solidFill>
              <a:schemeClr val="accent1"/>
            </a:solidFill>
            <a:prstDash val="solid"/>
            <a:round/>
            <a:headEnd len="med" w="med" type="none"/>
            <a:tailEnd len="med" w="med" type="triangle"/>
          </a:ln>
        </p:spPr>
      </p:cxnSp>
      <p:sp>
        <p:nvSpPr>
          <p:cNvPr id="4932" name="Google Shape;4932;p122"/>
          <p:cNvSpPr/>
          <p:nvPr/>
        </p:nvSpPr>
        <p:spPr>
          <a:xfrm>
            <a:off x="6305100" y="4157900"/>
            <a:ext cx="89400" cy="8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946" name="Google Shape;4946;p12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Communication with DBFS</a:t>
            </a:r>
            <a:endParaRPr/>
          </a:p>
        </p:txBody>
      </p:sp>
      <p:sp>
        <p:nvSpPr>
          <p:cNvPr id="4947" name="Google Shape;4947;p122"/>
          <p:cNvSpPr txBox="1"/>
          <p:nvPr/>
        </p:nvSpPr>
        <p:spPr>
          <a:xfrm>
            <a:off x="784175" y="1520175"/>
            <a:ext cx="3116100" cy="17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DM Sans"/>
                <a:ea typeface="DM Sans"/>
                <a:cs typeface="DM Sans"/>
                <a:sym typeface="DM Sans"/>
              </a:rPr>
              <a:t>Note: </a:t>
            </a:r>
            <a:br>
              <a:rPr b="1" lang="en">
                <a:solidFill>
                  <a:schemeClr val="dk1"/>
                </a:solidFill>
                <a:latin typeface="DM Sans"/>
                <a:ea typeface="DM Sans"/>
                <a:cs typeface="DM Sans"/>
                <a:sym typeface="DM Sans"/>
              </a:rPr>
            </a:br>
            <a:r>
              <a:rPr lang="en">
                <a:solidFill>
                  <a:schemeClr val="dk1"/>
                </a:solidFill>
                <a:latin typeface="DM Sans"/>
                <a:ea typeface="DM Sans"/>
                <a:cs typeface="DM Sans"/>
                <a:sym typeface="DM Sans"/>
              </a:rPr>
              <a:t>DBFS is still available in Databricks workspaces, however, it does not support access control. Do not store (production) data on DBFS, use Unity Catalog volumes instead!</a:t>
            </a:r>
            <a:endParaRPr>
              <a:solidFill>
                <a:schemeClr val="dk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Databricks Theme">
  <a:themeElements>
    <a:clrScheme name="Office">
      <a:dk1>
        <a:srgbClr val="1B3139"/>
      </a:dk1>
      <a:lt1>
        <a:srgbClr val="F9F7F4"/>
      </a:lt1>
      <a:dk2>
        <a:srgbClr val="FF5F46"/>
      </a:dk2>
      <a:lt2>
        <a:srgbClr val="EEEDE9"/>
      </a:lt2>
      <a:accent1>
        <a:srgbClr val="1B5162"/>
      </a:accent1>
      <a:accent2>
        <a:srgbClr val="00A972"/>
      </a:accent2>
      <a:accent3>
        <a:srgbClr val="98102A"/>
      </a:accent3>
      <a:accent4>
        <a:srgbClr val="FFAB00"/>
      </a:accent4>
      <a:accent5>
        <a:srgbClr val="618794"/>
      </a:accent5>
      <a:accent6>
        <a:srgbClr val="4359FF"/>
      </a:accent6>
      <a:hlink>
        <a:srgbClr val="FF362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